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2" r:id="rId5"/>
    <p:sldId id="263" r:id="rId6"/>
    <p:sldId id="265" r:id="rId7"/>
    <p:sldId id="266" r:id="rId8"/>
    <p:sldId id="259" r:id="rId9"/>
    <p:sldId id="264" r:id="rId10"/>
    <p:sldId id="261" r:id="rId11"/>
    <p:sldId id="260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CA73CE0-4472-4149-B947-4D643765D310}">
          <p14:sldIdLst>
            <p14:sldId id="256"/>
            <p14:sldId id="257"/>
            <p14:sldId id="258"/>
            <p14:sldId id="262"/>
            <p14:sldId id="263"/>
            <p14:sldId id="265"/>
            <p14:sldId id="266"/>
            <p14:sldId id="259"/>
            <p14:sldId id="264"/>
            <p14:sldId id="261"/>
            <p14:sldId id="260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144" d="100"/>
          <a:sy n="144" d="100"/>
        </p:scale>
        <p:origin x="150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D3CD6-8E0E-4339-896B-B3371B2FB494}" type="datetimeFigureOut">
              <a:rPr lang="ko-KR" altLang="en-US" smtClean="0"/>
              <a:t>2024-12-04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7079D-45DC-446B-BDE7-1371D86C65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6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7079D-45DC-446B-BDE7-1371D86C659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517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07079D-45DC-446B-BDE7-1371D86C659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638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1ADD4-E0E3-7468-72BB-F26EC575A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E7C7A2-5AA8-AB40-6608-2A5D5C53B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F2EF1-95EC-7AF6-89C6-08B1B8A2B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C05E-6DF1-7936-E426-1BC8A9C4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168CE4-7317-5EEC-2428-F41E9F1E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794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84045-8ACE-6145-C5AF-325A5D2F6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2B8B69-E1C2-8C92-F7CB-73CE2875F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9FA7BB-A119-0845-17DA-EE7B809E0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A1BFD5-D377-D711-975A-31F5E06E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FE2B8-8A18-3FE4-FF07-7F64614A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6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882AA-3190-E7FD-3CA4-579C8444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7D5FAF-EC1F-1C00-9EEE-F6ACD0A70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C10F1-7A0B-1903-0E64-39F93628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3AF227-DFDC-DF5E-3738-4799DA52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C2C503-480D-07ED-4B80-C8F998531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23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00DA3-EF20-76B0-4ADE-2A953D564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43D320-4FC2-C8F0-4998-9631928ED8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5CBFBD-04CF-8B61-3716-B490F42B1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E2352-7896-C08E-0861-646B7AB85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966232-911A-B38B-FCB2-1D9AE870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9E60E3-AD49-ECF7-06F6-6875B926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3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B7030-87AE-C313-12BB-B4FA6230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7A791D-EA31-BBB7-F5AF-0055434E1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0A7451-47D3-5502-A406-ECAB04CE5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F0D162-3EE3-0CFB-3E04-D559C403E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05FBDC-70B1-CB15-3E1E-0B0ACA486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E2CE7E-9712-5F49-1173-35CF9F42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C884CA-ED6E-62FC-EF0F-E31DF57B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8B3A70-7247-CFAF-B874-83F009DB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0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254A0-7D5F-C190-1325-11ACE7C8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1E6E16-C1CE-AAEE-9D5C-00032FD76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94D5AB-C48E-879A-927F-DDFECC9D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E7FE30-299C-F065-018A-B18D8949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08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2462FC-894A-3D6D-0CEF-6F1EBFF7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54F327-CF5F-6949-4D54-55B02254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72011-63BF-F477-735B-15561588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21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F73AA-2076-4EE1-E2FE-9BAE56A5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B1576-6736-FA3B-6891-3563614B2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1DA0C-BC81-4230-D0F2-3CB3E6215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81EBB5-E0C5-B172-67BB-735925641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28DFEE-3429-85C1-5F4B-5943B9E3E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278D2D-24A2-CD29-5739-12D870165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55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421CC4-CA48-4253-6D07-30747CD0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D9932E-C407-8BD6-0DFA-61825060D9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BC6997-4294-E876-D28E-F0DA25E8C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63316F-B746-1B7A-10B1-4179DDF7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AECFC4-33E1-1060-CD19-D825EFC3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FC03FD-4328-B451-3712-492E2E14C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222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09CC5-427D-A82A-E1AA-07E7D19EB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341E9A-D03A-D860-E84B-FC55DC62C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0E718-9F98-4BCF-7FE3-8E6017F7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FD684E-8999-3D70-EA2E-DFE7CAFB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506F8D-CA24-5225-B58B-588ABBAF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54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6438A2-33DA-0316-A526-C907BFBC5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EBA86D-E273-2AC5-227A-D0AA7A7D6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D27967-E553-F517-C22B-957CE799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910D9D-1B5A-2997-0AA0-1E446AC62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49EC97-3B71-FA08-36F1-7AEFA3C16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99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45202E-63EB-CFC1-30FB-188E263B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ABC302-62CE-1028-886F-1F2F36031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5156C6-1F9B-A1AB-9D56-C83A884B2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2A6A2-1FE1-4EB4-9A48-2A171165E941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16CAB9-6F68-2E24-2368-965DA1F15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348E53-20DF-E776-FC91-C1525099E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41844-EC50-42F8-A300-2617D0F17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07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9AB6D-9D2F-B8CC-B704-81F2854655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이방인</a:t>
            </a:r>
            <a:r>
              <a:rPr lang="en-US" altLang="ko-KR" dirty="0"/>
              <a:t>(Outlander)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DB8985-1DE0-75FC-5F04-0783DF57C3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/>
              <a:t>2020180033 </a:t>
            </a:r>
            <a:r>
              <a:rPr lang="ko-KR" altLang="en-US" dirty="0"/>
              <a:t>장명운</a:t>
            </a:r>
            <a:endParaRPr lang="en-US" altLang="ko-KR" dirty="0"/>
          </a:p>
          <a:p>
            <a:pPr algn="r"/>
            <a:r>
              <a:rPr lang="en-US" altLang="ko-KR" dirty="0"/>
              <a:t>2020184021 </a:t>
            </a:r>
            <a:r>
              <a:rPr lang="ko-KR" altLang="en-US" dirty="0"/>
              <a:t>우상훈</a:t>
            </a:r>
            <a:endParaRPr lang="en-US" altLang="ko-KR" dirty="0"/>
          </a:p>
          <a:p>
            <a:pPr algn="r"/>
            <a:r>
              <a:rPr lang="en-US" altLang="ko-KR" dirty="0"/>
              <a:t>2020184026 </a:t>
            </a:r>
            <a:r>
              <a:rPr lang="ko-KR" altLang="en-US" dirty="0"/>
              <a:t>이종진</a:t>
            </a:r>
          </a:p>
        </p:txBody>
      </p:sp>
    </p:spTree>
    <p:extLst>
      <p:ext uri="{BB962C8B-B14F-4D97-AF65-F5344CB8AC3E}">
        <p14:creationId xmlns:p14="http://schemas.microsoft.com/office/powerpoint/2010/main" val="192467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3FBF1-63A0-C4C5-0EAC-8309E568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FFAB10-6ABD-59D1-A613-A6E36EF5A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91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CEEFE-04AC-11E4-20E8-BDEF8807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장르 및 우리 게임에서 재밌는 부분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BAF726-20BE-956E-7009-9F0D52D09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적의 다양한 전략</a:t>
            </a:r>
            <a:r>
              <a:rPr lang="en-US" altLang="ko-KR" dirty="0"/>
              <a:t>(AI) – </a:t>
            </a:r>
            <a:r>
              <a:rPr lang="ko-KR" altLang="en-US" dirty="0" err="1"/>
              <a:t>토탈워</a:t>
            </a:r>
            <a:r>
              <a:rPr lang="ko-KR" altLang="en-US" dirty="0"/>
              <a:t> 등 참고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맵 </a:t>
            </a:r>
            <a:r>
              <a:rPr lang="ko-KR" altLang="en-US" dirty="0" err="1"/>
              <a:t>기믹을</a:t>
            </a:r>
            <a:r>
              <a:rPr lang="ko-KR" altLang="en-US" dirty="0"/>
              <a:t> 활용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무기의 성장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협력 플레이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765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D29CFF-CFC3-C9C3-4748-834B3BCA4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캐릭터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F7F300-9DCC-8F30-CF67-9A16D48D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계정 생성 시 캐릭터 아바타 설정</a:t>
            </a:r>
            <a:endParaRPr lang="en-US" altLang="ko-KR" dirty="0"/>
          </a:p>
          <a:p>
            <a:r>
              <a:rPr lang="ko-KR" altLang="en-US" dirty="0"/>
              <a:t>모든 캐릭터는 똑같은 능력치에서 시작</a:t>
            </a:r>
            <a:endParaRPr lang="en-US" altLang="ko-KR" dirty="0"/>
          </a:p>
          <a:p>
            <a:pPr lvl="1"/>
            <a:r>
              <a:rPr lang="ko-KR" altLang="en-US" dirty="0"/>
              <a:t>무기 종류별 숙련도</a:t>
            </a:r>
            <a:r>
              <a:rPr lang="en-US" altLang="ko-KR" dirty="0"/>
              <a:t>, </a:t>
            </a:r>
            <a:r>
              <a:rPr lang="ko-KR" altLang="en-US" dirty="0"/>
              <a:t>무기 경험치</a:t>
            </a:r>
            <a:r>
              <a:rPr lang="en-US" altLang="ko-KR" dirty="0"/>
              <a:t>, </a:t>
            </a:r>
            <a:r>
              <a:rPr lang="ko-KR" altLang="en-US" dirty="0"/>
              <a:t>캐릭터 </a:t>
            </a:r>
            <a:r>
              <a:rPr lang="ko-KR" altLang="en-US" dirty="0" err="1"/>
              <a:t>스탯</a:t>
            </a:r>
            <a:r>
              <a:rPr lang="ko-KR" altLang="en-US" dirty="0"/>
              <a:t> 시스템으로</a:t>
            </a:r>
            <a:br>
              <a:rPr lang="en-US" altLang="ko-KR" dirty="0"/>
            </a:br>
            <a:r>
              <a:rPr lang="ko-KR" altLang="en-US" dirty="0"/>
              <a:t>성장해가며 각자만의 개성 구축</a:t>
            </a:r>
            <a:endParaRPr lang="en-US" altLang="ko-KR" dirty="0"/>
          </a:p>
        </p:txBody>
      </p:sp>
      <p:pic>
        <p:nvPicPr>
          <p:cNvPr id="5" name="그림 4" descr="스크린샷, 만화 영화이(가) 표시된 사진&#10;&#10;자동 생성된 설명">
            <a:extLst>
              <a:ext uri="{FF2B5EF4-FFF2-40B4-BE49-F238E27FC236}">
                <a16:creationId xmlns:a16="http://schemas.microsoft.com/office/drawing/2014/main" id="{B7CBDFCE-0F91-2266-87AA-A5E45D402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74" r="34093"/>
          <a:stretch/>
        </p:blipFill>
        <p:spPr>
          <a:xfrm>
            <a:off x="1835727" y="3816927"/>
            <a:ext cx="1607127" cy="24949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그림 6" descr="만화 영화, 액션 피겨, 스크린샷, 가상의 캐릭터이(가) 표시된 사진&#10;&#10;자동 생성된 설명">
            <a:extLst>
              <a:ext uri="{FF2B5EF4-FFF2-40B4-BE49-F238E27FC236}">
                <a16:creationId xmlns:a16="http://schemas.microsoft.com/office/drawing/2014/main" id="{56AF5E43-908C-F549-85E3-9B0FFC7A1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9" r="29570"/>
          <a:stretch/>
        </p:blipFill>
        <p:spPr>
          <a:xfrm>
            <a:off x="4100945" y="3816927"/>
            <a:ext cx="1898074" cy="24949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그림 8" descr="만화 영화, 스케치이(가) 표시된 사진&#10;&#10;자동 생성된 설명">
            <a:extLst>
              <a:ext uri="{FF2B5EF4-FFF2-40B4-BE49-F238E27FC236}">
                <a16:creationId xmlns:a16="http://schemas.microsoft.com/office/drawing/2014/main" id="{61F872AA-29E8-5EB6-A1D5-06FF5117A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84" r="30387"/>
          <a:stretch/>
        </p:blipFill>
        <p:spPr>
          <a:xfrm>
            <a:off x="6774873" y="3816927"/>
            <a:ext cx="1371601" cy="24949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94817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13A59-1437-54B7-62BF-26DD35BF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전투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733439-5C46-567D-29A2-BD1438ABA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스테이지의 곳곳에 군집하고 있는 일반 </a:t>
            </a:r>
            <a:r>
              <a:rPr lang="ko-KR" altLang="en-US" dirty="0" err="1"/>
              <a:t>몬스터들</a:t>
            </a:r>
            <a:endParaRPr lang="en-US" altLang="ko-KR" dirty="0"/>
          </a:p>
          <a:p>
            <a:pPr lvl="1"/>
            <a:r>
              <a:rPr lang="ko-KR" altLang="en-US" dirty="0"/>
              <a:t>단독 패턴 혹은 소규모 집단 패턴을 구사</a:t>
            </a:r>
            <a:endParaRPr lang="en-US" altLang="ko-KR" dirty="0"/>
          </a:p>
          <a:p>
            <a:r>
              <a:rPr lang="ko-KR" altLang="en-US" dirty="0"/>
              <a:t>일반 몬스터를 지휘하는 </a:t>
            </a:r>
            <a:r>
              <a:rPr lang="ko-KR" altLang="en-US" dirty="0" err="1"/>
              <a:t>네임드</a:t>
            </a:r>
            <a:r>
              <a:rPr lang="ko-KR" altLang="en-US" dirty="0"/>
              <a:t> 몬스터</a:t>
            </a:r>
            <a:endParaRPr lang="en-US" altLang="ko-KR" dirty="0"/>
          </a:p>
          <a:p>
            <a:pPr lvl="1"/>
            <a:r>
              <a:rPr lang="ko-KR" altLang="en-US" dirty="0"/>
              <a:t>플레이어를 감지할 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자신의 감지 범위 내</a:t>
            </a:r>
            <a:r>
              <a:rPr lang="en-US" altLang="ko-KR" dirty="0"/>
              <a:t> </a:t>
            </a:r>
            <a:r>
              <a:rPr lang="ko-KR" altLang="en-US" dirty="0"/>
              <a:t>일반 몬스터를 일제히 통솔</a:t>
            </a:r>
            <a:endParaRPr lang="en-US" altLang="ko-KR" dirty="0"/>
          </a:p>
          <a:p>
            <a:pPr lvl="1"/>
            <a:r>
              <a:rPr lang="ko-KR" altLang="en-US" dirty="0"/>
              <a:t>대규모 집단 패턴 구사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3AE4FEB-FC1D-5672-B511-361763264C51}"/>
              </a:ext>
            </a:extLst>
          </p:cNvPr>
          <p:cNvGrpSpPr/>
          <p:nvPr/>
        </p:nvGrpSpPr>
        <p:grpSpPr>
          <a:xfrm>
            <a:off x="2089150" y="4464050"/>
            <a:ext cx="6464300" cy="2241550"/>
            <a:chOff x="1447800" y="4406900"/>
            <a:chExt cx="6464300" cy="2241550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B7501F2-37F2-D7A9-7291-513E5DA3F3CB}"/>
                </a:ext>
              </a:extLst>
            </p:cNvPr>
            <p:cNvSpPr/>
            <p:nvPr/>
          </p:nvSpPr>
          <p:spPr>
            <a:xfrm>
              <a:off x="2343150" y="4406900"/>
              <a:ext cx="5568950" cy="224155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               </a:t>
              </a:r>
              <a:r>
                <a:rPr lang="ko-KR" altLang="en-US" sz="1400" dirty="0" err="1">
                  <a:solidFill>
                    <a:schemeClr val="tx1"/>
                  </a:solidFill>
                </a:rPr>
                <a:t>네임드</a:t>
              </a:r>
              <a:r>
                <a:rPr lang="ko-KR" altLang="en-US" sz="1400" dirty="0">
                  <a:solidFill>
                    <a:schemeClr val="tx1"/>
                  </a:solidFill>
                </a:rPr>
                <a:t> 몬스터</a:t>
              </a:r>
              <a:br>
                <a:rPr lang="en-US" altLang="ko-KR" sz="1400" dirty="0">
                  <a:solidFill>
                    <a:schemeClr val="tx1"/>
                  </a:solidFill>
                </a:rPr>
              </a:br>
              <a:r>
                <a:rPr lang="en-US" altLang="ko-KR" sz="1400" dirty="0">
                  <a:solidFill>
                    <a:schemeClr val="tx1"/>
                  </a:solidFill>
                </a:rPr>
                <a:t>                   </a:t>
              </a:r>
              <a:r>
                <a:rPr lang="ko-KR" altLang="en-US" sz="1400" dirty="0">
                  <a:solidFill>
                    <a:schemeClr val="tx1"/>
                  </a:solidFill>
                </a:rPr>
                <a:t>감지 범위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0DB27EE5-BE4D-5793-A872-E1CA5E0FD16F}"/>
                </a:ext>
              </a:extLst>
            </p:cNvPr>
            <p:cNvSpPr/>
            <p:nvPr/>
          </p:nvSpPr>
          <p:spPr>
            <a:xfrm>
              <a:off x="3098800" y="4591050"/>
              <a:ext cx="1644650" cy="14351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일반 몬스터</a:t>
              </a:r>
              <a:br>
                <a:rPr lang="en-US" altLang="ko-KR" sz="1400" dirty="0">
                  <a:solidFill>
                    <a:schemeClr val="tx1"/>
                  </a:solidFill>
                </a:rPr>
              </a:br>
              <a:br>
                <a:rPr lang="en-US" altLang="ko-KR" sz="1400" dirty="0">
                  <a:solidFill>
                    <a:schemeClr val="tx1"/>
                  </a:solidFill>
                </a:rPr>
              </a:br>
              <a:r>
                <a:rPr lang="ko-KR" altLang="en-US" sz="1400" dirty="0">
                  <a:solidFill>
                    <a:schemeClr val="tx1"/>
                  </a:solidFill>
                </a:rPr>
                <a:t>감지 범위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C2077DA-B3E1-A225-8B0E-F0B7866607FC}"/>
                </a:ext>
              </a:extLst>
            </p:cNvPr>
            <p:cNvSpPr/>
            <p:nvPr/>
          </p:nvSpPr>
          <p:spPr>
            <a:xfrm>
              <a:off x="3851275" y="5233987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824E9E5-D990-97F6-5722-A9772DEB9CF0}"/>
                </a:ext>
              </a:extLst>
            </p:cNvPr>
            <p:cNvSpPr/>
            <p:nvPr/>
          </p:nvSpPr>
          <p:spPr>
            <a:xfrm>
              <a:off x="2197100" y="5311775"/>
              <a:ext cx="292100" cy="273050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138E31-804A-8B3E-61AF-9474AC7A3919}"/>
                </a:ext>
              </a:extLst>
            </p:cNvPr>
            <p:cNvSpPr txBox="1"/>
            <p:nvPr/>
          </p:nvSpPr>
          <p:spPr>
            <a:xfrm>
              <a:off x="1447800" y="5000823"/>
              <a:ext cx="1346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플레이어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CBCFCAD-2502-B075-BCDD-5141CED7AFF5}"/>
                </a:ext>
              </a:extLst>
            </p:cNvPr>
            <p:cNvSpPr/>
            <p:nvPr/>
          </p:nvSpPr>
          <p:spPr>
            <a:xfrm>
              <a:off x="4841875" y="5311775"/>
              <a:ext cx="292100" cy="2730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774A054-9B87-3731-FD92-9586F9A8B4D9}"/>
                </a:ext>
              </a:extLst>
            </p:cNvPr>
            <p:cNvSpPr/>
            <p:nvPr/>
          </p:nvSpPr>
          <p:spPr>
            <a:xfrm>
              <a:off x="5213350" y="4668837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E39031F-227F-B5FB-4F1A-A3081A2F800B}"/>
                </a:ext>
              </a:extLst>
            </p:cNvPr>
            <p:cNvSpPr/>
            <p:nvPr/>
          </p:nvSpPr>
          <p:spPr>
            <a:xfrm>
              <a:off x="4710113" y="6027738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연결선: 구부러짐 15">
              <a:extLst>
                <a:ext uri="{FF2B5EF4-FFF2-40B4-BE49-F238E27FC236}">
                  <a16:creationId xmlns:a16="http://schemas.microsoft.com/office/drawing/2014/main" id="{C0C9B2B0-291D-FBA2-3C96-92152A933A5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rot="16200000" flipH="1" flipV="1">
              <a:off x="3352007" y="4739480"/>
              <a:ext cx="74612" cy="1063625"/>
            </a:xfrm>
            <a:prstGeom prst="curvedConnector4">
              <a:avLst>
                <a:gd name="adj1" fmla="val -408513"/>
                <a:gd name="adj2" fmla="val 88507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C9C4457-02CB-59E0-BA21-894AE92EF2E1}"/>
                </a:ext>
              </a:extLst>
            </p:cNvPr>
            <p:cNvSpPr/>
            <p:nvPr/>
          </p:nvSpPr>
          <p:spPr>
            <a:xfrm>
              <a:off x="6711950" y="5299075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9" name="연결선: 구부러짐 28">
              <a:extLst>
                <a:ext uri="{FF2B5EF4-FFF2-40B4-BE49-F238E27FC236}">
                  <a16:creationId xmlns:a16="http://schemas.microsoft.com/office/drawing/2014/main" id="{3455B0C7-1C4B-D7CA-7AED-B5B602714C2A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rot="10800000">
              <a:off x="3098801" y="5648723"/>
              <a:ext cx="1611313" cy="453629"/>
            </a:xfrm>
            <a:prstGeom prst="curvedConnector3">
              <a:avLst>
                <a:gd name="adj1" fmla="val 74039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연결선: 구부러짐 32">
              <a:extLst>
                <a:ext uri="{FF2B5EF4-FFF2-40B4-BE49-F238E27FC236}">
                  <a16:creationId xmlns:a16="http://schemas.microsoft.com/office/drawing/2014/main" id="{8C49B941-FE58-BC20-4E0D-7C0264FE1DA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248150" y="4743451"/>
              <a:ext cx="965200" cy="565148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연결선: 구부러짐 35">
              <a:extLst>
                <a:ext uri="{FF2B5EF4-FFF2-40B4-BE49-F238E27FC236}">
                  <a16:creationId xmlns:a16="http://schemas.microsoft.com/office/drawing/2014/main" id="{AFDAEB55-9ACB-FF5A-FB5B-93D47E6C436B}"/>
                </a:ext>
              </a:extLst>
            </p:cNvPr>
            <p:cNvCxnSpPr>
              <a:cxnSpLocks/>
              <a:stCxn id="12" idx="1"/>
              <a:endCxn id="4" idx="5"/>
            </p:cNvCxnSpPr>
            <p:nvPr/>
          </p:nvCxnSpPr>
          <p:spPr>
            <a:xfrm rot="10800000" flipV="1">
              <a:off x="4502598" y="5373688"/>
              <a:ext cx="2209353" cy="442296"/>
            </a:xfrm>
            <a:prstGeom prst="curvedConnector4">
              <a:avLst>
                <a:gd name="adj1" fmla="val 20694"/>
                <a:gd name="adj2" fmla="val 131724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연결선: 구부러짐 46">
              <a:extLst>
                <a:ext uri="{FF2B5EF4-FFF2-40B4-BE49-F238E27FC236}">
                  <a16:creationId xmlns:a16="http://schemas.microsoft.com/office/drawing/2014/main" id="{939128AF-3F2B-81C6-750E-02961282FB65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rot="10800000" flipV="1">
              <a:off x="4394201" y="5448300"/>
              <a:ext cx="447675" cy="635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8566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6E8CFD-A553-89E9-FF3E-F2E182ED8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네임드</a:t>
            </a:r>
            <a:r>
              <a:rPr lang="ko-KR" altLang="en-US" dirty="0"/>
              <a:t> 몬스터의 지휘 전술</a:t>
            </a:r>
          </a:p>
        </p:txBody>
      </p:sp>
      <p:pic>
        <p:nvPicPr>
          <p:cNvPr id="5" name="내용 개체 틀 4" descr="텍스트, 폰트, 스크린샷, 도표이(가) 표시된 사진&#10;&#10;자동 생성된 설명">
            <a:extLst>
              <a:ext uri="{FF2B5EF4-FFF2-40B4-BE49-F238E27FC236}">
                <a16:creationId xmlns:a16="http://schemas.microsoft.com/office/drawing/2014/main" id="{E028E87E-A6CA-D067-A4B8-7AECF4CE6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14" y="1968927"/>
            <a:ext cx="3018385" cy="1942709"/>
          </a:xfrm>
        </p:spPr>
      </p:pic>
      <p:pic>
        <p:nvPicPr>
          <p:cNvPr id="7" name="그림 6" descr="스케치, 그림, 예술, 라인 아트이(가) 표시된 사진&#10;&#10;자동 생성된 설명">
            <a:extLst>
              <a:ext uri="{FF2B5EF4-FFF2-40B4-BE49-F238E27FC236}">
                <a16:creationId xmlns:a16="http://schemas.microsoft.com/office/drawing/2014/main" id="{35306711-07DB-20E6-E1A0-2E9371E0E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120" y="2277499"/>
            <a:ext cx="3094700" cy="1325563"/>
          </a:xfrm>
          <a:prstGeom prst="rect">
            <a:avLst/>
          </a:prstGeom>
        </p:spPr>
      </p:pic>
      <p:pic>
        <p:nvPicPr>
          <p:cNvPr id="9" name="그림 8" descr="스케치, 텍스트, 그림, 패턴이(가) 표시된 사진&#10;&#10;자동 생성된 설명">
            <a:extLst>
              <a:ext uri="{FF2B5EF4-FFF2-40B4-BE49-F238E27FC236}">
                <a16:creationId xmlns:a16="http://schemas.microsoft.com/office/drawing/2014/main" id="{75035942-B0E5-3497-DD40-27C3074825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263" y="1189954"/>
            <a:ext cx="2676423" cy="35006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042954-4713-CD15-4181-C7FC39819932}"/>
              </a:ext>
            </a:extLst>
          </p:cNvPr>
          <p:cNvSpPr txBox="1"/>
          <p:nvPr/>
        </p:nvSpPr>
        <p:spPr>
          <a:xfrm>
            <a:off x="3018118" y="5133944"/>
            <a:ext cx="6155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800" dirty="0"/>
              <a:t>플레이어는 지형과 </a:t>
            </a:r>
            <a:r>
              <a:rPr lang="ko-KR" altLang="en-US" sz="2800" dirty="0" err="1"/>
              <a:t>맵별</a:t>
            </a:r>
            <a:r>
              <a:rPr lang="ko-KR" altLang="en-US" sz="2800" dirty="0"/>
              <a:t> 특수 </a:t>
            </a:r>
            <a:r>
              <a:rPr lang="ko-KR" altLang="en-US" sz="2800" dirty="0" err="1"/>
              <a:t>기믹</a:t>
            </a:r>
            <a:r>
              <a:rPr lang="en-US" altLang="ko-KR" sz="2800" dirty="0"/>
              <a:t>,</a:t>
            </a:r>
            <a:br>
              <a:rPr lang="en-US" altLang="ko-KR" sz="2800" dirty="0"/>
            </a:br>
            <a:r>
              <a:rPr lang="ko-KR" altLang="en-US" sz="2800" dirty="0"/>
              <a:t>전술의 약점을 파악하여 돌파</a:t>
            </a:r>
          </a:p>
        </p:txBody>
      </p:sp>
    </p:spTree>
    <p:extLst>
      <p:ext uri="{BB962C8B-B14F-4D97-AF65-F5344CB8AC3E}">
        <p14:creationId xmlns:p14="http://schemas.microsoft.com/office/powerpoint/2010/main" val="3191384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D2421-CC9F-90CA-3831-19544DC7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지형별 몬스터 컨셉</a:t>
            </a:r>
          </a:p>
        </p:txBody>
      </p:sp>
      <p:pic>
        <p:nvPicPr>
          <p:cNvPr id="5" name="그림 4" descr="장난감, 유아 완구, 만화 영화, 클립아트이(가) 표시된 사진&#10;&#10;자동 생성된 설명">
            <a:extLst>
              <a:ext uri="{FF2B5EF4-FFF2-40B4-BE49-F238E27FC236}">
                <a16:creationId xmlns:a16="http://schemas.microsoft.com/office/drawing/2014/main" id="{B7AC1EA0-2869-2CDA-A28F-A618ACAE2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825" y="1990949"/>
            <a:ext cx="3834348" cy="2148188"/>
          </a:xfrm>
          <a:prstGeom prst="rect">
            <a:avLst/>
          </a:prstGeom>
        </p:spPr>
      </p:pic>
      <p:pic>
        <p:nvPicPr>
          <p:cNvPr id="7" name="그림 6" descr="돼지, 동물 피규어, 만화 영화이(가) 표시된 사진&#10;&#10;자동 생성된 설명">
            <a:extLst>
              <a:ext uri="{FF2B5EF4-FFF2-40B4-BE49-F238E27FC236}">
                <a16:creationId xmlns:a16="http://schemas.microsoft.com/office/drawing/2014/main" id="{3188293B-77FD-C6E3-9181-E25BF18CE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85" y="1990949"/>
            <a:ext cx="3839111" cy="2133898"/>
          </a:xfrm>
          <a:prstGeom prst="rect">
            <a:avLst/>
          </a:prstGeom>
        </p:spPr>
      </p:pic>
      <p:pic>
        <p:nvPicPr>
          <p:cNvPr id="9" name="그림 8" descr="애니메이션, 일러스트레이션, 만화 영화, 예술이(가) 표시된 사진&#10;&#10;자동 생성된 설명">
            <a:extLst>
              <a:ext uri="{FF2B5EF4-FFF2-40B4-BE49-F238E27FC236}">
                <a16:creationId xmlns:a16="http://schemas.microsoft.com/office/drawing/2014/main" id="{ACDF634E-33A3-B878-A994-08FC6E697D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602" y="4437016"/>
            <a:ext cx="3843874" cy="2148188"/>
          </a:xfrm>
          <a:prstGeom prst="rect">
            <a:avLst/>
          </a:prstGeom>
        </p:spPr>
      </p:pic>
      <p:pic>
        <p:nvPicPr>
          <p:cNvPr id="11" name="그림 10" descr="만화 영화, 장난감, 애니메이션이(가) 표시된 사진&#10;&#10;자동 생성된 설명">
            <a:extLst>
              <a:ext uri="{FF2B5EF4-FFF2-40B4-BE49-F238E27FC236}">
                <a16:creationId xmlns:a16="http://schemas.microsoft.com/office/drawing/2014/main" id="{14195EF2-5EC0-2BC6-2429-6FEA51D27A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74" y="4425109"/>
            <a:ext cx="3824822" cy="2172003"/>
          </a:xfrm>
          <a:prstGeom prst="rect">
            <a:avLst/>
          </a:prstGeom>
        </p:spPr>
      </p:pic>
      <p:pic>
        <p:nvPicPr>
          <p:cNvPr id="13" name="그림 12" descr="만화 영화, 스크린샷이(가) 표시된 사진&#10;&#10;자동 생성된 설명">
            <a:extLst>
              <a:ext uri="{FF2B5EF4-FFF2-40B4-BE49-F238E27FC236}">
                <a16:creationId xmlns:a16="http://schemas.microsoft.com/office/drawing/2014/main" id="{E8FAE28C-8A6F-1714-7A4E-9B96A74D9F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588" y="4434249"/>
            <a:ext cx="3824822" cy="2138661"/>
          </a:xfrm>
          <a:prstGeom prst="rect">
            <a:avLst/>
          </a:prstGeom>
        </p:spPr>
      </p:pic>
      <p:pic>
        <p:nvPicPr>
          <p:cNvPr id="15" name="그림 14" descr="만화 영화, 스크린샷이(가) 표시된 사진&#10;&#10;자동 생성된 설명">
            <a:extLst>
              <a:ext uri="{FF2B5EF4-FFF2-40B4-BE49-F238E27FC236}">
                <a16:creationId xmlns:a16="http://schemas.microsoft.com/office/drawing/2014/main" id="{5F911E30-53A9-8E6E-3520-BCB6994744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602" y="1971896"/>
            <a:ext cx="3848637" cy="215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0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4EA54-D066-7461-4946-35B519A5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 </a:t>
            </a:r>
            <a:r>
              <a:rPr lang="en-US" altLang="ko-KR" dirty="0"/>
              <a:t>– </a:t>
            </a:r>
            <a:r>
              <a:rPr lang="ko-KR" altLang="en-US" dirty="0"/>
              <a:t>맵 소개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0E32136-AF13-46F3-EC60-1889AC900129}"/>
              </a:ext>
            </a:extLst>
          </p:cNvPr>
          <p:cNvSpPr/>
          <p:nvPr/>
        </p:nvSpPr>
        <p:spPr>
          <a:xfrm>
            <a:off x="5200918" y="2698124"/>
            <a:ext cx="1790164" cy="14617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중앙 마을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2774D3A-4F04-42AD-02A2-927C2DA2B9F7}"/>
              </a:ext>
            </a:extLst>
          </p:cNvPr>
          <p:cNvSpPr/>
          <p:nvPr/>
        </p:nvSpPr>
        <p:spPr>
          <a:xfrm>
            <a:off x="3131713" y="1446727"/>
            <a:ext cx="1472485" cy="11741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stage 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D179EC5-7239-DE78-7E76-10D4D8ED0C32}"/>
              </a:ext>
            </a:extLst>
          </p:cNvPr>
          <p:cNvSpPr/>
          <p:nvPr/>
        </p:nvSpPr>
        <p:spPr>
          <a:xfrm>
            <a:off x="7587804" y="1446727"/>
            <a:ext cx="1472485" cy="11741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stage 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D126357-4D81-2874-B147-4412E2C89CE7}"/>
              </a:ext>
            </a:extLst>
          </p:cNvPr>
          <p:cNvSpPr/>
          <p:nvPr/>
        </p:nvSpPr>
        <p:spPr>
          <a:xfrm>
            <a:off x="5359757" y="4930463"/>
            <a:ext cx="1472485" cy="11741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stage 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21C9605-89E8-AB75-3214-8315E900831C}"/>
              </a:ext>
            </a:extLst>
          </p:cNvPr>
          <p:cNvSpPr/>
          <p:nvPr/>
        </p:nvSpPr>
        <p:spPr>
          <a:xfrm>
            <a:off x="1882461" y="2841938"/>
            <a:ext cx="1472485" cy="11741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stage 5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8FE22FF-6DE6-EF06-EE7B-52E60D5FFB82}"/>
              </a:ext>
            </a:extLst>
          </p:cNvPr>
          <p:cNvSpPr/>
          <p:nvPr/>
        </p:nvSpPr>
        <p:spPr>
          <a:xfrm>
            <a:off x="8837054" y="2841938"/>
            <a:ext cx="1472485" cy="117412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stage 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2C9560E-0FFA-F5C0-04B5-F238E05DE941}"/>
              </a:ext>
            </a:extLst>
          </p:cNvPr>
          <p:cNvCxnSpPr/>
          <p:nvPr/>
        </p:nvCxnSpPr>
        <p:spPr>
          <a:xfrm>
            <a:off x="6639059" y="2208727"/>
            <a:ext cx="1094704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E2D6CF-BD34-7C4B-85C0-83DAA221890A}"/>
              </a:ext>
            </a:extLst>
          </p:cNvPr>
          <p:cNvSpPr txBox="1"/>
          <p:nvPr/>
        </p:nvSpPr>
        <p:spPr>
          <a:xfrm>
            <a:off x="5027055" y="1709834"/>
            <a:ext cx="2481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이전 스테이지를 클리어 했을 때 통과 가능한 지형 </a:t>
            </a:r>
            <a:r>
              <a:rPr lang="ko-KR" altLang="en-US" sz="1200" dirty="0" err="1"/>
              <a:t>기믹</a:t>
            </a:r>
            <a:endParaRPr lang="ko-KR" altLang="en-US" sz="12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01B9BF1-C324-A3F6-767C-BB2749D15AF7}"/>
              </a:ext>
            </a:extLst>
          </p:cNvPr>
          <p:cNvCxnSpPr>
            <a:cxnSpLocks/>
          </p:cNvCxnSpPr>
          <p:nvPr/>
        </p:nvCxnSpPr>
        <p:spPr>
          <a:xfrm>
            <a:off x="8204915" y="2971800"/>
            <a:ext cx="0" cy="9176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6F17CC7-04FB-3B49-B8C9-6F25C33C89CC}"/>
              </a:ext>
            </a:extLst>
          </p:cNvPr>
          <p:cNvCxnSpPr>
            <a:cxnSpLocks/>
          </p:cNvCxnSpPr>
          <p:nvPr/>
        </p:nvCxnSpPr>
        <p:spPr>
          <a:xfrm>
            <a:off x="5406980" y="4573072"/>
            <a:ext cx="1378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FBEE0E0-3FDB-0AA5-AF01-0DB67E7AFCEF}"/>
              </a:ext>
            </a:extLst>
          </p:cNvPr>
          <p:cNvCxnSpPr>
            <a:cxnSpLocks/>
          </p:cNvCxnSpPr>
          <p:nvPr/>
        </p:nvCxnSpPr>
        <p:spPr>
          <a:xfrm>
            <a:off x="4032160" y="2971800"/>
            <a:ext cx="0" cy="9176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924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F1EA2-56AC-396F-E949-239AC5DE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스테이지 조감도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1E5D3F-2827-AF24-A94B-0E39DDD23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715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009F7-FA05-47D8-29BD-CF3B6C49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395" y="9525"/>
            <a:ext cx="10515600" cy="1325563"/>
          </a:xfrm>
        </p:spPr>
        <p:txBody>
          <a:bodyPr/>
          <a:lstStyle/>
          <a:p>
            <a:r>
              <a:rPr lang="ko-KR" altLang="en-US" dirty="0"/>
              <a:t>게임 소개 </a:t>
            </a:r>
            <a:r>
              <a:rPr lang="en-US" altLang="ko-KR" dirty="0"/>
              <a:t>– </a:t>
            </a:r>
            <a:r>
              <a:rPr lang="ko-KR" altLang="en-US" dirty="0"/>
              <a:t>스테이지의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B321C-C7D6-C1CF-7682-FFB0AA25D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맵 디자인</a:t>
            </a:r>
            <a:r>
              <a:rPr lang="en-US" altLang="ko-KR" dirty="0"/>
              <a:t>(</a:t>
            </a:r>
            <a:r>
              <a:rPr lang="ko-KR" altLang="en-US" dirty="0"/>
              <a:t>곁가지 숨겨진 방 </a:t>
            </a:r>
            <a:r>
              <a:rPr lang="en-US" altLang="ko-KR" dirty="0"/>
              <a:t>– </a:t>
            </a:r>
            <a:r>
              <a:rPr lang="ko-KR" altLang="en-US" dirty="0"/>
              <a:t>클리어 시 개방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             </a:t>
            </a:r>
            <a:r>
              <a:rPr lang="ko-KR" altLang="en-US" dirty="0"/>
              <a:t>숨겨진 방을 위한 </a:t>
            </a:r>
            <a:r>
              <a:rPr lang="ko-KR" altLang="en-US" dirty="0" err="1"/>
              <a:t>숏컷</a:t>
            </a:r>
            <a:r>
              <a:rPr lang="ko-KR" altLang="en-US" dirty="0"/>
              <a:t> 해금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53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C0A7E-3044-70FA-D7F3-F186FCCB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 </a:t>
            </a:r>
            <a:r>
              <a:rPr lang="en-US" altLang="ko-KR" dirty="0"/>
              <a:t>- </a:t>
            </a:r>
            <a:r>
              <a:rPr lang="ko-KR" altLang="en-US" dirty="0"/>
              <a:t>조작법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58A142-7B3C-1973-8EAA-22B5241D9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조작법을 적어야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무기별 기본 공격 동작 </a:t>
            </a:r>
            <a:r>
              <a:rPr lang="en-US" altLang="ko-KR" dirty="0"/>
              <a:t>n</a:t>
            </a:r>
            <a:r>
              <a:rPr lang="ko-KR" altLang="en-US" dirty="0"/>
              <a:t>종류</a:t>
            </a:r>
            <a:r>
              <a:rPr lang="en-US" altLang="ko-KR" dirty="0"/>
              <a:t>: </a:t>
            </a:r>
            <a:r>
              <a:rPr lang="ko-KR" altLang="en-US" dirty="0"/>
              <a:t>커맨드 입력</a:t>
            </a:r>
            <a:endParaRPr lang="en-US" altLang="ko-KR" dirty="0"/>
          </a:p>
          <a:p>
            <a:pPr lvl="1"/>
            <a:r>
              <a:rPr lang="ko-KR" altLang="en-US" dirty="0"/>
              <a:t>스킬 개방 같은 개념이 아님</a:t>
            </a:r>
            <a:r>
              <a:rPr lang="en-US" altLang="ko-KR" dirty="0"/>
              <a:t>, </a:t>
            </a:r>
            <a:r>
              <a:rPr lang="ko-KR" altLang="en-US" dirty="0"/>
              <a:t>처음부터 다 사용 가능</a:t>
            </a:r>
            <a:endParaRPr lang="en-US" altLang="ko-KR" dirty="0"/>
          </a:p>
          <a:p>
            <a:r>
              <a:rPr lang="ko-KR" altLang="en-US" dirty="0"/>
              <a:t>무기 스킬은 그냥 버튼 클릭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98086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8E036-D62D-CB7D-848B-7D144695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 게임과의 차별성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C87F8F-39C1-AC5C-9ABF-C5D898E5E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획득하는 무기에 따른 파티별 성장 전략</a:t>
            </a:r>
            <a:endParaRPr lang="en-US" altLang="ko-KR" dirty="0"/>
          </a:p>
          <a:p>
            <a:pPr lvl="1"/>
            <a:r>
              <a:rPr lang="ko-KR" altLang="en-US" dirty="0"/>
              <a:t>각자 특화할 무기를 정하고 분배하기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무기 경험치가 낮은 파티원에게 </a:t>
            </a:r>
            <a:r>
              <a:rPr lang="ko-KR" altLang="en-US" dirty="0" err="1"/>
              <a:t>피해량을</a:t>
            </a:r>
            <a:r>
              <a:rPr lang="ko-KR" altLang="en-US" dirty="0"/>
              <a:t> 입힐 기회 몰아주기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br>
              <a:rPr lang="en-US" altLang="ko-KR" dirty="0"/>
            </a:br>
            <a:r>
              <a:rPr lang="ko-KR" altLang="en-US" dirty="0"/>
              <a:t>협력해야 더 잘 성장한다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적이 전술을 갖추는 </a:t>
            </a:r>
            <a:r>
              <a:rPr lang="en-US" altLang="ko-KR" dirty="0"/>
              <a:t>RPG</a:t>
            </a:r>
          </a:p>
          <a:p>
            <a:r>
              <a:rPr lang="en-US" altLang="ko-KR" dirty="0"/>
              <a:t>NPC </a:t>
            </a:r>
            <a:r>
              <a:rPr lang="ko-KR" altLang="en-US" dirty="0"/>
              <a:t>수집</a:t>
            </a:r>
          </a:p>
        </p:txBody>
      </p:sp>
    </p:spTree>
    <p:extLst>
      <p:ext uri="{BB962C8B-B14F-4D97-AF65-F5344CB8AC3E}">
        <p14:creationId xmlns:p14="http://schemas.microsoft.com/office/powerpoint/2010/main" val="22181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254</Words>
  <Application>Microsoft Office PowerPoint</Application>
  <PresentationFormat>와이드스크린</PresentationFormat>
  <Paragraphs>49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이방인(Outlander)</vt:lpstr>
      <vt:lpstr>목차</vt:lpstr>
      <vt:lpstr>게임 장르 및 우리 게임에서 재밌는 부분</vt:lpstr>
      <vt:lpstr>캐릭터</vt:lpstr>
      <vt:lpstr>전투 개요</vt:lpstr>
      <vt:lpstr>네임드 몬스터의 지휘 전술</vt:lpstr>
      <vt:lpstr>지형별 몬스터 컨셉</vt:lpstr>
      <vt:lpstr>게임 소개 – 맵 소개</vt:lpstr>
      <vt:lpstr>스테이지 조감도</vt:lpstr>
      <vt:lpstr>게임 소개 – 스테이지의 흐름</vt:lpstr>
      <vt:lpstr>게임 소개 - 조작법</vt:lpstr>
      <vt:lpstr>타 게임과의 차별성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종진 이</dc:creator>
  <cp:lastModifiedBy>장명운(2020180033)</cp:lastModifiedBy>
  <cp:revision>23</cp:revision>
  <dcterms:created xsi:type="dcterms:W3CDTF">2024-11-28T12:50:34Z</dcterms:created>
  <dcterms:modified xsi:type="dcterms:W3CDTF">2024-12-03T18:07:12Z</dcterms:modified>
</cp:coreProperties>
</file>