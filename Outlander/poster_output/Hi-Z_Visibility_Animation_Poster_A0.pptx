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968000"/>
          </a:xfrm>
          <a:prstGeom prst="rect">
            <a:avLst/>
          </a:prstGeom>
          <a:solidFill>
            <a:srgbClr val="163152"/>
          </a:solidFill>
          <a:ln>
            <a:solidFill>
              <a:srgbClr val="16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720000"/>
            <a:ext cx="28115999" cy="1475999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Malgun Gothic"/>
              </a:rPr>
              <a:t>Hi-Z 오클루전 컬링 결과를 활용한
가시성 기반 애니메이션 갱신 기법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412000"/>
            <a:ext cx="28115999" cy="503999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900" b="0">
                <a:solidFill>
                  <a:srgbClr val="DAE6F2"/>
                </a:solidFill>
                <a:latin typeface="Malgun Gothic"/>
              </a:rPr>
              <a:t>A Visibility-based Animation Update Method Using Hi-Z Occlusion Culling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150000"/>
            <a:ext cx="28115999" cy="432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algun Gothic"/>
              </a:rPr>
              <a:t>장명운○, 우상훈, 이종진, 정내훈 | 한국공학대학교 게임공학과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761999"/>
            <a:ext cx="28115999" cy="342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DAE6F2"/>
                </a:solidFill>
                <a:latin typeface="Malgun Gothic"/>
              </a:rPr>
              <a:t>wkdauddns9@gmail.com, asm1133@naver.com, ljj3640@gmail.com, nhjung@tukorea.ac.kr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0000" y="5400000"/>
            <a:ext cx="27395999" cy="21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0" y="5652000"/>
            <a:ext cx="26675999" cy="432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66A4"/>
                </a:solidFill>
                <a:latin typeface="Malgun Gothic"/>
              </a:rPr>
              <a:t>핵심 아이디어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6192000"/>
            <a:ext cx="25955999" cy="86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63152"/>
                </a:solidFill>
                <a:latin typeface="Malgun Gothic"/>
              </a:rPr>
              <a:t>GPU에서 계산된 Hi-Z 가시성 정보를 이전 프레임 기반으로 비동기 활용하여, 보이지 않는 객체의 CPU 애니메이션 갱신을 선택적으로 생략한다.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0000" y="8280000"/>
            <a:ext cx="8730000" cy="72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40000" y="8280000"/>
            <a:ext cx="8730000" cy="684000"/>
          </a:xfrm>
          <a:prstGeom prst="rect">
            <a:avLst/>
          </a:prstGeom>
          <a:solidFill>
            <a:srgbClr val="1F66A4"/>
          </a:solidFill>
          <a:ln>
            <a:solidFill>
              <a:srgbClr val="1F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1. 연구 배경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8000" y="9090000"/>
            <a:ext cx="8333999" cy="624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실시간 렌더링은 복잡한 메시, 조명, 물리 효과를 높은 프레임 재생률로 처리해야 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LOD, 시야 절두체 컬링, 오클루전 컬링은 렌더링 비용을 줄이지만 주로 그리기 단계에 집중된다.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CPU 기반 역기구학, 래그돌 물리, 애니메이션 보간은 화면에 보이지 않는 객체에도 수행되어 병목이 될 수 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0000" y="16200000"/>
            <a:ext cx="8730000" cy="86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40000" y="16200000"/>
            <a:ext cx="8730000" cy="684000"/>
          </a:xfrm>
          <a:prstGeom prst="rect">
            <a:avLst/>
          </a:prstGeom>
          <a:solidFill>
            <a:srgbClr val="008480"/>
          </a:solidFill>
          <a:ln>
            <a:solidFill>
              <a:srgbClr val="00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2. 문제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000" y="17010000"/>
            <a:ext cx="8333999" cy="76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GPU 오클루전 컬링 결과는 CPU-GPU 비동기 실행 특성 때문에 즉시 CPU 애니메이션 시스템에 반영하기 어렵다.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명시적 동기화를 넣으면 파이프라인 지연이 발생하고, 동기화 없이 읽으면 가시성 정보가 불완전할 수 있다.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목표는 렌더링 품질을 유지하면서 애니메이션 연산량을 전체 객체 수가 아니라 실제 가시 객체 수에 비례시키는 것이다.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0000" y="25560000"/>
            <a:ext cx="8730000" cy="86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0000" y="25560000"/>
            <a:ext cx="8730000" cy="684000"/>
          </a:xfrm>
          <a:prstGeom prst="rect">
            <a:avLst/>
          </a:prstGeom>
          <a:solidFill>
            <a:srgbClr val="D97E2D"/>
          </a:solidFill>
          <a:ln>
            <a:solidFill>
              <a:srgbClr val="D9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3. 제안 기법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8000" y="26370000"/>
            <a:ext cx="8333999" cy="76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각 그리기 이벤트는 변환 행렬, 메시/재질 정보, 객체 식별자를 포함한다.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Hi-Z 오클루전 컬링은 이벤트별 32비트 가시성 플래그를 생성한다.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하위 비트는 가시성, 상위 비트는 객체 식별자를 저장하고 CPU는 이를 객체 단위 가시성으로 병합한다.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가시 객체만 애니메이션 스케줄러에 전달한다.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36000" y="8280000"/>
            <a:ext cx="8730000" cy="10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36000" y="8280000"/>
            <a:ext cx="8730000" cy="684000"/>
          </a:xfrm>
          <a:prstGeom prst="rect">
            <a:avLst/>
          </a:prstGeom>
          <a:solidFill>
            <a:srgbClr val="163152"/>
          </a:solidFill>
          <a:ln>
            <a:solidFill>
              <a:srgbClr val="16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>
            <a:no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4. 시스템 파이프라인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96000" y="9828000"/>
            <a:ext cx="1314000" cy="1655999"/>
          </a:xfrm>
          <a:prstGeom prst="roundRect">
            <a:avLst>
              <a:gd name="adj" fmla="val 8000"/>
            </a:avLst>
          </a:prstGeom>
          <a:solidFill>
            <a:srgbClr val="E2EEF9"/>
          </a:solidFill>
          <a:ln w="16510">
            <a:solidFill>
              <a:srgbClr val="1F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700" b="1">
                <a:solidFill>
                  <a:srgbClr val="163152"/>
                </a:solidFill>
                <a:latin typeface="Malgun Gothic"/>
              </a:rPr>
              <a:t>시야 절두체
컬링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2564000" y="10530000"/>
            <a:ext cx="198000" cy="251999"/>
          </a:xfrm>
          <a:prstGeom prst="rightArrow">
            <a:avLst/>
          </a:prstGeom>
          <a:solidFill>
            <a:srgbClr val="C4CFD9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870000" y="9828000"/>
            <a:ext cx="1314000" cy="1655999"/>
          </a:xfrm>
          <a:prstGeom prst="roundRect">
            <a:avLst>
              <a:gd name="adj" fmla="val 8000"/>
            </a:avLst>
          </a:prstGeom>
          <a:solidFill>
            <a:srgbClr val="E0F4F1"/>
          </a:solidFill>
          <a:ln w="16510">
            <a:solidFill>
              <a:srgbClr val="00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700" b="1">
                <a:solidFill>
                  <a:srgbClr val="163152"/>
                </a:solidFill>
                <a:latin typeface="Malgun Gothic"/>
              </a:rPr>
              <a:t>Hi-Z
오클루전 컬링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4237999" y="10530000"/>
            <a:ext cx="198000" cy="251999"/>
          </a:xfrm>
          <a:prstGeom prst="rightArrow">
            <a:avLst/>
          </a:prstGeom>
          <a:solidFill>
            <a:srgbClr val="C4CFD9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544000" y="9828000"/>
            <a:ext cx="1314000" cy="1655999"/>
          </a:xfrm>
          <a:prstGeom prst="roundRect">
            <a:avLst>
              <a:gd name="adj" fmla="val 8000"/>
            </a:avLst>
          </a:prstGeom>
          <a:solidFill>
            <a:srgbClr val="FCEEDE"/>
          </a:solidFill>
          <a:ln w="16510">
            <a:solidFill>
              <a:srgbClr val="D9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700" b="1">
                <a:solidFill>
                  <a:srgbClr val="163152"/>
                </a:solidFill>
                <a:latin typeface="Malgun Gothic"/>
              </a:rPr>
              <a:t>가시성 플래그
readback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5911999" y="10530000"/>
            <a:ext cx="198000" cy="251999"/>
          </a:xfrm>
          <a:prstGeom prst="rightArrow">
            <a:avLst/>
          </a:prstGeom>
          <a:solidFill>
            <a:srgbClr val="C4CFD9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217999" y="9828000"/>
            <a:ext cx="1314000" cy="1655999"/>
          </a:xfrm>
          <a:prstGeom prst="roundRect">
            <a:avLst>
              <a:gd name="adj" fmla="val 8000"/>
            </a:avLst>
          </a:prstGeom>
          <a:solidFill>
            <a:srgbClr val="E2EEF9"/>
          </a:solidFill>
          <a:ln w="16510">
            <a:solidFill>
              <a:srgbClr val="1F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700" b="1">
                <a:solidFill>
                  <a:srgbClr val="163152"/>
                </a:solidFill>
                <a:latin typeface="Malgun Gothic"/>
              </a:rPr>
              <a:t>객체 단위
가시성 병합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7585999" y="10530000"/>
            <a:ext cx="198000" cy="251999"/>
          </a:xfrm>
          <a:prstGeom prst="rightArrow">
            <a:avLst/>
          </a:prstGeom>
          <a:solidFill>
            <a:srgbClr val="C4CFD9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892000" y="9828000"/>
            <a:ext cx="1314000" cy="1655999"/>
          </a:xfrm>
          <a:prstGeom prst="roundRect">
            <a:avLst>
              <a:gd name="adj" fmla="val 8000"/>
            </a:avLst>
          </a:prstGeom>
          <a:solidFill>
            <a:srgbClr val="E0F4F1"/>
          </a:solidFill>
          <a:ln w="16510">
            <a:solidFill>
              <a:srgbClr val="2C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700" b="1">
                <a:solidFill>
                  <a:srgbClr val="163152"/>
                </a:solidFill>
                <a:latin typeface="Malgun Gothic"/>
              </a:rPr>
              <a:t>시간 예산 기반
애니메이션 갱신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2000" y="12240000"/>
            <a:ext cx="7938000" cy="2232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l">
              <a:lnSpc>
                <a:spcPct val="105000"/>
              </a:lnSpc>
            </a:pPr>
            <a:r>
              <a:rPr sz="1750" b="0">
                <a:solidFill>
                  <a:srgbClr val="353D46"/>
                </a:solidFill>
                <a:latin typeface="Malgun Gothic"/>
              </a:rPr>
              <a:t>GPU 컬링 결과를 CPU가 기다리지 않고 읽되, 객체 식별자를 포함한 플래그를 사용해 인스턴스 단위 결과를 객체 단위 가시성으로 집계한다.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96000" y="14760000"/>
            <a:ext cx="8010000" cy="32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63152"/>
                </a:solidFill>
                <a:latin typeface="Malgun Gothic"/>
              </a:rPr>
              <a:t>동기화 회피 핵심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68000" y="15210000"/>
            <a:ext cx="756000" cy="1007999"/>
          </a:xfrm>
          <a:prstGeom prst="rect">
            <a:avLst/>
          </a:prstGeom>
          <a:solidFill>
            <a:srgbClr val="FCEEDE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1450" b="1">
                <a:solidFill>
                  <a:srgbClr val="163152"/>
                </a:solidFill>
                <a:latin typeface="Malgun Gothic"/>
              </a:rPr>
              <a:t>문제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42000" y="15210000"/>
            <a:ext cx="7092000" cy="1007999"/>
          </a:xfrm>
          <a:prstGeom prst="rect">
            <a:avLst/>
          </a:prstGeom>
          <a:solidFill>
            <a:srgbClr val="FFFFFF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>
            <a:noAutofit/>
          </a:bodyPr>
          <a:lstStyle/>
          <a:p>
            <a:pPr algn="ctr"/>
            <a:r>
              <a:rPr sz="1280" b="0">
                <a:solidFill>
                  <a:srgbClr val="353D46"/>
                </a:solidFill>
                <a:latin typeface="Malgun Gothic"/>
              </a:rPr>
              <a:t>CPU가 GPU 쓰기 완료 전 버퍼를 읽으면 프레임 간 가시성 정보가 섞일 수 있음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268000" y="16272000"/>
            <a:ext cx="756000" cy="1007999"/>
          </a:xfrm>
          <a:prstGeom prst="rect">
            <a:avLst/>
          </a:prstGeom>
          <a:solidFill>
            <a:srgbClr val="E2EEF9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1450" b="1">
                <a:solidFill>
                  <a:srgbClr val="163152"/>
                </a:solidFill>
                <a:latin typeface="Malgun Gothic"/>
              </a:rPr>
              <a:t>위험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42000" y="16272000"/>
            <a:ext cx="7092000" cy="1007999"/>
          </a:xfrm>
          <a:prstGeom prst="rect">
            <a:avLst/>
          </a:prstGeom>
          <a:solidFill>
            <a:srgbClr val="FFFFFF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>
            <a:noAutofit/>
          </a:bodyPr>
          <a:lstStyle/>
          <a:p>
            <a:pPr algn="ctr"/>
            <a:r>
              <a:rPr sz="1280" b="0">
                <a:solidFill>
                  <a:srgbClr val="353D46"/>
                </a:solidFill>
                <a:latin typeface="Malgun Gothic"/>
              </a:rPr>
              <a:t>인스턴스 재배치 시 실제로 보이는 객체가 비가시로 잘못 병합될 수 있음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68000" y="17334000"/>
            <a:ext cx="756000" cy="1007999"/>
          </a:xfrm>
          <a:prstGeom prst="rect">
            <a:avLst/>
          </a:prstGeom>
          <a:solidFill>
            <a:srgbClr val="E0F4F1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1450" b="1">
                <a:solidFill>
                  <a:srgbClr val="163152"/>
                </a:solidFill>
                <a:latin typeface="Malgun Gothic"/>
              </a:rPr>
              <a:t>해결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42000" y="17334000"/>
            <a:ext cx="7092000" cy="1007999"/>
          </a:xfrm>
          <a:prstGeom prst="rect">
            <a:avLst/>
          </a:prstGeom>
          <a:solidFill>
            <a:srgbClr val="FFFFFF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72000">
            <a:noAutofit/>
          </a:bodyPr>
          <a:lstStyle/>
          <a:p>
            <a:pPr algn="ctr"/>
            <a:r>
              <a:rPr sz="1280" b="0">
                <a:solidFill>
                  <a:srgbClr val="353D46"/>
                </a:solidFill>
                <a:latin typeface="Malgun Gothic"/>
              </a:rPr>
              <a:t>두 슬롯 링 버퍼와 슬롯별 인스턴스 수를 유지해 한 프레임의 완전한 결과를 보존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36000" y="19800000"/>
            <a:ext cx="8730000" cy="72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36000" y="19800000"/>
            <a:ext cx="8730000" cy="684000"/>
          </a:xfrm>
          <a:prstGeom prst="rect">
            <a:avLst/>
          </a:prstGeom>
          <a:solidFill>
            <a:srgbClr val="2C8B4E"/>
          </a:solidFill>
          <a:ln>
            <a:solidFill>
              <a:srgbClr val="2C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5. 애니메이션 스케줄링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34000" y="20610000"/>
            <a:ext cx="8333999" cy="624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비가시 객체는 갱신 후보에서 제외한다.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가시 객체는 카메라 거리와 마지막 갱신 시점을 기반으로 우선순위를 계산한다.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최대 힙 우선순위 큐에서 시간 예산이 허용하는 만큼 갱신하고 나머지는 다음 프레임으로 미룬다.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36000" y="27720000"/>
            <a:ext cx="8730000" cy="64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24000" y="28080000"/>
            <a:ext cx="8153999" cy="360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63152"/>
                </a:solidFill>
                <a:latin typeface="Malgun Gothic"/>
              </a:rPr>
              <a:t>우선순위 계산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68000" y="28800000"/>
            <a:ext cx="7866000" cy="1007999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66A4"/>
                </a:solidFill>
                <a:latin typeface="Malgun Gothic"/>
              </a:rPr>
              <a:t>w_d = 1 / (1 + (d x k_d)^2)
w_t = 1 + t / (t + k_t)
priority = w_d x w_t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04000" y="30348000"/>
            <a:ext cx="7793999" cy="194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700" b="0">
                <a:solidFill>
                  <a:srgbClr val="353D46"/>
                </a:solidFill>
                <a:latin typeface="Malgun Gothic"/>
              </a:rPr>
              <a:t>가까운 객체와 오래 갱신되지 않은 객체의 우선순위를 높여, 컬링과 LOD가 애니메이션 갱신에도 자연스럽게 반영되도록 한다.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232000" y="8280000"/>
            <a:ext cx="8730000" cy="84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232000" y="8280000"/>
            <a:ext cx="8730000" cy="684000"/>
          </a:xfrm>
          <a:prstGeom prst="rect">
            <a:avLst/>
          </a:prstGeom>
          <a:solidFill>
            <a:srgbClr val="2C8B4E"/>
          </a:solidFill>
          <a:ln>
            <a:solidFill>
              <a:srgbClr val="2C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>
            <a:no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6. 성능 분석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92000" y="9360000"/>
            <a:ext cx="8010000" cy="360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63152"/>
                </a:solidFill>
                <a:latin typeface="Malgun Gothic"/>
              </a:rPr>
              <a:t>평균 애니메이션 갱신 시간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312000" y="9918000"/>
            <a:ext cx="6570000" cy="324000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312000" y="9918000"/>
            <a:ext cx="6277999" cy="324000"/>
          </a:xfrm>
          <a:prstGeom prst="rect">
            <a:avLst/>
          </a:prstGeom>
          <a:solidFill>
            <a:srgbClr val="D97E2D"/>
          </a:solidFill>
          <a:ln>
            <a:solidFill>
              <a:srgbClr val="D9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664000" y="9900000"/>
            <a:ext cx="648000" cy="32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r">
              <a:lnSpc>
                <a:spcPct val="105000"/>
              </a:lnSpc>
            </a:pPr>
            <a:r>
              <a:rPr sz="1250" b="0">
                <a:solidFill>
                  <a:srgbClr val="353D46"/>
                </a:solidFill>
                <a:latin typeface="Malgun Gothic"/>
              </a:rPr>
              <a:t>시야 절두체만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680000" y="9907200"/>
            <a:ext cx="792000" cy="288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D97E2D"/>
                </a:solidFill>
                <a:latin typeface="Malgun Gothic"/>
              </a:rPr>
              <a:t>4.3 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12000" y="10710000"/>
            <a:ext cx="6570000" cy="324000"/>
          </a:xfrm>
          <a:prstGeom prst="rect">
            <a:avLst/>
          </a:prstGeom>
          <a:solidFill>
            <a:srgbClr val="E8ECF0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312000" y="10710000"/>
            <a:ext cx="3066000" cy="324000"/>
          </a:xfrm>
          <a:prstGeom prst="rect">
            <a:avLst/>
          </a:prstGeom>
          <a:solidFill>
            <a:srgbClr val="2C8B4E"/>
          </a:solidFill>
          <a:ln>
            <a:solidFill>
              <a:srgbClr val="2C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664000" y="10692000"/>
            <a:ext cx="648000" cy="32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r">
              <a:lnSpc>
                <a:spcPct val="105000"/>
              </a:lnSpc>
            </a:pPr>
            <a:r>
              <a:rPr sz="1250" b="0">
                <a:solidFill>
                  <a:srgbClr val="353D46"/>
                </a:solidFill>
                <a:latin typeface="Malgun Gothic"/>
              </a:rPr>
              <a:t>Hi-Z 가시성 반영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468000" y="10699200"/>
            <a:ext cx="792000" cy="288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C8B4E"/>
                </a:solidFill>
                <a:latin typeface="Malgun Gothic"/>
              </a:rPr>
              <a:t>2.1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808000" y="11987999"/>
            <a:ext cx="7578000" cy="32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C8B4E"/>
                </a:solidFill>
                <a:latin typeface="Malgun Gothic"/>
              </a:rPr>
              <a:t>제안 기법 적용 시 약 2배 성능 향상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592000" y="12960000"/>
            <a:ext cx="252000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736000" y="13086000"/>
            <a:ext cx="2232000" cy="32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F66A4"/>
                </a:solidFill>
                <a:latin typeface="Malgun Gothic"/>
              </a:rPr>
              <a:t>Readback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36000" y="13337999"/>
            <a:ext cx="2232000" cy="522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3100" b="1">
                <a:solidFill>
                  <a:srgbClr val="1F66A4"/>
                </a:solidFill>
                <a:latin typeface="Malgun Gothic"/>
              </a:rPr>
              <a:t>2,416 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72000" y="13877999"/>
            <a:ext cx="2160000" cy="360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353D46"/>
                </a:solidFill>
                <a:latin typeface="Malgun Gothic"/>
              </a:rPr>
              <a:t>302개 객체 기준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3328000" y="12960000"/>
            <a:ext cx="252000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472000" y="13086000"/>
            <a:ext cx="2232000" cy="32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C8B4E"/>
                </a:solidFill>
                <a:latin typeface="Malgun Gothic"/>
              </a:rPr>
              <a:t>부하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472000" y="13337999"/>
            <a:ext cx="2232000" cy="522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3100" b="1">
                <a:solidFill>
                  <a:srgbClr val="2C8B4E"/>
                </a:solidFill>
                <a:latin typeface="Malgun Gothic"/>
              </a:rPr>
              <a:t>&lt; 0.1 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508000" y="13877999"/>
            <a:ext cx="2160000" cy="360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353D46"/>
                </a:solidFill>
                <a:latin typeface="Malgun Gothic"/>
              </a:rPr>
              <a:t>가시성 병합 비용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6064000" y="12960000"/>
            <a:ext cx="252000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208000" y="13086000"/>
            <a:ext cx="2232000" cy="324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D97E2D"/>
                </a:solidFill>
                <a:latin typeface="Malgun Gothic"/>
              </a:rPr>
              <a:t>환경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208000" y="13337999"/>
            <a:ext cx="2232000" cy="522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3100" b="1">
                <a:solidFill>
                  <a:srgbClr val="D97E2D"/>
                </a:solidFill>
                <a:latin typeface="Malgun Gothic"/>
              </a:rPr>
              <a:t>RTX 4070 Ti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244000" y="13877999"/>
            <a:ext cx="2160000" cy="360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353D46"/>
                </a:solidFill>
                <a:latin typeface="Malgun Gothic"/>
              </a:rPr>
              <a:t>Ryzen 7 7800X3D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92000" y="14760000"/>
            <a:ext cx="8010000" cy="1152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l">
              <a:lnSpc>
                <a:spcPct val="105000"/>
              </a:lnSpc>
            </a:pPr>
            <a:r>
              <a:rPr sz="1650" b="0">
                <a:solidFill>
                  <a:srgbClr val="353D46"/>
                </a:solidFill>
                <a:latin typeface="Malgun Gothic"/>
              </a:rPr>
              <a:t>제안 기법은 CPU 기반 애니메이션이 병목인 장면에서 평균 갱신 시간을 4.3ms에서 2.1ms로 감소시켰다.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232000" y="17640000"/>
            <a:ext cx="8730000" cy="72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0232000" y="17640000"/>
            <a:ext cx="8730000" cy="684000"/>
          </a:xfrm>
          <a:prstGeom prst="rect">
            <a:avLst/>
          </a:prstGeom>
          <a:solidFill>
            <a:srgbClr val="1F66A4"/>
          </a:solidFill>
          <a:ln>
            <a:solidFill>
              <a:srgbClr val="1F6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7. 연구 기여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430000" y="18450000"/>
            <a:ext cx="8333999" cy="624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GPU-CPU 명시적 동기화 없이 가능한 최신 가시성 정보를 CPU 애니메이션 시스템에 반영한다.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가시성 피드백 구조를 GPU-Driven 렌더링 파이프라인과 연계할 수 있다.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애니메이션 갱신 비용을 실제 가시 객체 수에 가깝게 줄일 수 있음을 실험적으로 보였다.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232000" y="25560000"/>
            <a:ext cx="8730000" cy="86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C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0232000" y="25560000"/>
            <a:ext cx="8730000" cy="684000"/>
          </a:xfrm>
          <a:prstGeom prst="rect">
            <a:avLst/>
          </a:prstGeom>
          <a:solidFill>
            <a:srgbClr val="008480"/>
          </a:solidFill>
          <a:ln>
            <a:solidFill>
              <a:srgbClr val="00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8. 결론 및 향후 연구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430000" y="26370000"/>
            <a:ext cx="8333999" cy="76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Hi-Z 오클루전 컬링 결과는 렌더링뿐 아니라 CPU 애니메이션 갱신 최적화에도 활용 가능하다.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두 슬롯 링 버퍼는 비동기 readback의 누락 위험을 완화하면서 파이프라인 지연을 피한다.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50" b="0">
                <a:solidFill>
                  <a:srgbClr val="353D46"/>
                </a:solidFill>
                <a:latin typeface="Malgun Gothic"/>
              </a:rPr>
              <a:t>향후 삼각형 클러스터 단위 GPU-Driven 파이프라인, 물리 엔진, 전투 시스템 등으로 가시성 피드백을 확장할 수 있다.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40896000"/>
            <a:ext cx="30275999" cy="1908000"/>
          </a:xfrm>
          <a:prstGeom prst="rect">
            <a:avLst/>
          </a:prstGeom>
          <a:solidFill>
            <a:srgbClr val="163152"/>
          </a:solidFill>
          <a:ln>
            <a:solidFill>
              <a:srgbClr val="16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0000" y="41130000"/>
            <a:ext cx="20880000" cy="503999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FFFFFF"/>
                </a:solidFill>
                <a:latin typeface="Malgun Gothic"/>
              </a:rPr>
              <a:t>본 연구는 2026년도 과학기술정보통신부 및 정보통신기획평가원의 'SW중심대학사업' 지원을 받아 수행되었음(2025-0-00050)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500000" y="41130000"/>
            <a:ext cx="6660000" cy="503999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r">
              <a:lnSpc>
                <a:spcPct val="105000"/>
              </a:lnSpc>
            </a:pPr>
            <a:r>
              <a:rPr sz="1350" b="0">
                <a:solidFill>
                  <a:srgbClr val="DAE6F2"/>
                </a:solidFill>
                <a:latin typeface="Malgun Gothic"/>
              </a:rPr>
              <a:t>2026 한국게임학회 춘계 학술발표대회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0000" y="41814000"/>
            <a:ext cx="28115999" cy="396000"/>
          </a:xfrm>
          <a:prstGeom prst="rect">
            <a:avLst/>
          </a:prstGeom>
          <a:noFill/>
        </p:spPr>
        <p:txBody>
          <a:bodyPr wrap="square" lIns="54000" rIns="54000" tIns="28800" bIns="288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DAE6F2"/>
                </a:solidFill>
                <a:latin typeface="Malgun Gothic"/>
              </a:rPr>
              <a:t>References: Dudash 2007; Greene et al. 1993; Zhang et al. 1997; Haar &amp; Aaltonen 2015; Karis et al. 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