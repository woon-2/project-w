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개선 전</c:v>
          </c:tx>
          <c:spPr>
            <a:solidFill>
              <a:srgbClr val="CCD4D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0B1F33"/>
                    </a:solidFill>
                    <a:latin typeface="Noto Sans KR"/>
                    <a:ea typeface="Noto Sans KR"/>
                    <a:cs typeface="Noto Sans KR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실행</c:v>
                </c:pt>
                <c:pt idx="1">
                  <c:v>동기화</c:v>
                </c:pt>
              </c:strCache>
            </c:strRef>
          </c:cat>
          <c:val>
            <c:numRef>
              <c:f>'Chart Data'!$B$2:$B$3</c:f>
              <c:numCache>
                <c:formatCode>0\'%\'</c:formatCode>
                <c:ptCount val="2"/>
                <c:pt idx="0">
                  <c:v>1</c:v>
                </c:pt>
                <c:pt idx="1">
                  <c:v>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38F-4610-B498-C7D5D373B24B}"/>
            </c:ext>
          </c:extLst>
        </c:ser>
        <c:ser>
          <c:idx val="1"/>
          <c:order val="1"/>
          <c:tx>
            <c:v>개선 후</c:v>
          </c:tx>
          <c:spPr>
            <a:solidFill>
              <a:srgbClr val="087E8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0B1F33"/>
                    </a:solidFill>
                    <a:latin typeface="Noto Sans KR"/>
                    <a:ea typeface="Noto Sans KR"/>
                    <a:cs typeface="Noto Sans KR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실행</c:v>
                </c:pt>
                <c:pt idx="1">
                  <c:v>동기화</c:v>
                </c:pt>
              </c:strCache>
            </c:strRef>
          </c:cat>
          <c:val>
            <c:numRef>
              <c:f>'Chart Data'!$D$2:$D$3</c:f>
              <c:numCache>
                <c:formatCode>0\'%\'</c:formatCode>
                <c:ptCount val="2"/>
                <c:pt idx="0">
                  <c:v>75</c:v>
                </c:pt>
                <c:pt idx="1">
                  <c:v>23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238F-4610-B498-C7D5D373B24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endParaRPr lang="ko-KR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CCD4D8"/>
              </a:solidFill>
              <a:prstDash val="solid"/>
            </a:ln>
          </c:spPr>
        </c:majorGridlines>
        <c:numFmt formatCode="0\'%\'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endParaRPr lang="ko-KR"/>
          </a:p>
        </c:txPr>
        <c:crossAx val="48650112"/>
        <c:crosses val="autoZero"/>
        <c:crossBetween val="between"/>
        <c:majorUnit val="25"/>
      </c:valAx>
      <c:spPr>
        <a:solidFill>
          <a:srgbClr val="F6F4E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5D6B78"/>
              </a:solidFill>
              <a:latin typeface="Noto Sans KR"/>
              <a:ea typeface="Noto Sans KR"/>
              <a:cs typeface="Noto Sans KR"/>
            </a:defRPr>
          </a:pPr>
          <a:endParaRPr lang="ko-KR"/>
        </a:p>
      </c:txPr>
    </c:legend>
    <c:plotVisOnly val="1"/>
    <c:dispBlanksAs val="zero"/>
    <c:showDLblsOverMax val="1"/>
  </c:chart>
  <c:spPr>
    <a:solidFill>
      <a:srgbClr val="F6F4E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실제 프로젝트명, 개발 기간, 팀 구성은 확인되지 않아 사용자가 입력할 자리로 남겼습니다.</a:t>
            </a:r>
          </a:p>
          <a:p>
            <a:r>
              <a:t>빌드 대상 4개는 AGENTS.md의 프로젝트 지침에서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DEVLOG.md 292행 이후 로비 연동 기록.</a:t>
            </a:r>
          </a:p>
          <a:p>
            <a:r>
              <a:t>출처: TODO.md 501행 이후 Room JobQueue 동작 구조.</a:t>
            </a:r>
          </a:p>
          <a:p>
            <a:r>
              <a:t>로비에서 룸 서버로의 현재 전환 상태는 최종 제출 전 실제 실행 화면으로 교체 확인이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TroubleShooting.md 274행 이후 RoomServer 스레드 아키텍처 3-way 분리.</a:t>
            </a:r>
          </a:p>
          <a:p>
            <a:r>
              <a:t>측정 결과: 실행 75%, 동기화 23%. 나머지 약 2%는 문서에 별도 분류가 없어 차트 합계에서 제외했습니다.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TroubleShooting.md 162행 이후 SendBufferChunk Use-After-Reset.</a:t>
            </a:r>
          </a:p>
          <a:p>
            <a:r>
              <a:t>출처: TroubleShooting.md 445행 이후 GameSession 풀 미반환 누수.</a:t>
            </a:r>
          </a:p>
          <a:p>
            <a:r>
              <a:t>출처: TroubleShooting.md 485행 이후 LobbyRoom 수명 경쟁.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TODO.md 1행 이후 이동 동기화 리뷰와 2026-03-30, 2026-04-13 수정 기록.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DEVLOG.md 1578행 이후 클라이언트-서버 시간 동기화 개선.</a:t>
            </a:r>
          </a:p>
          <a:p>
            <a:r>
              <a:t>출처: TODO.md 567행 이후 서버 공격 시스템과 위치 히스토리 링 버퍼.</a:t>
            </a:r>
          </a:p>
          <a:p>
            <a:r>
              <a:t>실제 다른 PC에서 high_resolution_clock 기준점 차이로 스킬 elapsedMs가 65535ms에 포화된 문제를 해결한 사례입니다.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ToDo_v2.md 7행 이후 8-state FSM 이식 기록.</a:t>
            </a:r>
          </a:p>
          <a:p>
            <a:r>
              <a:t>출처: DEVLOG.md 9행 이후 반응 딜레이와 리스폰.</a:t>
            </a:r>
          </a:p>
          <a:p>
            <a:r>
              <a:t>출처: DEVLOG.md 201행 이후 Patrol 추가. Patrol 추가 후 현재 NpcState는 9개입니다.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DEVLOG.md 537행 이후 전술 전투 실전 버그 수정.</a:t>
            </a:r>
          </a:p>
          <a:p>
            <a:r>
              <a:t>출처: DEVLOG.md 854행 이후 공격권 예약과 squad 타깃 배정.</a:t>
            </a:r>
          </a:p>
          <a:p>
            <a:r>
              <a:t>출처: DEVLOG.md 979행, 1046행 이후 중간보스 전술.</a:t>
            </a:r>
          </a:p>
          <a:p>
            <a:r>
              <a:t>출처: DEVLOG.md 1301행 이후 전술 모듈 분리와 PlatoonLeader 디커플링.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출처: TroubleShooting.md 47행 이후 NPC 이동 배치 전송.</a:t>
            </a:r>
          </a:p>
          <a:p>
            <a:r>
              <a:t>출처: DEVLOG.md 332행 이후 NPC 이웃 탐색 공간분할 최적화.</a:t>
            </a:r>
          </a:p>
          <a:p>
            <a:r>
              <a:t>출처: DEVLOG.md 894행 이후 종료 크래시 수정과 반복 검증.</a:t>
            </a:r>
          </a:p>
          <a:p>
            <a:r>
              <a:t>문서에 근거가 없는 200 bots 수치는 본 초안에서 제외했습니다. 로그를 확보하면 이 슬라이드에 추가하십시오.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회고 내용은 TroubleShooting.md와 DEVLOG.md의 반복적인 측정, 수정, 검증 기록을 요약했습니다.</a:t>
            </a:r>
          </a:p>
          <a:p>
            <a:r>
              <a:t>개인정보를 입력한 뒤 최종 제출본으로 내보내십시오.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" y="0"/>
            <a:ext cx="12185522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010A12B9-5F3A-4A95-91E7-5C5F7FFB3E61}"/>
              </a:ext>
            </a:extLst>
          </p:cNvPr>
          <p:cNvSpPr>
            <a:spLocks noGrp="1"/>
          </p:cNvSpPr>
          <p:nvPr/>
        </p:nvSpPr>
        <p:spPr>
          <a:xfrm>
            <a:off x="-1" y="0"/>
            <a:ext cx="7620001" cy="6858000"/>
          </a:xfrm>
          <a:prstGeom prst="rect">
            <a:avLst/>
          </a:prstGeom>
          <a:solidFill>
            <a:srgbClr val="F6F4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E8FE78-24E7-65D4-467A-1FF38444E467}"/>
              </a:ext>
            </a:extLst>
          </p:cNvPr>
          <p:cNvSpPr>
            <a:spLocks noGrp="1"/>
          </p:cNvSpPr>
          <p:nvPr/>
        </p:nvSpPr>
        <p:spPr>
          <a:xfrm>
            <a:off x="742950" y="5718832"/>
            <a:ext cx="23558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Noto Sans KR"/>
                <a:ea typeface="Noto Sans KR"/>
                <a:cs typeface="Noto Sans KR"/>
              </a:rPr>
              <a:t>연락처 | 010 – 5920 - 3386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755DF1-FD55-47A0-9639-55B9341BC770}"/>
              </a:ext>
            </a:extLst>
          </p:cNvPr>
          <p:cNvSpPr>
            <a:spLocks noGrp="1"/>
          </p:cNvSpPr>
          <p:nvPr/>
        </p:nvSpPr>
        <p:spPr>
          <a:xfrm>
            <a:off x="742950" y="1743969"/>
            <a:ext cx="876300" cy="571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A3CE40-D390-1883-0A70-8BA53F892C9E}"/>
              </a:ext>
            </a:extLst>
          </p:cNvPr>
          <p:cNvSpPr>
            <a:spLocks noGrp="1"/>
          </p:cNvSpPr>
          <p:nvPr/>
        </p:nvSpPr>
        <p:spPr>
          <a:xfrm>
            <a:off x="742950" y="2206237"/>
            <a:ext cx="5353050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50" b="1">
                <a:latin typeface="Noto Sans KR"/>
                <a:ea typeface="Noto Sans KR"/>
                <a:cs typeface="Noto Sans KR"/>
              </a:rPr>
              <a:t>게임 서버 프로그래머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45D970-C6C2-B5C9-928D-F6C4A6F668BC}"/>
              </a:ext>
            </a:extLst>
          </p:cNvPr>
          <p:cNvSpPr>
            <a:spLocks noGrp="1"/>
          </p:cNvSpPr>
          <p:nvPr/>
        </p:nvSpPr>
        <p:spPr>
          <a:xfrm>
            <a:off x="742950" y="3048126"/>
            <a:ext cx="40720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latin typeface="Noto Sans KR"/>
                <a:ea typeface="Noto Sans KR"/>
                <a:cs typeface="Noto Sans KR"/>
              </a:rPr>
              <a:t>포트폴리오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213687-005D-4C7D-9F8E-D57C784DD79E}"/>
              </a:ext>
            </a:extLst>
          </p:cNvPr>
          <p:cNvSpPr>
            <a:spLocks noGrp="1"/>
          </p:cNvSpPr>
          <p:nvPr/>
        </p:nvSpPr>
        <p:spPr>
          <a:xfrm>
            <a:off x="3419474" y="5718831"/>
            <a:ext cx="26765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Noto Sans KR"/>
                <a:ea typeface="Noto Sans KR"/>
                <a:cs typeface="Noto Sans KR"/>
              </a:rPr>
              <a:t>메일 | asm1133@naver.com</a:t>
            </a:r>
          </a:p>
        </p:txBody>
      </p:sp>
    </p:spTree>
    <p:extLst>
      <p:ext uri="{BB962C8B-B14F-4D97-AF65-F5344CB8AC3E}">
        <p14:creationId xmlns:p14="http://schemas.microsoft.com/office/powerpoint/2010/main" val="21131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4CE49F4-919B-4D8A-8016-1091D68FB7ED}"/>
              </a:ext>
            </a:extLst>
          </p:cNvPr>
          <p:cNvSpPr>
            <a:spLocks noGrp="1"/>
          </p:cNvSpPr>
          <p:nvPr/>
        </p:nvSpPr>
        <p:spPr>
          <a:xfrm>
            <a:off x="666750" y="495300"/>
            <a:ext cx="2571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6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소개</a:t>
            </a:r>
            <a:endParaRPr sz="2550" b="1">
              <a:solidFill>
                <a:srgbClr val="0B1F3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F7D36BF-78B0-4328-82AB-960332D5C84C}"/>
              </a:ext>
            </a:extLst>
          </p:cNvPr>
          <p:cNvSpPr>
            <a:spLocks noGrp="1"/>
          </p:cNvSpPr>
          <p:nvPr/>
        </p:nvSpPr>
        <p:spPr>
          <a:xfrm>
            <a:off x="0" y="342900"/>
            <a:ext cx="12192000" cy="14288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63C1CA-4E06-435C-B458-988126890D51}"/>
              </a:ext>
            </a:extLst>
          </p:cNvPr>
          <p:cNvSpPr>
            <a:spLocks noGrp="1"/>
          </p:cNvSpPr>
          <p:nvPr/>
        </p:nvSpPr>
        <p:spPr>
          <a:xfrm>
            <a:off x="495300" y="4810125"/>
            <a:ext cx="3238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8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2850" b="1" dirty="0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우상훈</a:t>
            </a:r>
            <a:endParaRPr sz="2850" b="1" dirty="0">
              <a:solidFill>
                <a:srgbClr val="0B1F3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9605986-0592-4DCF-A89F-8337DA092902}"/>
              </a:ext>
            </a:extLst>
          </p:cNvPr>
          <p:cNvSpPr>
            <a:spLocks noGrp="1"/>
          </p:cNvSpPr>
          <p:nvPr/>
        </p:nvSpPr>
        <p:spPr>
          <a:xfrm>
            <a:off x="495300" y="5286375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650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게임 서버 프로그래머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F5CB80-307A-45E2-9031-2439DB763CE0}"/>
              </a:ext>
            </a:extLst>
          </p:cNvPr>
          <p:cNvSpPr>
            <a:spLocks noGrp="1"/>
          </p:cNvSpPr>
          <p:nvPr/>
        </p:nvSpPr>
        <p:spPr>
          <a:xfrm>
            <a:off x="476250" y="5715000"/>
            <a:ext cx="3276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5000"/>
              </a:lnSpc>
              <a:buNone/>
              <a:defRPr sz="1500" b="0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실시간 서버의 문제를 측정하고</a:t>
            </a:r>
          </a:p>
          <a:p>
            <a:pPr algn="ctr">
              <a:lnSpc>
                <a:spcPct val="95000"/>
              </a:lnSpc>
              <a:buNone/>
              <a:defRPr sz="1500" b="0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구조적으로 해결하는 개발자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718D98-80E8-4EA4-BA5A-FB43870790E4}"/>
              </a:ext>
            </a:extLst>
          </p:cNvPr>
          <p:cNvSpPr>
            <a:spLocks noGrp="1"/>
          </p:cNvSpPr>
          <p:nvPr/>
        </p:nvSpPr>
        <p:spPr>
          <a:xfrm>
            <a:off x="4095750" y="342900"/>
            <a:ext cx="14288" cy="617220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AE2466-551C-4256-90F5-36C616F788A2}"/>
              </a:ext>
            </a:extLst>
          </p:cNvPr>
          <p:cNvSpPr>
            <a:spLocks noGrp="1"/>
          </p:cNvSpPr>
          <p:nvPr/>
        </p:nvSpPr>
        <p:spPr>
          <a:xfrm>
            <a:off x="4457700" y="590550"/>
            <a:ext cx="742950" cy="438150"/>
          </a:xfrm>
          <a:prstGeom prst="roundRect">
            <a:avLst>
              <a:gd name="adj" fmla="val 50000"/>
            </a:avLst>
          </a:prstGeom>
          <a:solidFill>
            <a:srgbClr val="0B315F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8199DC-0720-41C2-AE08-EEF3F4346EEB}"/>
              </a:ext>
            </a:extLst>
          </p:cNvPr>
          <p:cNvSpPr>
            <a:spLocks noGrp="1"/>
          </p:cNvSpPr>
          <p:nvPr/>
        </p:nvSpPr>
        <p:spPr>
          <a:xfrm>
            <a:off x="5410200" y="55245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0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프로필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EB24DF-D179-4348-A599-911B3D062BF2}"/>
              </a:ext>
            </a:extLst>
          </p:cNvPr>
          <p:cNvSpPr>
            <a:spLocks noGrp="1"/>
          </p:cNvSpPr>
          <p:nvPr/>
        </p:nvSpPr>
        <p:spPr>
          <a:xfrm>
            <a:off x="4476750" y="1333500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직무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AFAAC0-C458-42CF-87D0-8AF0284B48CA}"/>
              </a:ext>
            </a:extLst>
          </p:cNvPr>
          <p:cNvSpPr>
            <a:spLocks noGrp="1"/>
          </p:cNvSpPr>
          <p:nvPr/>
        </p:nvSpPr>
        <p:spPr>
          <a:xfrm>
            <a:off x="5676900" y="1333500"/>
            <a:ext cx="542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게임 서버 프로그래머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F49852E-A20C-4E6A-9E79-1BD71E7061C3}"/>
              </a:ext>
            </a:extLst>
          </p:cNvPr>
          <p:cNvSpPr>
            <a:spLocks noGrp="1"/>
          </p:cNvSpPr>
          <p:nvPr/>
        </p:nvSpPr>
        <p:spPr>
          <a:xfrm>
            <a:off x="4476750" y="1695450"/>
            <a:ext cx="6705600" cy="9525"/>
          </a:xfrm>
          <a:prstGeom prst="rect">
            <a:avLst/>
          </a:prstGeom>
          <a:solidFill>
            <a:srgbClr val="C5CDD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9F7FB12-086E-4B4E-8B5E-A2D30697AFFE}"/>
              </a:ext>
            </a:extLst>
          </p:cNvPr>
          <p:cNvSpPr>
            <a:spLocks noGrp="1"/>
          </p:cNvSpPr>
          <p:nvPr/>
        </p:nvSpPr>
        <p:spPr>
          <a:xfrm>
            <a:off x="4476750" y="1790700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이메일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01BD576-5C54-4A4B-AB65-BED4835D173A}"/>
              </a:ext>
            </a:extLst>
          </p:cNvPr>
          <p:cNvSpPr>
            <a:spLocks noGrp="1"/>
          </p:cNvSpPr>
          <p:nvPr/>
        </p:nvSpPr>
        <p:spPr>
          <a:xfrm>
            <a:off x="5676900" y="1790700"/>
            <a:ext cx="542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sz="1650" b="1" dirty="0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asm1133@naver.com</a:t>
            </a:r>
            <a:endParaRPr sz="1650" b="1" dirty="0">
              <a:solidFill>
                <a:srgbClr val="0B1F3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5492F2F-887F-4933-A9C3-B42FA8063BFB}"/>
              </a:ext>
            </a:extLst>
          </p:cNvPr>
          <p:cNvSpPr>
            <a:spLocks noGrp="1"/>
          </p:cNvSpPr>
          <p:nvPr/>
        </p:nvSpPr>
        <p:spPr>
          <a:xfrm>
            <a:off x="4476750" y="2152650"/>
            <a:ext cx="6705600" cy="9525"/>
          </a:xfrm>
          <a:prstGeom prst="rect">
            <a:avLst/>
          </a:prstGeom>
          <a:solidFill>
            <a:srgbClr val="C5CDD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61D5F57-5A15-4FFD-BD25-20139B84FD85}"/>
              </a:ext>
            </a:extLst>
          </p:cNvPr>
          <p:cNvSpPr>
            <a:spLocks noGrp="1"/>
          </p:cNvSpPr>
          <p:nvPr/>
        </p:nvSpPr>
        <p:spPr>
          <a:xfrm>
            <a:off x="4476750" y="2247900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575" b="1" dirty="0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연락처</a:t>
            </a:r>
            <a:endParaRPr sz="1575" b="1" dirty="0">
              <a:solidFill>
                <a:srgbClr val="0B1F3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D9FCFE0-594B-454A-B145-E1F0F0D0DDFB}"/>
              </a:ext>
            </a:extLst>
          </p:cNvPr>
          <p:cNvSpPr>
            <a:spLocks noGrp="1"/>
          </p:cNvSpPr>
          <p:nvPr/>
        </p:nvSpPr>
        <p:spPr>
          <a:xfrm>
            <a:off x="5676900" y="2247900"/>
            <a:ext cx="542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lang="en-US" altLang="ko-KR" sz="1650" b="1" dirty="0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010 – 5920 - 3386</a:t>
            </a:r>
            <a:endParaRPr sz="1650" b="1" dirty="0">
              <a:solidFill>
                <a:srgbClr val="0B1F3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728D0DC-D8EB-4D44-8DA8-6446292DF5A4}"/>
              </a:ext>
            </a:extLst>
          </p:cNvPr>
          <p:cNvSpPr>
            <a:spLocks noGrp="1"/>
          </p:cNvSpPr>
          <p:nvPr/>
        </p:nvSpPr>
        <p:spPr>
          <a:xfrm>
            <a:off x="4476750" y="2609850"/>
            <a:ext cx="6705600" cy="9525"/>
          </a:xfrm>
          <a:prstGeom prst="rect">
            <a:avLst/>
          </a:prstGeom>
          <a:solidFill>
            <a:srgbClr val="C5CDD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3006459-9225-4D83-800F-0A72B065C2E8}"/>
              </a:ext>
            </a:extLst>
          </p:cNvPr>
          <p:cNvSpPr>
            <a:spLocks noGrp="1"/>
          </p:cNvSpPr>
          <p:nvPr/>
        </p:nvSpPr>
        <p:spPr>
          <a:xfrm>
            <a:off x="4476750" y="2705100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endParaRPr sz="1575" b="1" dirty="0">
              <a:solidFill>
                <a:srgbClr val="0B1F3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113F826-2D21-4E9D-AD27-EA5A89968B18}"/>
              </a:ext>
            </a:extLst>
          </p:cNvPr>
          <p:cNvSpPr>
            <a:spLocks noGrp="1"/>
          </p:cNvSpPr>
          <p:nvPr/>
        </p:nvSpPr>
        <p:spPr>
          <a:xfrm>
            <a:off x="5676900" y="2705100"/>
            <a:ext cx="542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endParaRPr sz="1650" b="1" dirty="0">
              <a:solidFill>
                <a:srgbClr val="0B1F3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0F5559F-125C-42B2-ADD9-C5880374189E}"/>
              </a:ext>
            </a:extLst>
          </p:cNvPr>
          <p:cNvSpPr>
            <a:spLocks noGrp="1"/>
          </p:cNvSpPr>
          <p:nvPr/>
        </p:nvSpPr>
        <p:spPr>
          <a:xfrm>
            <a:off x="4095750" y="3371850"/>
            <a:ext cx="7486650" cy="14288"/>
          </a:xfrm>
          <a:prstGeom prst="rect">
            <a:avLst/>
          </a:prstGeom>
          <a:solidFill>
            <a:srgbClr val="5D6B7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61320B1-0E86-431F-9B8E-0E92512E00F1}"/>
              </a:ext>
            </a:extLst>
          </p:cNvPr>
          <p:cNvSpPr>
            <a:spLocks noGrp="1"/>
          </p:cNvSpPr>
          <p:nvPr/>
        </p:nvSpPr>
        <p:spPr>
          <a:xfrm>
            <a:off x="4457700" y="3638550"/>
            <a:ext cx="742950" cy="438150"/>
          </a:xfrm>
          <a:prstGeom prst="roundRect">
            <a:avLst>
              <a:gd name="adj" fmla="val 50000"/>
            </a:avLst>
          </a:prstGeom>
          <a:solidFill>
            <a:srgbClr val="0B315F"/>
          </a:solidFill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2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B1A3928-7C6C-490C-832D-2B36015597EC}"/>
              </a:ext>
            </a:extLst>
          </p:cNvPr>
          <p:cNvSpPr>
            <a:spLocks noGrp="1"/>
          </p:cNvSpPr>
          <p:nvPr/>
        </p:nvSpPr>
        <p:spPr>
          <a:xfrm>
            <a:off x="5410200" y="3600450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30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기술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FCA00BF-0914-4C23-9130-60E5D1E223A0}"/>
              </a:ext>
            </a:extLst>
          </p:cNvPr>
          <p:cNvSpPr>
            <a:spLocks noGrp="1"/>
          </p:cNvSpPr>
          <p:nvPr/>
        </p:nvSpPr>
        <p:spPr>
          <a:xfrm>
            <a:off x="11239500" y="57150"/>
            <a:ext cx="609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r">
              <a:buNone/>
              <a:defRPr sz="14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2P</a:t>
            </a:r>
          </a:p>
        </p:txBody>
      </p:sp>
      <p:sp>
        <p:nvSpPr>
          <p:cNvPr id="27" name="intro-accent-bar">
            <a:extLst>
              <a:ext uri="{FF2B5EF4-FFF2-40B4-BE49-F238E27FC236}">
                <a16:creationId xmlns:a16="http://schemas.microsoft.com/office/drawing/2014/main" id="{A1758117-F00B-4CE5-82DA-00261AD5882B}"/>
              </a:ext>
            </a:extLst>
          </p:cNvPr>
          <p:cNvSpPr>
            <a:spLocks noGrp="1"/>
          </p:cNvSpPr>
          <p:nvPr/>
        </p:nvSpPr>
        <p:spPr>
          <a:xfrm>
            <a:off x="381000" y="514350"/>
            <a:ext cx="114300" cy="533400"/>
          </a:xfrm>
          <a:prstGeom prst="rect">
            <a:avLst/>
          </a:prstGeom>
          <a:solidFill>
            <a:srgbClr val="0B315F"/>
          </a:solidFill>
          <a:ln w="0">
            <a:noFill/>
            <a:prstDash val="solid"/>
          </a:ln>
        </p:spPr>
      </p:sp>
      <p:sp>
        <p:nvSpPr>
          <p:cNvPr id="29" name="lower-section-divider">
            <a:extLst>
              <a:ext uri="{FF2B5EF4-FFF2-40B4-BE49-F238E27FC236}">
                <a16:creationId xmlns:a16="http://schemas.microsoft.com/office/drawing/2014/main" id="{3D815B64-0D89-4C26-A02A-37744BA70886}"/>
              </a:ext>
            </a:extLst>
          </p:cNvPr>
          <p:cNvSpPr>
            <a:spLocks noGrp="1"/>
          </p:cNvSpPr>
          <p:nvPr/>
        </p:nvSpPr>
        <p:spPr>
          <a:xfrm>
            <a:off x="7953375" y="3524250"/>
            <a:ext cx="0" cy="2781300"/>
          </a:xfrm>
          <a:prstGeom prst="line">
            <a:avLst/>
          </a:prstGeom>
          <a:noFill/>
          <a:ln w="14288">
            <a:solidFill>
              <a:srgbClr val="5D6B78"/>
            </a:solidFill>
            <a:prstDash val="dot"/>
          </a:ln>
        </p:spPr>
      </p:sp>
      <p:sp>
        <p:nvSpPr>
          <p:cNvPr id="30" name="section-03-number">
            <a:extLst>
              <a:ext uri="{FF2B5EF4-FFF2-40B4-BE49-F238E27FC236}">
                <a16:creationId xmlns:a16="http://schemas.microsoft.com/office/drawing/2014/main" id="{EC4F4266-2855-4F33-BB98-728966C4D965}"/>
              </a:ext>
            </a:extLst>
          </p:cNvPr>
          <p:cNvSpPr>
            <a:spLocks noGrp="1"/>
          </p:cNvSpPr>
          <p:nvPr/>
        </p:nvSpPr>
        <p:spPr>
          <a:xfrm>
            <a:off x="8210550" y="3638550"/>
            <a:ext cx="742950" cy="438150"/>
          </a:xfrm>
          <a:prstGeom prst="roundRect">
            <a:avLst>
              <a:gd name="adj" fmla="val 50000"/>
            </a:avLst>
          </a:prstGeom>
          <a:solidFill>
            <a:srgbClr val="0B315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25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25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1" name="section-03-title">
            <a:extLst>
              <a:ext uri="{FF2B5EF4-FFF2-40B4-BE49-F238E27FC236}">
                <a16:creationId xmlns:a16="http://schemas.microsoft.com/office/drawing/2014/main" id="{ABF07770-29A2-43B1-9014-CD388CB12ED2}"/>
              </a:ext>
            </a:extLst>
          </p:cNvPr>
          <p:cNvSpPr>
            <a:spLocks noGrp="1"/>
          </p:cNvSpPr>
          <p:nvPr/>
        </p:nvSpPr>
        <p:spPr>
          <a:xfrm>
            <a:off x="9144000" y="3600450"/>
            <a:ext cx="2095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3000" b="1" dirty="0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수상</a:t>
            </a:r>
            <a:endParaRPr sz="3000" b="1" dirty="0">
              <a:solidFill>
                <a:srgbClr val="0B1F3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concurrency-value">
            <a:extLst>
              <a:ext uri="{FF2B5EF4-FFF2-40B4-BE49-F238E27FC236}">
                <a16:creationId xmlns:a16="http://schemas.microsoft.com/office/drawing/2014/main" id="{BC81AE94-0EB0-4BD1-9471-97668D5FDF43}"/>
              </a:ext>
            </a:extLst>
          </p:cNvPr>
          <p:cNvSpPr>
            <a:spLocks noGrp="1"/>
          </p:cNvSpPr>
          <p:nvPr/>
        </p:nvSpPr>
        <p:spPr>
          <a:xfrm>
            <a:off x="9001125" y="4443412"/>
            <a:ext cx="23812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  <a:buNone/>
              <a:defRPr sz="1350" b="0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350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한국공학대학교 졸업작품 </a:t>
            </a:r>
            <a:r>
              <a:rPr lang="ko-KR" altLang="en-US" sz="1350" dirty="0" err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총장상</a:t>
            </a:r>
            <a:endParaRPr sz="1350" b="0" dirty="0">
              <a:solidFill>
                <a:srgbClr val="0B1F33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4C231A93-7054-45FD-B86B-48137080B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13" y="1263651"/>
            <a:ext cx="2571750" cy="3433286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073B79A2-FDD8-44CA-A32B-64A19E6C80C7}"/>
              </a:ext>
            </a:extLst>
          </p:cNvPr>
          <p:cNvSpPr txBox="1"/>
          <p:nvPr/>
        </p:nvSpPr>
        <p:spPr>
          <a:xfrm>
            <a:off x="8210551" y="4358047"/>
            <a:ext cx="742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2026</a:t>
            </a:r>
            <a:endParaRPr lang="ko-KR" altLang="en-US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961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40CCE79F-1785-4D2F-831A-D96310ED67D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PROJECT OVERVIEW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8C0FB95-4C39-430B-867F-EA9B465456C2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5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Project W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77DBD7-EF8D-499A-8320-A1F622EBF0CA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CCD4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EA6A8F-3C7F-4B4D-A76C-AFF2C853A622}"/>
              </a:ext>
            </a:extLst>
          </p:cNvPr>
          <p:cNvSpPr>
            <a:spLocks noGrp="1"/>
          </p:cNvSpPr>
          <p:nvPr/>
        </p:nvSpPr>
        <p:spPr>
          <a:xfrm>
            <a:off x="11087100" y="4000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pic>
        <p:nvPicPr>
          <p:cNvPr id="23" name="그림 20"/>
          <p:cNvPicPr>
            <a:picLocks noChangeAspect="1"/>
          </p:cNvPicPr>
          <p:nvPr/>
        </p:nvPicPr>
        <p:blipFill>
          <a:blip r:embed="rId3"/>
          <a:srcRect t="8130" b="8130"/>
          <a:stretch>
            <a:fillRect/>
          </a:stretch>
        </p:blipFill>
        <p:spPr>
          <a:xfrm>
            <a:off x="609600" y="1524000"/>
            <a:ext cx="5295900" cy="33337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0F2192F-3C6C-42AA-894C-5A70C560A9A4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5295900" cy="457200"/>
          </a:xfrm>
          <a:prstGeom prst="rect">
            <a:avLst/>
          </a:prstGeom>
          <a:solidFill>
            <a:srgbClr val="0B1F3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1D4473-E64C-486C-8492-B512DDC5D81A}"/>
              </a:ext>
            </a:extLst>
          </p:cNvPr>
          <p:cNvSpPr>
            <a:spLocks noGrp="1"/>
          </p:cNvSpPr>
          <p:nvPr/>
        </p:nvSpPr>
        <p:spPr>
          <a:xfrm>
            <a:off x="800100" y="5067300"/>
            <a:ext cx="491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실제 서버 권위 스킬 판정을 점검한 개발 화면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45FB0F-9591-4439-8DE9-8AED9711C11E}"/>
              </a:ext>
            </a:extLst>
          </p:cNvPr>
          <p:cNvSpPr>
            <a:spLocks noGrp="1"/>
          </p:cNvSpPr>
          <p:nvPr/>
        </p:nvSpPr>
        <p:spPr>
          <a:xfrm>
            <a:off x="6477000" y="15621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8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온라인 멀티플레이 액션 게임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A9FA67C-F346-484E-992D-F3D57EDFB0B3}"/>
              </a:ext>
            </a:extLst>
          </p:cNvPr>
          <p:cNvSpPr>
            <a:spLocks noGrp="1"/>
          </p:cNvSpPr>
          <p:nvPr/>
        </p:nvSpPr>
        <p:spPr>
          <a:xfrm>
            <a:off x="6477000" y="198120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졸업작품  ·  개발 기간 입력  ·  팀 구성 입력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B4556C4-A858-4ACD-8800-7D6579AF0582}"/>
              </a:ext>
            </a:extLst>
          </p:cNvPr>
          <p:cNvSpPr>
            <a:spLocks noGrp="1"/>
          </p:cNvSpPr>
          <p:nvPr/>
        </p:nvSpPr>
        <p:spPr>
          <a:xfrm>
            <a:off x="6477000" y="2419350"/>
            <a:ext cx="4762500" cy="19050"/>
          </a:xfrm>
          <a:prstGeom prst="rect">
            <a:avLst/>
          </a:prstGeom>
          <a:solidFill>
            <a:srgbClr val="CCD4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B9BEB0-8F3C-49E7-A8C2-2D3B4A200080}"/>
              </a:ext>
            </a:extLst>
          </p:cNvPr>
          <p:cNvSpPr>
            <a:spLocks noGrp="1"/>
          </p:cNvSpPr>
          <p:nvPr/>
        </p:nvSpPr>
        <p:spPr>
          <a:xfrm>
            <a:off x="6477000" y="26479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담당 범위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CAEBCF-BA83-45F1-97BB-0BCEC5D13267}"/>
              </a:ext>
            </a:extLst>
          </p:cNvPr>
          <p:cNvSpPr>
            <a:spLocks noGrp="1"/>
          </p:cNvSpPr>
          <p:nvPr/>
        </p:nvSpPr>
        <p:spPr>
          <a:xfrm>
            <a:off x="6477000" y="3028950"/>
            <a:ext cx="476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12263A"/>
                </a:solidFill>
                <a:latin typeface="Noto Sans KR"/>
                <a:ea typeface="Noto Sans KR"/>
                <a:cs typeface="Noto Sans KR"/>
              </a:rPr>
              <a:t>IOCP 기반 서버 엔진과 세션 생명주기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12263A"/>
                </a:solidFill>
                <a:latin typeface="Noto Sans KR"/>
                <a:ea typeface="Noto Sans KR"/>
                <a:cs typeface="Noto Sans KR"/>
              </a:rPr>
              <a:t>로비 및 Room 단위 게임 로직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12263A"/>
                </a:solidFill>
                <a:latin typeface="Noto Sans KR"/>
                <a:ea typeface="Noto Sans KR"/>
                <a:cs typeface="Noto Sans KR"/>
              </a:rPr>
              <a:t>이동 동기화와 서버 권위 전투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12263A"/>
                </a:solidFill>
                <a:latin typeface="Noto Sans KR"/>
                <a:ea typeface="Noto Sans KR"/>
                <a:cs typeface="Noto Sans KR"/>
              </a:rPr>
              <a:t>일반 NPC 및 중간보스 전술 AI</a:t>
            </a:r>
          </a:p>
          <a:p>
            <a:pPr marL="228600" indent="-114300">
              <a:spcAft>
                <a:spcPts val="700"/>
              </a:spcAft>
              <a:buChar char="•"/>
              <a:defRPr sz="1425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12263A"/>
                </a:solidFill>
                <a:latin typeface="Noto Sans KR"/>
                <a:ea typeface="Noto Sans KR"/>
                <a:cs typeface="Noto Sans KR"/>
              </a:rPr>
              <a:t>프로파일링과 장애 원인 분석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306873-575B-455A-A8C4-F953869AE7C2}"/>
              </a:ext>
            </a:extLst>
          </p:cNvPr>
          <p:cNvSpPr>
            <a:spLocks noGrp="1"/>
          </p:cNvSpPr>
          <p:nvPr/>
        </p:nvSpPr>
        <p:spPr>
          <a:xfrm>
            <a:off x="6477000" y="5486400"/>
            <a:ext cx="13525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4개 실행 구성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48AFC28-4C79-4104-987A-23CF08F3ABF3}"/>
              </a:ext>
            </a:extLst>
          </p:cNvPr>
          <p:cNvSpPr>
            <a:spLocks noGrp="1"/>
          </p:cNvSpPr>
          <p:nvPr/>
        </p:nvSpPr>
        <p:spPr>
          <a:xfrm>
            <a:off x="6477000" y="57721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ServerEngine  ·  LobbyServer  ·  RoomServer  ·  client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F964503-51B4-4E65-AE3C-112453A43CE6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750" b="1">
                <a:solidFill>
                  <a:srgbClr val="7B879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B8790"/>
                </a:solidFill>
                <a:latin typeface="Noto Sans KR"/>
                <a:ea typeface="Noto Sans KR"/>
                <a:cs typeface="Noto Sans KR"/>
              </a:rPr>
              <a:t>PROJECT W · GAME SERVER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7403DFF-8C20-453E-A09D-B1C595E2885C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B879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B879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0438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7C92F594-436E-4444-8DE2-9D814FAEF0B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SYSTEM ARCHITECTURE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556D253-61AD-4315-97E0-64DB4E63639B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5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클라이언트부터 Room 로직까지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63D74BC-0DB2-4A75-8CCF-F31D051CAC01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CCD4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7505AB-3181-4E56-8DAA-98FD42316BBF}"/>
              </a:ext>
            </a:extLst>
          </p:cNvPr>
          <p:cNvSpPr>
            <a:spLocks noGrp="1"/>
          </p:cNvSpPr>
          <p:nvPr/>
        </p:nvSpPr>
        <p:spPr>
          <a:xfrm>
            <a:off x="11087100" y="4000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390D7E72-D8D4-4BB1-B42D-E19D66D7BD34}"/>
              </a:ext>
            </a:extLst>
          </p:cNvPr>
          <p:cNvSpPr>
            <a:spLocks noGrp="1"/>
          </p:cNvSpPr>
          <p:nvPr/>
        </p:nvSpPr>
        <p:spPr>
          <a:xfrm>
            <a:off x="704850" y="1828800"/>
            <a:ext cx="2095500" cy="952500"/>
          </a:xfrm>
          <a:prstGeom prst="roundRect">
            <a:avLst>
              <a:gd name="adj" fmla="val 14000"/>
            </a:avLst>
          </a:prstGeom>
          <a:solidFill>
            <a:srgbClr val="FFFDFC"/>
          </a:solidFill>
          <a:ln w="14288">
            <a:solidFill>
              <a:srgbClr val="CCD4D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4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CLIENT</a:t>
            </a:r>
          </a:p>
          <a:p>
            <a:pPr algn="ctr">
              <a:buNone/>
              <a:defRPr sz="14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입력 · 예측 · 보간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53C63C5-3E32-4CC2-9D06-58245F7C6C11}"/>
              </a:ext>
            </a:extLst>
          </p:cNvPr>
          <p:cNvSpPr>
            <a:spLocks noGrp="1"/>
          </p:cNvSpPr>
          <p:nvPr/>
        </p:nvSpPr>
        <p:spPr>
          <a:xfrm>
            <a:off x="3638550" y="1828800"/>
            <a:ext cx="2095500" cy="952500"/>
          </a:xfrm>
          <a:prstGeom prst="roundRect">
            <a:avLst>
              <a:gd name="adj" fmla="val 14000"/>
            </a:avLst>
          </a:prstGeom>
          <a:solidFill>
            <a:srgbClr val="DCEEEF"/>
          </a:solidFill>
          <a:ln w="14288">
            <a:solidFill>
              <a:srgbClr val="087E8B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4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LOBBY SERVER</a:t>
            </a:r>
          </a:p>
          <a:p>
            <a:pPr algn="ctr">
              <a:buNone/>
              <a:defRPr sz="14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방 생성 · 참가 · 시작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4B3A975-E96C-4B16-979F-BD7E4A613659}"/>
              </a:ext>
            </a:extLst>
          </p:cNvPr>
          <p:cNvSpPr>
            <a:spLocks noGrp="1"/>
          </p:cNvSpPr>
          <p:nvPr/>
        </p:nvSpPr>
        <p:spPr>
          <a:xfrm>
            <a:off x="6572250" y="1828800"/>
            <a:ext cx="2095500" cy="952500"/>
          </a:xfrm>
          <a:prstGeom prst="roundRect">
            <a:avLst>
              <a:gd name="adj" fmla="val 14000"/>
            </a:avLst>
          </a:prstGeom>
          <a:solidFill>
            <a:srgbClr val="F5E7D1"/>
          </a:solidFill>
          <a:ln w="14288">
            <a:solidFill>
              <a:srgbClr val="E89B2D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4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ROOM SERVER</a:t>
            </a:r>
          </a:p>
          <a:p>
            <a:pPr algn="ctr">
              <a:buNone/>
              <a:defRPr sz="14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60Hz 게임 로직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8D1F571-AAF5-47CA-993D-3DF37E19BD50}"/>
              </a:ext>
            </a:extLst>
          </p:cNvPr>
          <p:cNvSpPr>
            <a:spLocks noGrp="1"/>
          </p:cNvSpPr>
          <p:nvPr/>
        </p:nvSpPr>
        <p:spPr>
          <a:xfrm>
            <a:off x="9505950" y="1828800"/>
            <a:ext cx="1981200" cy="952500"/>
          </a:xfrm>
          <a:prstGeom prst="roundRect">
            <a:avLst>
              <a:gd name="adj" fmla="val 14000"/>
            </a:avLst>
          </a:prstGeom>
          <a:solidFill>
            <a:srgbClr val="FFFDFC"/>
          </a:solidFill>
          <a:ln w="14288">
            <a:solidFill>
              <a:srgbClr val="CCD4D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4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BROADCAST</a:t>
            </a:r>
          </a:p>
          <a:p>
            <a:pPr algn="ctr">
              <a:buNone/>
              <a:defRPr sz="14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원격 상태 반영</a:t>
            </a:r>
          </a:p>
        </p:txBody>
      </p:sp>
      <p:cxnSp>
        <p:nvCxnSpPr>
          <p:cNvPr id="47" name="직선 화살표 연결선 35"/>
          <p:cNvCxnSpPr>
            <a:stCxn id="5" idx="3"/>
            <a:endCxn id="6" idx="1"/>
          </p:cNvCxnSpPr>
          <p:nvPr/>
        </p:nvCxnSpPr>
        <p:spPr>
          <a:xfrm>
            <a:off x="2800350" y="2305050"/>
            <a:ext cx="838200" cy="0"/>
          </a:xfrm>
          <a:prstGeom prst="straightConnector1">
            <a:avLst/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cxnSp>
        <p:nvCxnSpPr>
          <p:cNvPr id="48" name="직선 화살표 연결선 36"/>
          <p:cNvCxnSpPr>
            <a:stCxn id="6" idx="3"/>
            <a:endCxn id="7" idx="1"/>
          </p:cNvCxnSpPr>
          <p:nvPr/>
        </p:nvCxnSpPr>
        <p:spPr>
          <a:xfrm>
            <a:off x="5734050" y="2305050"/>
            <a:ext cx="838200" cy="0"/>
          </a:xfrm>
          <a:prstGeom prst="straightConnector1">
            <a:avLst/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cxnSp>
        <p:nvCxnSpPr>
          <p:cNvPr id="49" name="직선 화살표 연결선 37"/>
          <p:cNvCxnSpPr>
            <a:stCxn id="7" idx="3"/>
            <a:endCxn id="8" idx="1"/>
          </p:cNvCxnSpPr>
          <p:nvPr/>
        </p:nvCxnSpPr>
        <p:spPr>
          <a:xfrm>
            <a:off x="8667750" y="2305050"/>
            <a:ext cx="838200" cy="0"/>
          </a:xfrm>
          <a:prstGeom prst="straightConnector1">
            <a:avLst/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8C8D356-EDE0-4E21-91DB-BE37293D80FE}"/>
              </a:ext>
            </a:extLst>
          </p:cNvPr>
          <p:cNvSpPr>
            <a:spLocks noGrp="1"/>
          </p:cNvSpPr>
          <p:nvPr/>
        </p:nvSpPr>
        <p:spPr>
          <a:xfrm>
            <a:off x="704850" y="3429000"/>
            <a:ext cx="10782300" cy="2000250"/>
          </a:xfrm>
          <a:prstGeom prst="roundRect">
            <a:avLst>
              <a:gd name="adj" fmla="val 8571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A7DEE73-7C4F-440D-A8F1-E5271CDB33C1}"/>
              </a:ext>
            </a:extLst>
          </p:cNvPr>
          <p:cNvSpPr>
            <a:spLocks noGrp="1"/>
          </p:cNvSpPr>
          <p:nvPr/>
        </p:nvSpPr>
        <p:spPr>
          <a:xfrm>
            <a:off x="971550" y="36576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75" b="1">
                <a:solidFill>
                  <a:srgbClr val="3BB5C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3BB5C3"/>
                </a:solidFill>
                <a:latin typeface="Noto Sans KR"/>
                <a:ea typeface="Noto Sans KR"/>
                <a:cs typeface="Noto Sans KR"/>
              </a:rPr>
              <a:t>SERVER ENGINE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68507F0-AB3A-47D3-9722-E840432E7CD4}"/>
              </a:ext>
            </a:extLst>
          </p:cNvPr>
          <p:cNvSpPr>
            <a:spLocks noGrp="1"/>
          </p:cNvSpPr>
          <p:nvPr/>
        </p:nvSpPr>
        <p:spPr>
          <a:xfrm>
            <a:off x="971550" y="40195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125" b="0">
                <a:solidFill>
                  <a:srgbClr val="B8C7D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B8C7D2"/>
                </a:solidFill>
                <a:latin typeface="Noto Sans KR"/>
                <a:ea typeface="Noto Sans KR"/>
                <a:cs typeface="Noto Sans KR"/>
              </a:rPr>
              <a:t>두 서버가 공유하는 기반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AC8854F-4A0C-4D1B-B439-760325D0FCBC}"/>
              </a:ext>
            </a:extLst>
          </p:cNvPr>
          <p:cNvSpPr>
            <a:spLocks noGrp="1"/>
          </p:cNvSpPr>
          <p:nvPr/>
        </p:nvSpPr>
        <p:spPr>
          <a:xfrm>
            <a:off x="3714750" y="373380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50" b="1">
                <a:solidFill>
                  <a:srgbClr val="3BB5C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BB5C3"/>
                </a:solidFill>
                <a:latin typeface="Noto Sans KR"/>
                <a:ea typeface="Noto Sans KR"/>
                <a:cs typeface="Noto Sans KR"/>
              </a:rPr>
              <a:t>IOCP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34B0E40-9EE0-41BD-98EF-DEC25A621775}"/>
              </a:ext>
            </a:extLst>
          </p:cNvPr>
          <p:cNvSpPr>
            <a:spLocks noGrp="1"/>
          </p:cNvSpPr>
          <p:nvPr/>
        </p:nvSpPr>
        <p:spPr>
          <a:xfrm>
            <a:off x="3714750" y="4095750"/>
            <a:ext cx="1295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비동기 네트워크 이벤트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217DF8-1B23-48F0-80EC-99EF10042090}"/>
              </a:ext>
            </a:extLst>
          </p:cNvPr>
          <p:cNvSpPr>
            <a:spLocks noGrp="1"/>
          </p:cNvSpPr>
          <p:nvPr/>
        </p:nvSpPr>
        <p:spPr>
          <a:xfrm>
            <a:off x="5181600" y="373380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50" b="1">
                <a:solidFill>
                  <a:srgbClr val="3BB5C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BB5C3"/>
                </a:solidFill>
                <a:latin typeface="Noto Sans KR"/>
                <a:ea typeface="Noto Sans KR"/>
                <a:cs typeface="Noto Sans KR"/>
              </a:rPr>
              <a:t>SESSION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73746AC-2C74-48DA-803C-2554BE376CE0}"/>
              </a:ext>
            </a:extLst>
          </p:cNvPr>
          <p:cNvSpPr>
            <a:spLocks noGrp="1"/>
          </p:cNvSpPr>
          <p:nvPr/>
        </p:nvSpPr>
        <p:spPr>
          <a:xfrm>
            <a:off x="5181600" y="4095750"/>
            <a:ext cx="1295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Recv / Send / Disconnect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D0B04F4-2711-4F26-BA0F-5D59FBA7749C}"/>
              </a:ext>
            </a:extLst>
          </p:cNvPr>
          <p:cNvSpPr>
            <a:spLocks noGrp="1"/>
          </p:cNvSpPr>
          <p:nvPr/>
        </p:nvSpPr>
        <p:spPr>
          <a:xfrm>
            <a:off x="6648450" y="373380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50" b="1">
                <a:solidFill>
                  <a:srgbClr val="3BB5C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BB5C3"/>
                </a:solidFill>
                <a:latin typeface="Noto Sans KR"/>
                <a:ea typeface="Noto Sans KR"/>
                <a:cs typeface="Noto Sans KR"/>
              </a:rPr>
              <a:t>PACKET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B6BFA1D-DDC4-456E-BF41-5079317403D8}"/>
              </a:ext>
            </a:extLst>
          </p:cNvPr>
          <p:cNvSpPr>
            <a:spLocks noGrp="1"/>
          </p:cNvSpPr>
          <p:nvPr/>
        </p:nvSpPr>
        <p:spPr>
          <a:xfrm>
            <a:off x="6648450" y="4095750"/>
            <a:ext cx="1295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프레이밍과 유효성 검사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0468B4A-F906-46DF-9D89-34E56C5399D7}"/>
              </a:ext>
            </a:extLst>
          </p:cNvPr>
          <p:cNvSpPr>
            <a:spLocks noGrp="1"/>
          </p:cNvSpPr>
          <p:nvPr/>
        </p:nvSpPr>
        <p:spPr>
          <a:xfrm>
            <a:off x="8115300" y="373380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50" b="1">
                <a:solidFill>
                  <a:srgbClr val="3BB5C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BB5C3"/>
                </a:solidFill>
                <a:latin typeface="Noto Sans KR"/>
                <a:ea typeface="Noto Sans KR"/>
                <a:cs typeface="Noto Sans KR"/>
              </a:rPr>
              <a:t>JOB QUEUE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00567F5-E73B-46F5-93C1-A839A3848A26}"/>
              </a:ext>
            </a:extLst>
          </p:cNvPr>
          <p:cNvSpPr>
            <a:spLocks noGrp="1"/>
          </p:cNvSpPr>
          <p:nvPr/>
        </p:nvSpPr>
        <p:spPr>
          <a:xfrm>
            <a:off x="8115300" y="4095750"/>
            <a:ext cx="1295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Room 내부 순차 처리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6190F2C-0C30-4F52-851A-BF6E42233FA5}"/>
              </a:ext>
            </a:extLst>
          </p:cNvPr>
          <p:cNvSpPr>
            <a:spLocks noGrp="1"/>
          </p:cNvSpPr>
          <p:nvPr/>
        </p:nvSpPr>
        <p:spPr>
          <a:xfrm>
            <a:off x="9582150" y="3733800"/>
            <a:ext cx="1295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50" b="1">
                <a:solidFill>
                  <a:srgbClr val="3BB5C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BB5C3"/>
                </a:solidFill>
                <a:latin typeface="Noto Sans KR"/>
                <a:ea typeface="Noto Sans KR"/>
                <a:cs typeface="Noto Sans KR"/>
              </a:rPr>
              <a:t>MEMORY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78299D6-FA82-43A3-A7E6-FE0C37DCD980}"/>
              </a:ext>
            </a:extLst>
          </p:cNvPr>
          <p:cNvSpPr>
            <a:spLocks noGrp="1"/>
          </p:cNvSpPr>
          <p:nvPr/>
        </p:nvSpPr>
        <p:spPr>
          <a:xfrm>
            <a:off x="9582150" y="4095750"/>
            <a:ext cx="12954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풀링과 소유권 관리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DAE9C24-2A4A-4A04-A472-2CAC99FC4B71}"/>
              </a:ext>
            </a:extLst>
          </p:cNvPr>
          <p:cNvSpPr>
            <a:spLocks noGrp="1"/>
          </p:cNvSpPr>
          <p:nvPr/>
        </p:nvSpPr>
        <p:spPr>
          <a:xfrm>
            <a:off x="971550" y="5010150"/>
            <a:ext cx="990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네트워크 I/O와 게임 로직을 분리하고, Room 단위로 변경 순서를 고정했습니다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5CDEAF-08FD-4C17-94B6-3B63B5BD46EE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750" b="1">
                <a:solidFill>
                  <a:srgbClr val="7B879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B8790"/>
                </a:solidFill>
                <a:latin typeface="Noto Sans KR"/>
                <a:ea typeface="Noto Sans KR"/>
                <a:cs typeface="Noto Sans KR"/>
              </a:rPr>
              <a:t>PROJECT W · GAME SERVER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3F35CDE-4445-499C-AB2D-A79E29FF1D60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B879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B879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1472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>
            <a:extLst>
              <a:ext uri="{FF2B5EF4-FFF2-40B4-BE49-F238E27FC236}">
                <a16:creationId xmlns:a16="http://schemas.microsoft.com/office/drawing/2014/main" id="{C99FABCA-7754-4B6C-91AB-E44E1FC66918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CONCURRENCY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299721C-4ECA-44DF-81CD-5CA0F5549A3D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5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대기 중심 워커를 역할별 스레드로 분리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E85D7B-F0D6-4D0B-B2B0-09A6FFE07F64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CCD4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AC79C1-04BA-4AEF-92DE-31A25DF7F06A}"/>
              </a:ext>
            </a:extLst>
          </p:cNvPr>
          <p:cNvSpPr>
            <a:spLocks noGrp="1"/>
          </p:cNvSpPr>
          <p:nvPr/>
        </p:nvSpPr>
        <p:spPr>
          <a:xfrm>
            <a:off x="11087100" y="4000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BF5717E-A6FF-471F-B0CF-AD7B68D058D0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050" b="1">
                <a:solidFill>
                  <a:srgbClr val="CC4B4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CC4B4B"/>
                </a:solidFill>
                <a:latin typeface="Noto Sans KR"/>
                <a:ea typeface="Noto Sans KR"/>
                <a:cs typeface="Noto Sans KR"/>
              </a:rPr>
              <a:t>BEFORE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7DEB18-87F6-46F8-A9ED-5252D8AAB6BC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모든 워커가 같은 루프에서 최대 17ms 대기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4F51D53-408E-44AC-A860-89DFC7B22B14}"/>
              </a:ext>
            </a:extLst>
          </p:cNvPr>
          <p:cNvSpPr>
            <a:spLocks noGrp="1"/>
          </p:cNvSpPr>
          <p:nvPr/>
        </p:nvSpPr>
        <p:spPr>
          <a:xfrm>
            <a:off x="609600" y="2324100"/>
            <a:ext cx="3390900" cy="514350"/>
          </a:xfrm>
          <a:prstGeom prst="roundRect">
            <a:avLst>
              <a:gd name="adj" fmla="val 18519"/>
            </a:avLst>
          </a:prstGeom>
          <a:solidFill>
            <a:srgbClr val="F1DDD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89F34A-024A-4E9D-A588-022B685F5983}"/>
              </a:ext>
            </a:extLst>
          </p:cNvPr>
          <p:cNvSpPr>
            <a:spLocks noGrp="1"/>
          </p:cNvSpPr>
          <p:nvPr/>
        </p:nvSpPr>
        <p:spPr>
          <a:xfrm>
            <a:off x="762000" y="2447925"/>
            <a:ext cx="3086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CC4B4B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CC4B4B"/>
                </a:solidFill>
                <a:latin typeface="Consolas"/>
                <a:ea typeface="Consolas"/>
                <a:cs typeface="Consolas"/>
              </a:rPr>
              <a:t>dispatch(17)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6030F90-631C-4A0C-9366-272671051CD5}"/>
              </a:ext>
            </a:extLst>
          </p:cNvPr>
          <p:cNvSpPr>
            <a:spLocks noGrp="1"/>
          </p:cNvSpPr>
          <p:nvPr/>
        </p:nvSpPr>
        <p:spPr>
          <a:xfrm>
            <a:off x="4038600" y="2324100"/>
            <a:ext cx="990600" cy="514350"/>
          </a:xfrm>
          <a:prstGeom prst="roundRect">
            <a:avLst>
              <a:gd name="adj" fmla="val 18519"/>
            </a:avLst>
          </a:prstGeom>
          <a:solidFill>
            <a:srgbClr val="FFFDFC"/>
          </a:solidFill>
          <a:ln w="9525">
            <a:solidFill>
              <a:srgbClr val="CCD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5267AB2-3383-4AD4-B978-EFCB717B84BC}"/>
              </a:ext>
            </a:extLst>
          </p:cNvPr>
          <p:cNvSpPr>
            <a:spLocks noGrp="1"/>
          </p:cNvSpPr>
          <p:nvPr/>
        </p:nvSpPr>
        <p:spPr>
          <a:xfrm>
            <a:off x="4191000" y="2447925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12263A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2263A"/>
                </a:solidFill>
                <a:latin typeface="Consolas"/>
                <a:ea typeface="Consolas"/>
                <a:cs typeface="Consolas"/>
              </a:rPr>
              <a:t>job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D20A590-7D70-431A-A01E-72C66CCAE4D1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4762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I/O가 적을수록 모든 스레드가 함께 잠들고</a:t>
            </a:r>
          </a:p>
          <a:p>
            <a:pPr algn="l">
              <a:buNone/>
              <a:defRPr sz="1350" b="0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Room 업데이트 시작도 타임아웃에 종속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8A7096E-0E55-46A7-AA2B-49283180F805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050" b="1">
                <a:solidFill>
                  <a:srgbClr val="2E8B5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2E8B57"/>
                </a:solidFill>
                <a:latin typeface="Noto Sans KR"/>
                <a:ea typeface="Noto Sans KR"/>
                <a:cs typeface="Noto Sans KR"/>
              </a:rPr>
              <a:t>AFTER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53CF73F-109A-472D-B8F8-F3C5CCF3E3A2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1562100" cy="400050"/>
          </a:xfrm>
          <a:prstGeom prst="roundRect">
            <a:avLst>
              <a:gd name="adj" fmla="val 19048"/>
            </a:avLst>
          </a:prstGeom>
          <a:solidFill>
            <a:srgbClr val="DCEE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3303199-B2D7-4156-9039-AC70945965DB}"/>
              </a:ext>
            </a:extLst>
          </p:cNvPr>
          <p:cNvSpPr>
            <a:spLocks noGrp="1"/>
          </p:cNvSpPr>
          <p:nvPr/>
        </p:nvSpPr>
        <p:spPr>
          <a:xfrm>
            <a:off x="723900" y="45148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IOCP ×2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F70631B-5DB2-4CA8-950C-CE76C3DB5261}"/>
              </a:ext>
            </a:extLst>
          </p:cNvPr>
          <p:cNvSpPr>
            <a:spLocks noGrp="1"/>
          </p:cNvSpPr>
          <p:nvPr/>
        </p:nvSpPr>
        <p:spPr>
          <a:xfrm>
            <a:off x="2324100" y="4438650"/>
            <a:ext cx="2705100" cy="400050"/>
          </a:xfrm>
          <a:prstGeom prst="roundRect">
            <a:avLst>
              <a:gd name="adj" fmla="val 19048"/>
            </a:avLst>
          </a:prstGeom>
          <a:solidFill>
            <a:srgbClr val="FFFDFC"/>
          </a:solidFill>
          <a:ln w="9525">
            <a:solidFill>
              <a:srgbClr val="CCD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87C40CF-CAE3-4DD8-97F4-80BCD1E8B83E}"/>
              </a:ext>
            </a:extLst>
          </p:cNvPr>
          <p:cNvSpPr>
            <a:spLocks noGrp="1"/>
          </p:cNvSpPr>
          <p:nvPr/>
        </p:nvSpPr>
        <p:spPr>
          <a:xfrm>
            <a:off x="2476500" y="45148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dispatch(INFINITE)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73C98B4-4BD2-425D-B6EB-9E19282CFF23}"/>
              </a:ext>
            </a:extLst>
          </p:cNvPr>
          <p:cNvSpPr>
            <a:spLocks noGrp="1"/>
          </p:cNvSpPr>
          <p:nvPr/>
        </p:nvSpPr>
        <p:spPr>
          <a:xfrm>
            <a:off x="609600" y="4991100"/>
            <a:ext cx="1562100" cy="400050"/>
          </a:xfrm>
          <a:prstGeom prst="roundRect">
            <a:avLst>
              <a:gd name="adj" fmla="val 19048"/>
            </a:avLst>
          </a:prstGeom>
          <a:solidFill>
            <a:srgbClr val="F5E7D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69921AD-B7DF-48DA-AF68-E22236D92C59}"/>
              </a:ext>
            </a:extLst>
          </p:cNvPr>
          <p:cNvSpPr>
            <a:spLocks noGrp="1"/>
          </p:cNvSpPr>
          <p:nvPr/>
        </p:nvSpPr>
        <p:spPr>
          <a:xfrm>
            <a:off x="723900" y="506730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1">
                <a:solidFill>
                  <a:srgbClr val="E89B2D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E89B2D"/>
                </a:solidFill>
                <a:latin typeface="Noto Sans KR"/>
                <a:ea typeface="Noto Sans KR"/>
                <a:cs typeface="Noto Sans KR"/>
              </a:rPr>
              <a:t>JobTimer ×1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9844F54-6FAD-4236-9B14-C4FF6FC44747}"/>
              </a:ext>
            </a:extLst>
          </p:cNvPr>
          <p:cNvSpPr>
            <a:spLocks noGrp="1"/>
          </p:cNvSpPr>
          <p:nvPr/>
        </p:nvSpPr>
        <p:spPr>
          <a:xfrm>
            <a:off x="2324100" y="4991100"/>
            <a:ext cx="2705100" cy="400050"/>
          </a:xfrm>
          <a:prstGeom prst="roundRect">
            <a:avLst>
              <a:gd name="adj" fmla="val 19048"/>
            </a:avLst>
          </a:prstGeom>
          <a:solidFill>
            <a:srgbClr val="FFFDFC"/>
          </a:solidFill>
          <a:ln w="9525">
            <a:solidFill>
              <a:srgbClr val="CCD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39857C5-F3E4-40C5-95F4-7FFEDDF1F282}"/>
              </a:ext>
            </a:extLst>
          </p:cNvPr>
          <p:cNvSpPr>
            <a:spLocks noGrp="1"/>
          </p:cNvSpPr>
          <p:nvPr/>
        </p:nvSpPr>
        <p:spPr>
          <a:xfrm>
            <a:off x="2476500" y="506730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예약 작업 분배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1663235-2467-45F5-A965-E84ADCBD0BE4}"/>
              </a:ext>
            </a:extLst>
          </p:cNvPr>
          <p:cNvSpPr>
            <a:spLocks noGrp="1"/>
          </p:cNvSpPr>
          <p:nvPr/>
        </p:nvSpPr>
        <p:spPr>
          <a:xfrm>
            <a:off x="609600" y="5543550"/>
            <a:ext cx="1562100" cy="400050"/>
          </a:xfrm>
          <a:prstGeom prst="roundRect">
            <a:avLst>
              <a:gd name="adj" fmla="val 19048"/>
            </a:avLst>
          </a:prstGeom>
          <a:solidFill>
            <a:srgbClr val="DDEAD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D5D531F-0119-4FC3-964C-64BBFBD75DFD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1">
                <a:solidFill>
                  <a:srgbClr val="2E8B5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E8B57"/>
                </a:solidFill>
                <a:latin typeface="Noto Sans KR"/>
                <a:ea typeface="Noto Sans KR"/>
                <a:cs typeface="Noto Sans KR"/>
              </a:rPr>
              <a:t>Job × core-3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335DCB4-C9D4-43FA-8465-299393B11EA3}"/>
              </a:ext>
            </a:extLst>
          </p:cNvPr>
          <p:cNvSpPr>
            <a:spLocks noGrp="1"/>
          </p:cNvSpPr>
          <p:nvPr/>
        </p:nvSpPr>
        <p:spPr>
          <a:xfrm>
            <a:off x="2324100" y="5543550"/>
            <a:ext cx="2705100" cy="400050"/>
          </a:xfrm>
          <a:prstGeom prst="roundRect">
            <a:avLst>
              <a:gd name="adj" fmla="val 19048"/>
            </a:avLst>
          </a:prstGeom>
          <a:solidFill>
            <a:srgbClr val="FFFDFC"/>
          </a:solidFill>
          <a:ln w="9525">
            <a:solidFill>
              <a:srgbClr val="CCD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AE22AD7-9975-422E-B2DF-6231BBA2D8CF}"/>
              </a:ext>
            </a:extLst>
          </p:cNvPr>
          <p:cNvSpPr>
            <a:spLocks noGrp="1"/>
          </p:cNvSpPr>
          <p:nvPr/>
        </p:nvSpPr>
        <p:spPr>
          <a:xfrm>
            <a:off x="2476500" y="5619750"/>
            <a:ext cx="2400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Room 로직 병렬 실행</a:t>
            </a:r>
          </a:p>
        </p:txBody>
      </p:sp>
      <p:graphicFrame>
        <p:nvGraphicFramePr>
          <p:cNvPr id="56" name="Chart"/>
          <p:cNvGraphicFramePr/>
          <p:nvPr/>
        </p:nvGraphicFramePr>
        <p:xfrm>
          <a:off x="5943600" y="1676400"/>
          <a:ext cx="5257800" cy="356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직사각형 25">
            <a:extLst>
              <a:ext uri="{FF2B5EF4-FFF2-40B4-BE49-F238E27FC236}">
                <a16:creationId xmlns:a16="http://schemas.microsoft.com/office/drawing/2014/main" id="{B85C4B39-6011-4E39-820B-4C15244BF473}"/>
              </a:ext>
            </a:extLst>
          </p:cNvPr>
          <p:cNvSpPr>
            <a:spLocks noGrp="1"/>
          </p:cNvSpPr>
          <p:nvPr/>
        </p:nvSpPr>
        <p:spPr>
          <a:xfrm>
            <a:off x="6610350" y="5391150"/>
            <a:ext cx="3924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Concurrency Visualizer 재측정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6819524-F19A-4716-B484-8816A92CE516}"/>
              </a:ext>
            </a:extLst>
          </p:cNvPr>
          <p:cNvSpPr>
            <a:spLocks noGrp="1"/>
          </p:cNvSpPr>
          <p:nvPr/>
        </p:nvSpPr>
        <p:spPr>
          <a:xfrm>
            <a:off x="6610350" y="5715000"/>
            <a:ext cx="3924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8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실행 75% · 동기화 23%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4A65F4-65AC-4DC3-B252-DC1747208DD3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750" b="1">
                <a:solidFill>
                  <a:srgbClr val="7B879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B8790"/>
                </a:solidFill>
                <a:latin typeface="Noto Sans KR"/>
                <a:ea typeface="Noto Sans KR"/>
                <a:cs typeface="Noto Sans KR"/>
              </a:rPr>
              <a:t>PROJECT W · GAME SERVER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F64998A-3471-4052-82A6-B48527132E1A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B879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B8790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43098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B9418A08-7C1B-4EA7-93A8-24D5796CBFA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ASYNC LIFETIME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120F25-F0F6-4621-8486-26E537763BB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5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완료 통지까지 객체 수명을 보장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2C3CAD-36E8-4592-8A17-84930B712920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CCD4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E3241B-A59C-4029-A850-772FBB59B3DC}"/>
              </a:ext>
            </a:extLst>
          </p:cNvPr>
          <p:cNvSpPr>
            <a:spLocks noGrp="1"/>
          </p:cNvSpPr>
          <p:nvPr/>
        </p:nvSpPr>
        <p:spPr>
          <a:xfrm>
            <a:off x="11087100" y="4000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55CE9DE-5A15-4799-ADC6-7140A2CAD283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7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비동기 작업은 함수 반환 이후에도 메모리를 사용합니다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797272-E199-4C0A-85A3-4AB3B30B2AF3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해제 시점이 아니라 마지막 사용 시점을 소유권의 기준으로 삼았습니다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4972D4-6F34-4431-B5E4-8D3DCCFB93AF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SEND BUFFER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70D37AA-4D82-4C46-B825-0387882D21C5}"/>
              </a:ext>
            </a:extLst>
          </p:cNvPr>
          <p:cNvSpPr>
            <a:spLocks noGrp="1"/>
          </p:cNvSpPr>
          <p:nvPr/>
        </p:nvSpPr>
        <p:spPr>
          <a:xfrm>
            <a:off x="2095500" y="2552700"/>
            <a:ext cx="2400300" cy="685800"/>
          </a:xfrm>
          <a:prstGeom prst="roundRect">
            <a:avLst>
              <a:gd name="adj" fmla="val 16667"/>
            </a:avLst>
          </a:prstGeom>
          <a:solidFill>
            <a:srgbClr val="F1DDD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9F9FFFA-B85B-420E-864B-912A03E1A491}"/>
              </a:ext>
            </a:extLst>
          </p:cNvPr>
          <p:cNvSpPr>
            <a:spLocks noGrp="1"/>
          </p:cNvSpPr>
          <p:nvPr/>
        </p:nvSpPr>
        <p:spPr>
          <a:xfrm>
            <a:off x="2266950" y="2724150"/>
            <a:ext cx="2057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CC4B4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C4B4B"/>
                </a:solidFill>
                <a:latin typeface="Noto Sans KR"/>
                <a:ea typeface="Noto Sans KR"/>
                <a:cs typeface="Noto Sans KR"/>
              </a:rPr>
              <a:t>Chunk 재사용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836B4B1-FA50-4FF2-86A7-275B791B7A9A}"/>
              </a:ext>
            </a:extLst>
          </p:cNvPr>
          <p:cNvSpPr>
            <a:spLocks noGrp="1"/>
          </p:cNvSpPr>
          <p:nvPr/>
        </p:nvSpPr>
        <p:spPr>
          <a:xfrm>
            <a:off x="4629150" y="2695575"/>
            <a:ext cx="45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210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5B942C3-678D-4F74-B645-444EA5C83798}"/>
              </a:ext>
            </a:extLst>
          </p:cNvPr>
          <p:cNvSpPr>
            <a:spLocks noGrp="1"/>
          </p:cNvSpPr>
          <p:nvPr/>
        </p:nvSpPr>
        <p:spPr>
          <a:xfrm>
            <a:off x="5200650" y="2552700"/>
            <a:ext cx="2724150" cy="685800"/>
          </a:xfrm>
          <a:prstGeom prst="roundRect">
            <a:avLst>
              <a:gd name="adj" fmla="val 16667"/>
            </a:avLst>
          </a:prstGeom>
          <a:solidFill>
            <a:srgbClr val="DCEE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2CD2E11-C676-4404-B9A0-EA721133ED24}"/>
              </a:ext>
            </a:extLst>
          </p:cNvPr>
          <p:cNvSpPr>
            <a:spLocks noGrp="1"/>
          </p:cNvSpPr>
          <p:nvPr/>
        </p:nvSpPr>
        <p:spPr>
          <a:xfrm>
            <a:off x="5372100" y="27241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SendBuffer가 Chunk를 소유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1497108-0036-4502-87AC-E2DD8FCAE443}"/>
              </a:ext>
            </a:extLst>
          </p:cNvPr>
          <p:cNvSpPr>
            <a:spLocks noGrp="1"/>
          </p:cNvSpPr>
          <p:nvPr/>
        </p:nvSpPr>
        <p:spPr>
          <a:xfrm>
            <a:off x="8134350" y="2552700"/>
            <a:ext cx="3162300" cy="685800"/>
          </a:xfrm>
          <a:prstGeom prst="roundRect">
            <a:avLst>
              <a:gd name="adj" fmla="val 16667"/>
            </a:avLst>
          </a:prstGeom>
          <a:solidFill>
            <a:srgbClr val="FFFDFC"/>
          </a:solidFill>
          <a:ln w="9525">
            <a:solidFill>
              <a:srgbClr val="CCD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AB98C8-9AD8-407A-B811-3E94B85A0FCD}"/>
              </a:ext>
            </a:extLst>
          </p:cNvPr>
          <p:cNvSpPr>
            <a:spLocks noGrp="1"/>
          </p:cNvSpPr>
          <p:nvPr/>
        </p:nvSpPr>
        <p:spPr>
          <a:xfrm>
            <a:off x="8305800" y="2724150"/>
            <a:ext cx="2819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마지막 WSASend 완료 후 풀 반환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DEDD06A-DBA2-4A18-B21F-A2BBFCDCA13B}"/>
              </a:ext>
            </a:extLst>
          </p:cNvPr>
          <p:cNvSpPr>
            <a:spLocks noGrp="1"/>
          </p:cNvSpPr>
          <p:nvPr/>
        </p:nvSpPr>
        <p:spPr>
          <a:xfrm>
            <a:off x="609600" y="36004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GAME SESSION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B7E8999-33DC-4141-8E06-A09CC1DD9F9A}"/>
              </a:ext>
            </a:extLst>
          </p:cNvPr>
          <p:cNvSpPr>
            <a:spLocks noGrp="1"/>
          </p:cNvSpPr>
          <p:nvPr/>
        </p:nvSpPr>
        <p:spPr>
          <a:xfrm>
            <a:off x="2095500" y="3543300"/>
            <a:ext cx="2400300" cy="685800"/>
          </a:xfrm>
          <a:prstGeom prst="roundRect">
            <a:avLst>
              <a:gd name="adj" fmla="val 16667"/>
            </a:avLst>
          </a:prstGeom>
          <a:solidFill>
            <a:srgbClr val="F1DDD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934553-311E-42E1-AA8D-9EE66CA8CA3C}"/>
              </a:ext>
            </a:extLst>
          </p:cNvPr>
          <p:cNvSpPr>
            <a:spLocks noGrp="1"/>
          </p:cNvSpPr>
          <p:nvPr/>
        </p:nvSpPr>
        <p:spPr>
          <a:xfrm>
            <a:off x="2266950" y="3714750"/>
            <a:ext cx="2057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CC4B4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C4B4B"/>
                </a:solidFill>
                <a:latin typeface="Noto Sans KR"/>
                <a:ea typeface="Noto Sans KR"/>
                <a:cs typeface="Noto Sans KR"/>
              </a:rPr>
              <a:t>Disconnect 직후 반환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D4F833A-F45B-46A3-BDAE-78310A27F861}"/>
              </a:ext>
            </a:extLst>
          </p:cNvPr>
          <p:cNvSpPr>
            <a:spLocks noGrp="1"/>
          </p:cNvSpPr>
          <p:nvPr/>
        </p:nvSpPr>
        <p:spPr>
          <a:xfrm>
            <a:off x="4629150" y="3686175"/>
            <a:ext cx="45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210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FD7BB3D-A8EA-46BB-98C4-98029350A410}"/>
              </a:ext>
            </a:extLst>
          </p:cNvPr>
          <p:cNvSpPr>
            <a:spLocks noGrp="1"/>
          </p:cNvSpPr>
          <p:nvPr/>
        </p:nvSpPr>
        <p:spPr>
          <a:xfrm>
            <a:off x="5200650" y="3543300"/>
            <a:ext cx="2724150" cy="685800"/>
          </a:xfrm>
          <a:prstGeom prst="roundRect">
            <a:avLst>
              <a:gd name="adj" fmla="val 16667"/>
            </a:avLst>
          </a:prstGeom>
          <a:solidFill>
            <a:srgbClr val="DCEE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8753F50-805E-42E2-9770-4C699B3BB5B6}"/>
              </a:ext>
            </a:extLst>
          </p:cNvPr>
          <p:cNvSpPr>
            <a:spLocks noGrp="1"/>
          </p:cNvSpPr>
          <p:nvPr/>
        </p:nvSpPr>
        <p:spPr>
          <a:xfrm>
            <a:off x="5372100" y="37147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IoEvent가 Session을 소유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DE87AB1-F8BA-4706-8E29-A3DD543C040E}"/>
              </a:ext>
            </a:extLst>
          </p:cNvPr>
          <p:cNvSpPr>
            <a:spLocks noGrp="1"/>
          </p:cNvSpPr>
          <p:nvPr/>
        </p:nvSpPr>
        <p:spPr>
          <a:xfrm>
            <a:off x="8134350" y="3543300"/>
            <a:ext cx="3162300" cy="685800"/>
          </a:xfrm>
          <a:prstGeom prst="roundRect">
            <a:avLst>
              <a:gd name="adj" fmla="val 16667"/>
            </a:avLst>
          </a:prstGeom>
          <a:solidFill>
            <a:srgbClr val="FFFDFC"/>
          </a:solidFill>
          <a:ln w="9525">
            <a:solidFill>
              <a:srgbClr val="CCD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0C76A48-E8C5-4322-94AE-73920691E27F}"/>
              </a:ext>
            </a:extLst>
          </p:cNvPr>
          <p:cNvSpPr>
            <a:spLocks noGrp="1"/>
          </p:cNvSpPr>
          <p:nvPr/>
        </p:nvSpPr>
        <p:spPr>
          <a:xfrm>
            <a:off x="8305800" y="3714750"/>
            <a:ext cx="2819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pending I/O 완료까지 생존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3D86C5F-DF99-414D-94F7-B4C0B7100BC8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LOBBY ROOM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03B9DFC-523F-4F29-B69B-D5C31DDB0516}"/>
              </a:ext>
            </a:extLst>
          </p:cNvPr>
          <p:cNvSpPr>
            <a:spLocks noGrp="1"/>
          </p:cNvSpPr>
          <p:nvPr/>
        </p:nvSpPr>
        <p:spPr>
          <a:xfrm>
            <a:off x="2095500" y="4533900"/>
            <a:ext cx="2400300" cy="685800"/>
          </a:xfrm>
          <a:prstGeom prst="roundRect">
            <a:avLst>
              <a:gd name="adj" fmla="val 16667"/>
            </a:avLst>
          </a:prstGeom>
          <a:solidFill>
            <a:srgbClr val="F1DDD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572E641-44C2-4724-AC6F-5F3895900F22}"/>
              </a:ext>
            </a:extLst>
          </p:cNvPr>
          <p:cNvSpPr>
            <a:spLocks noGrp="1"/>
          </p:cNvSpPr>
          <p:nvPr/>
        </p:nvSpPr>
        <p:spPr>
          <a:xfrm>
            <a:off x="2266950" y="4705350"/>
            <a:ext cx="2057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CC4B4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C4B4B"/>
                </a:solidFill>
                <a:latin typeface="Noto Sans KR"/>
                <a:ea typeface="Noto Sans KR"/>
                <a:cs typeface="Noto Sans KR"/>
              </a:rPr>
              <a:t>findRoom 이후 동시 삭제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2C64B6E-D15A-4AF6-9DCB-283E510F8601}"/>
              </a:ext>
            </a:extLst>
          </p:cNvPr>
          <p:cNvSpPr>
            <a:spLocks noGrp="1"/>
          </p:cNvSpPr>
          <p:nvPr/>
        </p:nvSpPr>
        <p:spPr>
          <a:xfrm>
            <a:off x="4629150" y="4676775"/>
            <a:ext cx="45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210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74BEE84-7CF8-4612-BB59-D09A2FC96C4E}"/>
              </a:ext>
            </a:extLst>
          </p:cNvPr>
          <p:cNvSpPr>
            <a:spLocks noGrp="1"/>
          </p:cNvSpPr>
          <p:nvPr/>
        </p:nvSpPr>
        <p:spPr>
          <a:xfrm>
            <a:off x="5200650" y="4533900"/>
            <a:ext cx="2724150" cy="685800"/>
          </a:xfrm>
          <a:prstGeom prst="roundRect">
            <a:avLst>
              <a:gd name="adj" fmla="val 16667"/>
            </a:avLst>
          </a:prstGeom>
          <a:solidFill>
            <a:srgbClr val="DCEEEF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7BEE286-ECFA-4A39-8D8A-059F6D8EA7FC}"/>
              </a:ext>
            </a:extLst>
          </p:cNvPr>
          <p:cNvSpPr>
            <a:spLocks noGrp="1"/>
          </p:cNvSpPr>
          <p:nvPr/>
        </p:nvSpPr>
        <p:spPr>
          <a:xfrm>
            <a:off x="5372100" y="4705350"/>
            <a:ext cx="238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shared_ptr 복사를 반환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1EB9EF20-E748-43F3-A131-6A682B19D1A8}"/>
              </a:ext>
            </a:extLst>
          </p:cNvPr>
          <p:cNvSpPr>
            <a:spLocks noGrp="1"/>
          </p:cNvSpPr>
          <p:nvPr/>
        </p:nvSpPr>
        <p:spPr>
          <a:xfrm>
            <a:off x="8134350" y="4533900"/>
            <a:ext cx="3162300" cy="685800"/>
          </a:xfrm>
          <a:prstGeom prst="roundRect">
            <a:avLst>
              <a:gd name="adj" fmla="val 16667"/>
            </a:avLst>
          </a:prstGeom>
          <a:solidFill>
            <a:srgbClr val="FFFDFC"/>
          </a:solidFill>
          <a:ln w="9525">
            <a:solidFill>
              <a:srgbClr val="CCD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6C60E4C-B8CA-4DFF-87B9-B1EAC9EC77ED}"/>
              </a:ext>
            </a:extLst>
          </p:cNvPr>
          <p:cNvSpPr>
            <a:spLocks noGrp="1"/>
          </p:cNvSpPr>
          <p:nvPr/>
        </p:nvSpPr>
        <p:spPr>
          <a:xfrm>
            <a:off x="8305800" y="4705350"/>
            <a:ext cx="2819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erase와 접근의 경쟁 제거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C8F7C7C-4E1A-4556-91D8-004D33891BDE}"/>
              </a:ext>
            </a:extLst>
          </p:cNvPr>
          <p:cNvSpPr>
            <a:spLocks noGrp="1"/>
          </p:cNvSpPr>
          <p:nvPr/>
        </p:nvSpPr>
        <p:spPr>
          <a:xfrm>
            <a:off x="2095500" y="5676900"/>
            <a:ext cx="9201150" cy="457200"/>
          </a:xfrm>
          <a:prstGeom prst="roundRect">
            <a:avLst>
              <a:gd name="adj" fmla="val 20833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EC410F0-118B-425C-8835-7B6143919215}"/>
              </a:ext>
            </a:extLst>
          </p:cNvPr>
          <p:cNvSpPr>
            <a:spLocks noGrp="1"/>
          </p:cNvSpPr>
          <p:nvPr/>
        </p:nvSpPr>
        <p:spPr>
          <a:xfrm>
            <a:off x="2324100" y="5781675"/>
            <a:ext cx="8743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owner_ = shared_ptr&lt;T&gt;  ·  pending operation keeps the resource alive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5CE9E40-9944-4E63-916F-014B9EDEA3A9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750" b="1">
                <a:solidFill>
                  <a:srgbClr val="7B879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B8790"/>
                </a:solidFill>
                <a:latin typeface="Noto Sans KR"/>
                <a:ea typeface="Noto Sans KR"/>
                <a:cs typeface="Noto Sans KR"/>
              </a:rPr>
              <a:t>PROJECT W · GAME SERVER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4BFF14E-C883-42B5-ADA5-F07E5D1B0031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B879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B8790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48902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25670A84-F4A1-456B-A0D1-A64C1193FB6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MOVEMENT SYNC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1D5D949-E047-40CA-A774-0C2E1026E194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5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20Hz 전송과 원격 객체 전용 보간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58C1E74-B391-42C0-BA46-895A25C663C9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CCD4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EC0E07-C97A-438A-9D90-E191FFC4A395}"/>
              </a:ext>
            </a:extLst>
          </p:cNvPr>
          <p:cNvSpPr>
            <a:spLocks noGrp="1"/>
          </p:cNvSpPr>
          <p:nvPr/>
        </p:nvSpPr>
        <p:spPr>
          <a:xfrm>
            <a:off x="11087100" y="4000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A19F9-84CD-4DC3-8D10-B913796CADDD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850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50ms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9BF0C0-9CA9-49C4-85A2-8A11342A8751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125" b="1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이동 패킷 주기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672A76-2117-4B3F-A2B0-43E37EBDB832}"/>
              </a:ext>
            </a:extLst>
          </p:cNvPr>
          <p:cNvSpPr>
            <a:spLocks noGrp="1"/>
          </p:cNvSpPr>
          <p:nvPr/>
        </p:nvSpPr>
        <p:spPr>
          <a:xfrm>
            <a:off x="2552700" y="1524000"/>
            <a:ext cx="1714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850" b="1">
                <a:solidFill>
                  <a:srgbClr val="E89B2D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E89B2D"/>
                </a:solidFill>
                <a:latin typeface="Noto Sans KR"/>
                <a:ea typeface="Noto Sans KR"/>
                <a:cs typeface="Noto Sans KR"/>
              </a:rPr>
              <a:t>100ms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CF663A-CE9D-4043-93FB-ED22F150A875}"/>
              </a:ext>
            </a:extLst>
          </p:cNvPr>
          <p:cNvSpPr>
            <a:spLocks noGrp="1"/>
          </p:cNvSpPr>
          <p:nvPr/>
        </p:nvSpPr>
        <p:spPr>
          <a:xfrm>
            <a:off x="2552700" y="20383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125" b="1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정지 판단 타임아웃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647819-A63A-482B-A573-3338697AA509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6705600" cy="38100"/>
          </a:xfrm>
          <a:prstGeom prst="rect">
            <a:avLst/>
          </a:prstGeom>
          <a:solidFill>
            <a:srgbClr val="CCD4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81D6BA3-0DF3-4888-A836-03064A279963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087E8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2A38EFF-0F3C-48D9-939E-299EC78AF9FD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8333B8-5460-40F0-B50E-3F556C1A5CF7}"/>
              </a:ext>
            </a:extLst>
          </p:cNvPr>
          <p:cNvSpPr>
            <a:spLocks noGrp="1"/>
          </p:cNvSpPr>
          <p:nvPr/>
        </p:nvSpPr>
        <p:spPr>
          <a:xfrm>
            <a:off x="381000" y="304800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패킷 수신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8362B72-DE3F-4570-97FD-037340C7209F}"/>
              </a:ext>
            </a:extLst>
          </p:cNvPr>
          <p:cNvSpPr>
            <a:spLocks noGrp="1"/>
          </p:cNvSpPr>
          <p:nvPr/>
        </p:nvSpPr>
        <p:spPr>
          <a:xfrm>
            <a:off x="3276600" y="25717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E89B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DE1971C-D67E-4FC3-9C4B-85197B1D911A}"/>
              </a:ext>
            </a:extLst>
          </p:cNvPr>
          <p:cNvSpPr>
            <a:spLocks noGrp="1"/>
          </p:cNvSpPr>
          <p:nvPr/>
        </p:nvSpPr>
        <p:spPr>
          <a:xfrm>
            <a:off x="3314700" y="264795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B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26678FD-4FD4-4132-BD2C-FD158477F377}"/>
              </a:ext>
            </a:extLst>
          </p:cNvPr>
          <p:cNvSpPr>
            <a:spLocks noGrp="1"/>
          </p:cNvSpPr>
          <p:nvPr/>
        </p:nvSpPr>
        <p:spPr>
          <a:xfrm>
            <a:off x="2800350" y="304800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보간 진행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E846952-ED0F-472E-A19D-8E91B005DBF9}"/>
              </a:ext>
            </a:extLst>
          </p:cNvPr>
          <p:cNvSpPr>
            <a:spLocks noGrp="1"/>
          </p:cNvSpPr>
          <p:nvPr/>
        </p:nvSpPr>
        <p:spPr>
          <a:xfrm>
            <a:off x="6191250" y="25717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087E8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24BE08D-A51B-4D95-AC3C-BB3A3CD8737B}"/>
              </a:ext>
            </a:extLst>
          </p:cNvPr>
          <p:cNvSpPr>
            <a:spLocks noGrp="1"/>
          </p:cNvSpPr>
          <p:nvPr/>
        </p:nvSpPr>
        <p:spPr>
          <a:xfrm>
            <a:off x="6229350" y="264795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A09D1DB-27B1-4B92-B21A-D151E20E17BB}"/>
              </a:ext>
            </a:extLst>
          </p:cNvPr>
          <p:cNvSpPr>
            <a:spLocks noGrp="1"/>
          </p:cNvSpPr>
          <p:nvPr/>
        </p:nvSpPr>
        <p:spPr>
          <a:xfrm>
            <a:off x="5715000" y="3048000"/>
            <a:ext cx="1314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다음 패킷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DFF7283-3E26-49A6-B5D4-3DDA0EDF58F0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6705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0" b="0">
                <a:solidFill>
                  <a:srgbClr val="0B1F3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0B1F33"/>
                </a:solidFill>
                <a:latin typeface="Consolas"/>
                <a:ea typeface="Consolas"/>
                <a:cs typeface="Consolas"/>
              </a:rPr>
              <a:t>renderPos = lerp(current screen position, next server position, tNet)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FCC25D9-953C-439D-97D4-5D287FD7929D}"/>
              </a:ext>
            </a:extLst>
          </p:cNvPr>
          <p:cNvSpPr>
            <a:spLocks noGrp="1"/>
          </p:cNvSpPr>
          <p:nvPr/>
        </p:nvSpPr>
        <p:spPr>
          <a:xfrm>
            <a:off x="7848600" y="15430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125" b="1">
                <a:solidFill>
                  <a:srgbClr val="CC4B4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CC4B4B"/>
                </a:solidFill>
                <a:latin typeface="Noto Sans KR"/>
                <a:ea typeface="Noto Sans KR"/>
                <a:cs typeface="Noto Sans KR"/>
              </a:rPr>
              <a:t>원인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DC50A3D-79BE-4E3E-9D26-BB027BB9D629}"/>
              </a:ext>
            </a:extLst>
          </p:cNvPr>
          <p:cNvSpPr>
            <a:spLocks noGrp="1"/>
          </p:cNvSpPr>
          <p:nvPr/>
        </p:nvSpPr>
        <p:spPr>
          <a:xfrm>
            <a:off x="7848600" y="1885950"/>
            <a:ext cx="35242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28600" indent="-114300">
              <a:spcAft>
                <a:spcPts val="500"/>
              </a:spcAft>
              <a:buChar char="•"/>
              <a:defRPr sz="1350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2263A"/>
                </a:solidFill>
                <a:latin typeface="Noto Sans KR"/>
                <a:ea typeface="Noto Sans KR"/>
                <a:cs typeface="Noto Sans KR"/>
              </a:rPr>
              <a:t>물리 보간 계수를 원격 객체와 공유</a:t>
            </a:r>
          </a:p>
          <a:p>
            <a:pPr marL="228600" indent="-114300">
              <a:spcAft>
                <a:spcPts val="500"/>
              </a:spcAft>
              <a:buChar char="•"/>
              <a:defRPr sz="1350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2263A"/>
                </a:solidFill>
                <a:latin typeface="Noto Sans KR"/>
                <a:ea typeface="Noto Sans KR"/>
                <a:cs typeface="Noto Sans KR"/>
              </a:rPr>
              <a:t>속도가 변할 때만 패킷 전송</a:t>
            </a:r>
          </a:p>
          <a:p>
            <a:pPr marL="228600" indent="-114300">
              <a:spcAft>
                <a:spcPts val="500"/>
              </a:spcAft>
              <a:buChar char="•"/>
              <a:defRPr sz="1350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2263A"/>
                </a:solidFill>
                <a:latin typeface="Noto Sans KR"/>
                <a:ea typeface="Noto Sans KR"/>
                <a:cs typeface="Noto Sans KR"/>
              </a:rPr>
              <a:t>원격 Kinematic 바디에도 damping 적용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26D6451-C9B4-4BC1-980B-4EBAB56C9EF9}"/>
              </a:ext>
            </a:extLst>
          </p:cNvPr>
          <p:cNvSpPr>
            <a:spLocks noGrp="1"/>
          </p:cNvSpPr>
          <p:nvPr/>
        </p:nvSpPr>
        <p:spPr>
          <a:xfrm>
            <a:off x="7848600" y="35623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125" b="1">
                <a:solidFill>
                  <a:srgbClr val="2E8B5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2E8B57"/>
                </a:solidFill>
                <a:latin typeface="Noto Sans KR"/>
                <a:ea typeface="Noto Sans KR"/>
                <a:cs typeface="Noto Sans KR"/>
              </a:rPr>
              <a:t>수정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C320FE3-9355-40B6-A992-ECC59C8DBFA7}"/>
              </a:ext>
            </a:extLst>
          </p:cNvPr>
          <p:cNvSpPr>
            <a:spLocks noGrp="1"/>
          </p:cNvSpPr>
          <p:nvPr/>
        </p:nvSpPr>
        <p:spPr>
          <a:xfrm>
            <a:off x="7848600" y="3905250"/>
            <a:ext cx="3524250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28600" indent="-114300">
              <a:spcAft>
                <a:spcPts val="500"/>
              </a:spcAft>
              <a:buChar char="•"/>
              <a:defRPr sz="1350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2263A"/>
                </a:solidFill>
                <a:latin typeface="Noto Sans KR"/>
                <a:ea typeface="Noto Sans KR"/>
                <a:cs typeface="Noto Sans KR"/>
              </a:rPr>
              <a:t>원격 플레이어별 tNet 분리</a:t>
            </a:r>
          </a:p>
          <a:p>
            <a:pPr marL="228600" indent="-114300">
              <a:spcAft>
                <a:spcPts val="500"/>
              </a:spcAft>
              <a:buChar char="•"/>
              <a:defRPr sz="1350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2263A"/>
                </a:solidFill>
                <a:latin typeface="Noto Sans KR"/>
                <a:ea typeface="Noto Sans KR"/>
                <a:cs typeface="Noto Sans KR"/>
              </a:rPr>
              <a:t>이동 중 50ms마다 계속 전송</a:t>
            </a:r>
          </a:p>
          <a:p>
            <a:pPr marL="228600" indent="-114300">
              <a:spcAft>
                <a:spcPts val="500"/>
              </a:spcAft>
              <a:buChar char="•"/>
              <a:defRPr sz="1350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2263A"/>
                </a:solidFill>
                <a:latin typeface="Noto Sans KR"/>
                <a:ea typeface="Noto Sans KR"/>
                <a:cs typeface="Noto Sans KR"/>
              </a:rPr>
              <a:t>velocity를 패킷에 포함</a:t>
            </a:r>
          </a:p>
          <a:p>
            <a:pPr marL="228600" indent="-114300">
              <a:spcAft>
                <a:spcPts val="500"/>
              </a:spcAft>
              <a:buChar char="•"/>
              <a:defRPr sz="1350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r>
              <a:rPr sz="1350">
                <a:solidFill>
                  <a:srgbClr val="12263A"/>
                </a:solidFill>
                <a:latin typeface="Noto Sans KR"/>
                <a:ea typeface="Noto Sans KR"/>
                <a:cs typeface="Noto Sans KR"/>
              </a:rPr>
              <a:t>원격 객체 linearDamping = 0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713A80E-DEDE-49A9-86BB-7EBFAF19A6A6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6705600" cy="1104900"/>
          </a:xfrm>
          <a:prstGeom prst="roundRect">
            <a:avLst>
              <a:gd name="adj" fmla="val 12069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16B84C0-D191-41E7-9E15-949B8AD3A4CB}"/>
              </a:ext>
            </a:extLst>
          </p:cNvPr>
          <p:cNvSpPr>
            <a:spLocks noGrp="1"/>
          </p:cNvSpPr>
          <p:nvPr/>
        </p:nvSpPr>
        <p:spPr>
          <a:xfrm>
            <a:off x="857250" y="46672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패킷 도착 시 화면의 현재 위치를 보간 시작점으로 사용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CA87523-623E-454B-B24A-B2760455F0B7}"/>
              </a:ext>
            </a:extLst>
          </p:cNvPr>
          <p:cNvSpPr>
            <a:spLocks noGrp="1"/>
          </p:cNvSpPr>
          <p:nvPr/>
        </p:nvSpPr>
        <p:spPr>
          <a:xfrm>
            <a:off x="857250" y="5086350"/>
            <a:ext cx="619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0">
                <a:solidFill>
                  <a:srgbClr val="C8D5D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C8D5DD"/>
                </a:solidFill>
                <a:latin typeface="Noto Sans KR"/>
                <a:ea typeface="Noto Sans KR"/>
                <a:cs typeface="Noto Sans KR"/>
              </a:rPr>
              <a:t>지터가 있어도 위치 점프와 Idle/Run 반복을 줄였습니다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578B687-7E34-49A8-9E24-69D8BD798B1A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750" b="1">
                <a:solidFill>
                  <a:srgbClr val="7B879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B8790"/>
                </a:solidFill>
                <a:latin typeface="Noto Sans KR"/>
                <a:ea typeface="Noto Sans KR"/>
                <a:cs typeface="Noto Sans KR"/>
              </a:rPr>
              <a:t>PROJECT W · GAME SERVER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FFCCDCC-4027-4009-8D67-E7BCD7550A61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B879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B8790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37637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F97B91F3-AA3B-4558-BC0F-5EAA11A18E6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COMBAT &amp; TIME SYNC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F9B3B49-C753-43F8-B05E-B3520F1BE9C6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5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다른 PC에서도 같은 공격 시점을 해석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9912DFC-6621-4790-B716-5820399DFE8D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CCD4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5FD8666-53BA-4363-BC97-F257F756FE47}"/>
              </a:ext>
            </a:extLst>
          </p:cNvPr>
          <p:cNvSpPr>
            <a:spLocks noGrp="1"/>
          </p:cNvSpPr>
          <p:nvPr/>
        </p:nvSpPr>
        <p:spPr>
          <a:xfrm>
            <a:off x="11087100" y="4000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26228C-47D3-4B30-9224-12EA27E4649A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6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NTP 방식 시간 동기화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49E5568-B08B-4092-B5A6-CE6A8E7D1119}"/>
              </a:ext>
            </a:extLst>
          </p:cNvPr>
          <p:cNvSpPr>
            <a:spLocks noGrp="1"/>
          </p:cNvSpPr>
          <p:nvPr/>
        </p:nvSpPr>
        <p:spPr>
          <a:xfrm>
            <a:off x="609600" y="2076450"/>
            <a:ext cx="1314450" cy="723900"/>
          </a:xfrm>
          <a:prstGeom prst="roundRect">
            <a:avLst>
              <a:gd name="adj" fmla="val 18421"/>
            </a:avLst>
          </a:prstGeom>
          <a:solidFill>
            <a:srgbClr val="FFFDFC"/>
          </a:solidFill>
          <a:ln w="14288">
            <a:solidFill>
              <a:srgbClr val="CCD4D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t0</a:t>
            </a:r>
          </a:p>
          <a:p>
            <a:pPr algn="ctr">
              <a:buNone/>
              <a:def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클라 송신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7B51C6A-66C4-435B-9F3C-1CF37F8C7A41}"/>
              </a:ext>
            </a:extLst>
          </p:cNvPr>
          <p:cNvSpPr>
            <a:spLocks noGrp="1"/>
          </p:cNvSpPr>
          <p:nvPr/>
        </p:nvSpPr>
        <p:spPr>
          <a:xfrm>
            <a:off x="2552700" y="2076450"/>
            <a:ext cx="1314450" cy="723900"/>
          </a:xfrm>
          <a:prstGeom prst="roundRect">
            <a:avLst>
              <a:gd name="adj" fmla="val 18421"/>
            </a:avLst>
          </a:prstGeom>
          <a:solidFill>
            <a:srgbClr val="DCEEEF"/>
          </a:solidFill>
          <a:ln w="14288">
            <a:solidFill>
              <a:srgbClr val="087E8B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t1</a:t>
            </a:r>
          </a:p>
          <a:p>
            <a:pPr algn="ctr">
              <a:buNone/>
              <a:def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서버 수신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24D9F76-358B-48CC-9767-9C715F9EC467}"/>
              </a:ext>
            </a:extLst>
          </p:cNvPr>
          <p:cNvSpPr>
            <a:spLocks noGrp="1"/>
          </p:cNvSpPr>
          <p:nvPr/>
        </p:nvSpPr>
        <p:spPr>
          <a:xfrm>
            <a:off x="4495800" y="2076450"/>
            <a:ext cx="1314450" cy="723900"/>
          </a:xfrm>
          <a:prstGeom prst="roundRect">
            <a:avLst>
              <a:gd name="adj" fmla="val 18421"/>
            </a:avLst>
          </a:prstGeom>
          <a:solidFill>
            <a:srgbClr val="DCEEEF"/>
          </a:solidFill>
          <a:ln w="14288">
            <a:solidFill>
              <a:srgbClr val="087E8B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t2</a:t>
            </a:r>
          </a:p>
          <a:p>
            <a:pPr algn="ctr">
              <a:buNone/>
              <a:def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서버 송신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28E41C4-2990-4286-83CC-D71AB9AAA34B}"/>
              </a:ext>
            </a:extLst>
          </p:cNvPr>
          <p:cNvSpPr>
            <a:spLocks noGrp="1"/>
          </p:cNvSpPr>
          <p:nvPr/>
        </p:nvSpPr>
        <p:spPr>
          <a:xfrm>
            <a:off x="6438900" y="2076450"/>
            <a:ext cx="1314450" cy="723900"/>
          </a:xfrm>
          <a:prstGeom prst="roundRect">
            <a:avLst>
              <a:gd name="adj" fmla="val 18421"/>
            </a:avLst>
          </a:prstGeom>
          <a:solidFill>
            <a:srgbClr val="FFFDFC"/>
          </a:solidFill>
          <a:ln w="14288">
            <a:solidFill>
              <a:srgbClr val="CCD4D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t3</a:t>
            </a:r>
          </a:p>
          <a:p>
            <a:pPr algn="ctr">
              <a:buNone/>
              <a:def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클라 수신</a:t>
            </a:r>
          </a:p>
        </p:txBody>
      </p:sp>
      <p:cxnSp>
        <p:nvCxnSpPr>
          <p:cNvPr id="45" name="직선 화살표 연결선 31"/>
          <p:cNvCxnSpPr>
            <a:stCxn id="6" idx="3"/>
            <a:endCxn id="7" idx="1"/>
          </p:cNvCxnSpPr>
          <p:nvPr/>
        </p:nvCxnSpPr>
        <p:spPr>
          <a:xfrm>
            <a:off x="1924050" y="2438400"/>
            <a:ext cx="628650" cy="0"/>
          </a:xfrm>
          <a:prstGeom prst="straightConnector1">
            <a:avLst/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cxnSp>
        <p:nvCxnSpPr>
          <p:cNvPr id="46" name="직선 화살표 연결선 32"/>
          <p:cNvCxnSpPr>
            <a:stCxn id="7" idx="3"/>
            <a:endCxn id="8" idx="1"/>
          </p:cNvCxnSpPr>
          <p:nvPr/>
        </p:nvCxnSpPr>
        <p:spPr>
          <a:xfrm>
            <a:off x="3867150" y="2438400"/>
            <a:ext cx="628650" cy="0"/>
          </a:xfrm>
          <a:prstGeom prst="straightConnector1">
            <a:avLst/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cxnSp>
        <p:nvCxnSpPr>
          <p:cNvPr id="47" name="직선 화살표 연결선 33"/>
          <p:cNvCxnSpPr>
            <a:stCxn id="8" idx="3"/>
            <a:endCxn id="9" idx="1"/>
          </p:cNvCxnSpPr>
          <p:nvPr/>
        </p:nvCxnSpPr>
        <p:spPr>
          <a:xfrm>
            <a:off x="5810250" y="2438400"/>
            <a:ext cx="628650" cy="0"/>
          </a:xfrm>
          <a:prstGeom prst="straightConnector1">
            <a:avLst/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7B3167A-DACC-4079-AFBE-4F36E9A92E17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714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087E8B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87E8B"/>
                </a:solidFill>
                <a:latin typeface="Consolas"/>
                <a:ea typeface="Consolas"/>
                <a:cs typeface="Consolas"/>
              </a:rPr>
              <a:t>offset = ((t1 - t0) + (t2 - t3)) / 2</a:t>
            </a:r>
          </a:p>
        </p:txBody>
      </p:sp>
      <p:pic>
        <p:nvPicPr>
          <p:cNvPr id="49" name="그림 35"/>
          <p:cNvPicPr>
            <a:picLocks noChangeAspect="1"/>
          </p:cNvPicPr>
          <p:nvPr/>
        </p:nvPicPr>
        <p:blipFill>
          <a:blip r:embed="rId3"/>
          <a:srcRect t="2719" b="2719"/>
          <a:stretch>
            <a:fillRect/>
          </a:stretch>
        </p:blipFill>
        <p:spPr>
          <a:xfrm>
            <a:off x="8229600" y="1466850"/>
            <a:ext cx="3162300" cy="224790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0C031B3-C652-4EBC-952F-E61B5B0B0A6D}"/>
              </a:ext>
            </a:extLst>
          </p:cNvPr>
          <p:cNvSpPr>
            <a:spLocks noGrp="1"/>
          </p:cNvSpPr>
          <p:nvPr/>
        </p:nvSpPr>
        <p:spPr>
          <a:xfrm>
            <a:off x="8229600" y="3810000"/>
            <a:ext cx="316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75" b="1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스킬 타임라인·히트박스 테스트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609AB87-1D5D-4E9C-B349-E6FC937B5002}"/>
              </a:ext>
            </a:extLst>
          </p:cNvPr>
          <p:cNvSpPr>
            <a:spLocks noGrp="1"/>
          </p:cNvSpPr>
          <p:nvPr/>
        </p:nvSpPr>
        <p:spPr>
          <a:xfrm>
            <a:off x="609600" y="4133850"/>
            <a:ext cx="10782300" cy="1619250"/>
          </a:xfrm>
          <a:prstGeom prst="roundRect">
            <a:avLst>
              <a:gd name="adj" fmla="val 9412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EC1D61-EBEF-470F-B5E5-E29EA65B018F}"/>
              </a:ext>
            </a:extLst>
          </p:cNvPr>
          <p:cNvSpPr>
            <a:spLocks noGrp="1"/>
          </p:cNvSpPr>
          <p:nvPr/>
        </p:nvSpPr>
        <p:spPr>
          <a:xfrm>
            <a:off x="876300" y="436245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050" b="1">
                <a:solidFill>
                  <a:srgbClr val="3BB5C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BB5C3"/>
                </a:solidFill>
                <a:latin typeface="Noto Sans KR"/>
                <a:ea typeface="Noto Sans KR"/>
                <a:cs typeface="Noto Sans KR"/>
              </a:rPr>
              <a:t>SERVER AUTHORITY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15207A1-FF18-450E-B2F3-17AE22EA149F}"/>
              </a:ext>
            </a:extLst>
          </p:cNvPr>
          <p:cNvSpPr>
            <a:spLocks noGrp="1"/>
          </p:cNvSpPr>
          <p:nvPr/>
        </p:nvSpPr>
        <p:spPr>
          <a:xfrm>
            <a:off x="876300" y="4686300"/>
            <a:ext cx="9829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클라이언트 시각은 최대 250ms 범위의 지연 보정 힌트로만 사용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99A2F01-56F9-4C97-B0C6-AEFE61112570}"/>
              </a:ext>
            </a:extLst>
          </p:cNvPr>
          <p:cNvSpPr>
            <a:spLocks noGrp="1"/>
          </p:cNvSpPr>
          <p:nvPr/>
        </p:nvSpPr>
        <p:spPr>
          <a:xfrm>
            <a:off x="876300" y="510540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75" b="0">
                <a:solidFill>
                  <a:srgbClr val="C9D6D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C9D6DE"/>
                </a:solidFill>
                <a:latin typeface="Noto Sans KR"/>
                <a:ea typeface="Noto Sans KR"/>
                <a:cs typeface="Noto Sans KR"/>
              </a:rPr>
              <a:t>미동기화·미래·오래된 값은 서버 수신 시각으로 대체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C1F932C-3238-47AA-AB8F-224E2473A486}"/>
              </a:ext>
            </a:extLst>
          </p:cNvPr>
          <p:cNvSpPr>
            <a:spLocks noGrp="1"/>
          </p:cNvSpPr>
          <p:nvPr/>
        </p:nvSpPr>
        <p:spPr>
          <a:xfrm>
            <a:off x="6019800" y="5105400"/>
            <a:ext cx="4933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75" b="0">
                <a:solidFill>
                  <a:srgbClr val="C9D6D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C9D6DE"/>
                </a:solidFill>
                <a:latin typeface="Noto Sans KR"/>
                <a:ea typeface="Noto Sans KR"/>
                <a:cs typeface="Noto Sans KR"/>
              </a:rPr>
              <a:t>히트박스 · 대상 · 진영 · 피해량 · HP는 서버가 결정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47E4947-ACA0-4A72-9C51-1D038C651C2F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750" b="1">
                <a:solidFill>
                  <a:srgbClr val="7B879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B8790"/>
                </a:solidFill>
                <a:latin typeface="Noto Sans KR"/>
                <a:ea typeface="Noto Sans KR"/>
                <a:cs typeface="Noto Sans KR"/>
              </a:rPr>
              <a:t>PROJECT W · GAME SERVER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65B0360-0FE8-4E57-8FD0-42AF1FAA3526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B879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B8790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3179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직사각형 36">
            <a:extLst>
              <a:ext uri="{FF2B5EF4-FFF2-40B4-BE49-F238E27FC236}">
                <a16:creationId xmlns:a16="http://schemas.microsoft.com/office/drawing/2014/main" id="{0D50B681-247B-414A-BFEE-A782C2177F1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NPC AI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C8A6D8F-3DFB-442F-85DC-D5A15EC946AF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5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9-state FSM과 그룹 공유 기억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699A35-B968-45F3-9C7B-6499E9486E72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CCD4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E9AE7AF-AE39-4BCA-A3F1-C4361CFAF03E}"/>
              </a:ext>
            </a:extLst>
          </p:cNvPr>
          <p:cNvSpPr>
            <a:spLocks noGrp="1"/>
          </p:cNvSpPr>
          <p:nvPr/>
        </p:nvSpPr>
        <p:spPr>
          <a:xfrm>
            <a:off x="11087100" y="4000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3B7C4C2-F8E3-4A2F-A93C-D29DFC031842}"/>
              </a:ext>
            </a:extLst>
          </p:cNvPr>
          <p:cNvSpPr>
            <a:spLocks noGrp="1"/>
          </p:cNvSpPr>
          <p:nvPr/>
        </p:nvSpPr>
        <p:spPr>
          <a:xfrm>
            <a:off x="781050" y="1905000"/>
            <a:ext cx="1104900" cy="590550"/>
          </a:xfrm>
          <a:prstGeom prst="roundRect">
            <a:avLst>
              <a:gd name="adj" fmla="val 22581"/>
            </a:avLst>
          </a:prstGeom>
          <a:solidFill>
            <a:srgbClr val="FFFDFC"/>
          </a:solidFill>
          <a:ln w="14288">
            <a:solidFill>
              <a:srgbClr val="CCD4D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Idle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A90EF31-1288-4F27-AE65-1C76AE5817EA}"/>
              </a:ext>
            </a:extLst>
          </p:cNvPr>
          <p:cNvSpPr>
            <a:spLocks noGrp="1"/>
          </p:cNvSpPr>
          <p:nvPr/>
        </p:nvSpPr>
        <p:spPr>
          <a:xfrm>
            <a:off x="781050" y="2914650"/>
            <a:ext cx="1104900" cy="590550"/>
          </a:xfrm>
          <a:prstGeom prst="roundRect">
            <a:avLst>
              <a:gd name="adj" fmla="val 22581"/>
            </a:avLst>
          </a:prstGeom>
          <a:solidFill>
            <a:srgbClr val="DCEEEF"/>
          </a:solidFill>
          <a:ln w="14288">
            <a:solidFill>
              <a:srgbClr val="087E8B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Patrol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C4F5225-CDDB-43ED-A4FD-85837A19B9E2}"/>
              </a:ext>
            </a:extLst>
          </p:cNvPr>
          <p:cNvSpPr>
            <a:spLocks noGrp="1"/>
          </p:cNvSpPr>
          <p:nvPr/>
        </p:nvSpPr>
        <p:spPr>
          <a:xfrm>
            <a:off x="2781300" y="1905000"/>
            <a:ext cx="1104900" cy="590550"/>
          </a:xfrm>
          <a:prstGeom prst="roundRect">
            <a:avLst>
              <a:gd name="adj" fmla="val 22581"/>
            </a:avLst>
          </a:prstGeom>
          <a:solidFill>
            <a:srgbClr val="F5E7D1"/>
          </a:solidFill>
          <a:ln w="14288">
            <a:solidFill>
              <a:srgbClr val="E89B2D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Chase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924D65B-3B0D-44B5-80B5-53326637BFF6}"/>
              </a:ext>
            </a:extLst>
          </p:cNvPr>
          <p:cNvSpPr>
            <a:spLocks noGrp="1"/>
          </p:cNvSpPr>
          <p:nvPr/>
        </p:nvSpPr>
        <p:spPr>
          <a:xfrm>
            <a:off x="4781550" y="1905000"/>
            <a:ext cx="1162050" cy="590550"/>
          </a:xfrm>
          <a:prstGeom prst="roundRect">
            <a:avLst>
              <a:gd name="adj" fmla="val 22581"/>
            </a:avLst>
          </a:prstGeom>
          <a:solidFill>
            <a:srgbClr val="F1DDDA"/>
          </a:solidFill>
          <a:ln w="14288">
            <a:solidFill>
              <a:srgbClr val="CC4B4B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Attack</a:t>
            </a:r>
          </a:p>
          <a:p>
            <a:pPr algn="ctr">
              <a:buNone/>
              <a:def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Windup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1A79842-8FC4-4EED-B457-50444B6F07A0}"/>
              </a:ext>
            </a:extLst>
          </p:cNvPr>
          <p:cNvSpPr>
            <a:spLocks noGrp="1"/>
          </p:cNvSpPr>
          <p:nvPr/>
        </p:nvSpPr>
        <p:spPr>
          <a:xfrm>
            <a:off x="6781800" y="1905000"/>
            <a:ext cx="1162050" cy="590550"/>
          </a:xfrm>
          <a:prstGeom prst="roundRect">
            <a:avLst>
              <a:gd name="adj" fmla="val 22581"/>
            </a:avLst>
          </a:prstGeom>
          <a:solidFill>
            <a:srgbClr val="F1DDDA"/>
          </a:solidFill>
          <a:ln w="14288">
            <a:solidFill>
              <a:srgbClr val="CC4B4B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Attack</a:t>
            </a:r>
          </a:p>
          <a:p>
            <a:pPr algn="ctr">
              <a:buNone/>
              <a:def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Recover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B34FF7B-77CD-451B-A544-51501466C9A2}"/>
              </a:ext>
            </a:extLst>
          </p:cNvPr>
          <p:cNvSpPr>
            <a:spLocks noGrp="1"/>
          </p:cNvSpPr>
          <p:nvPr/>
        </p:nvSpPr>
        <p:spPr>
          <a:xfrm>
            <a:off x="6781800" y="2914650"/>
            <a:ext cx="1162050" cy="590550"/>
          </a:xfrm>
          <a:prstGeom prst="roundRect">
            <a:avLst>
              <a:gd name="adj" fmla="val 22581"/>
            </a:avLst>
          </a:prstGeom>
          <a:solidFill>
            <a:srgbClr val="FFFDFC"/>
          </a:solidFill>
          <a:ln w="14288">
            <a:solidFill>
              <a:srgbClr val="CCD4D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Reposition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B44AAF2-7F66-4227-9972-CDF8EC31F5B2}"/>
              </a:ext>
            </a:extLst>
          </p:cNvPr>
          <p:cNvSpPr>
            <a:spLocks noGrp="1"/>
          </p:cNvSpPr>
          <p:nvPr/>
        </p:nvSpPr>
        <p:spPr>
          <a:xfrm>
            <a:off x="4781550" y="3924300"/>
            <a:ext cx="1162050" cy="590550"/>
          </a:xfrm>
          <a:prstGeom prst="roundRect">
            <a:avLst>
              <a:gd name="adj" fmla="val 22581"/>
            </a:avLst>
          </a:prstGeom>
          <a:solidFill>
            <a:srgbClr val="FFFDFC"/>
          </a:solidFill>
          <a:ln w="14288">
            <a:solidFill>
              <a:srgbClr val="CCD4D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Return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9E31956-0F8E-49B2-B2F6-EF7C3478D7BA}"/>
              </a:ext>
            </a:extLst>
          </p:cNvPr>
          <p:cNvSpPr>
            <a:spLocks noGrp="1"/>
          </p:cNvSpPr>
          <p:nvPr/>
        </p:nvSpPr>
        <p:spPr>
          <a:xfrm>
            <a:off x="2781300" y="3924300"/>
            <a:ext cx="1162050" cy="590550"/>
          </a:xfrm>
          <a:prstGeom prst="roundRect">
            <a:avLst>
              <a:gd name="adj" fmla="val 22581"/>
            </a:avLst>
          </a:prstGeom>
          <a:solidFill>
            <a:srgbClr val="DCEEEF"/>
          </a:solidFill>
          <a:ln w="14288">
            <a:solidFill>
              <a:srgbClr val="087E8B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Investigate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53A2F9D-A282-45FD-B76E-5D1742D343D5}"/>
              </a:ext>
            </a:extLst>
          </p:cNvPr>
          <p:cNvSpPr>
            <a:spLocks noGrp="1"/>
          </p:cNvSpPr>
          <p:nvPr/>
        </p:nvSpPr>
        <p:spPr>
          <a:xfrm>
            <a:off x="781050" y="4933950"/>
            <a:ext cx="1714500" cy="590550"/>
          </a:xfrm>
          <a:prstGeom prst="roundRect">
            <a:avLst>
              <a:gd name="adj" fmla="val 22581"/>
            </a:avLst>
          </a:prstGeom>
          <a:solidFill>
            <a:srgbClr val="0B1F33"/>
          </a:solidFill>
          <a:ln w="14288">
            <a:solidFill>
              <a:srgbClr val="0B1F3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Dead / Respawn</a:t>
            </a:r>
          </a:p>
        </p:txBody>
      </p:sp>
      <p:cxnSp>
        <p:nvCxnSpPr>
          <p:cNvPr id="79" name="직선 화살표 연결선 49"/>
          <p:cNvCxnSpPr>
            <a:stCxn id="5" idx="3"/>
            <a:endCxn id="7" idx="1"/>
          </p:cNvCxnSpPr>
          <p:nvPr/>
        </p:nvCxnSpPr>
        <p:spPr>
          <a:xfrm>
            <a:off x="1885950" y="2200275"/>
            <a:ext cx="895350" cy="0"/>
          </a:xfrm>
          <a:prstGeom prst="straightConnector1">
            <a:avLst/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cxnSp>
        <p:nvCxnSpPr>
          <p:cNvPr id="80" name="직선 화살표 연결선 50"/>
          <p:cNvCxnSpPr>
            <a:stCxn id="5" idx="2"/>
            <a:endCxn id="6" idx="0"/>
          </p:cNvCxnSpPr>
          <p:nvPr/>
        </p:nvCxnSpPr>
        <p:spPr>
          <a:xfrm>
            <a:off x="1333500" y="2495550"/>
            <a:ext cx="0" cy="419100"/>
          </a:xfrm>
          <a:prstGeom prst="straightConnector1">
            <a:avLst/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cxnSp>
        <p:nvCxnSpPr>
          <p:cNvPr id="81" name="직선 화살표 연결선 51"/>
          <p:cNvCxnSpPr>
            <a:stCxn id="7" idx="3"/>
            <a:endCxn id="8" idx="1"/>
          </p:cNvCxnSpPr>
          <p:nvPr/>
        </p:nvCxnSpPr>
        <p:spPr>
          <a:xfrm>
            <a:off x="3886200" y="2200275"/>
            <a:ext cx="895350" cy="0"/>
          </a:xfrm>
          <a:prstGeom prst="straightConnector1">
            <a:avLst/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cxnSp>
        <p:nvCxnSpPr>
          <p:cNvPr id="82" name="직선 화살표 연결선 52"/>
          <p:cNvCxnSpPr>
            <a:stCxn id="8" idx="3"/>
            <a:endCxn id="9" idx="1"/>
          </p:cNvCxnSpPr>
          <p:nvPr/>
        </p:nvCxnSpPr>
        <p:spPr>
          <a:xfrm>
            <a:off x="5943600" y="2200275"/>
            <a:ext cx="838200" cy="0"/>
          </a:xfrm>
          <a:prstGeom prst="straightConnector1">
            <a:avLst/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cxnSp>
        <p:nvCxnSpPr>
          <p:cNvPr id="83" name="직선 화살표 연결선 53"/>
          <p:cNvCxnSpPr>
            <a:stCxn id="9" idx="2"/>
            <a:endCxn id="10" idx="0"/>
          </p:cNvCxnSpPr>
          <p:nvPr/>
        </p:nvCxnSpPr>
        <p:spPr>
          <a:xfrm>
            <a:off x="7362825" y="2495550"/>
            <a:ext cx="0" cy="419100"/>
          </a:xfrm>
          <a:prstGeom prst="straightConnector1">
            <a:avLst/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cxnSp>
        <p:nvCxnSpPr>
          <p:cNvPr id="84" name="연결선: 꺾임 54"/>
          <p:cNvCxnSpPr>
            <a:stCxn id="7" idx="2"/>
            <a:endCxn id="11" idx="0"/>
          </p:cNvCxnSpPr>
          <p:nvPr/>
        </p:nvCxnSpPr>
        <p:spPr>
          <a:xfrm>
            <a:off x="3333750" y="2495550"/>
            <a:ext cx="2028825" cy="14287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5D6B78"/>
            </a:solidFill>
            <a:prstDash val="solid"/>
            <a:tailEnd type="triangle" w="sm" len="sm"/>
          </a:ln>
        </p:spPr>
      </p:cxnSp>
      <p:cxnSp>
        <p:nvCxnSpPr>
          <p:cNvPr id="85" name="직선 화살표 연결선 55"/>
          <p:cNvCxnSpPr>
            <a:stCxn id="12" idx="3"/>
            <a:endCxn id="11" idx="1"/>
          </p:cNvCxnSpPr>
          <p:nvPr/>
        </p:nvCxnSpPr>
        <p:spPr>
          <a:xfrm>
            <a:off x="3943350" y="4219575"/>
            <a:ext cx="838200" cy="0"/>
          </a:xfrm>
          <a:prstGeom prst="straightConnector1">
            <a:avLst/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cxnSp>
        <p:nvCxnSpPr>
          <p:cNvPr id="86" name="연결선: 꺾임 56"/>
          <p:cNvCxnSpPr>
            <a:stCxn id="5" idx="2"/>
            <a:endCxn id="12" idx="0"/>
          </p:cNvCxnSpPr>
          <p:nvPr/>
        </p:nvCxnSpPr>
        <p:spPr>
          <a:xfrm>
            <a:off x="1333500" y="2495550"/>
            <a:ext cx="2028825" cy="1428750"/>
          </a:xfrm>
          <a:prstGeom prst="bentConnector4">
            <a:avLst>
              <a:gd name="adj1" fmla="val 0"/>
              <a:gd name="adj2" fmla="val 16000"/>
            </a:avLst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015E4BF-4098-4587-93DF-267CDAAD98AD}"/>
              </a:ext>
            </a:extLst>
          </p:cNvPr>
          <p:cNvSpPr>
            <a:spLocks noGrp="1"/>
          </p:cNvSpPr>
          <p:nvPr/>
        </p:nvSpPr>
        <p:spPr>
          <a:xfrm>
            <a:off x="8572500" y="15811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50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GROUP MEMORY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99B90928-8B97-4D01-ABA5-C6985FE5C837}"/>
              </a:ext>
            </a:extLst>
          </p:cNvPr>
          <p:cNvSpPr>
            <a:spLocks noGrp="1"/>
          </p:cNvSpPr>
          <p:nvPr/>
        </p:nvSpPr>
        <p:spPr>
          <a:xfrm>
            <a:off x="8858250" y="2647950"/>
            <a:ext cx="2095500" cy="838200"/>
          </a:xfrm>
          <a:prstGeom prst="roundRect">
            <a:avLst>
              <a:gd name="adj" fmla="val 15909"/>
            </a:avLst>
          </a:prstGeom>
          <a:solidFill>
            <a:srgbClr val="0B1F33"/>
          </a:solidFill>
          <a:ln w="14288">
            <a:solidFill>
              <a:srgbClr val="0B1F3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마지막 목격 위치</a:t>
            </a:r>
          </a:p>
          <a:p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3초 유지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235FA212-8A13-447D-B300-86F30E99FF49}"/>
              </a:ext>
            </a:extLst>
          </p:cNvPr>
          <p:cNvSpPr>
            <a:spLocks noGrp="1"/>
          </p:cNvSpPr>
          <p:nvPr/>
        </p:nvSpPr>
        <p:spPr>
          <a:xfrm>
            <a:off x="8267700" y="2076450"/>
            <a:ext cx="914400" cy="457200"/>
          </a:xfrm>
          <a:prstGeom prst="roundRect">
            <a:avLst>
              <a:gd name="adj" fmla="val 29167"/>
            </a:avLst>
          </a:prstGeom>
          <a:solidFill>
            <a:srgbClr val="FFFDFC"/>
          </a:solidFill>
          <a:ln w="14288">
            <a:solidFill>
              <a:srgbClr val="CCD4D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NPC A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C5EFC3D-7A8A-4F67-8DA7-2C2BCB65DAE7}"/>
              </a:ext>
            </a:extLst>
          </p:cNvPr>
          <p:cNvSpPr>
            <a:spLocks noGrp="1"/>
          </p:cNvSpPr>
          <p:nvPr/>
        </p:nvSpPr>
        <p:spPr>
          <a:xfrm>
            <a:off x="9525000" y="1905000"/>
            <a:ext cx="914400" cy="457200"/>
          </a:xfrm>
          <a:prstGeom prst="roundRect">
            <a:avLst>
              <a:gd name="adj" fmla="val 29167"/>
            </a:avLst>
          </a:prstGeom>
          <a:solidFill>
            <a:srgbClr val="FFFDFC"/>
          </a:solidFill>
          <a:ln w="14288">
            <a:solidFill>
              <a:srgbClr val="CCD4D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NPC B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164FAF8-F9AD-470A-8B9C-B80F3B2BF508}"/>
              </a:ext>
            </a:extLst>
          </p:cNvPr>
          <p:cNvSpPr>
            <a:spLocks noGrp="1"/>
          </p:cNvSpPr>
          <p:nvPr/>
        </p:nvSpPr>
        <p:spPr>
          <a:xfrm>
            <a:off x="10782300" y="2076450"/>
            <a:ext cx="914400" cy="457200"/>
          </a:xfrm>
          <a:prstGeom prst="roundRect">
            <a:avLst>
              <a:gd name="adj" fmla="val 29167"/>
            </a:avLst>
          </a:prstGeom>
          <a:solidFill>
            <a:srgbClr val="FFFDFC"/>
          </a:solidFill>
          <a:ln w="14288">
            <a:solidFill>
              <a:srgbClr val="CCD4D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NPC C</a:t>
            </a:r>
          </a:p>
        </p:txBody>
      </p:sp>
      <p:cxnSp>
        <p:nvCxnSpPr>
          <p:cNvPr id="92" name="연결선: 꺾임 62"/>
          <p:cNvCxnSpPr>
            <a:stCxn id="24" idx="2"/>
            <a:endCxn id="23" idx="0"/>
          </p:cNvCxnSpPr>
          <p:nvPr/>
        </p:nvCxnSpPr>
        <p:spPr>
          <a:xfrm>
            <a:off x="8724900" y="2533650"/>
            <a:ext cx="1181100" cy="11430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cxnSp>
        <p:nvCxnSpPr>
          <p:cNvPr id="93" name="연결선: 꺾임 63"/>
          <p:cNvCxnSpPr>
            <a:stCxn id="25" idx="2"/>
            <a:endCxn id="23" idx="0"/>
          </p:cNvCxnSpPr>
          <p:nvPr/>
        </p:nvCxnSpPr>
        <p:spPr>
          <a:xfrm flipH="1">
            <a:off x="9906000" y="2362200"/>
            <a:ext cx="76200" cy="2857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cxnSp>
        <p:nvCxnSpPr>
          <p:cNvPr id="94" name="연결선: 꺾임 64"/>
          <p:cNvCxnSpPr>
            <a:stCxn id="26" idx="2"/>
            <a:endCxn id="23" idx="0"/>
          </p:cNvCxnSpPr>
          <p:nvPr/>
        </p:nvCxnSpPr>
        <p:spPr>
          <a:xfrm flipH="1">
            <a:off x="9906000" y="2533650"/>
            <a:ext cx="1333500" cy="11430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0C971FB-D357-4E34-867A-6815790E4C12}"/>
              </a:ext>
            </a:extLst>
          </p:cNvPr>
          <p:cNvSpPr>
            <a:spLocks noGrp="1"/>
          </p:cNvSpPr>
          <p:nvPr/>
        </p:nvSpPr>
        <p:spPr>
          <a:xfrm>
            <a:off x="8439150" y="38290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CC4B4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CC4B4B"/>
                </a:solidFill>
                <a:latin typeface="Noto Sans KR"/>
                <a:ea typeface="Noto Sans KR"/>
                <a:cs typeface="Noto Sans KR"/>
              </a:rPr>
              <a:t>직접 감지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8C73A43-84B3-4BCF-8FE9-184A4C8F15EB}"/>
              </a:ext>
            </a:extLst>
          </p:cNvPr>
          <p:cNvSpPr>
            <a:spLocks noGrp="1"/>
          </p:cNvSpPr>
          <p:nvPr/>
        </p:nvSpPr>
        <p:spPr>
          <a:xfrm>
            <a:off x="8439150" y="41148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0 ~ 0.3s 반응 지연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C328317-0618-4E89-AE98-2C6B716F17FA}"/>
              </a:ext>
            </a:extLst>
          </p:cNvPr>
          <p:cNvSpPr>
            <a:spLocks noGrp="1"/>
          </p:cNvSpPr>
          <p:nvPr/>
        </p:nvSpPr>
        <p:spPr>
          <a:xfrm>
            <a:off x="8439150" y="46482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그룹 기억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2733F65-6435-4017-8EA5-3786ABA07D32}"/>
              </a:ext>
            </a:extLst>
          </p:cNvPr>
          <p:cNvSpPr>
            <a:spLocks noGrp="1"/>
          </p:cNvSpPr>
          <p:nvPr/>
        </p:nvSpPr>
        <p:spPr>
          <a:xfrm>
            <a:off x="8439150" y="49339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0 ~ 2.0s 반응 지연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5BC8832-34CC-4316-99A4-CBC62AF7D488}"/>
              </a:ext>
            </a:extLst>
          </p:cNvPr>
          <p:cNvSpPr>
            <a:spLocks noGrp="1"/>
          </p:cNvSpPr>
          <p:nvPr/>
        </p:nvSpPr>
        <p:spPr>
          <a:xfrm>
            <a:off x="8439150" y="54864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사망 후 10초 뒤 스폰 위치에서 부활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1789667-0F11-46E6-879E-E47B40B987F5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750" b="1">
                <a:solidFill>
                  <a:srgbClr val="7B879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B8790"/>
                </a:solidFill>
                <a:latin typeface="Noto Sans KR"/>
                <a:ea typeface="Noto Sans KR"/>
                <a:cs typeface="Noto Sans KR"/>
              </a:rPr>
              <a:t>PROJECT W · GAME SERVER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E4199A8-BEF9-41A5-B886-396B9C037F88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B879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B8790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00704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A1A119D8-55B3-4078-AEF5-65AAEA1830D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TACTICAL AI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56603B4-0DCA-448E-B062-56F369A7EAE5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5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분대와 중간보스가 함께 전술을 실행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A745BFB-0A00-43A0-B8CC-33E8817B6019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CCD4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07C2B3A-1E0E-4361-92B5-FAE5E300A76C}"/>
              </a:ext>
            </a:extLst>
          </p:cNvPr>
          <p:cNvSpPr>
            <a:spLocks noGrp="1"/>
          </p:cNvSpPr>
          <p:nvPr/>
        </p:nvSpPr>
        <p:spPr>
          <a:xfrm>
            <a:off x="11087100" y="4000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BFE4E13-954F-4AE4-B034-4E86399621F7}"/>
              </a:ext>
            </a:extLst>
          </p:cNvPr>
          <p:cNvSpPr>
            <a:spLocks noGrp="1"/>
          </p:cNvSpPr>
          <p:nvPr/>
        </p:nvSpPr>
        <p:spPr>
          <a:xfrm>
            <a:off x="800100" y="1638300"/>
            <a:ext cx="2038350" cy="742950"/>
          </a:xfrm>
          <a:prstGeom prst="roundRect">
            <a:avLst>
              <a:gd name="adj" fmla="val 17949"/>
            </a:avLst>
          </a:prstGeom>
          <a:solidFill>
            <a:srgbClr val="0B1F33"/>
          </a:solidFill>
          <a:ln w="14288">
            <a:solidFill>
              <a:srgbClr val="0B1F33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MidBossTactic</a:t>
            </a:r>
          </a:p>
          <a:p>
            <a:pPr algn="ctr">
              <a:buNone/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보스별 전략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368DD5A-4EE4-4471-A76F-C086916C97C3}"/>
              </a:ext>
            </a:extLst>
          </p:cNvPr>
          <p:cNvSpPr>
            <a:spLocks noGrp="1"/>
          </p:cNvSpPr>
          <p:nvPr/>
        </p:nvSpPr>
        <p:spPr>
          <a:xfrm>
            <a:off x="3409950" y="1638300"/>
            <a:ext cx="2038350" cy="742950"/>
          </a:xfrm>
          <a:prstGeom prst="roundRect">
            <a:avLst>
              <a:gd name="adj" fmla="val 17949"/>
            </a:avLst>
          </a:prstGeom>
          <a:solidFill>
            <a:srgbClr val="F5E7D1"/>
          </a:solidFill>
          <a:ln w="14288">
            <a:solidFill>
              <a:srgbClr val="E89B2D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PlatoonLeader</a:t>
            </a:r>
          </a:p>
          <a:p>
            <a:pPr algn="ctr">
              <a:buNone/>
              <a:defRPr sz="13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전술 판단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2973CF7-85F0-4FBC-93C8-05A4BB57EF9D}"/>
              </a:ext>
            </a:extLst>
          </p:cNvPr>
          <p:cNvSpPr>
            <a:spLocks noGrp="1"/>
          </p:cNvSpPr>
          <p:nvPr/>
        </p:nvSpPr>
        <p:spPr>
          <a:xfrm>
            <a:off x="6019800" y="1638300"/>
            <a:ext cx="2190750" cy="742950"/>
          </a:xfrm>
          <a:prstGeom prst="roundRect">
            <a:avLst>
              <a:gd name="adj" fmla="val 17949"/>
            </a:avLst>
          </a:prstGeom>
          <a:solidFill>
            <a:srgbClr val="DCEEEF"/>
          </a:solidFill>
          <a:ln w="14288">
            <a:solidFill>
              <a:srgbClr val="087E8B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TacticalSquad ×4</a:t>
            </a:r>
          </a:p>
          <a:p>
            <a:pPr algn="ctr">
              <a:buNone/>
              <a:defRPr sz="13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타깃·대형 배정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5ADC7D8-1B2B-495E-9C04-3CE4063453CA}"/>
              </a:ext>
            </a:extLst>
          </p:cNvPr>
          <p:cNvSpPr>
            <a:spLocks noGrp="1"/>
          </p:cNvSpPr>
          <p:nvPr/>
        </p:nvSpPr>
        <p:spPr>
          <a:xfrm>
            <a:off x="8782050" y="1638300"/>
            <a:ext cx="2038350" cy="742950"/>
          </a:xfrm>
          <a:prstGeom prst="roundRect">
            <a:avLst>
              <a:gd name="adj" fmla="val 17949"/>
            </a:avLst>
          </a:prstGeom>
          <a:solidFill>
            <a:srgbClr val="FFFDFC"/>
          </a:solidFill>
          <a:ln w="14288">
            <a:solidFill>
              <a:srgbClr val="CCD4D8"/>
            </a:solidFill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3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TacticalNpc</a:t>
            </a:r>
          </a:p>
          <a:p>
            <a:pPr algn="ctr">
              <a:buNone/>
              <a:defRPr sz="13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개인 전투</a:t>
            </a:r>
          </a:p>
        </p:txBody>
      </p:sp>
      <p:cxnSp>
        <p:nvCxnSpPr>
          <p:cNvPr id="68" name="직선 화살표 연결선 56"/>
          <p:cNvCxnSpPr>
            <a:stCxn id="5" idx="3"/>
            <a:endCxn id="6" idx="1"/>
          </p:cNvCxnSpPr>
          <p:nvPr/>
        </p:nvCxnSpPr>
        <p:spPr>
          <a:xfrm>
            <a:off x="2838450" y="2009775"/>
            <a:ext cx="571500" cy="0"/>
          </a:xfrm>
          <a:prstGeom prst="straightConnector1">
            <a:avLst/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cxnSp>
        <p:nvCxnSpPr>
          <p:cNvPr id="69" name="직선 화살표 연결선 57"/>
          <p:cNvCxnSpPr>
            <a:stCxn id="6" idx="3"/>
            <a:endCxn id="7" idx="1"/>
          </p:cNvCxnSpPr>
          <p:nvPr/>
        </p:nvCxnSpPr>
        <p:spPr>
          <a:xfrm>
            <a:off x="5448300" y="2009775"/>
            <a:ext cx="571500" cy="0"/>
          </a:xfrm>
          <a:prstGeom prst="straightConnector1">
            <a:avLst/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cxnSp>
        <p:nvCxnSpPr>
          <p:cNvPr id="70" name="직선 화살표 연결선 58"/>
          <p:cNvCxnSpPr>
            <a:stCxn id="7" idx="3"/>
            <a:endCxn id="8" idx="1"/>
          </p:cNvCxnSpPr>
          <p:nvPr/>
        </p:nvCxnSpPr>
        <p:spPr>
          <a:xfrm>
            <a:off x="8210550" y="2009775"/>
            <a:ext cx="571500" cy="0"/>
          </a:xfrm>
          <a:prstGeom prst="straightConnector1">
            <a:avLst/>
          </a:prstGeom>
          <a:ln w="23813">
            <a:solidFill>
              <a:srgbClr val="087E8B"/>
            </a:solidFill>
            <a:prstDash val="solid"/>
            <a:tailEnd type="triangle" w="sm" len="sm"/>
          </a:ln>
        </p:spPr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ABB0B3-F8E3-4C81-9E7C-27DF2FEA79EB}"/>
              </a:ext>
            </a:extLst>
          </p:cNvPr>
          <p:cNvSpPr>
            <a:spLocks noGrp="1"/>
          </p:cNvSpPr>
          <p:nvPr/>
        </p:nvSpPr>
        <p:spPr>
          <a:xfrm>
            <a:off x="800100" y="2952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00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공격권 예약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0BBCA1-A6A6-4F7D-BA85-9BAF900B36B7}"/>
              </a:ext>
            </a:extLst>
          </p:cNvPr>
          <p:cNvSpPr>
            <a:spLocks noGrp="1"/>
          </p:cNvSpPr>
          <p:nvPr/>
        </p:nvSpPr>
        <p:spPr>
          <a:xfrm>
            <a:off x="800100" y="327660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2263A"/>
                </a:solidFill>
                <a:latin typeface="Noto Sans KR"/>
                <a:ea typeface="Noto Sans KR"/>
                <a:cs typeface="Noto Sans KR"/>
              </a:rPr>
              <a:t>거리와 접근 진척도를 기준으로</a:t>
            </a:r>
          </a:p>
          <a:p>
            <a:pPr algn="l">
              <a:buNone/>
              <a:defRPr sz="1350" b="0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2263A"/>
                </a:solidFill>
                <a:latin typeface="Noto Sans KR"/>
                <a:ea typeface="Noto Sans KR"/>
                <a:cs typeface="Noto Sans KR"/>
              </a:rPr>
              <a:t>가까운 NPC에게 슬롯을 재배정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10618AE-0D08-4B4B-A124-1EA541369E2E}"/>
              </a:ext>
            </a:extLst>
          </p:cNvPr>
          <p:cNvSpPr>
            <a:spLocks noGrp="1"/>
          </p:cNvSpPr>
          <p:nvPr/>
        </p:nvSpPr>
        <p:spPr>
          <a:xfrm>
            <a:off x="4229100" y="2952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00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안정적인 타깃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CDAC5B1-6A87-4C20-96F3-BEB0ECC39709}"/>
              </a:ext>
            </a:extLst>
          </p:cNvPr>
          <p:cNvSpPr>
            <a:spLocks noGrp="1"/>
          </p:cNvSpPr>
          <p:nvPr/>
        </p:nvSpPr>
        <p:spPr>
          <a:xfrm>
            <a:off x="4229100" y="327660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2263A"/>
                </a:solidFill>
                <a:latin typeface="Noto Sans KR"/>
                <a:ea typeface="Noto Sans KR"/>
                <a:cs typeface="Noto Sans KR"/>
              </a:rPr>
              <a:t>Squad별 타깃을 저장하고</a:t>
            </a:r>
          </a:p>
          <a:p>
            <a:pPr algn="l">
              <a:buNone/>
              <a:defRPr sz="1350" b="0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2263A"/>
                </a:solidFill>
                <a:latin typeface="Noto Sans KR"/>
                <a:ea typeface="Noto Sans KR"/>
                <a:cs typeface="Noto Sans KR"/>
              </a:rPr>
              <a:t>배정 수·거리·ID 순으로 균형화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EC04BC9-7A2F-4024-8325-8840F915999F}"/>
              </a:ext>
            </a:extLst>
          </p:cNvPr>
          <p:cNvSpPr>
            <a:spLocks noGrp="1"/>
          </p:cNvSpPr>
          <p:nvPr/>
        </p:nvSpPr>
        <p:spPr>
          <a:xfrm>
            <a:off x="7658100" y="295275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00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명시적 전략 주입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2F4F296-7368-4317-88C0-CCC2C5D1BFD6}"/>
              </a:ext>
            </a:extLst>
          </p:cNvPr>
          <p:cNvSpPr>
            <a:spLocks noGrp="1"/>
          </p:cNvSpPr>
          <p:nvPr/>
        </p:nvSpPr>
        <p:spPr>
          <a:xfrm>
            <a:off x="7658100" y="3276600"/>
            <a:ext cx="2857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350" b="0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2263A"/>
                </a:solidFill>
                <a:latin typeface="Noto Sans KR"/>
                <a:ea typeface="Noto Sans KR"/>
                <a:cs typeface="Noto Sans KR"/>
              </a:rPr>
              <a:t>공통 전투 엔진과 보스별 전술을</a:t>
            </a:r>
          </a:p>
          <a:p>
            <a:pPr algn="l">
              <a:buNone/>
              <a:defRPr sz="1350" b="0">
                <a:solidFill>
                  <a:srgbClr val="12263A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2263A"/>
                </a:solidFill>
                <a:latin typeface="Noto Sans KR"/>
                <a:ea typeface="Noto Sans KR"/>
                <a:cs typeface="Noto Sans KR"/>
              </a:rPr>
              <a:t>인터페이스로 분리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0102B26-F783-4FB6-9377-36E15B386DE1}"/>
              </a:ext>
            </a:extLst>
          </p:cNvPr>
          <p:cNvSpPr>
            <a:spLocks noGrp="1"/>
          </p:cNvSpPr>
          <p:nvPr/>
        </p:nvSpPr>
        <p:spPr>
          <a:xfrm>
            <a:off x="1104900" y="44577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ENCIRCLE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9907961-C32D-4CD5-A1B0-CFF699EA2B8F}"/>
              </a:ext>
            </a:extLst>
          </p:cNvPr>
          <p:cNvSpPr>
            <a:spLocks noGrp="1"/>
          </p:cNvSpPr>
          <p:nvPr/>
        </p:nvSpPr>
        <p:spPr>
          <a:xfrm>
            <a:off x="4438650" y="44577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75" b="1">
                <a:solidFill>
                  <a:srgbClr val="E89B2D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E89B2D"/>
                </a:solidFill>
                <a:latin typeface="Noto Sans KR"/>
                <a:ea typeface="Noto Sans KR"/>
                <a:cs typeface="Noto Sans KR"/>
              </a:rPr>
              <a:t>WEDGE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DD25BC0-6ED4-46BB-8496-B5529E4CBF18}"/>
              </a:ext>
            </a:extLst>
          </p:cNvPr>
          <p:cNvSpPr>
            <a:spLocks noGrp="1"/>
          </p:cNvSpPr>
          <p:nvPr/>
        </p:nvSpPr>
        <p:spPr>
          <a:xfrm>
            <a:off x="7772400" y="44577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SHIELD WALL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52372659-DF18-4687-A6E8-B3E3DB46F399}"/>
              </a:ext>
            </a:extLst>
          </p:cNvPr>
          <p:cNvSpPr>
            <a:spLocks noGrp="1"/>
          </p:cNvSpPr>
          <p:nvPr/>
        </p:nvSpPr>
        <p:spPr>
          <a:xfrm>
            <a:off x="1943100" y="51435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F1DDD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7D8963F-B21A-4B87-9E98-9836EC11060E}"/>
              </a:ext>
            </a:extLst>
          </p:cNvPr>
          <p:cNvSpPr>
            <a:spLocks noGrp="1"/>
          </p:cNvSpPr>
          <p:nvPr/>
        </p:nvSpPr>
        <p:spPr>
          <a:xfrm>
            <a:off x="2095500" y="5314950"/>
            <a:ext cx="28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0" b="1">
                <a:solidFill>
                  <a:srgbClr val="CC4B4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CC4B4B"/>
                </a:solidFill>
                <a:latin typeface="Noto Sans KR"/>
                <a:ea typeface="Noto Sans KR"/>
                <a:cs typeface="Noto Sans KR"/>
              </a:rPr>
              <a:t>P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9E2FE7F-258B-4E45-902E-A3F8B2872F03}"/>
              </a:ext>
            </a:extLst>
          </p:cNvPr>
          <p:cNvSpPr>
            <a:spLocks noGrp="1"/>
          </p:cNvSpPr>
          <p:nvPr/>
        </p:nvSpPr>
        <p:spPr>
          <a:xfrm>
            <a:off x="1562100" y="48768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87E8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42A3A06-7E68-4837-A3EB-DCBD491561D2}"/>
              </a:ext>
            </a:extLst>
          </p:cNvPr>
          <p:cNvSpPr>
            <a:spLocks noGrp="1"/>
          </p:cNvSpPr>
          <p:nvPr/>
        </p:nvSpPr>
        <p:spPr>
          <a:xfrm>
            <a:off x="2381250" y="487680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87E8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1A8247A-DD2A-42DB-8C95-79E868843FAF}"/>
              </a:ext>
            </a:extLst>
          </p:cNvPr>
          <p:cNvSpPr>
            <a:spLocks noGrp="1"/>
          </p:cNvSpPr>
          <p:nvPr/>
        </p:nvSpPr>
        <p:spPr>
          <a:xfrm>
            <a:off x="1466850" y="55816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87E8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86F541C-DE98-406E-BD8E-B431BCF5E454}"/>
              </a:ext>
            </a:extLst>
          </p:cNvPr>
          <p:cNvSpPr>
            <a:spLocks noGrp="1"/>
          </p:cNvSpPr>
          <p:nvPr/>
        </p:nvSpPr>
        <p:spPr>
          <a:xfrm>
            <a:off x="2476500" y="55816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87E8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BB84738-5F63-4CF6-9CA7-C07A84DC8A83}"/>
              </a:ext>
            </a:extLst>
          </p:cNvPr>
          <p:cNvSpPr>
            <a:spLocks noGrp="1"/>
          </p:cNvSpPr>
          <p:nvPr/>
        </p:nvSpPr>
        <p:spPr>
          <a:xfrm>
            <a:off x="5486400" y="52768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F1DDD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8D52F19-BB0C-43C2-A45D-074BB13DD30B}"/>
              </a:ext>
            </a:extLst>
          </p:cNvPr>
          <p:cNvSpPr>
            <a:spLocks noGrp="1"/>
          </p:cNvSpPr>
          <p:nvPr/>
        </p:nvSpPr>
        <p:spPr>
          <a:xfrm>
            <a:off x="5562600" y="5381625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50" b="1">
                <a:solidFill>
                  <a:srgbClr val="CC4B4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CC4B4B"/>
                </a:solidFill>
                <a:latin typeface="Noto Sans KR"/>
                <a:ea typeface="Noto Sans KR"/>
                <a:cs typeface="Noto Sans KR"/>
              </a:rPr>
              <a:t>P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02970CA-D864-4A41-8FDD-525C33F935C5}"/>
              </a:ext>
            </a:extLst>
          </p:cNvPr>
          <p:cNvSpPr>
            <a:spLocks noGrp="1"/>
          </p:cNvSpPr>
          <p:nvPr/>
        </p:nvSpPr>
        <p:spPr>
          <a:xfrm>
            <a:off x="4819650" y="48577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89B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F41A9904-5804-44AE-871D-891909FDC3A6}"/>
              </a:ext>
            </a:extLst>
          </p:cNvPr>
          <p:cNvSpPr>
            <a:spLocks noGrp="1"/>
          </p:cNvSpPr>
          <p:nvPr/>
        </p:nvSpPr>
        <p:spPr>
          <a:xfrm>
            <a:off x="4552950" y="51625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89B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94596AC-72CD-4F4E-940D-BD4A4863CBDD}"/>
              </a:ext>
            </a:extLst>
          </p:cNvPr>
          <p:cNvSpPr>
            <a:spLocks noGrp="1"/>
          </p:cNvSpPr>
          <p:nvPr/>
        </p:nvSpPr>
        <p:spPr>
          <a:xfrm>
            <a:off x="4286250" y="54673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89B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517E7391-3958-4BDF-927A-9B78696E15A5}"/>
              </a:ext>
            </a:extLst>
          </p:cNvPr>
          <p:cNvSpPr>
            <a:spLocks noGrp="1"/>
          </p:cNvSpPr>
          <p:nvPr/>
        </p:nvSpPr>
        <p:spPr>
          <a:xfrm>
            <a:off x="6134100" y="48577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89B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86B41DF-0826-4A87-9D75-6087475504DB}"/>
              </a:ext>
            </a:extLst>
          </p:cNvPr>
          <p:cNvSpPr>
            <a:spLocks noGrp="1"/>
          </p:cNvSpPr>
          <p:nvPr/>
        </p:nvSpPr>
        <p:spPr>
          <a:xfrm>
            <a:off x="6400800" y="51625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89B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A1ED312-A45C-4186-B7ED-0BB7A3B2B126}"/>
              </a:ext>
            </a:extLst>
          </p:cNvPr>
          <p:cNvSpPr>
            <a:spLocks noGrp="1"/>
          </p:cNvSpPr>
          <p:nvPr/>
        </p:nvSpPr>
        <p:spPr>
          <a:xfrm>
            <a:off x="6667500" y="5467350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89B2D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D41DC298-0307-413E-B876-17B1358ABFE3}"/>
              </a:ext>
            </a:extLst>
          </p:cNvPr>
          <p:cNvSpPr>
            <a:spLocks noGrp="1"/>
          </p:cNvSpPr>
          <p:nvPr/>
        </p:nvSpPr>
        <p:spPr>
          <a:xfrm>
            <a:off x="8820150" y="531495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F1DDDA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0B74A19-B771-4902-B9A0-28FFA460AC23}"/>
              </a:ext>
            </a:extLst>
          </p:cNvPr>
          <p:cNvSpPr>
            <a:spLocks noGrp="1"/>
          </p:cNvSpPr>
          <p:nvPr/>
        </p:nvSpPr>
        <p:spPr>
          <a:xfrm>
            <a:off x="8934450" y="5467350"/>
            <a:ext cx="285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50" b="1">
                <a:solidFill>
                  <a:srgbClr val="CC4B4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CC4B4B"/>
                </a:solidFill>
                <a:latin typeface="Noto Sans KR"/>
                <a:ea typeface="Noto Sans KR"/>
                <a:cs typeface="Noto Sans KR"/>
              </a:rPr>
              <a:t>P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682FE3C-7838-40DC-B033-71E03681C09E}"/>
              </a:ext>
            </a:extLst>
          </p:cNvPr>
          <p:cNvSpPr>
            <a:spLocks noGrp="1"/>
          </p:cNvSpPr>
          <p:nvPr/>
        </p:nvSpPr>
        <p:spPr>
          <a:xfrm>
            <a:off x="8248650" y="4953000"/>
            <a:ext cx="228600" cy="552450"/>
          </a:xfrm>
          <a:prstGeom prst="roundRect">
            <a:avLst>
              <a:gd name="adj" fmla="val 25000"/>
            </a:avLst>
          </a:prstGeom>
          <a:solidFill>
            <a:srgbClr val="087E8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9665FFEF-5A09-445F-A793-BBF9D206286A}"/>
              </a:ext>
            </a:extLst>
          </p:cNvPr>
          <p:cNvSpPr>
            <a:spLocks noGrp="1"/>
          </p:cNvSpPr>
          <p:nvPr/>
        </p:nvSpPr>
        <p:spPr>
          <a:xfrm>
            <a:off x="8534400" y="4953000"/>
            <a:ext cx="228600" cy="552450"/>
          </a:xfrm>
          <a:prstGeom prst="roundRect">
            <a:avLst>
              <a:gd name="adj" fmla="val 25000"/>
            </a:avLst>
          </a:prstGeom>
          <a:solidFill>
            <a:srgbClr val="087E8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AEEF3FB-0679-4439-B378-944E948EF9AB}"/>
              </a:ext>
            </a:extLst>
          </p:cNvPr>
          <p:cNvSpPr>
            <a:spLocks noGrp="1"/>
          </p:cNvSpPr>
          <p:nvPr/>
        </p:nvSpPr>
        <p:spPr>
          <a:xfrm>
            <a:off x="8820150" y="4953000"/>
            <a:ext cx="228600" cy="552450"/>
          </a:xfrm>
          <a:prstGeom prst="roundRect">
            <a:avLst>
              <a:gd name="adj" fmla="val 25000"/>
            </a:avLst>
          </a:prstGeom>
          <a:solidFill>
            <a:srgbClr val="087E8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ED0B3B1-9B67-47B6-A7B5-710B301CBF7C}"/>
              </a:ext>
            </a:extLst>
          </p:cNvPr>
          <p:cNvSpPr>
            <a:spLocks noGrp="1"/>
          </p:cNvSpPr>
          <p:nvPr/>
        </p:nvSpPr>
        <p:spPr>
          <a:xfrm>
            <a:off x="9105900" y="4953000"/>
            <a:ext cx="228600" cy="552450"/>
          </a:xfrm>
          <a:prstGeom prst="roundRect">
            <a:avLst>
              <a:gd name="adj" fmla="val 25000"/>
            </a:avLst>
          </a:prstGeom>
          <a:solidFill>
            <a:srgbClr val="087E8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2ABFA1D7-C924-42E2-B240-D9881DFA27DD}"/>
              </a:ext>
            </a:extLst>
          </p:cNvPr>
          <p:cNvSpPr>
            <a:spLocks noGrp="1"/>
          </p:cNvSpPr>
          <p:nvPr/>
        </p:nvSpPr>
        <p:spPr>
          <a:xfrm>
            <a:off x="9391650" y="4953000"/>
            <a:ext cx="228600" cy="552450"/>
          </a:xfrm>
          <a:prstGeom prst="roundRect">
            <a:avLst>
              <a:gd name="adj" fmla="val 25000"/>
            </a:avLst>
          </a:prstGeom>
          <a:solidFill>
            <a:srgbClr val="087E8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8E39F53-A0A6-4A5F-BAB3-54C03246CB1E}"/>
              </a:ext>
            </a:extLst>
          </p:cNvPr>
          <p:cNvSpPr>
            <a:spLocks noGrp="1"/>
          </p:cNvSpPr>
          <p:nvPr/>
        </p:nvSpPr>
        <p:spPr>
          <a:xfrm>
            <a:off x="9677400" y="4953000"/>
            <a:ext cx="228600" cy="552450"/>
          </a:xfrm>
          <a:prstGeom prst="roundRect">
            <a:avLst>
              <a:gd name="adj" fmla="val 25000"/>
            </a:avLst>
          </a:prstGeom>
          <a:solidFill>
            <a:srgbClr val="087E8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A05A490-0B11-441B-9E53-D27C490D5EFA}"/>
              </a:ext>
            </a:extLst>
          </p:cNvPr>
          <p:cNvSpPr>
            <a:spLocks noGrp="1"/>
          </p:cNvSpPr>
          <p:nvPr/>
        </p:nvSpPr>
        <p:spPr>
          <a:xfrm>
            <a:off x="9963150" y="4953000"/>
            <a:ext cx="228600" cy="552450"/>
          </a:xfrm>
          <a:prstGeom prst="roundRect">
            <a:avLst>
              <a:gd name="adj" fmla="val 25000"/>
            </a:avLst>
          </a:prstGeom>
          <a:solidFill>
            <a:srgbClr val="087E8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2892AA8-E017-41CE-935D-496559FDB70D}"/>
              </a:ext>
            </a:extLst>
          </p:cNvPr>
          <p:cNvSpPr>
            <a:spLocks noGrp="1"/>
          </p:cNvSpPr>
          <p:nvPr/>
        </p:nvSpPr>
        <p:spPr>
          <a:xfrm>
            <a:off x="1104900" y="5981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포위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840804B-DBFD-4F97-9F40-41A2F6B232E7}"/>
              </a:ext>
            </a:extLst>
          </p:cNvPr>
          <p:cNvSpPr>
            <a:spLocks noGrp="1"/>
          </p:cNvSpPr>
          <p:nvPr/>
        </p:nvSpPr>
        <p:spPr>
          <a:xfrm>
            <a:off x="4438650" y="5981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쐐기 돌진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A20CB88-952E-4413-B848-529605F2D388}"/>
              </a:ext>
            </a:extLst>
          </p:cNvPr>
          <p:cNvSpPr>
            <a:spLocks noGrp="1"/>
          </p:cNvSpPr>
          <p:nvPr/>
        </p:nvSpPr>
        <p:spPr>
          <a:xfrm>
            <a:off x="7772400" y="598170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방패벽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6129CD9-F733-45FA-A4BB-016E807C4AEB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750" b="1">
                <a:solidFill>
                  <a:srgbClr val="7B879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B8790"/>
                </a:solidFill>
                <a:latin typeface="Noto Sans KR"/>
                <a:ea typeface="Noto Sans KR"/>
                <a:cs typeface="Noto Sans KR"/>
              </a:rPr>
              <a:t>PROJECT W · GAME SERVER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0D60D72-E183-415B-9FFB-58FE89F81C84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B879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B8790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93789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>
            <a:extLst>
              <a:ext uri="{FF2B5EF4-FFF2-40B4-BE49-F238E27FC236}">
                <a16:creationId xmlns:a16="http://schemas.microsoft.com/office/drawing/2014/main" id="{C45668B0-F220-4697-AE07-DF9CF416CCC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OPTIMIZATION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5F6AAFD-E015-4410-9D6B-A078F8B62F8E}"/>
              </a:ext>
            </a:extLst>
          </p:cNvPr>
          <p:cNvSpPr>
            <a:spLocks noGrp="1"/>
          </p:cNvSpPr>
          <p:nvPr/>
        </p:nvSpPr>
        <p:spPr>
          <a:xfrm>
            <a:off x="609600" y="62865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5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측정 가능한 변화와 검증 범위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2F9F40A-9773-48BB-BAE9-0AC163A24C07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10972800" cy="19050"/>
          </a:xfrm>
          <a:prstGeom prst="rect">
            <a:avLst/>
          </a:prstGeom>
          <a:solidFill>
            <a:srgbClr val="CCD4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B91183-D000-4EBC-96CC-EEE327725180}"/>
              </a:ext>
            </a:extLst>
          </p:cNvPr>
          <p:cNvSpPr>
            <a:spLocks noGrp="1"/>
          </p:cNvSpPr>
          <p:nvPr/>
        </p:nvSpPr>
        <p:spPr>
          <a:xfrm>
            <a:off x="11087100" y="4000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105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BC06892-CCA4-49D2-860D-EC290D47412F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NETWORK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E29237E-BB06-4FF1-AF50-560AD74AB7D4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209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C4B4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CC4B4B"/>
                </a:solidFill>
                <a:latin typeface="Noto Sans KR"/>
                <a:ea typeface="Noto Sans KR"/>
                <a:cs typeface="Noto Sans KR"/>
              </a:rPr>
              <a:t>N broadcasts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7FE981D-F782-46C3-A834-589E7436EE1E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→ 1 batch packet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505903-FED3-456E-9BBB-C24D57E57BF4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304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75" b="0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NPC 이동 정보를 프레임 단위로 수집해</a:t>
            </a:r>
          </a:p>
          <a:p>
            <a:pPr algn="l">
              <a:buNone/>
              <a:defRPr sz="1275" b="0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IOCP와 브로드캐스트 호출을 줄였습니다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5776E77-5381-4CE7-A62E-E595B093B64D}"/>
              </a:ext>
            </a:extLst>
          </p:cNvPr>
          <p:cNvSpPr>
            <a:spLocks noGrp="1"/>
          </p:cNvSpPr>
          <p:nvPr/>
        </p:nvSpPr>
        <p:spPr>
          <a:xfrm>
            <a:off x="4000500" y="1562100"/>
            <a:ext cx="19050" cy="2152650"/>
          </a:xfrm>
          <a:prstGeom prst="rect">
            <a:avLst/>
          </a:prstGeom>
          <a:solidFill>
            <a:srgbClr val="CCD4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C9BF9AD-33B1-429E-9D93-0A41305C75D7}"/>
              </a:ext>
            </a:extLst>
          </p:cNvPr>
          <p:cNvSpPr>
            <a:spLocks noGrp="1"/>
          </p:cNvSpPr>
          <p:nvPr/>
        </p:nvSpPr>
        <p:spPr>
          <a:xfrm>
            <a:off x="4438650" y="1581150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NEIGHBOR SEARCH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BBB4FFC-6DCC-4AFE-9549-2CCE6D6B79E6}"/>
              </a:ext>
            </a:extLst>
          </p:cNvPr>
          <p:cNvSpPr>
            <a:spLocks noGrp="1"/>
          </p:cNvSpPr>
          <p:nvPr/>
        </p:nvSpPr>
        <p:spPr>
          <a:xfrm>
            <a:off x="4438650" y="1943100"/>
            <a:ext cx="200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CC4B4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CC4B4B"/>
                </a:solidFill>
                <a:latin typeface="Noto Sans KR"/>
                <a:ea typeface="Noto Sans KR"/>
                <a:cs typeface="Noto Sans KR"/>
              </a:rPr>
              <a:t>O(N²)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5F96D8A-6178-43B0-BD8C-AD8C0B94AC0D}"/>
              </a:ext>
            </a:extLst>
          </p:cNvPr>
          <p:cNvSpPr>
            <a:spLocks noGrp="1"/>
          </p:cNvSpPr>
          <p:nvPr/>
        </p:nvSpPr>
        <p:spPr>
          <a:xfrm>
            <a:off x="4438650" y="240030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컬링 + SAP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5ED2B29-EE5B-48DF-8F8E-1CD56E8E1CAD}"/>
              </a:ext>
            </a:extLst>
          </p:cNvPr>
          <p:cNvSpPr>
            <a:spLocks noGrp="1"/>
          </p:cNvSpPr>
          <p:nvPr/>
        </p:nvSpPr>
        <p:spPr>
          <a:xfrm>
            <a:off x="4438650" y="2990850"/>
            <a:ext cx="304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75" b="0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플레이어 근접 NPC만 SAP에 등록하고</a:t>
            </a:r>
          </a:p>
          <a:p>
            <a:pPr algn="l">
              <a:buNone/>
              <a:defRPr sz="1275" b="0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후보쌍을 인접 리스트로 재사용했습니다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04F9576-22AF-44BB-80EC-C4545B07DC53}"/>
              </a:ext>
            </a:extLst>
          </p:cNvPr>
          <p:cNvSpPr>
            <a:spLocks noGrp="1"/>
          </p:cNvSpPr>
          <p:nvPr/>
        </p:nvSpPr>
        <p:spPr>
          <a:xfrm>
            <a:off x="7829550" y="1562100"/>
            <a:ext cx="19050" cy="2152650"/>
          </a:xfrm>
          <a:prstGeom prst="rect">
            <a:avLst/>
          </a:prstGeom>
          <a:solidFill>
            <a:srgbClr val="CCD4D8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72F1992-4235-4386-8769-89BB2C09AA2E}"/>
              </a:ext>
            </a:extLst>
          </p:cNvPr>
          <p:cNvSpPr>
            <a:spLocks noGrp="1"/>
          </p:cNvSpPr>
          <p:nvPr/>
        </p:nvSpPr>
        <p:spPr>
          <a:xfrm>
            <a:off x="8267700" y="15811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87E8B"/>
                </a:solidFill>
                <a:latin typeface="Noto Sans KR"/>
                <a:ea typeface="Noto Sans KR"/>
                <a:cs typeface="Noto Sans KR"/>
              </a:rPr>
              <a:t>SHUTDOWN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948A73-69BE-4076-9DF3-82407EAB7587}"/>
              </a:ext>
            </a:extLst>
          </p:cNvPr>
          <p:cNvSpPr>
            <a:spLocks noGrp="1"/>
          </p:cNvSpPr>
          <p:nvPr/>
        </p:nvSpPr>
        <p:spPr>
          <a:xfrm>
            <a:off x="8267700" y="19431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0B1F33"/>
                </a:solidFill>
                <a:latin typeface="Noto Sans KR"/>
                <a:ea typeface="Noto Sans KR"/>
                <a:cs typeface="Noto Sans KR"/>
              </a:rPr>
              <a:t>5회 반복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721063F-E68C-4E45-BC01-8201844408DC}"/>
              </a:ext>
            </a:extLst>
          </p:cNvPr>
          <p:cNvSpPr>
            <a:spLocks noGrp="1"/>
          </p:cNvSpPr>
          <p:nvPr/>
        </p:nvSpPr>
        <p:spPr>
          <a:xfrm>
            <a:off x="8267700" y="2400300"/>
            <a:ext cx="2190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175" b="1">
                <a:solidFill>
                  <a:srgbClr val="2E8B57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2E8B57"/>
                </a:solidFill>
                <a:latin typeface="Noto Sans KR"/>
                <a:ea typeface="Noto Sans KR"/>
                <a:cs typeface="Noto Sans KR"/>
              </a:rPr>
              <a:t>exit 0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184085B-6690-4AFE-929B-5D0CC1A44406}"/>
              </a:ext>
            </a:extLst>
          </p:cNvPr>
          <p:cNvSpPr>
            <a:spLocks noGrp="1"/>
          </p:cNvSpPr>
          <p:nvPr/>
        </p:nvSpPr>
        <p:spPr>
          <a:xfrm>
            <a:off x="8267700" y="2990850"/>
            <a:ext cx="304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75" b="0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로비 접속과 로딩 중 종료를 포함해</a:t>
            </a:r>
          </a:p>
          <a:p>
            <a:pPr algn="l">
              <a:buNone/>
              <a:defRPr sz="1275" b="0">
                <a:solidFill>
                  <a:srgbClr val="5D6B7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D6B78"/>
                </a:solidFill>
                <a:latin typeface="Noto Sans KR"/>
                <a:ea typeface="Noto Sans KR"/>
                <a:cs typeface="Noto Sans KR"/>
              </a:rPr>
              <a:t>종료 크래시가 재현되지 않았습니다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6A89EA2-4B00-47D1-B1B4-931E3972CD18}"/>
              </a:ext>
            </a:extLst>
          </p:cNvPr>
          <p:cNvSpPr>
            <a:spLocks noGrp="1"/>
          </p:cNvSpPr>
          <p:nvPr/>
        </p:nvSpPr>
        <p:spPr>
          <a:xfrm>
            <a:off x="609600" y="4114800"/>
            <a:ext cx="10782300" cy="1485900"/>
          </a:xfrm>
          <a:prstGeom prst="roundRect">
            <a:avLst>
              <a:gd name="adj" fmla="val 10256"/>
            </a:avLst>
          </a:prstGeom>
          <a:solidFill>
            <a:srgbClr val="0B1F33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AF507C3-15F3-40E8-84B9-EF50A6BA0F6C}"/>
              </a:ext>
            </a:extLst>
          </p:cNvPr>
          <p:cNvSpPr>
            <a:spLocks noGrp="1"/>
          </p:cNvSpPr>
          <p:nvPr/>
        </p:nvSpPr>
        <p:spPr>
          <a:xfrm>
            <a:off x="876300" y="436245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3BB5C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BB5C3"/>
                </a:solidFill>
                <a:latin typeface="Noto Sans KR"/>
                <a:ea typeface="Noto Sans KR"/>
                <a:cs typeface="Noto Sans KR"/>
              </a:rPr>
              <a:t>VERIFICATION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D35298-7776-4576-B9BD-0FA9789DD4A3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전체 솔루션 4개 프로젝트 빌드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B2C880-A321-4330-97DE-0FC1653D8252}"/>
              </a:ext>
            </a:extLst>
          </p:cNvPr>
          <p:cNvSpPr>
            <a:spLocks noGrp="1"/>
          </p:cNvSpPr>
          <p:nvPr/>
        </p:nvSpPr>
        <p:spPr>
          <a:xfrm>
            <a:off x="876300" y="51054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125" b="0">
                <a:solidFill>
                  <a:srgbClr val="C8D5DD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C8D5DD"/>
                </a:solidFill>
                <a:latin typeface="Noto Sans KR"/>
                <a:ea typeface="Noto Sans KR"/>
                <a:cs typeface="Noto Sans KR"/>
              </a:rPr>
              <a:t>ServerEngine · LobbyServer · RoomServer · client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E63CAB-F815-4417-8221-A0EE771AFAC7}"/>
              </a:ext>
            </a:extLst>
          </p:cNvPr>
          <p:cNvSpPr>
            <a:spLocks noGrp="1"/>
          </p:cNvSpPr>
          <p:nvPr/>
        </p:nvSpPr>
        <p:spPr>
          <a:xfrm>
            <a:off x="5391150" y="4343400"/>
            <a:ext cx="19050" cy="990600"/>
          </a:xfrm>
          <a:prstGeom prst="rect">
            <a:avLst/>
          </a:prstGeom>
          <a:solidFill>
            <a:srgbClr val="335064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6186175-E85B-46A4-83DB-FF21C135092D}"/>
              </a:ext>
            </a:extLst>
          </p:cNvPr>
          <p:cNvSpPr>
            <a:spLocks noGrp="1"/>
          </p:cNvSpPr>
          <p:nvPr/>
        </p:nvSpPr>
        <p:spPr>
          <a:xfrm>
            <a:off x="5829300" y="47244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추가 증빙이 필요한 수치는 제외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5E0A38C-6B95-4A74-BF25-2BCEB1EF5F16}"/>
              </a:ext>
            </a:extLst>
          </p:cNvPr>
          <p:cNvSpPr>
            <a:spLocks noGrp="1"/>
          </p:cNvSpPr>
          <p:nvPr/>
        </p:nvSpPr>
        <p:spPr>
          <a:xfrm>
            <a:off x="5829300" y="510540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125" b="0">
                <a:solidFill>
                  <a:srgbClr val="C8D5DD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C8D5DD"/>
                </a:solidFill>
                <a:latin typeface="Noto Sans KR"/>
                <a:ea typeface="Noto Sans KR"/>
                <a:cs typeface="Noto Sans KR"/>
              </a:rPr>
              <a:t>부하 테스트 수치는 로그와 환경 정보를 확보한 뒤 반영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950F09-C6B3-4393-B509-116992A0B240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750" b="1">
                <a:solidFill>
                  <a:srgbClr val="7B879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7B8790"/>
                </a:solidFill>
                <a:latin typeface="Noto Sans KR"/>
                <a:ea typeface="Noto Sans KR"/>
                <a:cs typeface="Noto Sans KR"/>
              </a:rPr>
              <a:t>PROJECT W · GAME SERVER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0D195A1-9233-48C2-A6F1-CC4C7E6C17B1}"/>
              </a:ext>
            </a:extLst>
          </p:cNvPr>
          <p:cNvSpPr>
            <a:spLocks noGrp="1"/>
          </p:cNvSpPr>
          <p:nvPr/>
        </p:nvSpPr>
        <p:spPr>
          <a:xfrm>
            <a:off x="11087100" y="6534150"/>
            <a:ext cx="495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750" b="0">
                <a:solidFill>
                  <a:srgbClr val="7B8790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B8790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11826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2FCD2AF-719E-484B-9E1E-570A38E429C4}"/>
              </a:ext>
            </a:extLst>
          </p:cNvPr>
          <p:cNvSpPr>
            <a:spLocks noGrp="1"/>
          </p:cNvSpPr>
          <p:nvPr/>
        </p:nvSpPr>
        <p:spPr>
          <a:xfrm>
            <a:off x="609600" y="438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975" b="1">
                <a:solidFill>
                  <a:srgbClr val="3BB5C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BB5C3"/>
                </a:solidFill>
                <a:latin typeface="Noto Sans KR"/>
                <a:ea typeface="Noto Sans KR"/>
                <a:cs typeface="Noto Sans KR"/>
              </a:rPr>
              <a:t>RETROSPECTIVE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57E12DA-3B35-4C08-A322-98D56F52B58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문제를 재현하고, 측정하고, 구조를 바꿨습니다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B295106-9E67-410C-B693-DB9800570962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19050"/>
          </a:xfrm>
          <a:prstGeom prst="rect">
            <a:avLst/>
          </a:prstGeom>
          <a:solidFill>
            <a:srgbClr val="2E475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A48F569-2A8E-4E88-92DA-5E4261E2C379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425" b="1">
                <a:solidFill>
                  <a:srgbClr val="3BB5C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BB5C3"/>
                </a:solidFill>
                <a:latin typeface="Noto Sans KR"/>
                <a:ea typeface="Noto Sans KR"/>
                <a:cs typeface="Noto Sans KR"/>
              </a:rPr>
              <a:t>배운 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1B9333-6F73-4107-BB0C-7A4FC7464722}"/>
              </a:ext>
            </a:extLst>
          </p:cNvPr>
          <p:cNvSpPr>
            <a:spLocks noGrp="1"/>
          </p:cNvSpPr>
          <p:nvPr/>
        </p:nvSpPr>
        <p:spPr>
          <a:xfrm>
            <a:off x="609600" y="23622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125" b="1">
                <a:solidFill>
                  <a:srgbClr val="3BB5C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BB5C3"/>
                </a:solidFill>
                <a:latin typeface="Noto Sans KR"/>
                <a:ea typeface="Noto Sans KR"/>
                <a:cs typeface="Noto Sans KR"/>
              </a:rPr>
              <a:t>비동기 I/O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9835D37-7701-491D-830A-81E80136D6DD}"/>
              </a:ext>
            </a:extLst>
          </p:cNvPr>
          <p:cNvSpPr>
            <a:spLocks noGrp="1"/>
          </p:cNvSpPr>
          <p:nvPr/>
        </p:nvSpPr>
        <p:spPr>
          <a:xfrm>
            <a:off x="609600" y="26860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완료 시점과 객체 수명을 함께 설계해야 합니다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27E473-5D01-4395-BC75-C6ECE5541551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125" b="1">
                <a:solidFill>
                  <a:srgbClr val="3BB5C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BB5C3"/>
                </a:solidFill>
                <a:latin typeface="Noto Sans KR"/>
                <a:ea typeface="Noto Sans KR"/>
                <a:cs typeface="Noto Sans KR"/>
              </a:rPr>
              <a:t>동시성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C0F99E2-FBE7-4981-B60A-9A80F91F00A3}"/>
              </a:ext>
            </a:extLst>
          </p:cNvPr>
          <p:cNvSpPr>
            <a:spLocks noGrp="1"/>
          </p:cNvSpPr>
          <p:nvPr/>
        </p:nvSpPr>
        <p:spPr>
          <a:xfrm>
            <a:off x="609600" y="3619500"/>
            <a:ext cx="495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스레드 수보다 실제 대기 위치와 작업 경로가 중요합니다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4EC1D6-3E70-4A45-AB77-1755E0061E8D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125" b="1">
                <a:solidFill>
                  <a:srgbClr val="3BB5C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BB5C3"/>
                </a:solidFill>
                <a:latin typeface="Noto Sans KR"/>
                <a:ea typeface="Noto Sans KR"/>
                <a:cs typeface="Noto Sans KR"/>
              </a:rPr>
              <a:t>네트워크 게임플레이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CB5BFC-D66C-4D6F-B6DB-627F7000D892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서버 권위와 화면 반응성을 함께 검증해야 합니다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E6066E5-8BFA-47B7-84B2-7E4BBF7C1448}"/>
              </a:ext>
            </a:extLst>
          </p:cNvPr>
          <p:cNvSpPr>
            <a:spLocks noGrp="1"/>
          </p:cNvSpPr>
          <p:nvPr/>
        </p:nvSpPr>
        <p:spPr>
          <a:xfrm>
            <a:off x="6172200" y="1847850"/>
            <a:ext cx="19050" cy="3657600"/>
          </a:xfrm>
          <a:prstGeom prst="rect">
            <a:avLst/>
          </a:prstGeom>
          <a:solidFill>
            <a:srgbClr val="2E475B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15BFCAF-A192-4164-A37E-BEC461E39691}"/>
              </a:ext>
            </a:extLst>
          </p:cNvPr>
          <p:cNvSpPr>
            <a:spLocks noGrp="1"/>
          </p:cNvSpPr>
          <p:nvPr/>
        </p:nvSpPr>
        <p:spPr>
          <a:xfrm>
            <a:off x="6705600" y="1847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425" b="1">
                <a:solidFill>
                  <a:srgbClr val="E89B2D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E89B2D"/>
                </a:solidFill>
                <a:latin typeface="Noto Sans KR"/>
                <a:ea typeface="Noto Sans KR"/>
                <a:cs typeface="Noto Sans KR"/>
              </a:rPr>
              <a:t>다음 개선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D595885-0681-4FDF-A794-54D5D758EFA7}"/>
              </a:ext>
            </a:extLst>
          </p:cNvPr>
          <p:cNvSpPr>
            <a:spLocks noGrp="1"/>
          </p:cNvSpPr>
          <p:nvPr/>
        </p:nvSpPr>
        <p:spPr>
          <a:xfrm>
            <a:off x="6705600" y="2362200"/>
            <a:ext cx="44767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28600" indent="-114300">
              <a:spcAft>
                <a:spcPts val="1000"/>
              </a:spcAft>
              <a:buChar char="•"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네트워크 지표와 회귀 테스트 자동화</a:t>
            </a:r>
          </a:p>
          <a:p>
            <a:pPr marL="228600" indent="-114300">
              <a:spcAft>
                <a:spcPts val="1000"/>
              </a:spcAft>
              <a:buChar char="•"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서버 권위 이동 검증 강화</a:t>
            </a:r>
          </a:p>
          <a:p>
            <a:pPr marL="228600" indent="-114300">
              <a:spcAft>
                <a:spcPts val="1000"/>
              </a:spcAft>
              <a:buChar char="•"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JobTimer 경합과 busy wait 개선</a:t>
            </a:r>
          </a:p>
          <a:p>
            <a:pPr marL="228600" indent="-114300">
              <a:spcAft>
                <a:spcPts val="1000"/>
              </a:spcAft>
              <a:buChar char="•"/>
              <a:def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실제 부하 테스트 결과를 재현 가능한 형식으로 기록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ACEC6F0-E049-45F0-AA85-D35B411D8A05}"/>
              </a:ext>
            </a:extLst>
          </p:cNvPr>
          <p:cNvSpPr>
            <a:spLocks noGrp="1"/>
          </p:cNvSpPr>
          <p:nvPr/>
        </p:nvSpPr>
        <p:spPr>
          <a:xfrm>
            <a:off x="6705600" y="4895850"/>
            <a:ext cx="323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[이름]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F29784D-2D26-4C85-9F64-322A294F2013}"/>
              </a:ext>
            </a:extLst>
          </p:cNvPr>
          <p:cNvSpPr>
            <a:spLocks noGrp="1"/>
          </p:cNvSpPr>
          <p:nvPr/>
        </p:nvSpPr>
        <p:spPr>
          <a:xfrm>
            <a:off x="6705600" y="53530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None/>
              <a:defRPr sz="1200" b="0">
                <a:solidFill>
                  <a:srgbClr val="C8D5D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C8D5DD"/>
                </a:solidFill>
                <a:latin typeface="Noto Sans KR"/>
                <a:ea typeface="Noto Sans KR"/>
                <a:cs typeface="Noto Sans KR"/>
              </a:rPr>
              <a:t>[이메일]  ·  [GitHub URL]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0AF086-34E6-4293-9F92-4DDA20426BEF}"/>
              </a:ext>
            </a:extLst>
          </p:cNvPr>
          <p:cNvSpPr>
            <a:spLocks noGrp="1"/>
          </p:cNvSpPr>
          <p:nvPr/>
        </p:nvSpPr>
        <p:spPr>
          <a:xfrm>
            <a:off x="11087100" y="6229350"/>
            <a:ext cx="495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r">
              <a:buNone/>
              <a:defRPr sz="975" b="0">
                <a:solidFill>
                  <a:srgbClr val="7FA0B7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7FA0B7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7679871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1270</Words>
  <Application>Microsoft Office PowerPoint</Application>
  <DocSecurity>0</DocSecurity>
  <PresentationFormat>와이드스크린</PresentationFormat>
  <Paragraphs>283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Noto Sans KR</vt:lpstr>
      <vt:lpstr>Calibri</vt:lpstr>
      <vt:lpstr>Consolas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우상훈</cp:lastModifiedBy>
  <cp:revision>11</cp:revision>
  <dcterms:created xsi:type="dcterms:W3CDTF">2026-09-07T03:25:14Z</dcterms:created>
  <dcterms:modified xsi:type="dcterms:W3CDTF">2026-09-07T03:43:45Z</dcterms:modified>
</cp:coreProperties>
</file>