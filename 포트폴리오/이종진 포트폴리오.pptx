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514" r:id="rId2"/>
    <p:sldId id="491" r:id="rId3"/>
    <p:sldId id="469" r:id="rId4"/>
    <p:sldId id="516" r:id="rId5"/>
    <p:sldId id="468" r:id="rId6"/>
    <p:sldId id="518" r:id="rId7"/>
    <p:sldId id="539" r:id="rId8"/>
    <p:sldId id="543" r:id="rId9"/>
    <p:sldId id="541" r:id="rId10"/>
    <p:sldId id="540" r:id="rId11"/>
    <p:sldId id="542" r:id="rId12"/>
    <p:sldId id="535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99" autoAdjust="0"/>
  </p:normalViewPr>
  <p:slideViewPr>
    <p:cSldViewPr snapToGrid="0">
      <p:cViewPr>
        <p:scale>
          <a:sx n="100" d="100"/>
          <a:sy n="100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63928-ABA0-42DB-94A4-8F4F54AE965A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9F89C-ED2C-4EBF-8A22-8378A0FA85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20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FB20-06E8-E5C4-48A7-29E8827D6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7CE3C-8E7A-D7F5-2B08-961B7AC9BD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DE3DD-281B-C49A-C898-A2E8FEAD0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DC92E-C69B-6A82-0CF5-E04258C9B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3896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138EF-66B1-FC3E-8B6A-9BBF133B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3FA36-C89D-8702-46AD-4A09E9C2B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1B6CB-A6EF-3166-C8C8-5BA6875D4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5988C-61CD-F0C5-E55C-E8A9A134C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01597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3837E-7E86-201E-1991-52F8256A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49463-931D-8101-F589-CE6032FDA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0053F-0446-AAF4-2341-73310F24C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15ED6-D851-99A5-2E78-11B6E5E63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02239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9271-1D2D-4294-BF7C-16C08FA9C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192D93-BEE6-AF07-009F-B02DFBCF1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0051B-5184-6D87-E035-37B3B1C52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B7B09E-E61A-4048-963C-A6A1D6DF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44E706-D397-578D-A152-E1CCD899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48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ED09A-83A3-298D-DFF6-BD4C8BBE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66FB2B-D832-A613-22FA-E4B3FE863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0F1282-CF4D-2B07-270B-82CC1480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116F90-5309-0E36-ED1B-1B5B8EB3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1A37ED-7DDC-222C-1A31-8C974A76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08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2FCAD-5CA3-9143-8C38-5E85DE6DD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4BF7E7-7727-E8DB-30C2-F5483B9C1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C57699-3E79-3E07-35E7-C002537D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C55BA1-F819-521E-1618-3E801BA7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D07611-64C6-D633-CBC1-FE1113AF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386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CE204-6EB2-3C0E-AA27-62E6B9F5F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709FCC-045E-6F0A-A3EE-1A0BF3A75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6B91D0-2410-577C-99D4-07611BAF6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C1B955-B7BF-0237-6B84-39C8F28D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039D2F-A128-4F81-00F9-43E6F892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B9537F-CFB5-7794-3658-EE0DFD64A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156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BA6F9-7001-4184-6FFA-005BE52D3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A49C4F-2575-76C6-7519-446867040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986DBB-B265-33ED-A04B-759DC09E2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29EB91-2561-8DA0-8B07-B1D498983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B55FA5-8CC8-24B3-8DB4-EB9EBABA8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9F2F8A1-E249-0145-3E0B-8FB6F864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849634-692B-BCA2-25DA-C37DCFDA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33139E-2218-917E-6EE6-D32091F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982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46CA0-82AB-B4F6-1913-07D87DF1E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77DE4D-9CAF-DB0F-7351-4DEB44D5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41CC53-5ACA-EF47-467E-176F9DFF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4B0EE1-064C-39BB-C468-F311F362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64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3194C2-3D9A-957B-405D-2E888686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E39F75-99ED-86BE-5D28-F4C19781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6D7BA8-BA53-2AEE-F6D8-95941038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804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F3DA1-D0AF-69F3-2509-554630EF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466E74-6C90-F9E5-834D-0985C2ACC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1014B9-FC3D-F9A7-6F8E-FD32842E3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8F53B6-0D0B-C772-6B8D-E9D93E566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D24240-C23E-D61F-B4B4-8E9CBB00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845429-325C-8C81-1797-B955C575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107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A88FE-21CA-E2BF-EEF6-811605176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64EF02-2947-0AE6-4161-12E434BAD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513DA7-F79A-5EC6-E1FB-5A3641BFA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BBC43B-53F2-C3A9-F9FD-B0E49C73C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A84284-D75A-0478-8BB1-5FB9D7036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8F931B-0747-E620-C6A4-63734CE2C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867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18E89-710D-C406-5CA5-6083D4FB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DF1028-9788-AD61-2DAA-642CD1C9B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859EEA-530B-B13E-C29D-AD35209A8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EE35E6-3107-4741-675B-CC8DA8A0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95A16A-DDC3-F7E3-1899-1DBA8F108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3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DFB4AC1-7A64-AB78-9D8A-5FE694489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2582E9-32FB-89A1-714D-B940F951C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DFAC72-8AAB-A5C9-0DBD-4BA0939D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A52E81-2A13-6193-50B4-FF3CCA54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C8A4C6-B06E-B73A-B713-21A768D6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320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타이틀 2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A5C9FDD-33A3-0642-9EEA-CBFB29E37625}"/>
              </a:ext>
            </a:extLst>
          </p:cNvPr>
          <p:cNvSpPr/>
          <p:nvPr userDrawn="1"/>
        </p:nvSpPr>
        <p:spPr>
          <a:xfrm>
            <a:off x="0" y="1697335"/>
            <a:ext cx="1600200" cy="97328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594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2D053C-8786-E096-A686-793594CB6036}"/>
              </a:ext>
            </a:extLst>
          </p:cNvPr>
          <p:cNvSpPr/>
          <p:nvPr userDrawn="1"/>
        </p:nvSpPr>
        <p:spPr>
          <a:xfrm>
            <a:off x="0" y="0"/>
            <a:ext cx="2815771" cy="6858000"/>
          </a:xfrm>
          <a:prstGeom prst="rect">
            <a:avLst/>
          </a:prstGeom>
          <a:solidFill>
            <a:srgbClr val="F5F5F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BE1F34-2371-D3CE-C6B4-C9A144EAC991}"/>
              </a:ext>
            </a:extLst>
          </p:cNvPr>
          <p:cNvSpPr/>
          <p:nvPr userDrawn="1"/>
        </p:nvSpPr>
        <p:spPr>
          <a:xfrm>
            <a:off x="0" y="627743"/>
            <a:ext cx="723900" cy="720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633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9F8B6B-565B-1DBE-DEC7-61639B4AAFDF}"/>
              </a:ext>
            </a:extLst>
          </p:cNvPr>
          <p:cNvSpPr/>
          <p:nvPr userDrawn="1"/>
        </p:nvSpPr>
        <p:spPr>
          <a:xfrm>
            <a:off x="0" y="342664"/>
            <a:ext cx="444500" cy="274737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04C977-078B-5C3E-87CE-068AEF9FEE6B}"/>
              </a:ext>
            </a:extLst>
          </p:cNvPr>
          <p:cNvSpPr/>
          <p:nvPr userDrawn="1"/>
        </p:nvSpPr>
        <p:spPr>
          <a:xfrm>
            <a:off x="0" y="6583263"/>
            <a:ext cx="12192000" cy="274737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910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28F8F8-FAF4-05B4-2BBB-4CBCA084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B31171-4C1B-311B-9810-45470B14F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DC848A-5986-5A04-0F73-25C6D1072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B763B-D43F-45C0-973F-FC2EC6482E4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D7F83A-5EB7-DDE9-BCDD-52B4556B2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632B3C-1FE3-400E-351E-727C392E9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B9556-58E7-4DAD-B781-DEBC5A277F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2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cat12345" TargetMode="External"/><Relationship Id="rId2" Type="http://schemas.openxmlformats.org/officeDocument/2006/relationships/hyperlink" Target="mailto:ljj3640@gmail.com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oon-2/Project-W" TargetMode="External"/><Relationship Id="rId2" Type="http://schemas.openxmlformats.org/officeDocument/2006/relationships/hyperlink" Target="https://github.com/Lcat12345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github.com/Lcat12345/MinerKing" TargetMode="External"/><Relationship Id="rId4" Type="http://schemas.openxmlformats.org/officeDocument/2006/relationships/hyperlink" Target="https://www.youtube.com/watch?v=A9WalMzxqp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A7B3F9B-41CA-45A1-8869-59CB09A68084}"/>
              </a:ext>
            </a:extLst>
          </p:cNvPr>
          <p:cNvSpPr txBox="1"/>
          <p:nvPr/>
        </p:nvSpPr>
        <p:spPr>
          <a:xfrm>
            <a:off x="8229328" y="327966"/>
            <a:ext cx="3411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Update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2026.09.23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905D9-8DAE-A0C8-0825-63AF510CBD9D}"/>
              </a:ext>
            </a:extLst>
          </p:cNvPr>
          <p:cNvSpPr txBox="1"/>
          <p:nvPr/>
        </p:nvSpPr>
        <p:spPr>
          <a:xfrm>
            <a:off x="2438400" y="1697335"/>
            <a:ext cx="868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클라이언트 프로그래밍 포트폴리오</a:t>
            </a:r>
            <a:endParaRPr lang="en-US" altLang="ko-KR" sz="3600" spc="3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90E5F-DDC8-49FE-97D9-BEB2BF03A1B7}"/>
              </a:ext>
            </a:extLst>
          </p:cNvPr>
          <p:cNvSpPr txBox="1"/>
          <p:nvPr/>
        </p:nvSpPr>
        <p:spPr>
          <a:xfrm>
            <a:off x="6292851" y="5388518"/>
            <a:ext cx="4130440" cy="102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Tel: 010-2596-4731</a:t>
            </a:r>
          </a:p>
          <a:p>
            <a:pPr algn="r">
              <a:lnSpc>
                <a:spcPct val="130000"/>
              </a:lnSpc>
            </a:pP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Email :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2"/>
              </a:rPr>
              <a:t>ljj3640@gmail.com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GitHub :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3"/>
              </a:rPr>
              <a:t>https://github.com/Lcat12345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>
              <a:lnSpc>
                <a:spcPct val="130000"/>
              </a:lnSpc>
            </a:pP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C11F5B-C950-46B2-9B03-70AF6A74DA28}"/>
              </a:ext>
            </a:extLst>
          </p:cNvPr>
          <p:cNvSpPr txBox="1"/>
          <p:nvPr/>
        </p:nvSpPr>
        <p:spPr>
          <a:xfrm>
            <a:off x="7730793" y="4966745"/>
            <a:ext cx="2692497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 SemiBold" panose="02000703000000020004" pitchFamily="50" charset="-127"/>
                <a:cs typeface="Pretendard" panose="02000503000000020004" pitchFamily="50" charset="-127"/>
              </a:rPr>
              <a:t>이 종 진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400A3D0-91D0-4170-8E34-DFEEBA7A9DE8}"/>
              </a:ext>
            </a:extLst>
          </p:cNvPr>
          <p:cNvCxnSpPr>
            <a:cxnSpLocks/>
          </p:cNvCxnSpPr>
          <p:nvPr/>
        </p:nvCxnSpPr>
        <p:spPr>
          <a:xfrm>
            <a:off x="2438400" y="2670618"/>
            <a:ext cx="9753600" cy="0"/>
          </a:xfrm>
          <a:prstGeom prst="line">
            <a:avLst/>
          </a:prstGeom>
          <a:ln w="38100">
            <a:solidFill>
              <a:srgbClr val="0D0D0D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037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85C6366-A748-75D8-ED5C-BB59A055EE9F}"/>
              </a:ext>
            </a:extLst>
          </p:cNvPr>
          <p:cNvGrpSpPr/>
          <p:nvPr/>
        </p:nvGrpSpPr>
        <p:grpSpPr>
          <a:xfrm>
            <a:off x="4565140" y="1327781"/>
            <a:ext cx="5658360" cy="2862388"/>
            <a:chOff x="4507990" y="1663700"/>
            <a:chExt cx="5658360" cy="286238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616DB8-51FC-49C0-AE96-2C1C68FC1350}"/>
                </a:ext>
              </a:extLst>
            </p:cNvPr>
            <p:cNvSpPr txBox="1"/>
            <p:nvPr/>
          </p:nvSpPr>
          <p:spPr>
            <a:xfrm>
              <a:off x="4507990" y="1735131"/>
              <a:ext cx="5658360" cy="2790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216000">
                <a:lnSpc>
                  <a:spcPct val="150000"/>
                </a:lnSpc>
                <a:buAutoNum type="arabicPeriod"/>
              </a:pPr>
              <a:r>
                <a:rPr lang="en-US" altLang="ko-KR" sz="24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CAREER</a:t>
              </a:r>
            </a:p>
            <a:p>
              <a:pPr indent="-216000">
                <a:lnSpc>
                  <a:spcPct val="150000"/>
                </a:lnSpc>
                <a:buAutoNum type="arabicPeriod"/>
              </a:pPr>
              <a:r>
                <a:rPr lang="en-US" altLang="ko-KR" sz="24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PROJECT list</a:t>
              </a:r>
            </a:p>
            <a:p>
              <a:pPr indent="-216000">
                <a:lnSpc>
                  <a:spcPct val="150000"/>
                </a:lnSpc>
                <a:buAutoNum type="arabicPeriod"/>
              </a:pPr>
              <a:r>
                <a:rPr lang="ko-KR" altLang="en-US" sz="24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주요 프로젝트</a:t>
              </a:r>
              <a:r>
                <a:rPr lang="en-US" altLang="ko-KR" sz="24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</a:t>
              </a:r>
              <a:r>
                <a:rPr lang="ko-KR" altLang="en-US" sz="24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이방인</a:t>
              </a:r>
              <a:r>
                <a:rPr lang="en-US" altLang="ko-KR" sz="24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(Outlander)</a:t>
              </a:r>
            </a:p>
            <a:p>
              <a:pPr indent="-216000">
                <a:lnSpc>
                  <a:spcPct val="150000"/>
                </a:lnSpc>
                <a:buAutoNum type="arabicPeriod"/>
              </a:pPr>
              <a:r>
                <a:rPr lang="ko-KR" altLang="en-US" sz="24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주요 프로젝트</a:t>
              </a:r>
              <a:r>
                <a:rPr lang="en-US" altLang="ko-KR" sz="24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</a:t>
              </a:r>
              <a:r>
                <a:rPr lang="en-US" altLang="ko-KR" sz="2400" dirty="0" err="1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Minerking</a:t>
              </a:r>
              <a:endPara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indent="-216000">
                <a:lnSpc>
                  <a:spcPct val="150000"/>
                </a:lnSpc>
                <a:buAutoNum type="arabicPeriod"/>
              </a:pPr>
              <a:r>
                <a:rPr lang="en-US" altLang="ko-KR" sz="24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Others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E42265A-CF58-47CD-BB9A-2592E1C1172B}"/>
                </a:ext>
              </a:extLst>
            </p:cNvPr>
            <p:cNvCxnSpPr/>
            <p:nvPr/>
          </p:nvCxnSpPr>
          <p:spPr>
            <a:xfrm>
              <a:off x="4604646" y="1663700"/>
              <a:ext cx="1801535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062144F-6D26-4D88-9EC8-AED4736CCCB7}"/>
              </a:ext>
            </a:extLst>
          </p:cNvPr>
          <p:cNvSpPr txBox="1"/>
          <p:nvPr/>
        </p:nvSpPr>
        <p:spPr>
          <a:xfrm>
            <a:off x="660400" y="778331"/>
            <a:ext cx="2135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032543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CONTENTS</a:t>
            </a:r>
            <a:endParaRPr lang="ko-KR" altLang="en-US" sz="2400" dirty="0">
              <a:solidFill>
                <a:srgbClr val="032543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5990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E30D64D-3225-E358-3F9C-B7841C6AF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08" y="1076128"/>
            <a:ext cx="1396640" cy="1863267"/>
          </a:xfrm>
          <a:prstGeom prst="rect">
            <a:avLst/>
          </a:prstGeom>
        </p:spPr>
      </p:pic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45DF2D9-ABC8-4E87-9780-66F5D56EB080}"/>
              </a:ext>
            </a:extLst>
          </p:cNvPr>
          <p:cNvCxnSpPr>
            <a:cxnSpLocks/>
          </p:cNvCxnSpPr>
          <p:nvPr/>
        </p:nvCxnSpPr>
        <p:spPr>
          <a:xfrm>
            <a:off x="3130706" y="1104151"/>
            <a:ext cx="0" cy="4392000"/>
          </a:xfrm>
          <a:prstGeom prst="line">
            <a:avLst/>
          </a:prstGeom>
          <a:ln w="12700">
            <a:solidFill>
              <a:srgbClr val="03254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69A279B-656A-43EC-8F19-2DC702896483}"/>
              </a:ext>
            </a:extLst>
          </p:cNvPr>
          <p:cNvCxnSpPr>
            <a:cxnSpLocks/>
          </p:cNvCxnSpPr>
          <p:nvPr/>
        </p:nvCxnSpPr>
        <p:spPr>
          <a:xfrm>
            <a:off x="7190691" y="1104151"/>
            <a:ext cx="0" cy="4392000"/>
          </a:xfrm>
          <a:prstGeom prst="line">
            <a:avLst/>
          </a:prstGeom>
          <a:ln w="12700">
            <a:solidFill>
              <a:srgbClr val="03254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5636D3E-C630-4371-9FB4-2EF431564B01}"/>
              </a:ext>
            </a:extLst>
          </p:cNvPr>
          <p:cNvGrpSpPr/>
          <p:nvPr/>
        </p:nvGrpSpPr>
        <p:grpSpPr>
          <a:xfrm>
            <a:off x="676277" y="2978426"/>
            <a:ext cx="2370184" cy="1842254"/>
            <a:chOff x="676277" y="2197659"/>
            <a:chExt cx="2370184" cy="184225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E54B0FC-ABDE-416E-97F7-B0386FBE45D0}"/>
                </a:ext>
              </a:extLst>
            </p:cNvPr>
            <p:cNvSpPr/>
            <p:nvPr/>
          </p:nvSpPr>
          <p:spPr>
            <a:xfrm>
              <a:off x="676277" y="2533667"/>
              <a:ext cx="2370184" cy="1506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birth: 2000.05.30</a:t>
              </a:r>
            </a:p>
            <a:p>
              <a:pPr algn="just">
                <a:lnSpc>
                  <a:spcPct val="13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address: 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서울시 양천구 신정동</a:t>
              </a:r>
              <a:endPara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just">
                <a:lnSpc>
                  <a:spcPct val="130000"/>
                </a:lnSpc>
              </a:pPr>
              <a:r>
                <a:rPr lang="en-US" altLang="ko-KR" sz="1200" kern="100" dirty="0" err="1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tel</a:t>
              </a: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010-2596-4731</a:t>
              </a:r>
            </a:p>
            <a:p>
              <a:pPr algn="just">
                <a:lnSpc>
                  <a:spcPct val="13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email: ljj3640@gmail.com</a:t>
              </a:r>
            </a:p>
            <a:p>
              <a:pPr algn="just">
                <a:lnSpc>
                  <a:spcPct val="130000"/>
                </a:lnSpc>
              </a:pPr>
              <a:r>
                <a:rPr lang="en-US" altLang="ko-KR" sz="1200" kern="100" dirty="0" err="1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github</a:t>
              </a: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https://github.com/Lcat12345</a:t>
              </a: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86F4077A-4B63-4A8A-86A6-6C3303119D34}"/>
                </a:ext>
              </a:extLst>
            </p:cNvPr>
            <p:cNvGrpSpPr/>
            <p:nvPr/>
          </p:nvGrpSpPr>
          <p:grpSpPr>
            <a:xfrm>
              <a:off x="699084" y="2197659"/>
              <a:ext cx="2226708" cy="319994"/>
              <a:chOff x="7454413" y="107409"/>
              <a:chExt cx="2226708" cy="319994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0D00615-90D3-4A30-909E-FCF58F002EF1}"/>
                  </a:ext>
                </a:extLst>
              </p:cNvPr>
              <p:cNvSpPr txBox="1"/>
              <p:nvPr/>
            </p:nvSpPr>
            <p:spPr>
              <a:xfrm>
                <a:off x="7454413" y="107409"/>
                <a:ext cx="22267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ABOUT ME</a:t>
                </a:r>
                <a:endPara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994124DA-A33F-473B-A809-A0C1C349FB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4014" y="427403"/>
                <a:ext cx="2136626" cy="0"/>
              </a:xfrm>
              <a:prstGeom prst="line">
                <a:avLst/>
              </a:prstGeom>
              <a:ln w="12700">
                <a:solidFill>
                  <a:srgbClr val="032543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74B951D6-634D-4DC2-853C-16ADD60B1A9D}"/>
              </a:ext>
            </a:extLst>
          </p:cNvPr>
          <p:cNvGrpSpPr/>
          <p:nvPr/>
        </p:nvGrpSpPr>
        <p:grpSpPr>
          <a:xfrm>
            <a:off x="3663251" y="1076129"/>
            <a:ext cx="3474925" cy="1221207"/>
            <a:chOff x="3499867" y="1813004"/>
            <a:chExt cx="3474925" cy="122120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63BB374-6DFC-A244-93CD-82580FB37B4A}"/>
                </a:ext>
              </a:extLst>
            </p:cNvPr>
            <p:cNvSpPr/>
            <p:nvPr/>
          </p:nvSpPr>
          <p:spPr>
            <a:xfrm>
              <a:off x="3509393" y="2146596"/>
              <a:ext cx="3465399" cy="887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2027.02 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한국공학대학교 게임공학과 졸업</a:t>
              </a: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예정</a:t>
              </a: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2020 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한국공학대학교 게임공학과 입학</a:t>
              </a:r>
              <a:endPara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2019 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영일고등학교 졸업</a:t>
              </a:r>
              <a:endPara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FA7C150F-A657-4714-9F0C-7FBEA1078C00}"/>
                </a:ext>
              </a:extLst>
            </p:cNvPr>
            <p:cNvGrpSpPr/>
            <p:nvPr/>
          </p:nvGrpSpPr>
          <p:grpSpPr>
            <a:xfrm>
              <a:off x="3499867" y="1813004"/>
              <a:ext cx="2226708" cy="330385"/>
              <a:chOff x="7454413" y="97018"/>
              <a:chExt cx="2226708" cy="330385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CDF5CE5-8E0F-4584-9941-37587FAD645E}"/>
                  </a:ext>
                </a:extLst>
              </p:cNvPr>
              <p:cNvSpPr txBox="1"/>
              <p:nvPr/>
            </p:nvSpPr>
            <p:spPr>
              <a:xfrm>
                <a:off x="7454413" y="97018"/>
                <a:ext cx="22267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EDUCATION</a:t>
                </a:r>
                <a:endPara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F1C1CD73-59C2-47A2-BFE2-17DBF73F4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4014" y="427403"/>
                <a:ext cx="2136626" cy="0"/>
              </a:xfrm>
              <a:prstGeom prst="line">
                <a:avLst/>
              </a:prstGeom>
              <a:ln w="12700">
                <a:solidFill>
                  <a:srgbClr val="032543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ED7D4DC-6BA8-41E1-AED8-92628C76CFBA}"/>
              </a:ext>
            </a:extLst>
          </p:cNvPr>
          <p:cNvGrpSpPr/>
          <p:nvPr/>
        </p:nvGrpSpPr>
        <p:grpSpPr>
          <a:xfrm>
            <a:off x="3663251" y="2951435"/>
            <a:ext cx="3465400" cy="1360988"/>
            <a:chOff x="3499867" y="3667308"/>
            <a:chExt cx="3465400" cy="1360988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4EDBA9E-1208-F55D-D5AD-AB35144D0A61}"/>
                </a:ext>
              </a:extLst>
            </p:cNvPr>
            <p:cNvSpPr/>
            <p:nvPr/>
          </p:nvSpPr>
          <p:spPr>
            <a:xfrm>
              <a:off x="3499868" y="3997693"/>
              <a:ext cx="3465399" cy="1030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sz="105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2025.                C</a:t>
              </a:r>
              <a:r>
                <a:rPr lang="ko-KR" altLang="en-US" sz="105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프로그래밍언어 과목 조교 활동</a:t>
              </a:r>
              <a:endParaRPr lang="en-US" altLang="ko-KR" sz="105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ko-KR" sz="105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2024.07~2025.01 </a:t>
              </a:r>
              <a:r>
                <a:rPr lang="ko-KR" altLang="en-US" sz="1050" kern="100" dirty="0" err="1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코더랜드</a:t>
              </a:r>
              <a:r>
                <a:rPr lang="ko-KR" altLang="en-US" sz="105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050" kern="100" dirty="0" err="1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튜터</a:t>
              </a:r>
              <a:r>
                <a:rPr lang="ko-KR" altLang="en-US" sz="105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근무</a:t>
              </a:r>
              <a:endParaRPr lang="en-US" altLang="ko-KR" sz="105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just">
                <a:lnSpc>
                  <a:spcPct val="150000"/>
                </a:lnSpc>
              </a:pPr>
              <a:endParaRPr lang="en-US" altLang="ko-KR" sz="105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ko-KR" sz="105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2026.05             </a:t>
              </a:r>
              <a:r>
                <a:rPr lang="ko-KR" altLang="en-US" sz="105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한국게임학회 학술지 게재 </a:t>
              </a:r>
              <a:r>
                <a:rPr lang="en-US" altLang="ko-KR" sz="105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“</a:t>
              </a:r>
              <a:r>
                <a:rPr lang="ko-KR" altLang="en-US" sz="105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제목</a:t>
              </a:r>
              <a:r>
                <a:rPr lang="en-US" altLang="ko-KR" sz="105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”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D15BBF39-AB04-40B7-8423-C921BCAE5D34}"/>
                </a:ext>
              </a:extLst>
            </p:cNvPr>
            <p:cNvGrpSpPr/>
            <p:nvPr/>
          </p:nvGrpSpPr>
          <p:grpSpPr>
            <a:xfrm>
              <a:off x="3499867" y="3667308"/>
              <a:ext cx="2226708" cy="330385"/>
              <a:chOff x="7454413" y="97018"/>
              <a:chExt cx="2226708" cy="330385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B0DE569-41B3-4B34-A870-EACF618EAE21}"/>
                  </a:ext>
                </a:extLst>
              </p:cNvPr>
              <p:cNvSpPr txBox="1"/>
              <p:nvPr/>
            </p:nvSpPr>
            <p:spPr>
              <a:xfrm>
                <a:off x="7454413" y="97018"/>
                <a:ext cx="22267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EXPERIENCE</a:t>
                </a:r>
                <a:endPara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1A77CB7C-B26C-4711-996A-CDBB8706C5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4014" y="427403"/>
                <a:ext cx="2136626" cy="0"/>
              </a:xfrm>
              <a:prstGeom prst="line">
                <a:avLst/>
              </a:prstGeom>
              <a:ln w="12700">
                <a:solidFill>
                  <a:srgbClr val="032543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A3374003-4F56-42EE-977C-1DD0DF2F4ABD}"/>
              </a:ext>
            </a:extLst>
          </p:cNvPr>
          <p:cNvGrpSpPr/>
          <p:nvPr/>
        </p:nvGrpSpPr>
        <p:grpSpPr>
          <a:xfrm>
            <a:off x="7851348" y="1076129"/>
            <a:ext cx="2674412" cy="1783800"/>
            <a:chOff x="7851348" y="1790645"/>
            <a:chExt cx="2674412" cy="17838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CE38504-C38B-3CB8-C673-870EA6BEC3C8}"/>
                </a:ext>
              </a:extLst>
            </p:cNvPr>
            <p:cNvSpPr/>
            <p:nvPr/>
          </p:nvSpPr>
          <p:spPr>
            <a:xfrm>
              <a:off x="7856334" y="2132832"/>
              <a:ext cx="2669426" cy="14416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C++11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DirectX12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Unity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Git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Claude Code/Opus 4.6 (Pro Plan)</a:t>
              </a: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0DA86495-6652-464B-9465-933088C3208A}"/>
                </a:ext>
              </a:extLst>
            </p:cNvPr>
            <p:cNvGrpSpPr/>
            <p:nvPr/>
          </p:nvGrpSpPr>
          <p:grpSpPr>
            <a:xfrm>
              <a:off x="7851348" y="1790645"/>
              <a:ext cx="2226708" cy="330385"/>
              <a:chOff x="7454413" y="97018"/>
              <a:chExt cx="2226708" cy="330385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0FAD6E-BA7D-4DC8-B028-46DF385AC294}"/>
                  </a:ext>
                </a:extLst>
              </p:cNvPr>
              <p:cNvSpPr txBox="1"/>
              <p:nvPr/>
            </p:nvSpPr>
            <p:spPr>
              <a:xfrm>
                <a:off x="7454413" y="97018"/>
                <a:ext cx="22267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SKILLS</a:t>
                </a:r>
                <a:endPara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CA8B0B5-99E5-4906-A000-A0F1D47589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4014" y="427403"/>
                <a:ext cx="2136626" cy="0"/>
              </a:xfrm>
              <a:prstGeom prst="line">
                <a:avLst/>
              </a:prstGeom>
              <a:ln w="12700">
                <a:solidFill>
                  <a:srgbClr val="032543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70F73D88-E16F-4775-BD55-08C484F3FD65}"/>
              </a:ext>
            </a:extLst>
          </p:cNvPr>
          <p:cNvGrpSpPr/>
          <p:nvPr/>
        </p:nvGrpSpPr>
        <p:grpSpPr>
          <a:xfrm>
            <a:off x="7851348" y="3329563"/>
            <a:ext cx="4139497" cy="712728"/>
            <a:chOff x="7851348" y="3618582"/>
            <a:chExt cx="4139497" cy="712728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78FAA5E-D517-9258-241D-1D44AF6D42C6}"/>
                </a:ext>
              </a:extLst>
            </p:cNvPr>
            <p:cNvSpPr/>
            <p:nvPr/>
          </p:nvSpPr>
          <p:spPr>
            <a:xfrm>
              <a:off x="7851348" y="3997693"/>
              <a:ext cx="4139497" cy="3336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2026 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한국공학대학교 게임공학과 졸업작품 </a:t>
              </a:r>
              <a:r>
                <a:rPr lang="ko-KR" altLang="en-US" sz="1200" kern="100" dirty="0" err="1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총장상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수상</a:t>
              </a:r>
              <a:endPara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31672C3-77D7-4747-82C9-EB6D562AC440}"/>
                </a:ext>
              </a:extLst>
            </p:cNvPr>
            <p:cNvGrpSpPr/>
            <p:nvPr/>
          </p:nvGrpSpPr>
          <p:grpSpPr>
            <a:xfrm>
              <a:off x="7910949" y="3618582"/>
              <a:ext cx="2226708" cy="330385"/>
              <a:chOff x="7454413" y="97018"/>
              <a:chExt cx="2226708" cy="330385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C0E4D7D-D2E5-45C5-B9F6-A1A0E3E3F21A}"/>
                  </a:ext>
                </a:extLst>
              </p:cNvPr>
              <p:cNvSpPr txBox="1"/>
              <p:nvPr/>
            </p:nvSpPr>
            <p:spPr>
              <a:xfrm>
                <a:off x="7454413" y="97018"/>
                <a:ext cx="22267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AWARD</a:t>
                </a:r>
                <a:endPara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660416A-70BD-4A09-A05C-CE865B10C9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4014" y="427403"/>
                <a:ext cx="2136626" cy="0"/>
              </a:xfrm>
              <a:prstGeom prst="line">
                <a:avLst/>
              </a:prstGeom>
              <a:ln w="12700">
                <a:solidFill>
                  <a:srgbClr val="032543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2BEDA44-AD03-46EE-87E6-00E0CE4FB2C6}"/>
              </a:ext>
            </a:extLst>
          </p:cNvPr>
          <p:cNvGrpSpPr/>
          <p:nvPr/>
        </p:nvGrpSpPr>
        <p:grpSpPr>
          <a:xfrm>
            <a:off x="7833289" y="4650006"/>
            <a:ext cx="4139497" cy="977192"/>
            <a:chOff x="7833289" y="5346244"/>
            <a:chExt cx="4139497" cy="977192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F9D5E63-6F38-4575-A828-E7F4C65DB57A}"/>
                </a:ext>
              </a:extLst>
            </p:cNvPr>
            <p:cNvSpPr/>
            <p:nvPr/>
          </p:nvSpPr>
          <p:spPr>
            <a:xfrm>
              <a:off x="7833289" y="5712820"/>
              <a:ext cx="4139497" cy="6106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2024.09.-2026.06. 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졸업작품 </a:t>
              </a:r>
              <a:r>
                <a:rPr lang="ko-KR" altLang="en-US" sz="1200" b="1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이방인</a:t>
              </a:r>
              <a:r>
                <a:rPr lang="en-US" altLang="ko-KR" sz="1200" b="1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(Outlander)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개발</a:t>
              </a:r>
              <a:endPara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2024.12.-2025.01. 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창업현장실습 </a:t>
              </a:r>
              <a:r>
                <a:rPr lang="en-US" altLang="ko-KR" sz="1200" b="1" kern="100" dirty="0" err="1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MinerKing</a:t>
              </a: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개발</a:t>
              </a:r>
              <a:r>
                <a:rPr lang="en-US" altLang="ko-KR" sz="1200" kern="100" dirty="0">
                  <a:ln>
                    <a:solidFill>
                      <a:schemeClr val="tx1">
                        <a:lumMod val="75000"/>
                        <a:lumOff val="25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	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4ED055D3-5A5F-44C4-B9F3-FBDB5980BB0E}"/>
                </a:ext>
              </a:extLst>
            </p:cNvPr>
            <p:cNvGrpSpPr/>
            <p:nvPr/>
          </p:nvGrpSpPr>
          <p:grpSpPr>
            <a:xfrm>
              <a:off x="7865908" y="5346244"/>
              <a:ext cx="2226708" cy="330385"/>
              <a:chOff x="7454413" y="97018"/>
              <a:chExt cx="2226708" cy="330385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B615A08-B1D3-4FF8-8FC5-22536AA10698}"/>
                  </a:ext>
                </a:extLst>
              </p:cNvPr>
              <p:cNvSpPr txBox="1"/>
              <p:nvPr/>
            </p:nvSpPr>
            <p:spPr>
              <a:xfrm>
                <a:off x="7454413" y="97018"/>
                <a:ext cx="22267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PROJECT</a:t>
                </a:r>
                <a:endPara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3B2785D7-80AF-4D17-A2BC-7F67679B07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4014" y="427403"/>
                <a:ext cx="2136626" cy="0"/>
              </a:xfrm>
              <a:prstGeom prst="line">
                <a:avLst/>
              </a:prstGeom>
              <a:ln w="12700">
                <a:solidFill>
                  <a:srgbClr val="032543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BD329C2-AB79-75A3-8A5E-36A7774A4C25}"/>
              </a:ext>
            </a:extLst>
          </p:cNvPr>
          <p:cNvSpPr txBox="1"/>
          <p:nvPr/>
        </p:nvSpPr>
        <p:spPr>
          <a:xfrm>
            <a:off x="444500" y="323913"/>
            <a:ext cx="231428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defRPr sz="1400">
                <a:solidFill>
                  <a:srgbClr val="0325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CAREER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62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BD461-ADF7-B405-807F-91CFBA74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8D9C600-C4CB-19AC-A52A-83C554A97D5B}"/>
              </a:ext>
            </a:extLst>
          </p:cNvPr>
          <p:cNvSpPr txBox="1"/>
          <p:nvPr/>
        </p:nvSpPr>
        <p:spPr>
          <a:xfrm>
            <a:off x="444499" y="336613"/>
            <a:ext cx="265529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PROJECT list</a:t>
            </a:r>
            <a:endParaRPr lang="ko-KR" alt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5059D50-1939-9BE4-6850-F7815ACD4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" t="14779" r="1381" b="8978"/>
          <a:stretch>
            <a:fillRect/>
          </a:stretch>
        </p:blipFill>
        <p:spPr>
          <a:xfrm>
            <a:off x="822960" y="2504479"/>
            <a:ext cx="4937760" cy="130040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347785-413F-098D-FE5D-AD81421D0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0" t="17000" r="10200" b="27000"/>
          <a:stretch>
            <a:fillRect/>
          </a:stretch>
        </p:blipFill>
        <p:spPr>
          <a:xfrm>
            <a:off x="7498864" y="2148840"/>
            <a:ext cx="2801983" cy="2011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966B33-B2C7-35FE-7F78-30FCEEDF225A}"/>
              </a:ext>
            </a:extLst>
          </p:cNvPr>
          <p:cNvSpPr txBox="1"/>
          <p:nvPr/>
        </p:nvSpPr>
        <p:spPr>
          <a:xfrm>
            <a:off x="137160" y="4480560"/>
            <a:ext cx="630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ea typeface="Pretendard" panose="02000503000000020004"/>
              </a:rPr>
              <a:t>한국공학대학교 게임공학과 졸업작품 이방인</a:t>
            </a:r>
            <a:r>
              <a:rPr lang="en-US" altLang="ko-KR" dirty="0">
                <a:ea typeface="Pretendard" panose="02000503000000020004"/>
              </a:rPr>
              <a:t>(Outlander)</a:t>
            </a:r>
          </a:p>
          <a:p>
            <a:pPr algn="ctr"/>
            <a:r>
              <a:rPr lang="en-US" altLang="ko-KR" b="1" dirty="0">
                <a:ea typeface="Pretendard" panose="02000503000000020004"/>
              </a:rPr>
              <a:t>DirectX12</a:t>
            </a:r>
            <a:endParaRPr lang="ko-KR" altLang="en-US" b="1" dirty="0">
              <a:ea typeface="Pretendard" panose="020005030000000200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9211F-45FB-B4E3-439A-654B6CAD40CC}"/>
              </a:ext>
            </a:extLst>
          </p:cNvPr>
          <p:cNvSpPr txBox="1"/>
          <p:nvPr/>
        </p:nvSpPr>
        <p:spPr>
          <a:xfrm>
            <a:off x="6430975" y="4480560"/>
            <a:ext cx="493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ea typeface="Pretendard" panose="02000503000000020004"/>
              </a:rPr>
              <a:t>창업현장실습 </a:t>
            </a:r>
            <a:r>
              <a:rPr lang="en-US" altLang="ko-KR" dirty="0" err="1">
                <a:ea typeface="Pretendard" panose="02000503000000020004"/>
              </a:rPr>
              <a:t>MinerKing</a:t>
            </a:r>
            <a:endParaRPr lang="en-US" altLang="ko-KR" dirty="0">
              <a:ea typeface="Pretendard" panose="02000503000000020004"/>
            </a:endParaRPr>
          </a:p>
          <a:p>
            <a:pPr algn="ctr"/>
            <a:r>
              <a:rPr lang="en-US" altLang="ko-KR" b="1" dirty="0">
                <a:ea typeface="Pretendard" panose="02000503000000020004"/>
              </a:rPr>
              <a:t>Unity</a:t>
            </a:r>
            <a:endParaRPr lang="ko-KR" altLang="en-US" b="1" dirty="0">
              <a:ea typeface="Pretendar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922409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2955237-53BE-8CD4-9BE4-24F60839C5DE}"/>
              </a:ext>
            </a:extLst>
          </p:cNvPr>
          <p:cNvSpPr txBox="1"/>
          <p:nvPr/>
        </p:nvSpPr>
        <p:spPr>
          <a:xfrm>
            <a:off x="444499" y="336613"/>
            <a:ext cx="265529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Project – 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이방인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(Outlander)</a:t>
            </a:r>
            <a:endParaRPr lang="ko-KR" alt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BCF14-9739-106E-0879-A16A1AB93DB3}"/>
              </a:ext>
            </a:extLst>
          </p:cNvPr>
          <p:cNvSpPr txBox="1"/>
          <p:nvPr/>
        </p:nvSpPr>
        <p:spPr>
          <a:xfrm>
            <a:off x="232975" y="4706394"/>
            <a:ext cx="1103058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a typeface="Pretendard" panose="02000503000000020004"/>
              </a:rPr>
              <a:t>장르 </a:t>
            </a:r>
            <a:r>
              <a:rPr lang="en-US" altLang="ko-KR" dirty="0">
                <a:ea typeface="Pretendard" panose="02000503000000020004"/>
              </a:rPr>
              <a:t>: 4</a:t>
            </a:r>
            <a:r>
              <a:rPr lang="ko-KR" altLang="en-US" dirty="0">
                <a:ea typeface="Pretendard" panose="02000503000000020004"/>
              </a:rPr>
              <a:t>인 협동 온라인 판타지 액션 게임</a:t>
            </a:r>
            <a:endParaRPr lang="en-US" altLang="ko-KR" dirty="0">
              <a:ea typeface="Pretendard" panose="02000503000000020004"/>
            </a:endParaRPr>
          </a:p>
          <a:p>
            <a:r>
              <a:rPr lang="ko-KR" altLang="en-US" dirty="0">
                <a:ea typeface="Pretendard" panose="02000503000000020004"/>
              </a:rPr>
              <a:t>사용 언어 </a:t>
            </a:r>
            <a:r>
              <a:rPr lang="en-US" altLang="ko-KR" dirty="0">
                <a:ea typeface="Pretendard" panose="02000503000000020004"/>
              </a:rPr>
              <a:t>: C++, HLSL, C#</a:t>
            </a:r>
          </a:p>
          <a:p>
            <a:r>
              <a:rPr lang="ko-KR" altLang="en-US" dirty="0">
                <a:ea typeface="Pretendard" panose="02000503000000020004"/>
              </a:rPr>
              <a:t>개발 환경</a:t>
            </a:r>
            <a:r>
              <a:rPr lang="en-US" altLang="ko-KR" dirty="0">
                <a:ea typeface="Pretendard" panose="02000503000000020004"/>
              </a:rPr>
              <a:t> : Visual Studio 2022, DirectX12, Unity</a:t>
            </a:r>
            <a:r>
              <a:rPr lang="ko-KR" altLang="en-US" dirty="0">
                <a:ea typeface="Pretendard" panose="02000503000000020004"/>
              </a:rPr>
              <a:t> </a:t>
            </a:r>
            <a:r>
              <a:rPr lang="en-US" altLang="ko-KR" dirty="0">
                <a:ea typeface="Pretendard" panose="02000503000000020004"/>
              </a:rPr>
              <a:t>(</a:t>
            </a:r>
            <a:r>
              <a:rPr lang="ko-KR" altLang="en-US" dirty="0" err="1">
                <a:ea typeface="Pretendard" panose="02000503000000020004"/>
              </a:rPr>
              <a:t>맵제작</a:t>
            </a:r>
            <a:r>
              <a:rPr lang="en-US" altLang="ko-KR" dirty="0">
                <a:ea typeface="Pretendard" panose="02000503000000020004"/>
              </a:rPr>
              <a:t>), Git</a:t>
            </a:r>
          </a:p>
          <a:p>
            <a:r>
              <a:rPr lang="ko-KR" altLang="en-US" dirty="0">
                <a:ea typeface="Pretendard" panose="02000503000000020004"/>
              </a:rPr>
              <a:t>개발 인원 </a:t>
            </a:r>
            <a:r>
              <a:rPr lang="en-US" altLang="ko-KR" dirty="0">
                <a:ea typeface="Pretendard" panose="02000503000000020004"/>
              </a:rPr>
              <a:t>: 3</a:t>
            </a:r>
            <a:r>
              <a:rPr lang="ko-KR" altLang="en-US" dirty="0">
                <a:ea typeface="Pretendard" panose="02000503000000020004"/>
              </a:rPr>
              <a:t>인</a:t>
            </a:r>
            <a:endParaRPr lang="en-US" altLang="ko-KR" dirty="0">
              <a:ea typeface="Pretendard" panose="02000503000000020004"/>
            </a:endParaRPr>
          </a:p>
          <a:p>
            <a:r>
              <a:rPr lang="ko-KR" altLang="en-US" dirty="0">
                <a:ea typeface="Pretendard" panose="02000503000000020004"/>
              </a:rPr>
              <a:t>담당 역할 </a:t>
            </a:r>
            <a:r>
              <a:rPr lang="en-US" altLang="ko-KR" dirty="0">
                <a:ea typeface="Pretendard" panose="02000503000000020004"/>
              </a:rPr>
              <a:t>: </a:t>
            </a:r>
            <a:r>
              <a:rPr lang="ko-KR" altLang="en-US" dirty="0">
                <a:ea typeface="Pretendard" panose="02000503000000020004"/>
              </a:rPr>
              <a:t>서브 클라이언트</a:t>
            </a:r>
            <a:r>
              <a:rPr lang="en-US" altLang="ko-KR" dirty="0">
                <a:ea typeface="Pretendard" panose="02000503000000020004"/>
              </a:rPr>
              <a:t> – </a:t>
            </a:r>
            <a:r>
              <a:rPr lang="ko-KR" altLang="en-US" sz="1200" dirty="0" err="1">
                <a:ea typeface="Pretendard" panose="02000503000000020004"/>
              </a:rPr>
              <a:t>파티클</a:t>
            </a:r>
            <a:r>
              <a:rPr lang="ko-KR" altLang="en-US" sz="1200" dirty="0">
                <a:ea typeface="Pretendard" panose="02000503000000020004"/>
              </a:rPr>
              <a:t> 시스템 구현</a:t>
            </a:r>
            <a:r>
              <a:rPr lang="en-US" altLang="ko-KR" sz="1200" dirty="0">
                <a:ea typeface="Pretendard" panose="02000503000000020004"/>
              </a:rPr>
              <a:t>,	 </a:t>
            </a:r>
            <a:r>
              <a:rPr lang="ko-KR" altLang="en-US" sz="1200" dirty="0">
                <a:ea typeface="Pretendard" panose="02000503000000020004"/>
              </a:rPr>
              <a:t>스킬 이펙트 </a:t>
            </a:r>
            <a:r>
              <a:rPr lang="ko-KR" altLang="en-US" sz="1200" dirty="0" err="1">
                <a:ea typeface="Pretendard" panose="02000503000000020004"/>
              </a:rPr>
              <a:t>에셋</a:t>
            </a:r>
            <a:r>
              <a:rPr lang="ko-KR" altLang="en-US" sz="1200" dirty="0">
                <a:ea typeface="Pretendard" panose="02000503000000020004"/>
              </a:rPr>
              <a:t> </a:t>
            </a:r>
            <a:r>
              <a:rPr lang="ko-KR" altLang="en-US" sz="1200" dirty="0" err="1">
                <a:ea typeface="Pretendard" panose="02000503000000020004"/>
              </a:rPr>
              <a:t>임포트</a:t>
            </a:r>
            <a:r>
              <a:rPr lang="en-US" altLang="ko-KR" sz="1200" dirty="0">
                <a:ea typeface="Pretendard" panose="02000503000000020004"/>
              </a:rPr>
              <a:t>, UI </a:t>
            </a:r>
            <a:r>
              <a:rPr lang="ko-KR" altLang="en-US" sz="1200" dirty="0">
                <a:ea typeface="Pretendard" panose="02000503000000020004"/>
              </a:rPr>
              <a:t>클래스 설계</a:t>
            </a:r>
            <a:r>
              <a:rPr lang="en-US" altLang="ko-KR" sz="1200" dirty="0">
                <a:ea typeface="Pretendard" panose="02000503000000020004"/>
              </a:rPr>
              <a:t>, UI </a:t>
            </a:r>
            <a:r>
              <a:rPr lang="ko-KR" altLang="en-US" sz="1200" dirty="0">
                <a:ea typeface="Pretendard" panose="02000503000000020004"/>
              </a:rPr>
              <a:t>디자인 및 배치 작업</a:t>
            </a:r>
            <a:r>
              <a:rPr lang="en-US" altLang="ko-KR" sz="1200" dirty="0">
                <a:ea typeface="Pretendard" panose="02000503000000020004"/>
              </a:rPr>
              <a:t>, </a:t>
            </a:r>
            <a:r>
              <a:rPr lang="ko-KR" altLang="en-US" sz="1200" dirty="0">
                <a:ea typeface="Pretendard" panose="02000503000000020004"/>
              </a:rPr>
              <a:t>사운드</a:t>
            </a:r>
            <a:r>
              <a:rPr lang="en-US" altLang="ko-KR" sz="1200" dirty="0">
                <a:ea typeface="Pretendard" panose="02000503000000020004"/>
              </a:rPr>
              <a:t> </a:t>
            </a:r>
            <a:r>
              <a:rPr lang="ko-KR" altLang="en-US" sz="1200" dirty="0">
                <a:ea typeface="Pretendard" panose="02000503000000020004"/>
              </a:rPr>
              <a:t>구현</a:t>
            </a:r>
            <a:r>
              <a:rPr lang="en-US" altLang="ko-KR" sz="1200" dirty="0">
                <a:ea typeface="Pretendard" panose="02000503000000020004"/>
              </a:rPr>
              <a:t>, </a:t>
            </a:r>
            <a:r>
              <a:rPr lang="ko-KR" altLang="en-US" sz="1200" dirty="0">
                <a:ea typeface="Pretendard" panose="02000503000000020004"/>
              </a:rPr>
              <a:t>연출 담당</a:t>
            </a:r>
            <a:endParaRPr lang="en-US" altLang="ko-KR" sz="1200" dirty="0">
              <a:ea typeface="Pretendard" panose="02000503000000020004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71C4B8-5AFB-D5AD-0F46-1321295B8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" t="14779" r="1381" b="8978"/>
          <a:stretch>
            <a:fillRect/>
          </a:stretch>
        </p:blipFill>
        <p:spPr>
          <a:xfrm>
            <a:off x="1023640" y="674278"/>
            <a:ext cx="3458437" cy="9108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D4F45CC-3888-9D41-1D55-782020640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389" y="674278"/>
            <a:ext cx="5565819" cy="347782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C1575D9-116F-1528-DB2D-BB75829BC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68" y="1585087"/>
            <a:ext cx="4108183" cy="256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그림 51">
            <a:extLst>
              <a:ext uri="{FF2B5EF4-FFF2-40B4-BE49-F238E27FC236}">
                <a16:creationId xmlns:a16="http://schemas.microsoft.com/office/drawing/2014/main" id="{519DE787-EE9A-0D75-922A-6E9D59FCA5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56" y="2848610"/>
            <a:ext cx="3232150" cy="323215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BFFF061D-B944-99A8-0250-5CED79674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781" y="2848610"/>
            <a:ext cx="3232150" cy="323215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C732784-D7C1-29C4-7576-EFBD232EDC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506" y="2848610"/>
            <a:ext cx="4238244" cy="32321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48056" y="27432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Project –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이방인</a:t>
            </a: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(Outlander) –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파티클</a:t>
            </a: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시스템</a:t>
            </a: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①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설계</a:t>
            </a: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: Unity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ParticleSystem을</a:t>
            </a: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모델로</a:t>
            </a: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한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모듈</a:t>
            </a: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구조</a:t>
            </a:r>
            <a:endParaRPr sz="1400" b="0" dirty="0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8056" y="1008084"/>
            <a:ext cx="6949440" cy="12198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 err="1">
                <a:solidFill>
                  <a:srgbClr val="7030A0"/>
                </a:solidFill>
                <a:latin typeface="Pretendard SemiBold"/>
                <a:ea typeface="Pretendard SemiBold"/>
                <a:cs typeface="Pretendard SemiBold"/>
              </a:rPr>
              <a:t>배경</a:t>
            </a:r>
            <a:r>
              <a:rPr sz="1100" b="0" dirty="0">
                <a:solidFill>
                  <a:srgbClr val="1F3A5F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자체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D3D12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엔진이라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이펙트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도구가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전혀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없었고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팀이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보유한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VFX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에셋은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전부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Unity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ParticleSystem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기반이었습니다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dirty="0" err="1">
                <a:solidFill>
                  <a:srgbClr val="7030A0"/>
                </a:solidFill>
                <a:latin typeface="Pretendard SemiBold"/>
                <a:ea typeface="Pretendard SemiBold"/>
                <a:cs typeface="Pretendard SemiBold"/>
              </a:rPr>
              <a:t>목표</a:t>
            </a:r>
            <a:r>
              <a:rPr sz="1100" b="0" dirty="0">
                <a:solidFill>
                  <a:srgbClr val="1F3A5F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Unity의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모듈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개념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(Main, Emission, Shape, …)과 1:1로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대응되는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구조로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설계해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에셋의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속성값을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그대로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가져와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재생할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있게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하는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것.</a:t>
            </a:r>
          </a:p>
          <a:p>
            <a:pPr algn="l">
              <a:spcAft>
                <a:spcPts val="300"/>
              </a:spcAft>
            </a:pPr>
            <a:r>
              <a:rPr sz="1200" b="1" dirty="0" err="1">
                <a:solidFill>
                  <a:srgbClr val="7030A0"/>
                </a:solidFill>
                <a:latin typeface="Pretendard SemiBold"/>
                <a:ea typeface="Pretendard SemiBold"/>
                <a:cs typeface="Pretendard SemiBold"/>
              </a:rPr>
              <a:t>방식</a:t>
            </a:r>
            <a:r>
              <a:rPr sz="1100" b="0" dirty="0">
                <a:solidFill>
                  <a:srgbClr val="1F3A5F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에셋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(VFX URP Fire, Particle Pack)을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분석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단순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사각형부터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메시·중력·서브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이미터까지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난이도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차이가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크다는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점을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반영해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단계적으로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확장</a:t>
            </a:r>
            <a:r>
              <a:rPr sz="11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pic>
        <p:nvPicPr>
          <p:cNvPr id="35" name="Picture 34" descr="fire_frames_0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630" y="777240"/>
            <a:ext cx="1959187" cy="146939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pic>
        <p:nvPicPr>
          <p:cNvPr id="37" name="Picture 36" descr="image1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3947" y="777240"/>
            <a:ext cx="1884493" cy="146939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14A6DD6-83F6-AEB1-B760-BDE5E42CCB8E}"/>
              </a:ext>
            </a:extLst>
          </p:cNvPr>
          <p:cNvCxnSpPr>
            <a:cxnSpLocks/>
          </p:cNvCxnSpPr>
          <p:nvPr/>
        </p:nvCxnSpPr>
        <p:spPr>
          <a:xfrm flipV="1">
            <a:off x="3454400" y="3155950"/>
            <a:ext cx="1117600" cy="6159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495D7C3A-0C71-F38F-F472-14C00E36AB18}"/>
              </a:ext>
            </a:extLst>
          </p:cNvPr>
          <p:cNvCxnSpPr/>
          <p:nvPr/>
        </p:nvCxnSpPr>
        <p:spPr>
          <a:xfrm>
            <a:off x="6184900" y="3429000"/>
            <a:ext cx="2051050" cy="342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EE63-6745-13B9-C4E7-508F2D9CE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7BE0DE-9DBE-388E-5B4E-E4A3F19A9D7F}"/>
              </a:ext>
            </a:extLst>
          </p:cNvPr>
          <p:cNvSpPr txBox="1"/>
          <p:nvPr/>
        </p:nvSpPr>
        <p:spPr>
          <a:xfrm>
            <a:off x="448056" y="321778"/>
            <a:ext cx="10515600" cy="27084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Project –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이방인</a:t>
            </a: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(Outlander) – </a:t>
            </a:r>
            <a:r>
              <a:rPr lang="ko-KR" altLang="en-US" sz="14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파티클</a:t>
            </a:r>
            <a:r>
              <a:rPr lang="ko-KR" altLang="en-US" sz="14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시스템 ② </a:t>
            </a:r>
            <a:r>
              <a:rPr lang="en-US" altLang="ko-KR" sz="14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Unity VFX </a:t>
            </a:r>
            <a:r>
              <a:rPr lang="ko-KR" altLang="en-US" sz="14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에셋</a:t>
            </a:r>
            <a:r>
              <a:rPr lang="ko-KR" altLang="en-US" sz="14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→ 자체 엔진 </a:t>
            </a:r>
            <a:r>
              <a:rPr lang="ko-KR" altLang="en-US" sz="14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임포트</a:t>
            </a:r>
            <a:r>
              <a:rPr lang="ko-KR" altLang="en-US" sz="14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endParaRPr sz="1400" b="0" dirty="0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CEC01-CF5E-7C53-7EE6-DE6EC8B409F7}"/>
              </a:ext>
            </a:extLst>
          </p:cNvPr>
          <p:cNvSpPr txBox="1"/>
          <p:nvPr/>
        </p:nvSpPr>
        <p:spPr>
          <a:xfrm>
            <a:off x="457200" y="850534"/>
            <a:ext cx="11247120" cy="237602"/>
          </a:xfrm>
          <a:prstGeom prst="rect">
            <a:avLst/>
          </a:prstGeom>
          <a:noFill/>
        </p:spPr>
        <p:txBody>
          <a:bodyPr wrap="square" lIns="18288" tIns="10972" rIns="18288" bIns="10972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 err="1">
                <a:solidFill>
                  <a:srgbClr val="7030A0"/>
                </a:solidFill>
                <a:latin typeface="Pretendard SemiBold"/>
                <a:ea typeface="Pretendard SemiBold"/>
                <a:cs typeface="Pretendard SemiBold"/>
              </a:rPr>
              <a:t>파이프라인</a:t>
            </a:r>
            <a:r>
              <a:rPr lang="en-US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– </a:t>
            </a:r>
            <a:r>
              <a:rPr lang="ko-KR" altLang="en-US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유니티에서 </a:t>
            </a:r>
            <a:r>
              <a:rPr lang="ko-KR" altLang="en-US" sz="13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에셋</a:t>
            </a:r>
            <a:r>
              <a:rPr lang="ko-KR" altLang="en-US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프리팹을</a:t>
            </a:r>
            <a:r>
              <a:rPr lang="ko-KR" altLang="en-US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선택하고 자체 제작 스크립트를 사용하여 편하게 </a:t>
            </a:r>
            <a:r>
              <a:rPr lang="en-US" altLang="ko-KR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r>
              <a:rPr lang="en-US" altLang="ko-KR" sz="13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json</a:t>
            </a:r>
            <a:r>
              <a:rPr lang="ko-KR" altLang="en-US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파일을 추출할 수 있게 </a:t>
            </a:r>
            <a:r>
              <a:rPr lang="ko-KR" altLang="en-US" sz="1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하였다</a:t>
            </a:r>
            <a:r>
              <a:rPr lang="en-US" altLang="ko-KR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sz="1300" b="0" dirty="0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6854506-B9AA-70F3-5A9A-4AF66A4D143B}"/>
              </a:ext>
            </a:extLst>
          </p:cNvPr>
          <p:cNvCxnSpPr/>
          <p:nvPr/>
        </p:nvCxnSpPr>
        <p:spPr>
          <a:xfrm>
            <a:off x="457200" y="1115568"/>
            <a:ext cx="112471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2055DCA4-AE4A-6DEF-0281-48A236393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002" y="1270382"/>
            <a:ext cx="3774048" cy="140196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CB380C4-3DC7-E47D-147E-C93972EAF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72755"/>
            <a:ext cx="1873250" cy="139959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BFBF79B-9E6F-8838-5646-7045325CE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1201" y="1278807"/>
            <a:ext cx="3901050" cy="1394852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5F42260-8DB6-EF49-A0AF-BB3A8563D084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2330450" y="1972553"/>
            <a:ext cx="340751" cy="3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44EFF23-B3EE-2ADF-1027-760A11F2E8F1}"/>
              </a:ext>
            </a:extLst>
          </p:cNvPr>
          <p:cNvCxnSpPr>
            <a:stCxn id="20" idx="3"/>
            <a:endCxn id="16" idx="1"/>
          </p:cNvCxnSpPr>
          <p:nvPr/>
        </p:nvCxnSpPr>
        <p:spPr>
          <a:xfrm flipV="1">
            <a:off x="6572251" y="1971366"/>
            <a:ext cx="340751" cy="4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885D5F4-4776-CB86-4842-8C7F77925DBF}"/>
              </a:ext>
            </a:extLst>
          </p:cNvPr>
          <p:cNvCxnSpPr/>
          <p:nvPr/>
        </p:nvCxnSpPr>
        <p:spPr>
          <a:xfrm>
            <a:off x="6960616" y="2305050"/>
            <a:ext cx="12573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2EDDC0FA-EE84-6FDF-4416-A9B6B56E41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96992"/>
            <a:ext cx="2750807" cy="32419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D8AE91B-E651-79C4-6A22-EBBC9502651E}"/>
              </a:ext>
            </a:extLst>
          </p:cNvPr>
          <p:cNvSpPr txBox="1"/>
          <p:nvPr/>
        </p:nvSpPr>
        <p:spPr>
          <a:xfrm>
            <a:off x="448056" y="2851862"/>
            <a:ext cx="11247120" cy="237602"/>
          </a:xfrm>
          <a:prstGeom prst="rect">
            <a:avLst/>
          </a:prstGeom>
          <a:noFill/>
        </p:spPr>
        <p:txBody>
          <a:bodyPr wrap="square" lIns="18288" tIns="10972" rIns="18288" bIns="10972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400" b="1" dirty="0">
                <a:solidFill>
                  <a:srgbClr val="7030A0"/>
                </a:solidFill>
                <a:latin typeface="Pretendard SemiBold"/>
                <a:ea typeface="Pretendard SemiBold"/>
                <a:cs typeface="Pretendard SemiBold"/>
              </a:rPr>
              <a:t>효과</a:t>
            </a:r>
            <a:r>
              <a:rPr lang="ko-KR" altLang="en-US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– </a:t>
            </a:r>
            <a:r>
              <a:rPr lang="ko-KR" altLang="en-US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하드코딩을 피할 수 있게 되었다</a:t>
            </a:r>
            <a:r>
              <a:rPr lang="en-US" altLang="ko-KR" sz="13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sz="1300" b="0" dirty="0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cxnSp>
        <p:nvCxnSpPr>
          <p:cNvPr id="31" name="Connector 3">
            <a:extLst>
              <a:ext uri="{FF2B5EF4-FFF2-40B4-BE49-F238E27FC236}">
                <a16:creationId xmlns:a16="http://schemas.microsoft.com/office/drawing/2014/main" id="{9F2DF4EE-044E-209C-F495-6C3C7936D267}"/>
              </a:ext>
            </a:extLst>
          </p:cNvPr>
          <p:cNvCxnSpPr/>
          <p:nvPr/>
        </p:nvCxnSpPr>
        <p:spPr>
          <a:xfrm>
            <a:off x="448056" y="3116896"/>
            <a:ext cx="112471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2BF604D9-5AED-A381-A184-3770890AA2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0950" y="3727915"/>
            <a:ext cx="4745571" cy="2198446"/>
          </a:xfrm>
          <a:prstGeom prst="rect">
            <a:avLst/>
          </a:prstGeom>
        </p:spPr>
      </p:pic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3328E7C-C503-AE51-C724-73897CD66A35}"/>
              </a:ext>
            </a:extLst>
          </p:cNvPr>
          <p:cNvCxnSpPr>
            <a:cxnSpLocks/>
            <a:stCxn id="29" idx="3"/>
            <a:endCxn id="33" idx="1"/>
          </p:cNvCxnSpPr>
          <p:nvPr/>
        </p:nvCxnSpPr>
        <p:spPr>
          <a:xfrm>
            <a:off x="3208007" y="4817946"/>
            <a:ext cx="1852943" cy="9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972E1BA-A407-7C2D-B4C9-E73F65D527E7}"/>
              </a:ext>
            </a:extLst>
          </p:cNvPr>
          <p:cNvSpPr txBox="1"/>
          <p:nvPr/>
        </p:nvSpPr>
        <p:spPr>
          <a:xfrm>
            <a:off x="1832603" y="3335577"/>
            <a:ext cx="14512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  <a:ea typeface="Pretendard" panose="02000503000000020004"/>
              </a:rPr>
              <a:t>파이프라인 적용 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CF2B1F-3B8B-C7B6-4DAD-A6D4C5E49880}"/>
              </a:ext>
            </a:extLst>
          </p:cNvPr>
          <p:cNvSpPr txBox="1"/>
          <p:nvPr/>
        </p:nvSpPr>
        <p:spPr>
          <a:xfrm>
            <a:off x="8355268" y="3849677"/>
            <a:ext cx="14512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  <a:ea typeface="Pretendard" panose="02000503000000020004"/>
              </a:rPr>
              <a:t>파이프라인 적용 후</a:t>
            </a:r>
          </a:p>
        </p:txBody>
      </p:sp>
    </p:spTree>
    <p:extLst>
      <p:ext uri="{BB962C8B-B14F-4D97-AF65-F5344CB8AC3E}">
        <p14:creationId xmlns:p14="http://schemas.microsoft.com/office/powerpoint/2010/main" val="1211838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A99C-1431-3318-F427-F30DDED5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50EEE-5F0F-EA87-6801-C940AA8A6DAD}"/>
              </a:ext>
            </a:extLst>
          </p:cNvPr>
          <p:cNvSpPr txBox="1"/>
          <p:nvPr/>
        </p:nvSpPr>
        <p:spPr>
          <a:xfrm>
            <a:off x="448056" y="321778"/>
            <a:ext cx="10515600" cy="27084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Project –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이방인</a:t>
            </a: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(Outlander) – </a:t>
            </a:r>
            <a:r>
              <a:rPr lang="ko-KR" altLang="en-US" sz="14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파티클</a:t>
            </a:r>
            <a:r>
              <a:rPr lang="ko-KR" altLang="en-US" sz="14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시스템 ② </a:t>
            </a:r>
            <a:r>
              <a:rPr lang="en-US" altLang="ko-KR" sz="14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Unity VFX </a:t>
            </a:r>
            <a:r>
              <a:rPr lang="ko-KR" altLang="en-US" sz="14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에셋</a:t>
            </a:r>
            <a:r>
              <a:rPr lang="ko-KR" altLang="en-US" sz="14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→ 자체 엔진 </a:t>
            </a:r>
            <a:r>
              <a:rPr lang="ko-KR" altLang="en-US" sz="14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임포트</a:t>
            </a:r>
            <a:r>
              <a:rPr lang="ko-KR" altLang="en-US" sz="14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endParaRPr sz="1400" b="0" dirty="0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Rounded Rectangle 11">
            <a:extLst>
              <a:ext uri="{FF2B5EF4-FFF2-40B4-BE49-F238E27FC236}">
                <a16:creationId xmlns:a16="http://schemas.microsoft.com/office/drawing/2014/main" id="{24B2B605-642D-3166-DFC3-F443F8533DA5}"/>
              </a:ext>
            </a:extLst>
          </p:cNvPr>
          <p:cNvSpPr/>
          <p:nvPr/>
        </p:nvSpPr>
        <p:spPr>
          <a:xfrm>
            <a:off x="448056" y="797560"/>
            <a:ext cx="9610344" cy="120904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t"/>
          <a:lstStyle/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B4231A"/>
                </a:solidFill>
                <a:latin typeface="Pretendard SemiBold"/>
                <a:ea typeface="Pretendard SemiBold"/>
                <a:cs typeface="Pretendard SemiBold"/>
              </a:rPr>
              <a:t>문제</a:t>
            </a:r>
            <a:r>
              <a:rPr sz="1100" b="0" dirty="0">
                <a:solidFill>
                  <a:srgbClr val="B4231A"/>
                </a:solidFill>
                <a:latin typeface="Pretendard SemiBold"/>
                <a:ea typeface="Pretendard SemiBold"/>
                <a:cs typeface="Pretendard SemiBold"/>
              </a:rPr>
              <a:t> 1 – Shader Graph </a:t>
            </a:r>
            <a:r>
              <a:rPr sz="1100" b="0" dirty="0" err="1">
                <a:solidFill>
                  <a:srgbClr val="B4231A"/>
                </a:solidFill>
                <a:latin typeface="Pretendard SemiBold"/>
                <a:ea typeface="Pretendard SemiBold"/>
                <a:cs typeface="Pretendard SemiBold"/>
              </a:rPr>
              <a:t>에셋</a:t>
            </a:r>
            <a:endParaRPr sz="1100" b="0" dirty="0">
              <a:solidFill>
                <a:srgbClr val="B4231A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146304" indent="-146304" algn="l">
              <a:spcAft>
                <a:spcPts val="3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대부분 </a:t>
            </a:r>
            <a:r>
              <a:rPr lang="ko-KR" altLang="en-US"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에셋이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유저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커스텀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Shader Graph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사용</a:t>
            </a:r>
            <a:r>
              <a:rPr lang="ko-KR" altLang="en-US" sz="10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해서 우리 프로젝트에서 그대로 렌더링 할 수 없었다</a:t>
            </a:r>
            <a:r>
              <a:rPr lang="en-US" altLang="ko-KR" sz="10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  <a:endParaRPr sz="10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146304" indent="-146304" algn="l">
              <a:spcAft>
                <a:spcPts val="3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유니티 </a:t>
            </a:r>
            <a:r>
              <a:rPr 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Shader Graph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 모든 함수와 렌더링 로직을 분석해야 했고 프로젝트 완성 기간을 고려했을 때 그대로 작업을 진행하는 것은 무리라고 판단했다</a:t>
            </a:r>
            <a:r>
              <a:rPr lang="en-US" altLang="ko-KR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  <a:endParaRPr sz="10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B6880F2B-D345-885A-3C95-07432D015B6F}"/>
              </a:ext>
            </a:extLst>
          </p:cNvPr>
          <p:cNvSpPr/>
          <p:nvPr/>
        </p:nvSpPr>
        <p:spPr>
          <a:xfrm>
            <a:off x="448056" y="2118360"/>
            <a:ext cx="9610344" cy="139954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t"/>
          <a:lstStyle/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E7F4F"/>
                </a:solidFill>
                <a:latin typeface="Pretendard SemiBold"/>
                <a:ea typeface="Pretendard SemiBold"/>
                <a:cs typeface="Pretendard SemiBold"/>
              </a:rPr>
              <a:t>해결</a:t>
            </a:r>
            <a:r>
              <a:rPr sz="1100" b="0" dirty="0">
                <a:solidFill>
                  <a:srgbClr val="1E7F4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100" dirty="0">
                <a:solidFill>
                  <a:srgbClr val="1E7F4F"/>
                </a:solidFill>
                <a:latin typeface="Pretendard SemiBold"/>
                <a:ea typeface="Pretendard SemiBold"/>
                <a:cs typeface="Pretendard SemiBold"/>
              </a:rPr>
              <a:t>방법</a:t>
            </a:r>
            <a:endParaRPr sz="1100" b="0" dirty="0">
              <a:solidFill>
                <a:srgbClr val="1E7F4F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146304" indent="-146304" algn="l">
              <a:spcAft>
                <a:spcPts val="300"/>
              </a:spcAft>
              <a:buFont typeface="Arial"/>
              <a:buChar char="•"/>
            </a:pPr>
            <a:r>
              <a:rPr sz="10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① </a:t>
            </a:r>
            <a:r>
              <a:rPr sz="1100" b="1" dirty="0" err="1">
                <a:solidFill>
                  <a:srgbClr val="7030A0"/>
                </a:solidFill>
                <a:latin typeface="Pretendard SemiBold"/>
                <a:ea typeface="Pretendard SemiBold"/>
                <a:cs typeface="Pretendard SemiBold"/>
              </a:rPr>
              <a:t>변환</a:t>
            </a:r>
            <a:r>
              <a:rPr sz="10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컴파일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+</a:t>
            </a:r>
            <a:r>
              <a:rPr 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파티클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시스템의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머티리얼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값을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AI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를 활용해 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HLSL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를 작성하도록 명령했다</a:t>
            </a:r>
            <a:r>
              <a:rPr lang="en-US" altLang="ko-KR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전용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파이프라인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blendCGMesh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piercingMesh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등). </a:t>
            </a:r>
            <a:endParaRPr lang="en-US" sz="10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en-US" sz="10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	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Unity</a:t>
            </a:r>
            <a:r>
              <a:rPr 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엔진에</a:t>
            </a:r>
            <a:r>
              <a:rPr lang="ko-KR" altLang="en-US" sz="10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 스킬 이펙트를 재생해보며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차이를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찾아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수정</a:t>
            </a:r>
            <a:r>
              <a:rPr lang="ko-KR" altLang="en-US" sz="10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을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했다</a:t>
            </a:r>
            <a:r>
              <a:rPr lang="en-US" altLang="ko-KR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첫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셰이더를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예시로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삼아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이후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작업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단축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시킬 수 있었다</a:t>
            </a:r>
            <a:r>
              <a:rPr lang="en-US" altLang="ko-KR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  <a:endParaRPr sz="10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146304" indent="-146304" algn="l">
              <a:spcAft>
                <a:spcPts val="300"/>
              </a:spcAft>
              <a:buFont typeface="Arial"/>
              <a:buChar char="•"/>
            </a:pPr>
            <a:r>
              <a:rPr sz="10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② </a:t>
            </a:r>
            <a:r>
              <a:rPr sz="1100" b="1" dirty="0">
                <a:solidFill>
                  <a:srgbClr val="7030A0"/>
                </a:solidFill>
                <a:latin typeface="Pretendard SemiBold"/>
                <a:ea typeface="Pretendard SemiBold"/>
                <a:cs typeface="Pretendard SemiBold"/>
              </a:rPr>
              <a:t>Bake</a:t>
            </a:r>
            <a:r>
              <a:rPr sz="10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lang="en-US" sz="10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Arrow 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Hit/Muzzle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처럼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평면으로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충분한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이펙트는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Unity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Recorder로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녹화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하고 그것을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스프라이트</a:t>
            </a:r>
            <a:r>
              <a:rPr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시트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로 뽑아내 </a:t>
            </a:r>
            <a:r>
              <a:rPr sz="10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TextureSheetAnimation</a:t>
            </a:r>
            <a:r>
              <a:rPr lang="ko-KR" altLang="en-US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으로 만들었다</a:t>
            </a:r>
            <a:r>
              <a:rPr lang="en-US" altLang="ko-KR" sz="10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  <a:endParaRPr sz="10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13">
            <a:extLst>
              <a:ext uri="{FF2B5EF4-FFF2-40B4-BE49-F238E27FC236}">
                <a16:creationId xmlns:a16="http://schemas.microsoft.com/office/drawing/2014/main" id="{35522F5D-CE01-4459-D2B1-81170522F9E8}"/>
              </a:ext>
            </a:extLst>
          </p:cNvPr>
          <p:cNvSpPr/>
          <p:nvPr/>
        </p:nvSpPr>
        <p:spPr>
          <a:xfrm>
            <a:off x="448056" y="3629660"/>
            <a:ext cx="9610344" cy="139954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t"/>
          <a:lstStyle/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F5FA8"/>
                </a:solidFill>
                <a:latin typeface="Pretendard SemiBold"/>
                <a:ea typeface="Pretendard SemiBold"/>
                <a:cs typeface="Pretendard SemiBold"/>
              </a:rPr>
              <a:t>결과</a:t>
            </a:r>
            <a:endParaRPr sz="1100" b="0" dirty="0">
              <a:solidFill>
                <a:srgbClr val="1F5FA8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36686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893B3-C477-B39F-3756-1DA9CB6DA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06718E-B2E0-E80A-1808-EC0318B772BA}"/>
              </a:ext>
            </a:extLst>
          </p:cNvPr>
          <p:cNvSpPr txBox="1"/>
          <p:nvPr/>
        </p:nvSpPr>
        <p:spPr>
          <a:xfrm>
            <a:off x="448056" y="321778"/>
            <a:ext cx="10515600" cy="27084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Project – </a:t>
            </a:r>
            <a:r>
              <a:rPr sz="14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이방인</a:t>
            </a:r>
            <a:r>
              <a:rPr sz="14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(Outlander) – </a:t>
            </a:r>
          </a:p>
        </p:txBody>
      </p:sp>
    </p:spTree>
    <p:extLst>
      <p:ext uri="{BB962C8B-B14F-4D97-AF65-F5344CB8AC3E}">
        <p14:creationId xmlns:p14="http://schemas.microsoft.com/office/powerpoint/2010/main" val="327167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18A5-CD97-92BA-155B-E148365B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F751B1C-660C-4191-0F92-EC97467CCF23}"/>
              </a:ext>
            </a:extLst>
          </p:cNvPr>
          <p:cNvSpPr txBox="1"/>
          <p:nvPr/>
        </p:nvSpPr>
        <p:spPr>
          <a:xfrm>
            <a:off x="232975" y="4706394"/>
            <a:ext cx="57710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a typeface="Pretendard" panose="02000503000000020004"/>
              </a:rPr>
              <a:t>장르 </a:t>
            </a:r>
            <a:r>
              <a:rPr lang="en-US" altLang="ko-KR" dirty="0">
                <a:ea typeface="Pretendard" panose="02000503000000020004"/>
              </a:rPr>
              <a:t>: </a:t>
            </a:r>
            <a:r>
              <a:rPr lang="ko-KR" altLang="en-US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모바일</a:t>
            </a:r>
            <a:r>
              <a:rPr lang="en-US" altLang="ko-KR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(Android) 2D </a:t>
            </a:r>
            <a:r>
              <a:rPr lang="ko-KR" altLang="en-US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하이퍼</a:t>
            </a:r>
            <a:r>
              <a:rPr lang="ko-KR" altLang="en-US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캐주얼 채굴 </a:t>
            </a:r>
            <a:r>
              <a:rPr lang="ko-KR" altLang="en-US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클리커</a:t>
            </a:r>
            <a:endParaRPr lang="en-US" altLang="ko-KR" dirty="0">
              <a:ea typeface="Pretendard" panose="02000503000000020004"/>
            </a:endParaRPr>
          </a:p>
          <a:p>
            <a:r>
              <a:rPr lang="ko-KR" altLang="en-US" dirty="0">
                <a:ea typeface="Pretendard" panose="02000503000000020004"/>
              </a:rPr>
              <a:t>사용 언어 </a:t>
            </a:r>
            <a:r>
              <a:rPr lang="en-US" altLang="ko-KR" dirty="0">
                <a:ea typeface="Pretendard" panose="02000503000000020004"/>
              </a:rPr>
              <a:t>: C#</a:t>
            </a:r>
          </a:p>
          <a:p>
            <a:r>
              <a:rPr lang="ko-KR" altLang="en-US" dirty="0">
                <a:ea typeface="Pretendard" panose="02000503000000020004"/>
              </a:rPr>
              <a:t>개발 환경</a:t>
            </a:r>
            <a:r>
              <a:rPr lang="en-US" altLang="ko-KR" dirty="0">
                <a:ea typeface="Pretendard" panose="02000503000000020004"/>
              </a:rPr>
              <a:t> : Visual Studio 2022, </a:t>
            </a:r>
            <a:r>
              <a:rPr lang="en-US" altLang="ko-KR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Unity 6</a:t>
            </a:r>
            <a:r>
              <a:rPr lang="en-US" altLang="ko-KR" dirty="0">
                <a:ea typeface="Pretendard" panose="02000503000000020004"/>
              </a:rPr>
              <a:t>, Git</a:t>
            </a:r>
          </a:p>
          <a:p>
            <a:r>
              <a:rPr lang="ko-KR" altLang="en-US" dirty="0">
                <a:ea typeface="Pretendard" panose="02000503000000020004"/>
              </a:rPr>
              <a:t>개발 인원 </a:t>
            </a:r>
            <a:r>
              <a:rPr lang="en-US" altLang="ko-KR" dirty="0">
                <a:ea typeface="Pretendard" panose="02000503000000020004"/>
              </a:rPr>
              <a:t>: 3</a:t>
            </a:r>
            <a:r>
              <a:rPr lang="ko-KR" altLang="en-US" dirty="0">
                <a:ea typeface="Pretendard" panose="02000503000000020004"/>
              </a:rPr>
              <a:t>인</a:t>
            </a:r>
            <a:endParaRPr lang="en-US" altLang="ko-KR" dirty="0">
              <a:ea typeface="Pretendard" panose="02000503000000020004"/>
            </a:endParaRPr>
          </a:p>
          <a:p>
            <a:r>
              <a:rPr lang="ko-KR" altLang="en-US" dirty="0">
                <a:ea typeface="Pretendard" panose="02000503000000020004"/>
              </a:rPr>
              <a:t>담당 역할 </a:t>
            </a:r>
            <a:r>
              <a:rPr lang="en-US" altLang="ko-KR" dirty="0">
                <a:ea typeface="Pretendard" panose="02000503000000020004"/>
              </a:rPr>
              <a:t>: </a:t>
            </a:r>
            <a:r>
              <a:rPr lang="ko-KR" altLang="en-US" dirty="0">
                <a:ea typeface="Pretendard" panose="02000503000000020004"/>
              </a:rPr>
              <a:t>클라이언트</a:t>
            </a:r>
            <a:r>
              <a:rPr lang="en-US" altLang="ko-KR" dirty="0">
                <a:ea typeface="Pretendard" panose="02000503000000020004"/>
              </a:rPr>
              <a:t> – </a:t>
            </a:r>
            <a:r>
              <a:rPr lang="ko-KR" altLang="en-US" sz="1200" dirty="0">
                <a:ea typeface="Pretendard" panose="02000503000000020004"/>
              </a:rPr>
              <a:t>제안서 작성</a:t>
            </a:r>
            <a:r>
              <a:rPr lang="en-US" altLang="ko-KR" sz="1200" dirty="0">
                <a:ea typeface="Pretendard" panose="02000503000000020004"/>
              </a:rPr>
              <a:t>, UI </a:t>
            </a:r>
            <a:r>
              <a:rPr lang="ko-KR" altLang="en-US" sz="1200" dirty="0">
                <a:ea typeface="Pretendard" panose="02000503000000020004"/>
              </a:rPr>
              <a:t>작업</a:t>
            </a:r>
            <a:endParaRPr lang="en-US" altLang="ko-KR" sz="1200" dirty="0">
              <a:ea typeface="Pretendard" panose="020005030000000200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C35D23-756E-280F-18E2-4570A8529FBE}"/>
              </a:ext>
            </a:extLst>
          </p:cNvPr>
          <p:cNvSpPr txBox="1"/>
          <p:nvPr/>
        </p:nvSpPr>
        <p:spPr>
          <a:xfrm>
            <a:off x="444499" y="336613"/>
            <a:ext cx="265529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Project – </a:t>
            </a:r>
            <a:r>
              <a:rPr lang="en-US" altLang="ko-KR" sz="14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MinerKing</a:t>
            </a:r>
            <a:endParaRPr lang="ko-KR" alt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1071D81-242C-CC8E-9B54-C83996567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11024"/>
            <a:ext cx="1599016" cy="3429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3AE8DFF-40E0-01CB-41FB-49FA936A7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871" y="911024"/>
            <a:ext cx="1599016" cy="3429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EBA2A3B-EA57-8DDC-00E4-034B142A1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062" y="878003"/>
            <a:ext cx="1599016" cy="342900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99D7766-B94F-2122-53E7-4D1DDC8EC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8253" y="878003"/>
            <a:ext cx="1599016" cy="34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774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8A12-159E-6FE6-58AF-8A40A69C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DF5B867-480E-1A64-0DEE-041BE7059E2B}"/>
              </a:ext>
            </a:extLst>
          </p:cNvPr>
          <p:cNvSpPr txBox="1"/>
          <p:nvPr/>
        </p:nvSpPr>
        <p:spPr>
          <a:xfrm>
            <a:off x="444499" y="336613"/>
            <a:ext cx="265529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Project – </a:t>
            </a:r>
            <a:r>
              <a:rPr lang="en-US" altLang="ko-KR" sz="14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MinerKing</a:t>
            </a:r>
            <a:endParaRPr lang="ko-KR" alt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3331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600" b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감사합니다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54880" y="3154680"/>
            <a:ext cx="2651760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383280"/>
            <a:ext cx="11247120" cy="118391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이 종 진  |  </a:t>
            </a:r>
            <a:r>
              <a:rPr sz="16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게임</a:t>
            </a:r>
            <a:r>
              <a:rPr sz="16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클라이언트</a:t>
            </a:r>
            <a:r>
              <a:rPr sz="1600" b="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프로그래머</a:t>
            </a:r>
            <a:endParaRPr sz="1600" b="0" dirty="0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ctr">
              <a:spcAft>
                <a:spcPts val="1400"/>
              </a:spcAft>
            </a:pPr>
            <a:r>
              <a:rPr sz="12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Tel 010-2596-4731   ·   Email ljj3640@gmail.com   ·   GitHub </a:t>
            </a:r>
            <a:r>
              <a:rPr sz="12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  <a:hlinkClick r:id="rId2"/>
              </a:rPr>
              <a:t>github.com/Lcat12345</a:t>
            </a:r>
            <a:endParaRPr sz="12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Aft>
                <a:spcPts val="400"/>
              </a:spcAft>
            </a:pPr>
            <a:r>
              <a:rPr sz="1100" b="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이방인</a:t>
            </a:r>
            <a:r>
              <a:rPr sz="1100" b="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(Outlander)  </a:t>
            </a:r>
            <a:r>
              <a:rPr sz="1100" b="0" dirty="0">
                <a:solidFill>
                  <a:srgbClr val="6B7280"/>
                </a:solidFill>
                <a:latin typeface="Pretendard"/>
                <a:ea typeface="Pretendard"/>
                <a:cs typeface="Pretendard"/>
                <a:hlinkClick r:id="rId3"/>
              </a:rPr>
              <a:t>github.com/Woon-2/Project-W</a:t>
            </a:r>
            <a:r>
              <a:rPr sz="1100" b="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  ·   </a:t>
            </a:r>
            <a:r>
              <a:rPr sz="1100" b="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플레이</a:t>
            </a:r>
            <a:r>
              <a:rPr sz="1100" b="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영상</a:t>
            </a:r>
            <a:r>
              <a:rPr sz="1100" b="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100" b="0" dirty="0">
                <a:solidFill>
                  <a:srgbClr val="6B7280"/>
                </a:solidFill>
                <a:latin typeface="Pretendard"/>
                <a:ea typeface="Pretendard"/>
                <a:cs typeface="Pretendard"/>
                <a:hlinkClick r:id="rId4"/>
              </a:rPr>
              <a:t>youtube.com/</a:t>
            </a:r>
            <a:r>
              <a:rPr sz="1100" b="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  <a:hlinkClick r:id="rId4"/>
              </a:rPr>
              <a:t>watch?v</a:t>
            </a:r>
            <a:r>
              <a:rPr sz="1100" b="0" dirty="0">
                <a:solidFill>
                  <a:srgbClr val="6B7280"/>
                </a:solidFill>
                <a:latin typeface="Pretendard"/>
                <a:ea typeface="Pretendard"/>
                <a:cs typeface="Pretendard"/>
                <a:hlinkClick r:id="rId4"/>
              </a:rPr>
              <a:t>=A9WalMzxqps</a:t>
            </a:r>
            <a:endParaRPr sz="1100" b="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Aft>
                <a:spcPts val="300"/>
              </a:spcAft>
            </a:pPr>
            <a:r>
              <a:rPr sz="1100" b="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MinerKing</a:t>
            </a:r>
            <a:r>
              <a:rPr sz="1100" b="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100" b="0" dirty="0">
                <a:solidFill>
                  <a:srgbClr val="6B7280"/>
                </a:solidFill>
                <a:latin typeface="Pretendard"/>
                <a:ea typeface="Pretendard"/>
                <a:cs typeface="Pretendard"/>
                <a:hlinkClick r:id="rId5"/>
              </a:rPr>
              <a:t>github.com/Lcat12345/</a:t>
            </a:r>
            <a:r>
              <a:rPr sz="1100" b="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  <a:hlinkClick r:id="rId5"/>
              </a:rPr>
              <a:t>MinerKing</a:t>
            </a:r>
            <a:endParaRPr sz="1100" b="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640</Words>
  <Application>Microsoft Office PowerPoint</Application>
  <PresentationFormat>와이드스크린</PresentationFormat>
  <Paragraphs>81</Paragraphs>
  <Slides>12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Pretendard</vt:lpstr>
      <vt:lpstr>Pretendard ExtraBold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종진 이</dc:creator>
  <cp:lastModifiedBy>Nai Hoon Jung</cp:lastModifiedBy>
  <cp:revision>218</cp:revision>
  <dcterms:created xsi:type="dcterms:W3CDTF">2026-09-23T02:50:39Z</dcterms:created>
  <dcterms:modified xsi:type="dcterms:W3CDTF">2026-10-06T07:17:07Z</dcterms:modified>
</cp:coreProperties>
</file>