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514" r:id="rId2"/>
    <p:sldId id="491" r:id="rId3"/>
    <p:sldId id="469" r:id="rId4"/>
    <p:sldId id="516" r:id="rId5"/>
    <p:sldId id="468" r:id="rId6"/>
    <p:sldId id="544" r:id="rId7"/>
    <p:sldId id="545" r:id="rId8"/>
    <p:sldId id="546" r:id="rId9"/>
    <p:sldId id="547" r:id="rId10"/>
    <p:sldId id="541" r:id="rId11"/>
    <p:sldId id="540" r:id="rId12"/>
    <p:sldId id="542" r:id="rId13"/>
    <p:sldId id="535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99" autoAdjust="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163928-ABA0-42DB-94A4-8F4F54AE965A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D9F89C-ED2C-4EBF-8A22-8378A0FA85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205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3837E-7E86-201E-1991-52F8256A4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949463-931D-8101-F589-CE6032FDA1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70053F-0446-AAF4-2341-73310F24C2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15ED6-D851-99A5-2E78-11B6E5E63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2239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69271-1D2D-4294-BF7C-16C08FA9C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8192D93-BEE6-AF07-009F-B02DFBCF17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80051B-5184-6D87-E035-37B3B1C52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DB7B09E-E61A-4048-963C-A6A1D6DF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44E706-D397-578D-A152-E1CCD8994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4487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EED09A-83A3-298D-DFF6-BD4C8BBE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66FB2B-D832-A613-22FA-E4B3FE863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0F1282-CF4D-2B07-270B-82CC14800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116F90-5309-0E36-ED1B-1B5B8EB37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1A37ED-7DDC-222C-1A31-8C974A763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608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E2FCAD-5CA3-9143-8C38-5E85DE6DD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4BF7E7-7727-E8DB-30C2-F5483B9C1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C57699-3E79-3E07-35E7-C002537DC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C55BA1-F819-521E-1618-3E801BA75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D07611-64C6-D633-CBC1-FE1113AF2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4386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CE204-6EB2-3C0E-AA27-62E6B9F5F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709FCC-045E-6F0A-A3EE-1A0BF3A753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6B91D0-2410-577C-99D4-07611BAF67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C1B955-B7BF-0237-6B84-39C8F28D4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039D2F-A128-4F81-00F9-43E6F892D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B9537F-CFB5-7794-3658-EE0DFD64A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156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2BA6F9-7001-4184-6FFA-005BE52D3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A49C4F-2575-76C6-7519-446867040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986DBB-B265-33ED-A04B-759DC09E24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F29EB91-2561-8DA0-8B07-B1D498983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EB55FA5-8CC8-24B3-8DB4-EB9EBABA85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9F2F8A1-E249-0145-3E0B-8FB6F864B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E849634-692B-BCA2-25DA-C37DCFDAE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B33139E-2218-917E-6EE6-D32091F7F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3982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446CA0-82AB-B4F6-1913-07D87DF1E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77DE4D-9CAF-DB0F-7351-4DEB44D5D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41CC53-5ACA-EF47-467E-176F9DFF4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4B0EE1-064C-39BB-C468-F311F3627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645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83194C2-3D9A-957B-405D-2E8886869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5E39F75-99ED-86BE-5D28-F4C19781F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6D7BA8-BA53-2AEE-F6D8-959410382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0804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8F3DA1-D0AF-69F3-2509-554630EF0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466E74-6C90-F9E5-834D-0985C2ACC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21014B9-FC3D-F9A7-6F8E-FD32842E32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58F53B6-0D0B-C772-6B8D-E9D93E566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FD24240-C23E-D61F-B4B4-8E9CBB00A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845429-325C-8C81-1797-B955C5757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107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A88FE-21CA-E2BF-EEF6-811605176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764EF02-2947-0AE6-4161-12E434BAD5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513DA7-F79A-5EC6-E1FB-5A3641BFA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BBC43B-53F2-C3A9-F9FD-B0E49C73C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EA84284-D75A-0478-8BB1-5FB9D7036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08F931B-0747-E620-C6A4-63734CE2C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2867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118E89-710D-C406-5CA5-6083D4FB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DF1028-9788-AD61-2DAA-642CD1C9BE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859EEA-530B-B13E-C29D-AD35209A8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EE35E6-3107-4741-675B-CC8DA8A0B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95A16A-DDC3-F7E3-1899-1DBA8F108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30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DFB4AC1-7A64-AB78-9D8A-5FE6944892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2582E9-32FB-89A1-714D-B940F951C5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DFAC72-8AAB-A5C9-0DBD-4BA0939D2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A52E81-2A13-6193-50B4-FF3CCA54C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C8A4C6-B06E-B73A-B713-21A768D65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3205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타이틀 2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A5C9FDD-33A3-0642-9EEA-CBFB29E37625}"/>
              </a:ext>
            </a:extLst>
          </p:cNvPr>
          <p:cNvSpPr/>
          <p:nvPr userDrawn="1"/>
        </p:nvSpPr>
        <p:spPr>
          <a:xfrm>
            <a:off x="0" y="1697335"/>
            <a:ext cx="1600200" cy="97328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594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2D053C-8786-E096-A686-793594CB6036}"/>
              </a:ext>
            </a:extLst>
          </p:cNvPr>
          <p:cNvSpPr/>
          <p:nvPr userDrawn="1"/>
        </p:nvSpPr>
        <p:spPr>
          <a:xfrm>
            <a:off x="0" y="0"/>
            <a:ext cx="2815771" cy="6858000"/>
          </a:xfrm>
          <a:prstGeom prst="rect">
            <a:avLst/>
          </a:prstGeom>
          <a:solidFill>
            <a:srgbClr val="F5F5F5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DBE1F34-2371-D3CE-C6B4-C9A144EAC991}"/>
              </a:ext>
            </a:extLst>
          </p:cNvPr>
          <p:cNvSpPr/>
          <p:nvPr userDrawn="1"/>
        </p:nvSpPr>
        <p:spPr>
          <a:xfrm>
            <a:off x="0" y="627743"/>
            <a:ext cx="723900" cy="720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8633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19F8B6B-565B-1DBE-DEC7-61639B4AAFDF}"/>
              </a:ext>
            </a:extLst>
          </p:cNvPr>
          <p:cNvSpPr/>
          <p:nvPr userDrawn="1"/>
        </p:nvSpPr>
        <p:spPr>
          <a:xfrm>
            <a:off x="0" y="342664"/>
            <a:ext cx="444500" cy="274737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D04C977-078B-5C3E-87CE-068AEF9FEE6B}"/>
              </a:ext>
            </a:extLst>
          </p:cNvPr>
          <p:cNvSpPr/>
          <p:nvPr userDrawn="1"/>
        </p:nvSpPr>
        <p:spPr>
          <a:xfrm>
            <a:off x="0" y="6583263"/>
            <a:ext cx="12192000" cy="274737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910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28F8F8-FAF4-05B4-2BBB-4CBCA084E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B31171-4C1B-311B-9810-45470B14F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DC848A-5986-5A04-0F73-25C6D1072E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8B763B-D43F-45C0-973F-FC2EC6482E4E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D7F83A-5EB7-DDE9-BCDD-52B4556B2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632B3C-1FE3-400E-351E-727C392E9A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2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cat12345" TargetMode="External"/><Relationship Id="rId2" Type="http://schemas.openxmlformats.org/officeDocument/2006/relationships/hyperlink" Target="mailto:ljj3640@gmail.com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github.com/Woon-2/Project-W" TargetMode="External"/><Relationship Id="rId5" Type="http://schemas.openxmlformats.org/officeDocument/2006/relationships/hyperlink" Target="https://youtu.be/A9WalMzxqps?si=ROrDyKqMxrtu7Mg6" TargetMode="Externa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0.jp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9.jp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oon-2/Project-W" TargetMode="External"/><Relationship Id="rId2" Type="http://schemas.openxmlformats.org/officeDocument/2006/relationships/hyperlink" Target="https://github.com/Lcat12345" TargetMode="Externa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github.com/Lcat12345/MinerKing" TargetMode="External"/><Relationship Id="rId4" Type="http://schemas.openxmlformats.org/officeDocument/2006/relationships/hyperlink" Target="https://www.youtube.com/watch?v=A9WalMzxqp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CA7B3F9B-41CA-45A1-8869-59CB09A68084}"/>
              </a:ext>
            </a:extLst>
          </p:cNvPr>
          <p:cNvSpPr txBox="1"/>
          <p:nvPr/>
        </p:nvSpPr>
        <p:spPr>
          <a:xfrm>
            <a:off x="8229328" y="327966"/>
            <a:ext cx="34112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Update</a:t>
            </a:r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2026.09.23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905D9-8DAE-A0C8-0825-63AF510CBD9D}"/>
              </a:ext>
            </a:extLst>
          </p:cNvPr>
          <p:cNvSpPr txBox="1"/>
          <p:nvPr/>
        </p:nvSpPr>
        <p:spPr>
          <a:xfrm>
            <a:off x="2438400" y="1697335"/>
            <a:ext cx="868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spc="3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클라이언트 프로그래밍 포트폴리오</a:t>
            </a:r>
            <a:endParaRPr lang="en-US" altLang="ko-KR" sz="3600" spc="300" dirty="0">
              <a:solidFill>
                <a:schemeClr val="tx1">
                  <a:lumMod val="95000"/>
                  <a:lumOff val="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F90E5F-DDC8-49FE-97D9-BEB2BF03A1B7}"/>
              </a:ext>
            </a:extLst>
          </p:cNvPr>
          <p:cNvSpPr txBox="1"/>
          <p:nvPr/>
        </p:nvSpPr>
        <p:spPr>
          <a:xfrm>
            <a:off x="6292851" y="5388518"/>
            <a:ext cx="4130440" cy="1026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Tel: 010-2596-4731</a:t>
            </a:r>
          </a:p>
          <a:p>
            <a:pPr algn="r">
              <a:lnSpc>
                <a:spcPct val="130000"/>
              </a:lnSpc>
            </a:pP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Email : 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2"/>
              </a:rPr>
              <a:t>ljj3640@gmail.com</a:t>
            </a:r>
            <a:endParaRPr lang="en-US" altLang="ko-KR" sz="1200" dirty="0">
              <a:solidFill>
                <a:schemeClr val="tx1">
                  <a:lumMod val="95000"/>
                  <a:lumOff val="5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r">
              <a:lnSpc>
                <a:spcPct val="130000"/>
              </a:lnSpc>
            </a:pP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GitHub : 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3"/>
              </a:rPr>
              <a:t>https://github.com/Lcat12345</a:t>
            </a:r>
            <a:endParaRPr lang="en-US" altLang="ko-KR" sz="1200" dirty="0">
              <a:solidFill>
                <a:schemeClr val="tx1">
                  <a:lumMod val="95000"/>
                  <a:lumOff val="5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r">
              <a:lnSpc>
                <a:spcPct val="130000"/>
              </a:lnSpc>
            </a:pPr>
            <a:endParaRPr lang="ko-KR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C11F5B-C950-46B2-9B03-70AF6A74DA28}"/>
              </a:ext>
            </a:extLst>
          </p:cNvPr>
          <p:cNvSpPr txBox="1"/>
          <p:nvPr/>
        </p:nvSpPr>
        <p:spPr>
          <a:xfrm>
            <a:off x="7730793" y="4966745"/>
            <a:ext cx="2692497" cy="448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30000"/>
              </a:lnSpc>
            </a:pP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 SemiBold" panose="02000703000000020004" pitchFamily="50" charset="-127"/>
                <a:cs typeface="Pretendard" panose="02000503000000020004" pitchFamily="50" charset="-127"/>
              </a:rPr>
              <a:t>이 종 진</a:t>
            </a:r>
            <a:endParaRPr lang="ko-KR" altLang="en-US" sz="1600" dirty="0">
              <a:solidFill>
                <a:schemeClr val="tx1">
                  <a:lumMod val="95000"/>
                  <a:lumOff val="5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400A3D0-91D0-4170-8E34-DFEEBA7A9DE8}"/>
              </a:ext>
            </a:extLst>
          </p:cNvPr>
          <p:cNvCxnSpPr>
            <a:cxnSpLocks/>
          </p:cNvCxnSpPr>
          <p:nvPr/>
        </p:nvCxnSpPr>
        <p:spPr>
          <a:xfrm>
            <a:off x="2438400" y="2670618"/>
            <a:ext cx="9753600" cy="0"/>
          </a:xfrm>
          <a:prstGeom prst="line">
            <a:avLst/>
          </a:prstGeom>
          <a:ln w="38100">
            <a:solidFill>
              <a:srgbClr val="0D0D0D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0375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A85C6366-A748-75D8-ED5C-BB59A055EE9F}"/>
              </a:ext>
            </a:extLst>
          </p:cNvPr>
          <p:cNvGrpSpPr/>
          <p:nvPr/>
        </p:nvGrpSpPr>
        <p:grpSpPr>
          <a:xfrm>
            <a:off x="4565140" y="1327781"/>
            <a:ext cx="5658360" cy="2862388"/>
            <a:chOff x="4507990" y="1663700"/>
            <a:chExt cx="5658360" cy="286238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4616DB8-51FC-49C0-AE96-2C1C68FC1350}"/>
                </a:ext>
              </a:extLst>
            </p:cNvPr>
            <p:cNvSpPr txBox="1"/>
            <p:nvPr/>
          </p:nvSpPr>
          <p:spPr>
            <a:xfrm>
              <a:off x="4507990" y="1735131"/>
              <a:ext cx="5658360" cy="27909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-216000">
                <a:lnSpc>
                  <a:spcPct val="150000"/>
                </a:lnSpc>
                <a:buAutoNum type="arabicPeriod"/>
              </a:pP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CAREER</a:t>
              </a:r>
            </a:p>
            <a:p>
              <a:pPr indent="-216000">
                <a:lnSpc>
                  <a:spcPct val="150000"/>
                </a:lnSpc>
                <a:buAutoNum type="arabicPeriod"/>
              </a:pP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PROJECT list</a:t>
              </a:r>
            </a:p>
            <a:p>
              <a:pPr indent="-216000">
                <a:lnSpc>
                  <a:spcPct val="150000"/>
                </a:lnSpc>
                <a:buAutoNum type="arabicPeriod"/>
              </a:pPr>
              <a:r>
                <a:rPr lang="ko-KR" altLang="en-US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주요 프로젝트</a:t>
              </a: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</a:t>
              </a:r>
              <a:r>
                <a:rPr lang="ko-KR" altLang="en-US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이방인</a:t>
              </a: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(Outlander)</a:t>
              </a:r>
            </a:p>
            <a:p>
              <a:pPr indent="-216000">
                <a:lnSpc>
                  <a:spcPct val="150000"/>
                </a:lnSpc>
                <a:buAutoNum type="arabicPeriod"/>
              </a:pPr>
              <a:r>
                <a:rPr lang="ko-KR" altLang="en-US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주요 프로젝트</a:t>
              </a: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-MinerKing</a:t>
              </a:r>
            </a:p>
            <a:p>
              <a:pPr indent="-216000">
                <a:lnSpc>
                  <a:spcPct val="150000"/>
                </a:lnSpc>
                <a:buAutoNum type="arabicPeriod"/>
              </a:pP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Others</a:t>
              </a: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2E42265A-CF58-47CD-BB9A-2592E1C1172B}"/>
                </a:ext>
              </a:extLst>
            </p:cNvPr>
            <p:cNvCxnSpPr/>
            <p:nvPr/>
          </p:nvCxnSpPr>
          <p:spPr>
            <a:xfrm>
              <a:off x="4604646" y="1663700"/>
              <a:ext cx="1801535" cy="0"/>
            </a:xfrm>
            <a:prstGeom prst="line">
              <a:avLst/>
            </a:prstGeom>
            <a:ln w="28575">
              <a:solidFill>
                <a:schemeClr val="tx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062144F-6D26-4D88-9EC8-AED4736CCCB7}"/>
              </a:ext>
            </a:extLst>
          </p:cNvPr>
          <p:cNvSpPr txBox="1"/>
          <p:nvPr/>
        </p:nvSpPr>
        <p:spPr>
          <a:xfrm>
            <a:off x="660400" y="778331"/>
            <a:ext cx="2135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rgbClr val="032543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CONTENTS</a:t>
            </a:r>
            <a:endParaRPr lang="ko-KR" altLang="en-US" sz="2400" dirty="0">
              <a:solidFill>
                <a:srgbClr val="032543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990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E30D64D-3225-E358-3F9C-B7841C6AF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308" y="1076128"/>
            <a:ext cx="1396640" cy="1863267"/>
          </a:xfrm>
          <a:prstGeom prst="rect">
            <a:avLst/>
          </a:prstGeom>
        </p:spPr>
      </p:pic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545DF2D9-ABC8-4E87-9780-66F5D56EB080}"/>
              </a:ext>
            </a:extLst>
          </p:cNvPr>
          <p:cNvCxnSpPr>
            <a:cxnSpLocks/>
          </p:cNvCxnSpPr>
          <p:nvPr/>
        </p:nvCxnSpPr>
        <p:spPr>
          <a:xfrm>
            <a:off x="3130706" y="1104151"/>
            <a:ext cx="0" cy="4392000"/>
          </a:xfrm>
          <a:prstGeom prst="line">
            <a:avLst/>
          </a:prstGeom>
          <a:ln w="12700">
            <a:solidFill>
              <a:srgbClr val="032543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69A279B-656A-43EC-8F19-2DC702896483}"/>
              </a:ext>
            </a:extLst>
          </p:cNvPr>
          <p:cNvCxnSpPr>
            <a:cxnSpLocks/>
          </p:cNvCxnSpPr>
          <p:nvPr/>
        </p:nvCxnSpPr>
        <p:spPr>
          <a:xfrm>
            <a:off x="7190691" y="1104151"/>
            <a:ext cx="0" cy="4392000"/>
          </a:xfrm>
          <a:prstGeom prst="line">
            <a:avLst/>
          </a:prstGeom>
          <a:ln w="12700">
            <a:solidFill>
              <a:srgbClr val="032543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55636D3E-C630-4371-9FB4-2EF431564B01}"/>
              </a:ext>
            </a:extLst>
          </p:cNvPr>
          <p:cNvGrpSpPr/>
          <p:nvPr/>
        </p:nvGrpSpPr>
        <p:grpSpPr>
          <a:xfrm>
            <a:off x="676277" y="2978426"/>
            <a:ext cx="2370184" cy="1842254"/>
            <a:chOff x="676277" y="2197659"/>
            <a:chExt cx="2370184" cy="1842254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E54B0FC-ABDE-416E-97F7-B0386FBE45D0}"/>
                </a:ext>
              </a:extLst>
            </p:cNvPr>
            <p:cNvSpPr/>
            <p:nvPr/>
          </p:nvSpPr>
          <p:spPr>
            <a:xfrm>
              <a:off x="676277" y="2533667"/>
              <a:ext cx="2370184" cy="1506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3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birth: 2000.05.30</a:t>
              </a:r>
            </a:p>
            <a:p>
              <a:pPr algn="just">
                <a:lnSpc>
                  <a:spcPct val="13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address: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서울시 양천구 신정동</a:t>
              </a:r>
              <a:endParaRPr lang="en-US" altLang="ko-KR" sz="120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just">
                <a:lnSpc>
                  <a:spcPct val="13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tel: 010-2596-4731</a:t>
              </a:r>
            </a:p>
            <a:p>
              <a:pPr algn="just">
                <a:lnSpc>
                  <a:spcPct val="13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email: ljj3640@gmail.com</a:t>
              </a:r>
            </a:p>
            <a:p>
              <a:pPr algn="just">
                <a:lnSpc>
                  <a:spcPct val="13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github: https://github.com/Lcat12345</a:t>
              </a: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86F4077A-4B63-4A8A-86A6-6C3303119D34}"/>
                </a:ext>
              </a:extLst>
            </p:cNvPr>
            <p:cNvGrpSpPr/>
            <p:nvPr/>
          </p:nvGrpSpPr>
          <p:grpSpPr>
            <a:xfrm>
              <a:off x="699084" y="2197659"/>
              <a:ext cx="2226708" cy="319994"/>
              <a:chOff x="7454413" y="107409"/>
              <a:chExt cx="2226708" cy="319994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D00615-90D3-4A30-909E-FCF58F002EF1}"/>
                  </a:ext>
                </a:extLst>
              </p:cNvPr>
              <p:cNvSpPr txBox="1"/>
              <p:nvPr/>
            </p:nvSpPr>
            <p:spPr>
              <a:xfrm>
                <a:off x="7454413" y="107409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ABOUT ME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994124DA-A33F-473B-A809-A0C1C349FB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74B951D6-634D-4DC2-853C-16ADD60B1A9D}"/>
              </a:ext>
            </a:extLst>
          </p:cNvPr>
          <p:cNvGrpSpPr/>
          <p:nvPr/>
        </p:nvGrpSpPr>
        <p:grpSpPr>
          <a:xfrm>
            <a:off x="3663251" y="1076129"/>
            <a:ext cx="3474925" cy="1221207"/>
            <a:chOff x="3499867" y="1813004"/>
            <a:chExt cx="3474925" cy="1221207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63BB374-6DFC-A244-93CD-82580FB37B4A}"/>
                </a:ext>
              </a:extLst>
            </p:cNvPr>
            <p:cNvSpPr/>
            <p:nvPr/>
          </p:nvSpPr>
          <p:spPr>
            <a:xfrm>
              <a:off x="3509393" y="2146596"/>
              <a:ext cx="3465399" cy="8876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2027.02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한국공학대학교 게임공학과 졸업</a:t>
              </a: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예정</a:t>
              </a: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)</a:t>
              </a: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2020    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한국공학대학교 게임공학과 입학</a:t>
              </a:r>
              <a:endParaRPr lang="en-US" altLang="ko-KR" sz="120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2019    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영일고등학교 졸업</a:t>
              </a:r>
              <a:endParaRPr lang="en-US" altLang="ko-KR" sz="120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FA7C150F-A657-4714-9F0C-7FBEA1078C00}"/>
                </a:ext>
              </a:extLst>
            </p:cNvPr>
            <p:cNvGrpSpPr/>
            <p:nvPr/>
          </p:nvGrpSpPr>
          <p:grpSpPr>
            <a:xfrm>
              <a:off x="3499867" y="1813004"/>
              <a:ext cx="2226708" cy="330385"/>
              <a:chOff x="7454413" y="97018"/>
              <a:chExt cx="2226708" cy="330385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CDF5CE5-8E0F-4584-9941-37587FAD645E}"/>
                  </a:ext>
                </a:extLst>
              </p:cNvPr>
              <p:cNvSpPr txBox="1"/>
              <p:nvPr/>
            </p:nvSpPr>
            <p:spPr>
              <a:xfrm>
                <a:off x="7454413" y="97018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EDUCATION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F1C1CD73-59C2-47A2-BFE2-17DBF73F48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2ED7D4DC-6BA8-41E1-AED8-92628C76CFBA}"/>
              </a:ext>
            </a:extLst>
          </p:cNvPr>
          <p:cNvGrpSpPr/>
          <p:nvPr/>
        </p:nvGrpSpPr>
        <p:grpSpPr>
          <a:xfrm>
            <a:off x="3663251" y="2951435"/>
            <a:ext cx="3465400" cy="1603362"/>
            <a:chOff x="3499867" y="3667308"/>
            <a:chExt cx="3465400" cy="160336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84EDBA9E-1208-F55D-D5AD-AB35144D0A61}"/>
                </a:ext>
              </a:extLst>
            </p:cNvPr>
            <p:cNvSpPr/>
            <p:nvPr/>
          </p:nvSpPr>
          <p:spPr>
            <a:xfrm>
              <a:off x="3499868" y="3997693"/>
              <a:ext cx="3465399" cy="12729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ko-KR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2026.05             </a:t>
              </a:r>
              <a:r>
                <a:rPr lang="ko-KR" altLang="en-US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한국게임학회 학술지 게재 </a:t>
              </a:r>
              <a:endParaRPr lang="en-US" altLang="ko-KR" sz="105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just">
                <a:lnSpc>
                  <a:spcPct val="150000"/>
                </a:lnSpc>
              </a:pPr>
              <a:r>
                <a:rPr lang="en-US" altLang="ko-KR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	    “Hi-Z </a:t>
              </a:r>
              <a:r>
                <a:rPr lang="ko-KR" altLang="en-US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오클루전 컬링 결과를 활용한  </a:t>
              </a:r>
              <a:r>
                <a:rPr lang="en-US" altLang="ko-KR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	    </a:t>
              </a:r>
              <a:r>
                <a:rPr lang="ko-KR" altLang="en-US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가시성 기반 애니메이션 갱신 기법</a:t>
              </a:r>
              <a:r>
                <a:rPr lang="en-US" altLang="ko-KR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”</a:t>
              </a:r>
            </a:p>
            <a:p>
              <a:pPr algn="just">
                <a:lnSpc>
                  <a:spcPct val="150000"/>
                </a:lnSpc>
              </a:pPr>
              <a:r>
                <a:rPr lang="en-US" altLang="ko-KR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2025.                C</a:t>
              </a:r>
              <a:r>
                <a:rPr lang="ko-KR" altLang="en-US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프로그래밍언어 과목 조교 활동</a:t>
              </a:r>
              <a:endParaRPr lang="en-US" altLang="ko-KR" sz="105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just">
                <a:lnSpc>
                  <a:spcPct val="150000"/>
                </a:lnSpc>
              </a:pPr>
              <a:r>
                <a:rPr lang="en-US" altLang="ko-KR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2024.07~2025.01 </a:t>
              </a:r>
              <a:r>
                <a:rPr lang="ko-KR" altLang="en-US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코더랜드 튜터 근무</a:t>
              </a:r>
              <a:endParaRPr lang="en-US" altLang="ko-KR" sz="105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D15BBF39-AB04-40B7-8423-C921BCAE5D34}"/>
                </a:ext>
              </a:extLst>
            </p:cNvPr>
            <p:cNvGrpSpPr/>
            <p:nvPr/>
          </p:nvGrpSpPr>
          <p:grpSpPr>
            <a:xfrm>
              <a:off x="3499867" y="3667308"/>
              <a:ext cx="2226708" cy="330385"/>
              <a:chOff x="7454413" y="97018"/>
              <a:chExt cx="2226708" cy="330385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B0DE569-41B3-4B34-A870-EACF618EAE21}"/>
                  </a:ext>
                </a:extLst>
              </p:cNvPr>
              <p:cNvSpPr txBox="1"/>
              <p:nvPr/>
            </p:nvSpPr>
            <p:spPr>
              <a:xfrm>
                <a:off x="7454413" y="97018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EXPERIENCE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1A77CB7C-B26C-4711-996A-CDBB8706C5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A3374003-4F56-42EE-977C-1DD0DF2F4ABD}"/>
              </a:ext>
            </a:extLst>
          </p:cNvPr>
          <p:cNvGrpSpPr/>
          <p:nvPr/>
        </p:nvGrpSpPr>
        <p:grpSpPr>
          <a:xfrm>
            <a:off x="7851348" y="1076129"/>
            <a:ext cx="2674412" cy="1783800"/>
            <a:chOff x="7851348" y="1790645"/>
            <a:chExt cx="2674412" cy="1783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CE38504-C38B-3CB8-C673-870EA6BEC3C8}"/>
                </a:ext>
              </a:extLst>
            </p:cNvPr>
            <p:cNvSpPr/>
            <p:nvPr/>
          </p:nvSpPr>
          <p:spPr>
            <a:xfrm>
              <a:off x="7856334" y="2132832"/>
              <a:ext cx="2669426" cy="144161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C++14</a:t>
              </a: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DirectX12</a:t>
              </a: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Unity</a:t>
              </a: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Git</a:t>
              </a: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Claude Code/Opus 4.6 (Pro Plan)</a:t>
              </a: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0DA86495-6652-464B-9465-933088C3208A}"/>
                </a:ext>
              </a:extLst>
            </p:cNvPr>
            <p:cNvGrpSpPr/>
            <p:nvPr/>
          </p:nvGrpSpPr>
          <p:grpSpPr>
            <a:xfrm>
              <a:off x="7851348" y="1790645"/>
              <a:ext cx="2226708" cy="330385"/>
              <a:chOff x="7454413" y="97018"/>
              <a:chExt cx="2226708" cy="330385"/>
            </a:xfrm>
          </p:grpSpPr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0FAD6E-BA7D-4DC8-B028-46DF385AC294}"/>
                  </a:ext>
                </a:extLst>
              </p:cNvPr>
              <p:cNvSpPr txBox="1"/>
              <p:nvPr/>
            </p:nvSpPr>
            <p:spPr>
              <a:xfrm>
                <a:off x="7454413" y="97018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SKILLS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ECA8B0B5-99E5-4906-A000-A0F1D47589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70F73D88-E16F-4775-BD55-08C484F3FD65}"/>
              </a:ext>
            </a:extLst>
          </p:cNvPr>
          <p:cNvGrpSpPr/>
          <p:nvPr/>
        </p:nvGrpSpPr>
        <p:grpSpPr>
          <a:xfrm>
            <a:off x="7851348" y="3329563"/>
            <a:ext cx="4139497" cy="712728"/>
            <a:chOff x="7851348" y="3618582"/>
            <a:chExt cx="4139497" cy="712728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C78FAA5E-D517-9258-241D-1D44AF6D42C6}"/>
                </a:ext>
              </a:extLst>
            </p:cNvPr>
            <p:cNvSpPr/>
            <p:nvPr/>
          </p:nvSpPr>
          <p:spPr>
            <a:xfrm>
              <a:off x="7851348" y="3997693"/>
              <a:ext cx="4139497" cy="3336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2026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한국공학대학교 게임공학과 졸업작품 총장상 수상</a:t>
              </a:r>
              <a:endParaRPr lang="en-US" altLang="ko-KR" sz="120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431672C3-77D7-4747-82C9-EB6D562AC440}"/>
                </a:ext>
              </a:extLst>
            </p:cNvPr>
            <p:cNvGrpSpPr/>
            <p:nvPr/>
          </p:nvGrpSpPr>
          <p:grpSpPr>
            <a:xfrm>
              <a:off x="7910949" y="3618582"/>
              <a:ext cx="2226708" cy="330385"/>
              <a:chOff x="7454413" y="97018"/>
              <a:chExt cx="2226708" cy="330385"/>
            </a:xfrm>
          </p:grpSpPr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C0E4D7D-D2E5-45C5-B9F6-A1A0E3E3F21A}"/>
                  </a:ext>
                </a:extLst>
              </p:cNvPr>
              <p:cNvSpPr txBox="1"/>
              <p:nvPr/>
            </p:nvSpPr>
            <p:spPr>
              <a:xfrm>
                <a:off x="7454413" y="97018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AWARD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E660416A-70BD-4A09-A05C-CE865B10C9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2BEDA44-AD03-46EE-87E6-00E0CE4FB2C6}"/>
              </a:ext>
            </a:extLst>
          </p:cNvPr>
          <p:cNvGrpSpPr/>
          <p:nvPr/>
        </p:nvGrpSpPr>
        <p:grpSpPr>
          <a:xfrm>
            <a:off x="7833289" y="4650006"/>
            <a:ext cx="4139497" cy="977192"/>
            <a:chOff x="7833289" y="5346244"/>
            <a:chExt cx="4139497" cy="977192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2F9D5E63-6F38-4575-A828-E7F4C65DB57A}"/>
                </a:ext>
              </a:extLst>
            </p:cNvPr>
            <p:cNvSpPr/>
            <p:nvPr/>
          </p:nvSpPr>
          <p:spPr>
            <a:xfrm>
              <a:off x="7833289" y="5712820"/>
              <a:ext cx="4139497" cy="6106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2024.09.-2026.06.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졸업작품 </a:t>
              </a:r>
              <a:r>
                <a:rPr lang="ko-KR" altLang="en-US" sz="1200" b="1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이방인</a:t>
              </a:r>
              <a:r>
                <a:rPr lang="en-US" altLang="ko-KR" sz="1200" b="1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(Outlander)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개발</a:t>
              </a:r>
              <a:endParaRPr lang="en-US" altLang="ko-KR" sz="120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2024.12.-2025.01.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창업현장실습 </a:t>
              </a:r>
              <a:r>
                <a:rPr lang="en-US" altLang="ko-KR" sz="1200" b="1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MinerKing</a:t>
              </a: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개발</a:t>
              </a: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	</a:t>
              </a:r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4ED055D3-5A5F-44C4-B9F3-FBDB5980BB0E}"/>
                </a:ext>
              </a:extLst>
            </p:cNvPr>
            <p:cNvGrpSpPr/>
            <p:nvPr/>
          </p:nvGrpSpPr>
          <p:grpSpPr>
            <a:xfrm>
              <a:off x="7865908" y="5346244"/>
              <a:ext cx="2226708" cy="330385"/>
              <a:chOff x="7454413" y="97018"/>
              <a:chExt cx="2226708" cy="330385"/>
            </a:xfrm>
          </p:grpSpPr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B615A08-B1D3-4FF8-8FC5-22536AA10698}"/>
                  </a:ext>
                </a:extLst>
              </p:cNvPr>
              <p:cNvSpPr txBox="1"/>
              <p:nvPr/>
            </p:nvSpPr>
            <p:spPr>
              <a:xfrm>
                <a:off x="7454413" y="97018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PROJECT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3B2785D7-80AF-4D17-A2BC-7F67679B07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BD329C2-AB79-75A3-8A5E-36A7774A4C25}"/>
              </a:ext>
            </a:extLst>
          </p:cNvPr>
          <p:cNvSpPr txBox="1"/>
          <p:nvPr/>
        </p:nvSpPr>
        <p:spPr>
          <a:xfrm>
            <a:off x="444500" y="323913"/>
            <a:ext cx="231428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ko-KR"/>
            </a:defPPr>
            <a:lvl1pPr>
              <a:defRPr sz="1400">
                <a:solidFill>
                  <a:srgbClr val="03254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dirty="0">
                <a:solidFill>
                  <a:schemeClr val="tx1"/>
                </a:solidFill>
              </a:rPr>
              <a:t>CAREER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9627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BD461-ADF7-B405-807F-91CFBA749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8D9C600-C4CB-19AC-A52A-83C554A97D5B}"/>
              </a:ext>
            </a:extLst>
          </p:cNvPr>
          <p:cNvSpPr txBox="1"/>
          <p:nvPr/>
        </p:nvSpPr>
        <p:spPr>
          <a:xfrm>
            <a:off x="444499" y="336613"/>
            <a:ext cx="265529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list</a:t>
            </a:r>
            <a:endParaRPr lang="ko-KR" alt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5059D50-1939-9BE4-6850-F7815ACD46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" t="14779" r="1381" b="8978"/>
          <a:stretch>
            <a:fillRect/>
          </a:stretch>
        </p:blipFill>
        <p:spPr>
          <a:xfrm>
            <a:off x="822960" y="2504479"/>
            <a:ext cx="4937760" cy="130040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347785-413F-098D-FE5D-AD81421D0E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0" t="17000" r="10200" b="27000"/>
          <a:stretch>
            <a:fillRect/>
          </a:stretch>
        </p:blipFill>
        <p:spPr>
          <a:xfrm>
            <a:off x="7498864" y="2148840"/>
            <a:ext cx="2801983" cy="20116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966B33-B2C7-35FE-7F78-30FCEEDF225A}"/>
              </a:ext>
            </a:extLst>
          </p:cNvPr>
          <p:cNvSpPr txBox="1"/>
          <p:nvPr/>
        </p:nvSpPr>
        <p:spPr>
          <a:xfrm>
            <a:off x="137160" y="4480560"/>
            <a:ext cx="6309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ea typeface="Pretendard" panose="02000503000000020004"/>
              </a:rPr>
              <a:t>한국공학대학교 게임공학과 졸업작품 이방인</a:t>
            </a:r>
            <a:r>
              <a:rPr lang="en-US" altLang="ko-KR" dirty="0">
                <a:ea typeface="Pretendard" panose="02000503000000020004"/>
              </a:rPr>
              <a:t>(Outlander)</a:t>
            </a:r>
          </a:p>
          <a:p>
            <a:pPr algn="ctr"/>
            <a:r>
              <a:rPr lang="en-US" altLang="ko-KR" b="1" dirty="0">
                <a:ea typeface="Pretendard" panose="02000503000000020004"/>
              </a:rPr>
              <a:t>DirectX12</a:t>
            </a:r>
            <a:endParaRPr lang="ko-KR" altLang="en-US" b="1" dirty="0">
              <a:ea typeface="Pretendard" panose="0200050300000002000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99211F-45FB-B4E3-439A-654B6CAD40CC}"/>
              </a:ext>
            </a:extLst>
          </p:cNvPr>
          <p:cNvSpPr txBox="1"/>
          <p:nvPr/>
        </p:nvSpPr>
        <p:spPr>
          <a:xfrm>
            <a:off x="6430975" y="4480560"/>
            <a:ext cx="4937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ea typeface="Pretendard" panose="02000503000000020004"/>
              </a:rPr>
              <a:t>창업현장실습 </a:t>
            </a:r>
            <a:r>
              <a:rPr lang="en-US" altLang="ko-KR" dirty="0">
                <a:ea typeface="Pretendard" panose="02000503000000020004"/>
              </a:rPr>
              <a:t>MinerKing</a:t>
            </a:r>
          </a:p>
          <a:p>
            <a:pPr algn="ctr"/>
            <a:r>
              <a:rPr lang="en-US" altLang="ko-KR" b="1" dirty="0">
                <a:ea typeface="Pretendard" panose="02000503000000020004"/>
              </a:rPr>
              <a:t>Unity</a:t>
            </a:r>
            <a:endParaRPr lang="ko-KR" altLang="en-US" b="1" dirty="0">
              <a:ea typeface="Pretendard" panose="02000503000000020004"/>
            </a:endParaRPr>
          </a:p>
        </p:txBody>
      </p:sp>
    </p:spTree>
    <p:extLst>
      <p:ext uri="{BB962C8B-B14F-4D97-AF65-F5344CB8AC3E}">
        <p14:creationId xmlns:p14="http://schemas.microsoft.com/office/powerpoint/2010/main" val="2922409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C2955237-53BE-8CD4-9BE4-24F60839C5DE}"/>
              </a:ext>
            </a:extLst>
          </p:cNvPr>
          <p:cNvSpPr txBox="1"/>
          <p:nvPr/>
        </p:nvSpPr>
        <p:spPr>
          <a:xfrm>
            <a:off x="444499" y="336613"/>
            <a:ext cx="265529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– </a:t>
            </a:r>
            <a:r>
              <a:rPr lang="ko-KR" altLang="en-US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이방인</a:t>
            </a:r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(Outlander)</a:t>
            </a:r>
            <a:endParaRPr lang="ko-KR" alt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4BCF14-9739-106E-0879-A16A1AB93DB3}"/>
              </a:ext>
            </a:extLst>
          </p:cNvPr>
          <p:cNvSpPr txBox="1"/>
          <p:nvPr/>
        </p:nvSpPr>
        <p:spPr>
          <a:xfrm>
            <a:off x="232975" y="4706394"/>
            <a:ext cx="1103058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ea typeface="Pretendard" panose="02000503000000020004"/>
              </a:rPr>
              <a:t>장르 </a:t>
            </a:r>
            <a:r>
              <a:rPr lang="en-US" altLang="ko-KR" dirty="0">
                <a:ea typeface="Pretendard" panose="02000503000000020004"/>
              </a:rPr>
              <a:t>: </a:t>
            </a:r>
            <a:r>
              <a:rPr lang="en-US" altLang="ko-KR" sz="1600" dirty="0">
                <a:ea typeface="Pretendard" panose="02000503000000020004"/>
              </a:rPr>
              <a:t>4</a:t>
            </a:r>
            <a:r>
              <a:rPr lang="ko-KR" altLang="en-US" sz="1600" dirty="0">
                <a:ea typeface="Pretendard" panose="02000503000000020004"/>
              </a:rPr>
              <a:t>인 협동 온라인 판타지 액션 게임</a:t>
            </a:r>
            <a:endParaRPr lang="en-US" altLang="ko-KR" dirty="0">
              <a:ea typeface="Pretendard" panose="02000503000000020004"/>
            </a:endParaRPr>
          </a:p>
          <a:p>
            <a:r>
              <a:rPr lang="ko-KR" altLang="en-US" dirty="0">
                <a:ea typeface="Pretendard" panose="02000503000000020004"/>
              </a:rPr>
              <a:t>사용 언어 </a:t>
            </a:r>
            <a:r>
              <a:rPr lang="en-US" altLang="ko-KR" dirty="0">
                <a:ea typeface="Pretendard" panose="02000503000000020004"/>
              </a:rPr>
              <a:t>: </a:t>
            </a:r>
            <a:r>
              <a:rPr lang="en-US" altLang="ko-KR" sz="1600" dirty="0">
                <a:ea typeface="Pretendard" panose="02000503000000020004"/>
              </a:rPr>
              <a:t>C++20, HLSL, C#, Python, Lua</a:t>
            </a:r>
            <a:r>
              <a:rPr lang="en-US" altLang="ko-KR" dirty="0">
                <a:ea typeface="Pretendard" panose="02000503000000020004"/>
              </a:rPr>
              <a:t>	</a:t>
            </a:r>
          </a:p>
          <a:p>
            <a:r>
              <a:rPr lang="ko-KR" altLang="en-US" dirty="0">
                <a:ea typeface="Pretendard" panose="02000503000000020004"/>
              </a:rPr>
              <a:t>개발 환경</a:t>
            </a:r>
            <a:r>
              <a:rPr lang="en-US" altLang="ko-KR" dirty="0">
                <a:ea typeface="Pretendard" panose="02000503000000020004"/>
              </a:rPr>
              <a:t> : </a:t>
            </a:r>
            <a:r>
              <a:rPr lang="en-US" altLang="ko-KR" sz="1600" dirty="0">
                <a:ea typeface="Pretendard" panose="02000503000000020004"/>
              </a:rPr>
              <a:t>Visual Studio 2022, DirectX12, Unity</a:t>
            </a:r>
            <a:r>
              <a:rPr lang="ko-KR" altLang="en-US" sz="1600" dirty="0">
                <a:ea typeface="Pretendard" panose="02000503000000020004"/>
              </a:rPr>
              <a:t> </a:t>
            </a:r>
            <a:r>
              <a:rPr lang="en-US" altLang="ko-KR" sz="1600" dirty="0">
                <a:ea typeface="Pretendard" panose="02000503000000020004"/>
              </a:rPr>
              <a:t>(</a:t>
            </a:r>
            <a:r>
              <a:rPr lang="ko-KR" altLang="en-US" sz="1600" dirty="0">
                <a:ea typeface="Pretendard" panose="02000503000000020004"/>
              </a:rPr>
              <a:t>맵제작</a:t>
            </a:r>
            <a:r>
              <a:rPr lang="en-US" altLang="ko-KR" sz="1600" dirty="0">
                <a:ea typeface="Pretendard" panose="02000503000000020004"/>
              </a:rPr>
              <a:t>), PIX, Git</a:t>
            </a:r>
            <a:endParaRPr lang="en-US" altLang="ko-KR" dirty="0">
              <a:ea typeface="Pretendard" panose="02000503000000020004"/>
            </a:endParaRPr>
          </a:p>
          <a:p>
            <a:r>
              <a:rPr lang="ko-KR" altLang="en-US" dirty="0">
                <a:ea typeface="Pretendard" panose="02000503000000020004"/>
              </a:rPr>
              <a:t>개발 인원 </a:t>
            </a:r>
            <a:r>
              <a:rPr lang="en-US" altLang="ko-KR" dirty="0">
                <a:ea typeface="Pretendard" panose="02000503000000020004"/>
              </a:rPr>
              <a:t>: </a:t>
            </a:r>
            <a:r>
              <a:rPr lang="en-US" altLang="ko-KR" sz="1600" dirty="0">
                <a:ea typeface="Pretendard" panose="02000503000000020004"/>
              </a:rPr>
              <a:t>3</a:t>
            </a:r>
            <a:r>
              <a:rPr lang="ko-KR" altLang="en-US" sz="1600" dirty="0">
                <a:ea typeface="Pretendard" panose="02000503000000020004"/>
              </a:rPr>
              <a:t>인</a:t>
            </a:r>
            <a:endParaRPr lang="en-US" altLang="ko-KR" dirty="0">
              <a:ea typeface="Pretendard" panose="02000503000000020004"/>
            </a:endParaRPr>
          </a:p>
          <a:p>
            <a:r>
              <a:rPr lang="ko-KR" altLang="en-US" dirty="0">
                <a:ea typeface="Pretendard" panose="02000503000000020004"/>
              </a:rPr>
              <a:t>담당 역할 </a:t>
            </a:r>
            <a:r>
              <a:rPr lang="en-US" altLang="ko-KR" dirty="0">
                <a:ea typeface="Pretendard" panose="02000503000000020004"/>
              </a:rPr>
              <a:t>: </a:t>
            </a:r>
            <a:r>
              <a:rPr lang="ko-KR" altLang="en-US" sz="1600" dirty="0">
                <a:ea typeface="Pretendard" panose="02000503000000020004"/>
              </a:rPr>
              <a:t>서브 클라이언트</a:t>
            </a:r>
            <a:r>
              <a:rPr lang="en-US" altLang="ko-KR" dirty="0">
                <a:ea typeface="Pretendard" panose="02000503000000020004"/>
              </a:rPr>
              <a:t> – </a:t>
            </a:r>
            <a:r>
              <a:rPr lang="ko-KR" altLang="en-US" sz="1200" dirty="0">
                <a:ea typeface="Pretendard" panose="02000503000000020004"/>
              </a:rPr>
              <a:t>파티클 시스템 구현</a:t>
            </a:r>
            <a:r>
              <a:rPr lang="en-US" altLang="ko-KR" sz="1200" dirty="0">
                <a:ea typeface="Pretendard" panose="02000503000000020004"/>
              </a:rPr>
              <a:t>, </a:t>
            </a:r>
            <a:r>
              <a:rPr lang="ko-KR" altLang="en-US" sz="1200" dirty="0">
                <a:ea typeface="Pretendard" panose="02000503000000020004"/>
              </a:rPr>
              <a:t>스킬 이펙트 에셋 임포트</a:t>
            </a:r>
            <a:r>
              <a:rPr lang="en-US" altLang="ko-KR" sz="1200" dirty="0">
                <a:ea typeface="Pretendard" panose="02000503000000020004"/>
              </a:rPr>
              <a:t>, UI </a:t>
            </a:r>
            <a:r>
              <a:rPr lang="ko-KR" altLang="en-US" sz="1200" dirty="0">
                <a:ea typeface="Pretendard" panose="02000503000000020004"/>
              </a:rPr>
              <a:t>클래스 설계</a:t>
            </a:r>
            <a:r>
              <a:rPr lang="en-US" altLang="ko-KR" sz="1200" dirty="0">
                <a:ea typeface="Pretendard" panose="02000503000000020004"/>
              </a:rPr>
              <a:t>, UI </a:t>
            </a:r>
            <a:r>
              <a:rPr lang="ko-KR" altLang="en-US" sz="1200" dirty="0">
                <a:ea typeface="Pretendard" panose="02000503000000020004"/>
              </a:rPr>
              <a:t>디자인 및 배치 작업</a:t>
            </a:r>
            <a:r>
              <a:rPr lang="en-US" altLang="ko-KR" sz="1200" dirty="0">
                <a:ea typeface="Pretendard" panose="02000503000000020004"/>
              </a:rPr>
              <a:t>, </a:t>
            </a:r>
            <a:r>
              <a:rPr lang="ko-KR" altLang="en-US" sz="1200" dirty="0">
                <a:ea typeface="Pretendard" panose="02000503000000020004"/>
              </a:rPr>
              <a:t>사운드</a:t>
            </a:r>
            <a:r>
              <a:rPr lang="en-US" altLang="ko-KR" sz="1200" dirty="0">
                <a:ea typeface="Pretendard" panose="02000503000000020004"/>
              </a:rPr>
              <a:t> </a:t>
            </a:r>
            <a:r>
              <a:rPr lang="ko-KR" altLang="en-US" sz="1200" dirty="0">
                <a:ea typeface="Pretendard" panose="02000503000000020004"/>
              </a:rPr>
              <a:t>구현</a:t>
            </a:r>
            <a:r>
              <a:rPr lang="en-US" altLang="ko-KR" sz="1200" dirty="0">
                <a:ea typeface="Pretendard" panose="02000503000000020004"/>
              </a:rPr>
              <a:t>, </a:t>
            </a:r>
            <a:r>
              <a:rPr lang="ko-KR" altLang="en-US" sz="1200" dirty="0">
                <a:ea typeface="Pretendard" panose="02000503000000020004"/>
              </a:rPr>
              <a:t>연출 담당</a:t>
            </a:r>
            <a:endParaRPr lang="en-US" altLang="ko-KR" sz="1200" dirty="0">
              <a:ea typeface="Pretendard" panose="02000503000000020004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271C4B8-5AFB-D5AD-0F46-1321295B8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" t="14779" r="1381" b="8978"/>
          <a:stretch>
            <a:fillRect/>
          </a:stretch>
        </p:blipFill>
        <p:spPr>
          <a:xfrm>
            <a:off x="1023640" y="674278"/>
            <a:ext cx="3458437" cy="91080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D4F45CC-3888-9D41-1D55-7820206403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389" y="674278"/>
            <a:ext cx="5565819" cy="347782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C1575D9-116F-1528-DB2D-BB75829BC2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768" y="1585087"/>
            <a:ext cx="4108183" cy="25670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D6F2062-371A-2D00-BBE8-086751842048}"/>
              </a:ext>
            </a:extLst>
          </p:cNvPr>
          <p:cNvSpPr txBox="1"/>
          <p:nvPr/>
        </p:nvSpPr>
        <p:spPr>
          <a:xfrm>
            <a:off x="5353050" y="4152099"/>
            <a:ext cx="48485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ea typeface="Pretendard" panose="02000503000000020004"/>
                <a:hlinkClick r:id="rId5"/>
              </a:rPr>
              <a:t>유튜브</a:t>
            </a:r>
            <a:r>
              <a:rPr lang="ko-KR" altLang="en-US" sz="1200" dirty="0">
                <a:ea typeface="Pretendard" panose="02000503000000020004"/>
              </a:rPr>
              <a:t> </a:t>
            </a:r>
            <a:r>
              <a:rPr lang="en-US" altLang="ko-KR" sz="1200" dirty="0">
                <a:ea typeface="Pretendard" panose="02000503000000020004"/>
              </a:rPr>
              <a:t>- </a:t>
            </a:r>
            <a:r>
              <a:rPr lang="en-US" altLang="ko-KR" sz="1200" dirty="0">
                <a:ea typeface="Pretendard" panose="02000503000000020004"/>
                <a:hlinkClick r:id="rId5"/>
              </a:rPr>
              <a:t>https://youtu.be/A9WalMzxqps?si=ROrDyKqMxrtu7Mg6 </a:t>
            </a:r>
            <a:endParaRPr lang="en-US" altLang="ko-KR" sz="1200" dirty="0">
              <a:ea typeface="Pretendard" panose="02000503000000020004"/>
            </a:endParaRPr>
          </a:p>
          <a:p>
            <a:r>
              <a:rPr lang="ko-KR" altLang="en-US" sz="1400" dirty="0">
                <a:ea typeface="Pretendard" panose="02000503000000020004"/>
                <a:hlinkClick r:id="rId6"/>
              </a:rPr>
              <a:t>깃허브</a:t>
            </a:r>
            <a:r>
              <a:rPr lang="ko-KR" altLang="en-US" sz="1200" dirty="0">
                <a:ea typeface="Pretendard" panose="02000503000000020004"/>
              </a:rPr>
              <a:t> </a:t>
            </a:r>
            <a:r>
              <a:rPr lang="en-US" altLang="ko-KR" sz="1200" dirty="0">
                <a:ea typeface="Pretendard" panose="02000503000000020004"/>
              </a:rPr>
              <a:t>- </a:t>
            </a:r>
            <a:r>
              <a:rPr lang="en-US" altLang="ko-KR" sz="1200" dirty="0">
                <a:ea typeface="Pretendard" panose="02000503000000020004"/>
                <a:hlinkClick r:id="rId6"/>
              </a:rPr>
              <a:t>https://github.com/Woon-2/Project-W</a:t>
            </a:r>
            <a:endParaRPr lang="ko-KR" altLang="en-US" sz="1200" dirty="0">
              <a:ea typeface="Pretendard" panose="02000503000000020004"/>
            </a:endParaRPr>
          </a:p>
        </p:txBody>
      </p:sp>
    </p:spTree>
    <p:extLst>
      <p:ext uri="{BB962C8B-B14F-4D97-AF65-F5344CB8AC3E}">
        <p14:creationId xmlns:p14="http://schemas.microsoft.com/office/powerpoint/2010/main" val="230377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9A24-7297-0938-B4EA-3102D5A25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6F64D9C2-B8F7-7144-5C1F-F37678891E55}"/>
              </a:ext>
            </a:extLst>
          </p:cNvPr>
          <p:cNvSpPr/>
          <p:nvPr/>
        </p:nvSpPr>
        <p:spPr>
          <a:xfrm>
            <a:off x="12700" y="2332915"/>
            <a:ext cx="11633200" cy="33718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58C2DD-B6E1-F549-D3F4-70945778848B}"/>
              </a:ext>
            </a:extLst>
          </p:cNvPr>
          <p:cNvSpPr txBox="1"/>
          <p:nvPr/>
        </p:nvSpPr>
        <p:spPr>
          <a:xfrm>
            <a:off x="444499" y="336613"/>
            <a:ext cx="80137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– </a:t>
            </a:r>
            <a:r>
              <a:rPr lang="ko-KR" altLang="en-US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이방인</a:t>
            </a:r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(Outlander) / </a:t>
            </a:r>
            <a:r>
              <a:rPr lang="ko-KR" altLang="en-US" sz="1400" b="1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파티클 시스템</a:t>
            </a:r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 </a:t>
            </a:r>
            <a:endParaRPr lang="ko-KR" alt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B8883E-F7C3-6CF1-E2E5-5F3D8395B5CD}"/>
              </a:ext>
            </a:extLst>
          </p:cNvPr>
          <p:cNvSpPr txBox="1"/>
          <p:nvPr/>
        </p:nvSpPr>
        <p:spPr>
          <a:xfrm>
            <a:off x="3101593" y="347592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0F458EF-4A42-3037-5657-ABB72B6FB4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9" y="2402765"/>
            <a:ext cx="3232150" cy="32321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D625DD6-AE28-2C79-48F8-C64FBC6F0F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6174" y="2402765"/>
            <a:ext cx="3232150" cy="323215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58E9095-25C7-2765-8673-20E10CEB49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899" y="2402765"/>
            <a:ext cx="4238244" cy="3232150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B6DDB236-2DFF-F585-6D2D-6CA218D6B288}"/>
              </a:ext>
            </a:extLst>
          </p:cNvPr>
          <p:cNvCxnSpPr>
            <a:cxnSpLocks/>
          </p:cNvCxnSpPr>
          <p:nvPr/>
        </p:nvCxnSpPr>
        <p:spPr>
          <a:xfrm flipV="1">
            <a:off x="3050793" y="2710105"/>
            <a:ext cx="1117600" cy="6159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96CDFA3-4DC6-55D9-7225-F2C85C8AD5E4}"/>
              </a:ext>
            </a:extLst>
          </p:cNvPr>
          <p:cNvCxnSpPr>
            <a:cxnSpLocks/>
          </p:cNvCxnSpPr>
          <p:nvPr/>
        </p:nvCxnSpPr>
        <p:spPr>
          <a:xfrm>
            <a:off x="5781293" y="2983155"/>
            <a:ext cx="2051050" cy="3429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6BEC362-FF73-EC40-8229-F3260E860F6C}"/>
              </a:ext>
            </a:extLst>
          </p:cNvPr>
          <p:cNvSpPr txBox="1"/>
          <p:nvPr/>
        </p:nvSpPr>
        <p:spPr>
          <a:xfrm>
            <a:off x="0" y="831080"/>
            <a:ext cx="11566143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rgbClr val="7030A0"/>
                </a:solidFill>
              </a:rPr>
              <a:t>모듈 구조 </a:t>
            </a:r>
            <a:r>
              <a:rPr lang="en-US" altLang="ko-KR" sz="1200" b="1" dirty="0">
                <a:solidFill>
                  <a:srgbClr val="7030A0"/>
                </a:solidFill>
              </a:rPr>
              <a:t>–</a:t>
            </a:r>
            <a:r>
              <a:rPr lang="en-US" altLang="ko-KR" sz="1400" b="1" dirty="0">
                <a:solidFill>
                  <a:srgbClr val="7030A0"/>
                </a:solidFill>
              </a:rPr>
              <a:t> 	</a:t>
            </a:r>
            <a:r>
              <a:rPr lang="en-US" altLang="ko-KR" sz="1200" dirty="0"/>
              <a:t>Unity Particle System</a:t>
            </a:r>
            <a:r>
              <a:rPr lang="ko-KR" altLang="en-US" sz="1200" dirty="0"/>
              <a:t>의 모듈</a:t>
            </a:r>
            <a:r>
              <a:rPr lang="en-US" altLang="ko-KR" sz="1200" dirty="0"/>
              <a:t>(Main, Emission, Shape, …)</a:t>
            </a:r>
            <a:r>
              <a:rPr lang="ko-KR" altLang="en-US" sz="1200" dirty="0"/>
              <a:t>과 </a:t>
            </a:r>
            <a:r>
              <a:rPr lang="en-US" altLang="ko-KR" sz="1200" dirty="0"/>
              <a:t>1:1</a:t>
            </a:r>
            <a:r>
              <a:rPr lang="ko-KR" altLang="en-US" sz="1200" dirty="0"/>
              <a:t>로 대응하는 구조로 설계했다</a:t>
            </a:r>
            <a:r>
              <a:rPr lang="en-US" altLang="ko-KR" sz="1200" dirty="0"/>
              <a:t>. </a:t>
            </a:r>
          </a:p>
          <a:p>
            <a:r>
              <a:rPr lang="en-US" altLang="ko-KR" sz="1200" dirty="0"/>
              <a:t>	</a:t>
            </a:r>
            <a:r>
              <a:rPr lang="ko-KR" altLang="en-US" sz="1200" dirty="0"/>
              <a:t>구매한 </a:t>
            </a:r>
            <a:r>
              <a:rPr lang="en-US" altLang="ko-KR" sz="1200" dirty="0"/>
              <a:t>Asset(VFX URP Fire, Particle Pack)</a:t>
            </a:r>
            <a:r>
              <a:rPr lang="ko-KR" altLang="en-US" sz="1200" dirty="0"/>
              <a:t>을 분석한 뒤 단순 사각형부터 메시</a:t>
            </a:r>
            <a:r>
              <a:rPr lang="en-US" altLang="ko-KR" sz="1200" dirty="0"/>
              <a:t>·</a:t>
            </a:r>
            <a:r>
              <a:rPr lang="ko-KR" altLang="en-US" sz="1200" dirty="0"/>
              <a:t>중력</a:t>
            </a:r>
            <a:r>
              <a:rPr lang="en-US" altLang="ko-KR" sz="1200" dirty="0"/>
              <a:t>·</a:t>
            </a:r>
            <a:r>
              <a:rPr lang="ko-KR" altLang="en-US" sz="1200" dirty="0"/>
              <a:t>서브 이미터까지의 난이도 차이가 크다는 점을 반영해 </a:t>
            </a:r>
            <a:endParaRPr lang="en-US" altLang="ko-KR" sz="1200" dirty="0"/>
          </a:p>
          <a:p>
            <a:r>
              <a:rPr lang="en-US" altLang="ko-KR" sz="1200" dirty="0"/>
              <a:t>	</a:t>
            </a:r>
            <a:r>
              <a:rPr lang="ko-KR" altLang="en-US" sz="1200" dirty="0"/>
              <a:t>기능을 단계적으로 확장했다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b="1" dirty="0">
                <a:solidFill>
                  <a:srgbClr val="7030A0"/>
                </a:solidFill>
              </a:rPr>
              <a:t>효과 </a:t>
            </a:r>
            <a:r>
              <a:rPr lang="en-US" altLang="ko-KR" sz="1200" b="1" dirty="0">
                <a:solidFill>
                  <a:srgbClr val="7030A0"/>
                </a:solidFill>
              </a:rPr>
              <a:t>– </a:t>
            </a:r>
            <a:r>
              <a:rPr lang="ko-KR" altLang="en-US" sz="1200" dirty="0"/>
              <a:t>팀이 </a:t>
            </a:r>
            <a:r>
              <a:rPr lang="en-US" altLang="ko-KR" sz="1200" dirty="0"/>
              <a:t>Asset Store</a:t>
            </a:r>
            <a:r>
              <a:rPr lang="ko-KR" altLang="en-US" sz="1200" dirty="0"/>
              <a:t>에서 구매한 이펙트의 속성값을 그대로 가져와 재생할 수 있게 되었다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52D3F77-B1BB-0822-0DC0-E61421EB0BE9}"/>
              </a:ext>
            </a:extLst>
          </p:cNvPr>
          <p:cNvSpPr/>
          <p:nvPr/>
        </p:nvSpPr>
        <p:spPr>
          <a:xfrm>
            <a:off x="5715000" y="4018839"/>
            <a:ext cx="6019800" cy="2196466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Picture 34" descr="fire_frames_060.png">
            <a:extLst>
              <a:ext uri="{FF2B5EF4-FFF2-40B4-BE49-F238E27FC236}">
                <a16:creationId xmlns:a16="http://schemas.microsoft.com/office/drawing/2014/main" id="{58121665-1EFF-B8B1-0592-7D644465C1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3993" y="4115118"/>
            <a:ext cx="2732617" cy="2049462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pic>
        <p:nvPicPr>
          <p:cNvPr id="20" name="Picture 36" descr="image1.jpeg">
            <a:extLst>
              <a:ext uri="{FF2B5EF4-FFF2-40B4-BE49-F238E27FC236}">
                <a16:creationId xmlns:a16="http://schemas.microsoft.com/office/drawing/2014/main" id="{6B802A13-D625-790F-7C07-11FF51BDA3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9505" y="4115118"/>
            <a:ext cx="2628436" cy="2049462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9047174-724E-A651-C1B4-B093C851DA61}"/>
              </a:ext>
            </a:extLst>
          </p:cNvPr>
          <p:cNvSpPr txBox="1"/>
          <p:nvPr/>
        </p:nvSpPr>
        <p:spPr>
          <a:xfrm>
            <a:off x="-2111" y="5719143"/>
            <a:ext cx="16626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</a:rPr>
              <a:t>Unity</a:t>
            </a: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</a:rPr>
              <a:t>의 모듈 개념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D515B76-AF9C-191D-F689-D008F88D5D8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>
            <a:off x="8526610" y="5139849"/>
            <a:ext cx="522895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DBBD1C0-D0CE-BCE4-3614-5C623A599F83}"/>
              </a:ext>
            </a:extLst>
          </p:cNvPr>
          <p:cNvSpPr txBox="1"/>
          <p:nvPr/>
        </p:nvSpPr>
        <p:spPr>
          <a:xfrm>
            <a:off x="5665264" y="6215305"/>
            <a:ext cx="1566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</a:rPr>
              <a:t>단계적 기능 확장</a:t>
            </a:r>
          </a:p>
        </p:txBody>
      </p:sp>
    </p:spTree>
    <p:extLst>
      <p:ext uri="{BB962C8B-B14F-4D97-AF65-F5344CB8AC3E}">
        <p14:creationId xmlns:p14="http://schemas.microsoft.com/office/powerpoint/2010/main" val="821915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C324-5588-3B67-017D-59E5A0F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F0B3B09-4EEE-D5D4-C54D-3727E2A52A3E}"/>
              </a:ext>
            </a:extLst>
          </p:cNvPr>
          <p:cNvSpPr txBox="1"/>
          <p:nvPr/>
        </p:nvSpPr>
        <p:spPr>
          <a:xfrm>
            <a:off x="444499" y="336613"/>
            <a:ext cx="80137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– </a:t>
            </a:r>
            <a:r>
              <a:rPr lang="ko-KR" altLang="en-US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이방인</a:t>
            </a:r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(Outlander) / </a:t>
            </a:r>
            <a:r>
              <a:rPr lang="ko-KR" altLang="en-US" sz="1400" b="1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에셋 임포트</a:t>
            </a:r>
            <a:endParaRPr lang="ko-KR" alt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1B8C16-6CA8-9286-9E96-7830F09D57E0}"/>
              </a:ext>
            </a:extLst>
          </p:cNvPr>
          <p:cNvSpPr txBox="1"/>
          <p:nvPr/>
        </p:nvSpPr>
        <p:spPr>
          <a:xfrm>
            <a:off x="0" y="831080"/>
            <a:ext cx="115661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rgbClr val="7030A0"/>
                </a:solidFill>
              </a:rPr>
              <a:t>임포트 파이프 라인 </a:t>
            </a:r>
            <a:r>
              <a:rPr lang="en-US" altLang="ko-KR" sz="1200" dirty="0"/>
              <a:t>–</a:t>
            </a:r>
            <a:r>
              <a:rPr lang="ko-KR" altLang="en-US" sz="1200" b="1" dirty="0">
                <a:solidFill>
                  <a:srgbClr val="7030A0"/>
                </a:solidFill>
              </a:rPr>
              <a:t> </a:t>
            </a:r>
            <a:r>
              <a:rPr lang="ko-KR" altLang="en-US" sz="1200" dirty="0"/>
              <a:t>유니티에서 </a:t>
            </a:r>
            <a:r>
              <a:rPr lang="en-US" altLang="ko-KR" sz="1200" dirty="0"/>
              <a:t>Asset Prefab</a:t>
            </a:r>
            <a:r>
              <a:rPr lang="ko-KR" altLang="en-US" sz="1200" dirty="0"/>
              <a:t>을 선택하고</a:t>
            </a:r>
            <a:r>
              <a:rPr lang="en-US" altLang="ko-KR" sz="1200" dirty="0"/>
              <a:t> </a:t>
            </a:r>
            <a:r>
              <a:rPr lang="ko-KR" altLang="en-US" sz="1200" dirty="0"/>
              <a:t>자체 제작 스크립트를 사용하여 편하게 </a:t>
            </a:r>
            <a:r>
              <a:rPr lang="en-US" altLang="ko-KR" sz="1200" dirty="0"/>
              <a:t>.json</a:t>
            </a:r>
            <a:r>
              <a:rPr lang="ko-KR" altLang="en-US" sz="1200" dirty="0"/>
              <a:t>파일을 추출할 수 있게 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cxnSp>
        <p:nvCxnSpPr>
          <p:cNvPr id="6" name="Connector 3">
            <a:extLst>
              <a:ext uri="{FF2B5EF4-FFF2-40B4-BE49-F238E27FC236}">
                <a16:creationId xmlns:a16="http://schemas.microsoft.com/office/drawing/2014/main" id="{3D01D865-66C3-E242-A66E-041BA33E4E41}"/>
              </a:ext>
            </a:extLst>
          </p:cNvPr>
          <p:cNvCxnSpPr/>
          <p:nvPr/>
        </p:nvCxnSpPr>
        <p:spPr>
          <a:xfrm>
            <a:off x="101600" y="1139955"/>
            <a:ext cx="1124712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1AFACB90-B835-5177-C1BF-CC45F830A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402" y="1294769"/>
            <a:ext cx="3774048" cy="14019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27CE41E-6454-4C6B-0749-691148989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" y="1297142"/>
            <a:ext cx="1873250" cy="139959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FD05AE-96F6-F2F8-D0D2-BDBC0518E2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601" y="1303194"/>
            <a:ext cx="3901050" cy="1394852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CF5BC5B3-07D8-A19E-5609-6D11820B3867}"/>
              </a:ext>
            </a:extLst>
          </p:cNvPr>
          <p:cNvCxnSpPr>
            <a:stCxn id="8" idx="3"/>
            <a:endCxn id="15" idx="1"/>
          </p:cNvCxnSpPr>
          <p:nvPr/>
        </p:nvCxnSpPr>
        <p:spPr>
          <a:xfrm>
            <a:off x="1974850" y="1996940"/>
            <a:ext cx="340751" cy="3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A497DA7-B665-2A33-8D59-E713E02C7389}"/>
              </a:ext>
            </a:extLst>
          </p:cNvPr>
          <p:cNvCxnSpPr>
            <a:stCxn id="15" idx="3"/>
            <a:endCxn id="7" idx="1"/>
          </p:cNvCxnSpPr>
          <p:nvPr/>
        </p:nvCxnSpPr>
        <p:spPr>
          <a:xfrm flipV="1">
            <a:off x="6216651" y="1995753"/>
            <a:ext cx="340751" cy="4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C2241E20-F3A5-16CA-0E74-5BDF0AB3E7E3}"/>
              </a:ext>
            </a:extLst>
          </p:cNvPr>
          <p:cNvCxnSpPr/>
          <p:nvPr/>
        </p:nvCxnSpPr>
        <p:spPr>
          <a:xfrm>
            <a:off x="6605016" y="2329437"/>
            <a:ext cx="12573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E5CEDE4-B6AB-02B7-B381-D0AFBCF3ED4B}"/>
              </a:ext>
            </a:extLst>
          </p:cNvPr>
          <p:cNvSpPr txBox="1"/>
          <p:nvPr/>
        </p:nvSpPr>
        <p:spPr>
          <a:xfrm>
            <a:off x="0" y="2818499"/>
            <a:ext cx="115661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rgbClr val="7030A0"/>
                </a:solidFill>
              </a:rPr>
              <a:t>효과 </a:t>
            </a:r>
            <a:r>
              <a:rPr lang="en-US" altLang="ko-KR" sz="1200" dirty="0"/>
              <a:t>– </a:t>
            </a:r>
            <a:r>
              <a:rPr lang="ko-KR" altLang="en-US" sz="1200" dirty="0"/>
              <a:t>하드 코딩을 피할 수 있게 되었다</a:t>
            </a:r>
            <a:r>
              <a:rPr lang="en-US" altLang="ko-KR" sz="1200" dirty="0"/>
              <a:t>.</a:t>
            </a:r>
          </a:p>
        </p:txBody>
      </p:sp>
      <p:cxnSp>
        <p:nvCxnSpPr>
          <p:cNvPr id="26" name="Connector 3">
            <a:extLst>
              <a:ext uri="{FF2B5EF4-FFF2-40B4-BE49-F238E27FC236}">
                <a16:creationId xmlns:a16="http://schemas.microsoft.com/office/drawing/2014/main" id="{48F38FD4-6728-0A1E-EC9B-7D1FC30CB5E9}"/>
              </a:ext>
            </a:extLst>
          </p:cNvPr>
          <p:cNvCxnSpPr/>
          <p:nvPr/>
        </p:nvCxnSpPr>
        <p:spPr>
          <a:xfrm>
            <a:off x="101600" y="3127374"/>
            <a:ext cx="1124712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그림 27">
            <a:extLst>
              <a:ext uri="{FF2B5EF4-FFF2-40B4-BE49-F238E27FC236}">
                <a16:creationId xmlns:a16="http://schemas.microsoft.com/office/drawing/2014/main" id="{140CE403-617C-AC40-339E-6B2D022CA3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196992"/>
            <a:ext cx="2750807" cy="324190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E7B80BD-06B3-BD7E-8F50-2F8C70F1B8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950" y="3727915"/>
            <a:ext cx="4745571" cy="2198446"/>
          </a:xfrm>
          <a:prstGeom prst="rect">
            <a:avLst/>
          </a:prstGeom>
        </p:spPr>
      </p:pic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F917BE7-BC7B-07B9-3978-406AF58A4157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3208007" y="4817946"/>
            <a:ext cx="1852943" cy="91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7ECBED3-38C1-11BD-D095-3A932E857385}"/>
              </a:ext>
            </a:extLst>
          </p:cNvPr>
          <p:cNvSpPr txBox="1"/>
          <p:nvPr/>
        </p:nvSpPr>
        <p:spPr>
          <a:xfrm>
            <a:off x="1832603" y="3335577"/>
            <a:ext cx="1451253" cy="261610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accent4">
                    <a:lumMod val="40000"/>
                    <a:lumOff val="60000"/>
                  </a:schemeClr>
                </a:solidFill>
                <a:ea typeface="Pretendard" panose="02000503000000020004"/>
              </a:rPr>
              <a:t>파이프라인 적용 전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AAE3D2-241F-BD86-AD98-C3A41BB27E03}"/>
              </a:ext>
            </a:extLst>
          </p:cNvPr>
          <p:cNvSpPr txBox="1"/>
          <p:nvPr/>
        </p:nvSpPr>
        <p:spPr>
          <a:xfrm>
            <a:off x="8355268" y="3849677"/>
            <a:ext cx="1451253" cy="261610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accent4">
                    <a:lumMod val="40000"/>
                    <a:lumOff val="60000"/>
                  </a:schemeClr>
                </a:solidFill>
                <a:ea typeface="Pretendard" panose="02000503000000020004"/>
              </a:rPr>
              <a:t>파이프라인 적용 후</a:t>
            </a:r>
          </a:p>
        </p:txBody>
      </p:sp>
    </p:spTree>
    <p:extLst>
      <p:ext uri="{BB962C8B-B14F-4D97-AF65-F5344CB8AC3E}">
        <p14:creationId xmlns:p14="http://schemas.microsoft.com/office/powerpoint/2010/main" val="1687632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D8A8-B77F-4113-3BE4-279DE2920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89959D9-A6C2-C62E-187C-AB34F2319F63}"/>
              </a:ext>
            </a:extLst>
          </p:cNvPr>
          <p:cNvSpPr txBox="1"/>
          <p:nvPr/>
        </p:nvSpPr>
        <p:spPr>
          <a:xfrm>
            <a:off x="444499" y="336613"/>
            <a:ext cx="80137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– </a:t>
            </a:r>
            <a:r>
              <a:rPr lang="ko-KR" altLang="en-US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이방인</a:t>
            </a:r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(Outlander) / </a:t>
            </a:r>
            <a:r>
              <a:rPr lang="en-US" altLang="ko-KR" sz="1400" b="1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Shader</a:t>
            </a:r>
            <a:r>
              <a:rPr lang="ko-KR" altLang="en-US" sz="1400" b="1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1400" b="1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Graph</a:t>
            </a:r>
            <a:r>
              <a:rPr lang="ko-KR" altLang="en-US" sz="1400" b="1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대응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027AD8A-4138-FA8A-9FC9-8305855DE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7467"/>
            <a:ext cx="7289179" cy="27115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54AF063-474E-A2C7-0D2C-113D1D6364A6}"/>
              </a:ext>
            </a:extLst>
          </p:cNvPr>
          <p:cNvSpPr txBox="1"/>
          <p:nvPr/>
        </p:nvSpPr>
        <p:spPr>
          <a:xfrm>
            <a:off x="0" y="3429000"/>
            <a:ext cx="18742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</a:rPr>
              <a:t>Unity</a:t>
            </a: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</a:rPr>
              <a:t>Shader Graph</a:t>
            </a:r>
            <a:endParaRPr lang="ko-KR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2029EA-36DA-727A-8BA0-3CA448B77127}"/>
              </a:ext>
            </a:extLst>
          </p:cNvPr>
          <p:cNvSpPr txBox="1"/>
          <p:nvPr/>
        </p:nvSpPr>
        <p:spPr>
          <a:xfrm>
            <a:off x="1" y="4212370"/>
            <a:ext cx="115661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rgbClr val="7030A0"/>
                </a:solidFill>
              </a:rPr>
              <a:t>Asset</a:t>
            </a:r>
            <a:r>
              <a:rPr lang="ko-KR" altLang="en-US" sz="1200" b="1" dirty="0">
                <a:solidFill>
                  <a:srgbClr val="7030A0"/>
                </a:solidFill>
              </a:rPr>
              <a:t> 사용의 한계 </a:t>
            </a:r>
            <a:r>
              <a:rPr lang="en-US" altLang="ko-KR" sz="1200" dirty="0"/>
              <a:t>–</a:t>
            </a:r>
            <a:r>
              <a:rPr lang="ko-KR" altLang="en-US" sz="1200" b="1" dirty="0">
                <a:solidFill>
                  <a:srgbClr val="7030A0"/>
                </a:solidFill>
              </a:rPr>
              <a:t> </a:t>
            </a:r>
            <a:r>
              <a:rPr lang="ko-KR" altLang="en-US" sz="1200" dirty="0"/>
              <a:t>사용하려는 </a:t>
            </a:r>
            <a:r>
              <a:rPr lang="en-US" altLang="ko-KR" sz="1200" dirty="0"/>
              <a:t>Asset</a:t>
            </a:r>
            <a:r>
              <a:rPr lang="ko-KR" altLang="en-US" sz="1200" dirty="0"/>
              <a:t>이 </a:t>
            </a:r>
            <a:r>
              <a:rPr lang="en-US" altLang="ko-KR" sz="1200" dirty="0"/>
              <a:t>Shader Graph</a:t>
            </a:r>
            <a:r>
              <a:rPr lang="ko-KR" altLang="en-US" sz="1200" dirty="0"/>
              <a:t>를 포함하고 있어서 </a:t>
            </a:r>
            <a:r>
              <a:rPr lang="en-US" altLang="ko-KR" sz="1200" dirty="0"/>
              <a:t>HLSL </a:t>
            </a:r>
            <a:r>
              <a:rPr lang="ko-KR" altLang="en-US" sz="1200" dirty="0"/>
              <a:t>코드로 그대로 옮기는 작업에 어려움이 있었다</a:t>
            </a:r>
            <a:r>
              <a:rPr lang="en-US" altLang="ko-KR" sz="12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AC728C-72BB-E4B4-C86A-063EF9EE060B}"/>
              </a:ext>
            </a:extLst>
          </p:cNvPr>
          <p:cNvSpPr txBox="1"/>
          <p:nvPr/>
        </p:nvSpPr>
        <p:spPr>
          <a:xfrm>
            <a:off x="0" y="4489369"/>
            <a:ext cx="115661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rgbClr val="7030A0"/>
                </a:solidFill>
              </a:rPr>
              <a:t>해결 방법 </a:t>
            </a:r>
            <a:r>
              <a:rPr lang="en-US" altLang="ko-KR" sz="1200" dirty="0"/>
              <a:t>–</a:t>
            </a:r>
            <a:r>
              <a:rPr lang="ko-KR" altLang="en-US" sz="1200" b="1" dirty="0">
                <a:solidFill>
                  <a:srgbClr val="7030A0"/>
                </a:solidFill>
              </a:rPr>
              <a:t> </a:t>
            </a:r>
            <a:r>
              <a:rPr lang="en-US" altLang="ko-KR" sz="1200" b="1" dirty="0">
                <a:solidFill>
                  <a:srgbClr val="7030A0"/>
                </a:solidFill>
              </a:rPr>
              <a:t>	</a:t>
            </a:r>
            <a:r>
              <a:rPr lang="en-US" altLang="ko-KR" sz="1200" dirty="0"/>
              <a:t>Asset</a:t>
            </a:r>
            <a:r>
              <a:rPr lang="ko-KR" altLang="en-US" sz="1200" dirty="0"/>
              <a:t>이 참조하고 있는 </a:t>
            </a:r>
            <a:r>
              <a:rPr lang="en-US" altLang="ko-KR" sz="1200" dirty="0"/>
              <a:t>Material, Texture, Particle</a:t>
            </a:r>
            <a:r>
              <a:rPr lang="ko-KR" altLang="en-US" sz="1200" dirty="0"/>
              <a:t> </a:t>
            </a:r>
            <a:r>
              <a:rPr lang="en-US" altLang="ko-KR" sz="1200" dirty="0"/>
              <a:t>System</a:t>
            </a:r>
            <a:r>
              <a:rPr lang="ko-KR" altLang="en-US" sz="1200" dirty="0"/>
              <a:t>의 값을 </a:t>
            </a:r>
            <a:r>
              <a:rPr lang="en-US" altLang="ko-KR" sz="1200" dirty="0"/>
              <a:t>AI</a:t>
            </a:r>
            <a:r>
              <a:rPr lang="ko-KR" altLang="en-US" sz="1200" dirty="0"/>
              <a:t>에게 분석을 요청해 코드를 작성했다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r>
              <a:rPr lang="en-US" altLang="ko-KR" sz="1200" dirty="0"/>
              <a:t>	</a:t>
            </a:r>
            <a:r>
              <a:rPr lang="ko-KR" altLang="en-US" sz="1200" dirty="0"/>
              <a:t>검기는 도넛 모양의 메시</a:t>
            </a:r>
            <a:r>
              <a:rPr lang="en-US" altLang="ko-KR" sz="1200" dirty="0"/>
              <a:t>, </a:t>
            </a:r>
            <a:r>
              <a:rPr lang="ko-KR" altLang="en-US" sz="1200" dirty="0"/>
              <a:t>화살은 화살 모양의 메시가 있다는 것에서 시작해 </a:t>
            </a:r>
            <a:r>
              <a:rPr lang="en-US" altLang="ko-KR" sz="1200" dirty="0"/>
              <a:t>Distortion, Noise </a:t>
            </a:r>
            <a:r>
              <a:rPr lang="ko-KR" altLang="en-US" sz="1200" dirty="0"/>
              <a:t>같은 효과를 하나씩 추가하는 식으로 작업했다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	</a:t>
            </a:r>
          </a:p>
          <a:p>
            <a:r>
              <a:rPr lang="en-US" altLang="ko-KR" sz="1200" dirty="0"/>
              <a:t>	</a:t>
            </a:r>
            <a:r>
              <a:rPr lang="ko-KR" altLang="en-US" sz="1200" dirty="0"/>
              <a:t>화살의 </a:t>
            </a:r>
            <a:r>
              <a:rPr lang="en-US" altLang="ko-KR" sz="1200" dirty="0"/>
              <a:t>Muzzle, Hit</a:t>
            </a:r>
            <a:r>
              <a:rPr lang="ko-KR" altLang="en-US" sz="1200" dirty="0"/>
              <a:t>의 경우 직접 녹화를 해서 </a:t>
            </a:r>
            <a:r>
              <a:rPr lang="en-US" altLang="ko-KR" sz="1200" dirty="0"/>
              <a:t>Sprite Animation</a:t>
            </a:r>
            <a:r>
              <a:rPr lang="ko-KR" altLang="en-US" sz="1200" dirty="0"/>
              <a:t>으로 만들었다</a:t>
            </a:r>
            <a:r>
              <a:rPr lang="en-US" altLang="ko-KR" sz="1200" dirty="0"/>
              <a:t>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5720985-8EEC-1AA5-B597-059504BA9138}"/>
              </a:ext>
            </a:extLst>
          </p:cNvPr>
          <p:cNvSpPr/>
          <p:nvPr/>
        </p:nvSpPr>
        <p:spPr>
          <a:xfrm>
            <a:off x="6304940" y="717467"/>
            <a:ext cx="5887060" cy="288274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BF3313-E35D-95CC-F436-23DCE0E00B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1117" y="1182292"/>
            <a:ext cx="2850023" cy="188356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682456D-A6CA-59FE-9A72-60146D1AA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5275" y="887118"/>
            <a:ext cx="2342590" cy="247391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8778DCE-9DD7-4900-7E71-01345007AD00}"/>
              </a:ext>
            </a:extLst>
          </p:cNvPr>
          <p:cNvSpPr txBox="1"/>
          <p:nvPr/>
        </p:nvSpPr>
        <p:spPr>
          <a:xfrm>
            <a:off x="6304940" y="3600209"/>
            <a:ext cx="2230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</a:rPr>
              <a:t>분석을 위해 살펴 본 것들</a:t>
            </a:r>
          </a:p>
        </p:txBody>
      </p:sp>
      <p:pic>
        <p:nvPicPr>
          <p:cNvPr id="22" name="ArrowHit strip" descr="arrowhit_strip.jpg">
            <a:extLst>
              <a:ext uri="{FF2B5EF4-FFF2-40B4-BE49-F238E27FC236}">
                <a16:creationId xmlns:a16="http://schemas.microsoft.com/office/drawing/2014/main" id="{77F6FD34-62AE-E2C6-C795-E9D63D76DA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1290" y="5179277"/>
            <a:ext cx="5212080" cy="65151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888879B-417B-7945-1FF7-36896B7343A4}"/>
              </a:ext>
            </a:extLst>
          </p:cNvPr>
          <p:cNvSpPr txBox="1"/>
          <p:nvPr/>
        </p:nvSpPr>
        <p:spPr>
          <a:xfrm>
            <a:off x="6229796" y="5830787"/>
            <a:ext cx="13276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2">
                    <a:lumMod val="50000"/>
                  </a:schemeClr>
                </a:solidFill>
              </a:rPr>
              <a:t>Sprite Animation</a:t>
            </a:r>
            <a:endParaRPr lang="ko-KR" altLang="en-US" sz="11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0141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255B3-17FE-2B95-FB84-C3307A752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522A563-6054-51CD-D05D-2F2EF5FAC6B5}"/>
              </a:ext>
            </a:extLst>
          </p:cNvPr>
          <p:cNvSpPr txBox="1"/>
          <p:nvPr/>
        </p:nvSpPr>
        <p:spPr>
          <a:xfrm>
            <a:off x="444499" y="336613"/>
            <a:ext cx="80137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– </a:t>
            </a:r>
            <a:r>
              <a:rPr lang="ko-KR" altLang="en-US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이방인</a:t>
            </a:r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(Outlander) / </a:t>
            </a:r>
            <a:r>
              <a:rPr lang="ko-KR" altLang="en-US" sz="1400" b="1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대화창 제작 툴</a:t>
            </a:r>
          </a:p>
        </p:txBody>
      </p:sp>
      <p:pic>
        <p:nvPicPr>
          <p:cNvPr id="14" name="Picture 9" descr="dialogue_preview_editor.jpg">
            <a:extLst>
              <a:ext uri="{FF2B5EF4-FFF2-40B4-BE49-F238E27FC236}">
                <a16:creationId xmlns:a16="http://schemas.microsoft.com/office/drawing/2014/main" id="{96F0EEE4-E60D-63A6-18B3-6D5FADDE3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8954"/>
            <a:ext cx="5120640" cy="3072384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C391731-6BD7-D81D-EB41-CF4B9746A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094" y="1068954"/>
            <a:ext cx="2698266" cy="307238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1464D56-2E9F-3039-C8FB-F6699092D3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050" y="1236622"/>
            <a:ext cx="5448949" cy="234484"/>
          </a:xfrm>
          <a:prstGeom prst="rect">
            <a:avLst/>
          </a:prstGeom>
        </p:spPr>
      </p:pic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0CE842B-0B7A-5EE4-D486-6BC64E2733A8}"/>
              </a:ext>
            </a:extLst>
          </p:cNvPr>
          <p:cNvCxnSpPr>
            <a:cxnSpLocks/>
          </p:cNvCxnSpPr>
          <p:nvPr/>
        </p:nvCxnSpPr>
        <p:spPr>
          <a:xfrm>
            <a:off x="4593590" y="2499308"/>
            <a:ext cx="52705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882F5358-C000-BD1C-570F-467E10B627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6360" y="1472854"/>
            <a:ext cx="3422330" cy="2668484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43457E9-32E7-4F39-D0DB-8834544DC966}"/>
              </a:ext>
            </a:extLst>
          </p:cNvPr>
          <p:cNvCxnSpPr>
            <a:cxnSpLocks/>
          </p:cNvCxnSpPr>
          <p:nvPr/>
        </p:nvCxnSpPr>
        <p:spPr>
          <a:xfrm>
            <a:off x="7381710" y="2499308"/>
            <a:ext cx="52705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B6E81B5-9801-51C8-4794-2522BA951FCE}"/>
              </a:ext>
            </a:extLst>
          </p:cNvPr>
          <p:cNvSpPr txBox="1"/>
          <p:nvPr/>
        </p:nvSpPr>
        <p:spPr>
          <a:xfrm>
            <a:off x="0" y="4141338"/>
            <a:ext cx="17139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</a:rPr>
              <a:t>HTML </a:t>
            </a: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</a:rPr>
              <a:t>형식 편집기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48CF85-7FF0-114F-BF32-1664A685777E}"/>
              </a:ext>
            </a:extLst>
          </p:cNvPr>
          <p:cNvSpPr txBox="1"/>
          <p:nvPr/>
        </p:nvSpPr>
        <p:spPr>
          <a:xfrm>
            <a:off x="5058094" y="4141337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</a:rPr>
              <a:t>.json </a:t>
            </a: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</a:rPr>
              <a:t>파일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534F22-27AB-9F68-ACAA-316FF6256F6D}"/>
              </a:ext>
            </a:extLst>
          </p:cNvPr>
          <p:cNvSpPr txBox="1"/>
          <p:nvPr/>
        </p:nvSpPr>
        <p:spPr>
          <a:xfrm>
            <a:off x="7756360" y="928846"/>
            <a:ext cx="11448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</a:rPr>
              <a:t>초기화 코드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45748AB-026E-477B-4E42-EABF1C0AF852}"/>
              </a:ext>
            </a:extLst>
          </p:cNvPr>
          <p:cNvSpPr txBox="1"/>
          <p:nvPr/>
        </p:nvSpPr>
        <p:spPr>
          <a:xfrm>
            <a:off x="7756360" y="4141337"/>
            <a:ext cx="11448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</a:rPr>
              <a:t>인게임 모습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65255A1-7FFE-3D2E-0665-A7DDB2A609D2}"/>
              </a:ext>
            </a:extLst>
          </p:cNvPr>
          <p:cNvSpPr txBox="1"/>
          <p:nvPr/>
        </p:nvSpPr>
        <p:spPr>
          <a:xfrm>
            <a:off x="0" y="5108147"/>
            <a:ext cx="115661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rgbClr val="7030A0"/>
                </a:solidFill>
              </a:rPr>
              <a:t>사용법 </a:t>
            </a:r>
            <a:r>
              <a:rPr lang="en-US" altLang="ko-KR" sz="1200" dirty="0"/>
              <a:t>–</a:t>
            </a:r>
            <a:r>
              <a:rPr lang="ko-KR" altLang="en-US" sz="1200" b="1" dirty="0">
                <a:solidFill>
                  <a:srgbClr val="7030A0"/>
                </a:solidFill>
              </a:rPr>
              <a:t> </a:t>
            </a:r>
            <a:r>
              <a:rPr lang="ko-KR" altLang="en-US" sz="1200" dirty="0"/>
              <a:t>편집기</a:t>
            </a:r>
            <a:r>
              <a:rPr lang="en-US" altLang="ko-KR" sz="1200" dirty="0"/>
              <a:t>, JSON, </a:t>
            </a:r>
            <a:r>
              <a:rPr lang="ko-KR" altLang="en-US" sz="1200" dirty="0"/>
              <a:t>런타임이 같은 파일과 좌표계를 사용하고 있어서</a:t>
            </a:r>
            <a:r>
              <a:rPr lang="en-US" altLang="ko-KR" sz="1200" dirty="0"/>
              <a:t> </a:t>
            </a:r>
            <a:r>
              <a:rPr lang="ko-KR" altLang="en-US" sz="1200" dirty="0"/>
              <a:t>대화창의 위치</a:t>
            </a:r>
            <a:r>
              <a:rPr lang="en-US" altLang="ko-KR" sz="1200" dirty="0"/>
              <a:t>, </a:t>
            </a:r>
            <a:r>
              <a:rPr lang="ko-KR" altLang="en-US" sz="1200" dirty="0"/>
              <a:t>대사</a:t>
            </a:r>
            <a:r>
              <a:rPr lang="en-US" altLang="ko-KR" sz="1200" dirty="0"/>
              <a:t>, </a:t>
            </a:r>
            <a:r>
              <a:rPr lang="ko-KR" altLang="en-US" sz="1200" dirty="0"/>
              <a:t>색 수정을 코드 수정과 재빌드 없이 반영할 수 있게 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064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893B3-C477-B39F-3756-1DA9CB6DA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06718E-B2E0-E80A-1808-EC0318B772BA}"/>
              </a:ext>
            </a:extLst>
          </p:cNvPr>
          <p:cNvSpPr txBox="1"/>
          <p:nvPr/>
        </p:nvSpPr>
        <p:spPr>
          <a:xfrm>
            <a:off x="448056" y="321778"/>
            <a:ext cx="10515600" cy="270843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Project –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이방인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(Outlander) – </a:t>
            </a:r>
          </a:p>
        </p:txBody>
      </p:sp>
    </p:spTree>
    <p:extLst>
      <p:ext uri="{BB962C8B-B14F-4D97-AF65-F5344CB8AC3E}">
        <p14:creationId xmlns:p14="http://schemas.microsoft.com/office/powerpoint/2010/main" val="327167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B18A5-CD97-92BA-155B-E148365B3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7F751B1C-660C-4191-0F92-EC97467CCF23}"/>
              </a:ext>
            </a:extLst>
          </p:cNvPr>
          <p:cNvSpPr txBox="1"/>
          <p:nvPr/>
        </p:nvSpPr>
        <p:spPr>
          <a:xfrm>
            <a:off x="232975" y="4706394"/>
            <a:ext cx="577106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ea typeface="Pretendard" panose="02000503000000020004"/>
              </a:rPr>
              <a:t>장르 </a:t>
            </a:r>
            <a:r>
              <a:rPr lang="en-US" altLang="ko-KR" dirty="0">
                <a:ea typeface="Pretendard" panose="02000503000000020004"/>
              </a:rPr>
              <a:t>: </a:t>
            </a:r>
            <a:r>
              <a:rPr lang="ko-KR" altLang="en-US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모바일</a:t>
            </a:r>
            <a:r>
              <a:rPr lang="en-US" altLang="ko-KR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(Android) 2D </a:t>
            </a:r>
            <a:r>
              <a:rPr lang="ko-KR" altLang="en-US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하이퍼</a:t>
            </a:r>
            <a:r>
              <a:rPr lang="ko-KR" altLang="en-US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캐주얼 채굴 </a:t>
            </a:r>
            <a:r>
              <a:rPr lang="ko-KR" altLang="en-US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클리커</a:t>
            </a:r>
            <a:endParaRPr lang="en-US" altLang="ko-KR" dirty="0">
              <a:ea typeface="Pretendard" panose="02000503000000020004"/>
            </a:endParaRPr>
          </a:p>
          <a:p>
            <a:r>
              <a:rPr lang="ko-KR" altLang="en-US" dirty="0">
                <a:ea typeface="Pretendard" panose="02000503000000020004"/>
              </a:rPr>
              <a:t>사용 언어 </a:t>
            </a:r>
            <a:r>
              <a:rPr lang="en-US" altLang="ko-KR" dirty="0">
                <a:ea typeface="Pretendard" panose="02000503000000020004"/>
              </a:rPr>
              <a:t>: C#</a:t>
            </a:r>
          </a:p>
          <a:p>
            <a:r>
              <a:rPr lang="ko-KR" altLang="en-US" dirty="0">
                <a:ea typeface="Pretendard" panose="02000503000000020004"/>
              </a:rPr>
              <a:t>개발 환경</a:t>
            </a:r>
            <a:r>
              <a:rPr lang="en-US" altLang="ko-KR" dirty="0">
                <a:ea typeface="Pretendard" panose="02000503000000020004"/>
              </a:rPr>
              <a:t> : Visual Studio 2022, </a:t>
            </a:r>
            <a:r>
              <a:rPr lang="en-US" altLang="ko-KR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Unity 6</a:t>
            </a:r>
            <a:r>
              <a:rPr lang="en-US" altLang="ko-KR" dirty="0">
                <a:ea typeface="Pretendard" panose="02000503000000020004"/>
              </a:rPr>
              <a:t>, Git</a:t>
            </a:r>
          </a:p>
          <a:p>
            <a:r>
              <a:rPr lang="ko-KR" altLang="en-US" dirty="0">
                <a:ea typeface="Pretendard" panose="02000503000000020004"/>
              </a:rPr>
              <a:t>개발 인원 </a:t>
            </a:r>
            <a:r>
              <a:rPr lang="en-US" altLang="ko-KR" dirty="0">
                <a:ea typeface="Pretendard" panose="02000503000000020004"/>
              </a:rPr>
              <a:t>: 3</a:t>
            </a:r>
            <a:r>
              <a:rPr lang="ko-KR" altLang="en-US" dirty="0">
                <a:ea typeface="Pretendard" panose="02000503000000020004"/>
              </a:rPr>
              <a:t>인</a:t>
            </a:r>
            <a:endParaRPr lang="en-US" altLang="ko-KR" dirty="0">
              <a:ea typeface="Pretendard" panose="02000503000000020004"/>
            </a:endParaRPr>
          </a:p>
          <a:p>
            <a:r>
              <a:rPr lang="ko-KR" altLang="en-US" dirty="0">
                <a:ea typeface="Pretendard" panose="02000503000000020004"/>
              </a:rPr>
              <a:t>담당 역할 </a:t>
            </a:r>
            <a:r>
              <a:rPr lang="en-US" altLang="ko-KR" dirty="0">
                <a:ea typeface="Pretendard" panose="02000503000000020004"/>
              </a:rPr>
              <a:t>: </a:t>
            </a:r>
            <a:r>
              <a:rPr lang="ko-KR" altLang="en-US" dirty="0">
                <a:ea typeface="Pretendard" panose="02000503000000020004"/>
              </a:rPr>
              <a:t>클라이언트</a:t>
            </a:r>
            <a:r>
              <a:rPr lang="en-US" altLang="ko-KR" dirty="0">
                <a:ea typeface="Pretendard" panose="02000503000000020004"/>
              </a:rPr>
              <a:t> – </a:t>
            </a:r>
            <a:r>
              <a:rPr lang="ko-KR" altLang="en-US" sz="1200" dirty="0">
                <a:ea typeface="Pretendard" panose="02000503000000020004"/>
              </a:rPr>
              <a:t>제안서 작성</a:t>
            </a:r>
            <a:r>
              <a:rPr lang="en-US" altLang="ko-KR" sz="1200" dirty="0">
                <a:ea typeface="Pretendard" panose="02000503000000020004"/>
              </a:rPr>
              <a:t>, UI </a:t>
            </a:r>
            <a:r>
              <a:rPr lang="ko-KR" altLang="en-US" sz="1200" dirty="0">
                <a:ea typeface="Pretendard" panose="02000503000000020004"/>
              </a:rPr>
              <a:t>작업</a:t>
            </a:r>
            <a:endParaRPr lang="en-US" altLang="ko-KR" sz="1200" dirty="0">
              <a:ea typeface="Pretendard" panose="0200050300000002000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C35D23-756E-280F-18E2-4570A8529FBE}"/>
              </a:ext>
            </a:extLst>
          </p:cNvPr>
          <p:cNvSpPr txBox="1"/>
          <p:nvPr/>
        </p:nvSpPr>
        <p:spPr>
          <a:xfrm>
            <a:off x="444499" y="336613"/>
            <a:ext cx="265529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– </a:t>
            </a:r>
            <a:r>
              <a:rPr lang="en-US" altLang="ko-KR" sz="140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MinerKing</a:t>
            </a:r>
            <a:endParaRPr lang="ko-KR" alt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1071D81-242C-CC8E-9B54-C83996567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911024"/>
            <a:ext cx="1599016" cy="34290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3AE8DFF-40E0-01CB-41FB-49FA936A7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3871" y="911024"/>
            <a:ext cx="1599016" cy="3429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EBA2A3B-EA57-8DDC-00E4-034B142A10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6062" y="878003"/>
            <a:ext cx="1599016" cy="342900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99D7766-B94F-2122-53E7-4D1DDC8EC8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8253" y="878003"/>
            <a:ext cx="1599016" cy="34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774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E8A12-159E-6FE6-58AF-8A40A69C0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DF5B867-480E-1A64-0DEE-041BE7059E2B}"/>
              </a:ext>
            </a:extLst>
          </p:cNvPr>
          <p:cNvSpPr txBox="1"/>
          <p:nvPr/>
        </p:nvSpPr>
        <p:spPr>
          <a:xfrm>
            <a:off x="444499" y="336613"/>
            <a:ext cx="265529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– </a:t>
            </a:r>
            <a:r>
              <a:rPr lang="en-US" altLang="ko-KR" sz="140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MinerKing</a:t>
            </a:r>
            <a:endParaRPr lang="ko-KR" alt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3331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103120"/>
            <a:ext cx="11247120" cy="9144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3600" b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감사합니다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754880" y="3154680"/>
            <a:ext cx="2651760" cy="0"/>
          </a:xfrm>
          <a:prstGeom prst="line">
            <a:avLst/>
          </a:prstGeom>
          <a:ln w="127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3383280"/>
            <a:ext cx="11247120" cy="118391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이 종 진  |  </a:t>
            </a:r>
            <a:r>
              <a:rPr sz="16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게임</a:t>
            </a:r>
            <a:r>
              <a:rPr sz="16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클라이언트</a:t>
            </a:r>
            <a:r>
              <a:rPr sz="16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프로그래머</a:t>
            </a:r>
            <a:endParaRPr sz="1600" b="0" dirty="0">
              <a:solidFill>
                <a:srgbClr val="222222"/>
              </a:solidFill>
              <a:latin typeface="Pretendard SemiBold"/>
              <a:ea typeface="Pretendard SemiBold"/>
              <a:cs typeface="Pretendard SemiBold"/>
            </a:endParaRPr>
          </a:p>
          <a:p>
            <a:pPr algn="ctr">
              <a:spcAft>
                <a:spcPts val="1400"/>
              </a:spcAft>
            </a:pPr>
            <a:r>
              <a:rPr sz="12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Tel 010-2596-4731   ·   Email ljj3640@gmail.com   ·   GitHub </a:t>
            </a:r>
            <a:r>
              <a:rPr sz="12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  <a:hlinkClick r:id="rId2"/>
              </a:rPr>
              <a:t>github.com/Lcat12345</a:t>
            </a:r>
            <a:endParaRPr sz="1200" b="0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algn="ctr">
              <a:spcAft>
                <a:spcPts val="400"/>
              </a:spcAft>
            </a:pPr>
            <a:r>
              <a:rPr sz="1100" b="0" dirty="0" err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이방인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(Outlander)  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3"/>
              </a:rPr>
              <a:t>github.com/Woon-2/Project-W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  ·   </a:t>
            </a:r>
            <a:r>
              <a:rPr sz="1100" b="0" dirty="0" err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플레이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영상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 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4"/>
              </a:rPr>
              <a:t>youtube.com/</a:t>
            </a:r>
            <a:r>
              <a:rPr sz="1100" b="0" dirty="0" err="1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4"/>
              </a:rPr>
              <a:t>watch?v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4"/>
              </a:rPr>
              <a:t>=A9WalMzxqps</a:t>
            </a:r>
            <a:endParaRPr sz="1100" b="0" dirty="0">
              <a:solidFill>
                <a:srgbClr val="6B7280"/>
              </a:solidFill>
              <a:latin typeface="Pretendard"/>
              <a:ea typeface="Pretendard"/>
              <a:cs typeface="Pretendard"/>
            </a:endParaRPr>
          </a:p>
          <a:p>
            <a:pPr algn="ctr">
              <a:spcAft>
                <a:spcPts val="300"/>
              </a:spcAft>
            </a:pP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MinerKing  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5"/>
              </a:rPr>
              <a:t>github.com/Lcat12345/MinerKing</a:t>
            </a:r>
            <a:endParaRPr sz="1100" b="0" dirty="0">
              <a:solidFill>
                <a:srgbClr val="6B7280"/>
              </a:solidFill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679</Words>
  <Application>Microsoft Office PowerPoint</Application>
  <PresentationFormat>와이드스크린</PresentationFormat>
  <Paragraphs>94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Pretendard</vt:lpstr>
      <vt:lpstr>Pretendard ExtraBold</vt:lpstr>
      <vt:lpstr>Pretendard Medium</vt:lpstr>
      <vt:lpstr>Pretendard SemiBold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종진 이</dc:creator>
  <cp:lastModifiedBy>종진 이</cp:lastModifiedBy>
  <cp:revision>384</cp:revision>
  <dcterms:created xsi:type="dcterms:W3CDTF">2026-09-23T02:50:39Z</dcterms:created>
  <dcterms:modified xsi:type="dcterms:W3CDTF">2026-10-20T03:01:54Z</dcterms:modified>
</cp:coreProperties>
</file>