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Pretendard Bold" panose="020B0600000101010101" charset="-127"/>
      <p:bold r:id="rId15"/>
    </p:embeddedFont>
    <p:embeddedFont>
      <p:font typeface="Pretendard ExtraBold" panose="020B0600000101010101" charset="-127"/>
      <p:bold r:id="rId16"/>
    </p:embeddedFont>
    <p:embeddedFont>
      <p:font typeface="Pretendard Light" panose="020B0600000101010101" charset="-127"/>
      <p:regular r:id="rId17"/>
    </p:embeddedFont>
    <p:embeddedFont>
      <p:font typeface="Pretendard Medium" panose="020B0600000101010101" charset="-127"/>
      <p:bold r:id="rId18"/>
    </p:embeddedFont>
    <p:embeddedFont>
      <p:font typeface="Pretendard Regular" panose="020B0600000101010101" charset="-127"/>
      <p:regular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Geologica Roman Regular" panose="020B0600000101010101" charset="0"/>
      <p:regular r:id="rId24"/>
    </p:embeddedFont>
    <p:embeddedFont>
      <p:font typeface="Montserrat SemiBold" panose="020B0600000101010101" charset="0"/>
      <p:bold r:id="rId2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260" y="-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2C4F7-7922-4542-8190-B474E93099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87BC9D-D41C-4CFA-881F-3FBA7C7524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074036-0685-4D8D-88C2-ECA332F15E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EA837-7CDF-46FD-A3A1-18855655CEF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C9E48-0CF6-49C6-9545-8EA3D27991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D784C-711B-4805-80C3-95C4DCFC2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71FA8-6232-4EE6-A725-D3FA9E9FD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1D1FD-5382-47E9-B387-6B11288D5E6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25E9CC-3CCF-4E4D-A729-BADA224FD7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46548-F64B-4522-B3F4-C2DD11DF92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F2C1B-E8B3-4B1D-A1FF-55E9B3912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0B46E9-8379-4AE2-B1BC-459C259252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2A502-5D19-4CB2-B919-287AA4CEBF9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3D300-2947-41BF-B3D6-4D79F0688D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B4D6A-AF2F-4078-BD18-6C22A43A0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D1B4F-9CD7-4DD7-990B-2E3465DF5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07F6B-BD71-433D-96BF-C9E1B60D5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346060-4299-43A3-A679-DC51AA2B7D56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F5323-CFF5-4946-9B49-7FF3CF9FED4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F9CA56-FBFB-453E-BCFD-9F3C75CB1A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2BE7FC-367D-4F60-A797-07EF8A0CDE1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BF58A-4FA2-4A1A-ACAE-5CC0A435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9D2C27-040A-4E22-85A6-755845F17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C804FF-F790-49BF-95EF-ED6CC4AA0C30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5C8E0F-9848-4EAA-818F-52CA5177D6A9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47CA72-8B0A-4583-8F98-ED2969924FC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7495EA-E830-49B4-9CEE-9ACF89DB835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008816-0B65-4AF8-ADB2-B715F988D1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9600E0-007A-40DD-8C50-938112A3A3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B710B-FBDA-402F-BD8B-18921335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8D96EB-010E-4F38-A49E-D1040A280A6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AAB837-14A1-4C3E-B4EB-5023CC884BA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34ED-8886-4C19-88AA-9010DB06D0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0C6E02-0CA6-4ECE-808A-B9322EE3F26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42101A-4EFA-42B7-8C29-876952F5DCD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703CA-87EE-4F92-9C06-643EE0E9C5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9F532-444A-49C9-A5EC-D4C38317F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0FDC2-A251-4ACF-B8DD-F62203B3B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709F99-DAF8-4912-ACBB-234F203A183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07789E-18F0-4EB6-A770-8AFB56FAC4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33CFD5-1792-4510-9F55-34DC9604E31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C6B32F-6770-48CB-809A-143BEA0EE8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2A716-EAC5-42A7-8D02-A6275F8A9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757C60-B94E-44DF-AE2C-EB01A72955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5DE6BC-2E1D-49B0-827B-5B543FC896A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93532A-DAE3-4A0C-A852-F0ED18BFE2C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3B25AF-5B6E-437B-89C9-6300B5F01C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AC27C-4C2C-4382-9C95-B61C650179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3C6BA-0EF8-4301-AD3F-D2BC2ECB6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9400C-CD3B-493B-9B24-3B7CD130E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605AA-C9F8-41B7-9846-45F5002D42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5EFCE-6183-4CDF-A207-EA95E08AEDD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71232-95E4-4958-97BD-3EC70AE850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5E4727-07A0-4F93-BD14-EEC31E1A3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324D5-EA34-4447-86B3-6D413BC1EB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D6940-7343-4328-A5AD-5CB6DA74815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A1EF5-97EE-48FB-A5EA-44547C2B2B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FCDE00-CB57-43CB-AF63-E8647BC192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9BB7AC-1766-4DB4-91BE-329DB33E3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BDC122-E279-4782-999C-FB9A484BC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28F0D-8A18-497C-BB61-6F79E6F408C5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A9CAB-0293-4137-BE3D-66257EA06E9A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D9ABE-A396-4D43-9854-04D99D77814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sv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1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4.png"/><Relationship Id="rId5" Type="http://schemas.openxmlformats.org/officeDocument/2006/relationships/image" Target="../media/image9.png"/><Relationship Id="rId15" Type="http://schemas.openxmlformats.org/officeDocument/2006/relationships/image" Target="../media/image18.sv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2.svg"/><Relationship Id="rId14" Type="http://schemas.openxmlformats.org/officeDocument/2006/relationships/image" Target="../media/image1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9.png"/><Relationship Id="rId4" Type="http://schemas.openxmlformats.org/officeDocument/2006/relationships/image" Target="../media/image21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9.png"/><Relationship Id="rId4" Type="http://schemas.openxmlformats.org/officeDocument/2006/relationships/image" Target="../media/image21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9.png"/><Relationship Id="rId4" Type="http://schemas.openxmlformats.org/officeDocument/2006/relationships/image" Target="../media/image21.png"/><Relationship Id="rId9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9.png"/><Relationship Id="rId4" Type="http://schemas.openxmlformats.org/officeDocument/2006/relationships/image" Target="../media/image21.png"/><Relationship Id="rId9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9.png"/><Relationship Id="rId4" Type="http://schemas.openxmlformats.org/officeDocument/2006/relationships/image" Target="../media/image21.png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20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21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22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800" y="6146800"/>
            <a:ext cx="10502900" cy="177800"/>
          </a:xfrm>
          <a:prstGeom prst="rect">
            <a:avLst/>
          </a:prstGeom>
        </p:spPr>
      </p:pic>
      <p:pic>
        <p:nvPicPr>
          <p:cNvPr id="23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9700" y="2286000"/>
            <a:ext cx="8902700" cy="165100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6C5E3B8B-E301-41B7-B312-5FC945A8666D}"/>
              </a:ext>
            </a:extLst>
          </p:cNvPr>
          <p:cNvSpPr>
            <a:spLocks noGrp="1"/>
          </p:cNvSpPr>
          <p:nvPr/>
        </p:nvSpPr>
        <p:spPr>
          <a:xfrm>
            <a:off x="7442200" y="4419600"/>
            <a:ext cx="9690100" cy="1866900"/>
          </a:xfrm>
          <a:prstGeom prst="rect">
            <a:avLst/>
          </a:prstGeom>
        </p:spPr>
        <p:txBody>
          <a:bodyPr lIns="0" tIns="131383" rIns="0" bIns="131383" anchor="ctr"/>
          <a:lstStyle/>
          <a:p>
            <a:pPr lvl="0" algn="r">
              <a:lnSpc>
                <a:spcPct val="99600"/>
              </a:lnSpc>
              <a:buNone/>
            </a:pPr>
            <a:r>
              <a:rPr sz="10345" b="0" i="0" u="none" spc="-40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PORTFOLIO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B092948-56A7-4528-8707-36CF4BD1BE21}"/>
              </a:ext>
            </a:extLst>
          </p:cNvPr>
          <p:cNvSpPr>
            <a:spLocks noGrp="1"/>
          </p:cNvSpPr>
          <p:nvPr/>
        </p:nvSpPr>
        <p:spPr>
          <a:xfrm>
            <a:off x="12039600" y="6565900"/>
            <a:ext cx="5092700" cy="863600"/>
          </a:xfrm>
          <a:prstGeom prst="rect">
            <a:avLst/>
          </a:prstGeom>
        </p:spPr>
        <p:txBody>
          <a:bodyPr lIns="0" tIns="30479" rIns="0" bIns="30479" anchor="ctr"/>
          <a:lstStyle/>
          <a:p>
            <a:pPr lvl="0" algn="r">
              <a:lnSpc>
                <a:spcPct val="99600"/>
              </a:lnSpc>
              <a:buNone/>
            </a:pPr>
            <a:r>
              <a:rPr sz="253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신입 게임 서버 프로그래머</a:t>
            </a:r>
          </a:p>
          <a:p>
            <a:pPr lvl="0" algn="r">
              <a:lnSpc>
                <a:spcPct val="99600"/>
              </a:lnSpc>
              <a:buNone/>
            </a:pPr>
            <a:r>
              <a:rPr sz="2539">
                <a:solidFill>
                  <a:srgbClr val="000000"/>
                </a:solidFill>
                <a:latin typeface="Pretendard ExtraBold"/>
                <a:ea typeface="Pretendard ExtraBold"/>
                <a:cs typeface="Pretendard ExtraBold"/>
              </a:rPr>
              <a:t>우상훈</a:t>
            </a:r>
            <a:r>
              <a:rPr sz="253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입니다.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53926BC-E233-40EE-8046-4D014EB4267F}"/>
              </a:ext>
            </a:extLst>
          </p:cNvPr>
          <p:cNvSpPr>
            <a:spLocks noGrp="1"/>
          </p:cNvSpPr>
          <p:nvPr/>
        </p:nvSpPr>
        <p:spPr>
          <a:xfrm>
            <a:off x="1130300" y="7797800"/>
            <a:ext cx="1651000" cy="368300"/>
          </a:xfrm>
          <a:prstGeom prst="rect">
            <a:avLst/>
          </a:prstGeom>
        </p:spPr>
        <p:txBody>
          <a:bodyPr lIns="0" tIns="21589" rIns="0" bIns="21589" anchor="ctr"/>
          <a:lstStyle/>
          <a:p>
            <a:pPr lvl="0" algn="l">
              <a:lnSpc>
                <a:spcPct val="99600"/>
              </a:lnSpc>
              <a:buNone/>
            </a:pPr>
            <a:r>
              <a:rPr sz="1916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CONTACT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3C16526-3877-4B06-8CD9-35B2D7D69CB7}"/>
              </a:ext>
            </a:extLst>
          </p:cNvPr>
          <p:cNvSpPr>
            <a:spLocks noGrp="1"/>
          </p:cNvSpPr>
          <p:nvPr/>
        </p:nvSpPr>
        <p:spPr>
          <a:xfrm>
            <a:off x="1130300" y="8343900"/>
            <a:ext cx="25273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+82 010 5920 3386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6DF1CBE-7B93-4428-8392-4FAEFF3AF0F2}"/>
              </a:ext>
            </a:extLst>
          </p:cNvPr>
          <p:cNvSpPr>
            <a:spLocks noGrp="1"/>
          </p:cNvSpPr>
          <p:nvPr/>
        </p:nvSpPr>
        <p:spPr>
          <a:xfrm>
            <a:off x="1130300" y="8674100"/>
            <a:ext cx="34671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r>
              <a:rPr sz="1916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asm1133</a:t>
            </a: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@</a:t>
            </a:r>
            <a:r>
              <a:rPr sz="1916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naver</a:t>
            </a: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.com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AAB0C8E-0D34-4413-ABDF-8EEAD2C60EFE}"/>
              </a:ext>
            </a:extLst>
          </p:cNvPr>
          <p:cNvSpPr>
            <a:spLocks noGrp="1"/>
          </p:cNvSpPr>
          <p:nvPr/>
        </p:nvSpPr>
        <p:spPr>
          <a:xfrm>
            <a:off x="1130300" y="9004300"/>
            <a:ext cx="34671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endParaRPr sz="1916" b="0" i="0" u="none">
              <a:solidFill>
                <a:srgbClr val="595959"/>
              </a:solidFill>
              <a:latin typeface="Pretendard Light"/>
              <a:ea typeface="Pretendard Light"/>
              <a:cs typeface="Pretendard Light"/>
            </a:endParaRPr>
          </a:p>
        </p:txBody>
      </p:sp>
    </p:spTree>
    <p:extLst>
      <p:ext uri="{BB962C8B-B14F-4D97-AF65-F5344CB8AC3E}">
        <p14:creationId xmlns:p14="http://schemas.microsoft.com/office/powerpoint/2010/main" val="559406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4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45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46" name="Picture 5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7810500" y="9131300"/>
            <a:ext cx="482600" cy="469900"/>
          </a:xfrm>
          <a:prstGeom prst="rect">
            <a:avLst/>
          </a:prstGeom>
        </p:spPr>
      </p:pic>
      <p:pic>
        <p:nvPicPr>
          <p:cNvPr id="47" name="Pictur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4200" y="9232900"/>
            <a:ext cx="10502900" cy="177800"/>
          </a:xfrm>
          <a:prstGeom prst="rect">
            <a:avLst/>
          </a:prstGeom>
        </p:spPr>
      </p:pic>
      <p:pic>
        <p:nvPicPr>
          <p:cNvPr id="48" name="Pictur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139700" y="2286000"/>
            <a:ext cx="8902700" cy="165100"/>
          </a:xfrm>
          <a:prstGeom prst="rect">
            <a:avLst/>
          </a:prstGeom>
        </p:spPr>
      </p:pic>
      <p:sp>
        <p:nvSpPr>
          <p:cNvPr id="25" name="CONTENTS">
            <a:extLst>
              <a:ext uri="{FF2B5EF4-FFF2-40B4-BE49-F238E27FC236}">
                <a16:creationId xmlns:a16="http://schemas.microsoft.com/office/drawing/2014/main" id="{0CE67303-B2EB-4DAE-BD1B-12F1FDC8A13E}"/>
              </a:ext>
            </a:extLst>
          </p:cNvPr>
          <p:cNvSpPr>
            <a:spLocks noGrp="1"/>
          </p:cNvSpPr>
          <p:nvPr/>
        </p:nvSpPr>
        <p:spPr>
          <a:xfrm>
            <a:off x="1143000" y="952500"/>
            <a:ext cx="8572500" cy="1285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68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68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CONTENTS</a:t>
            </a:r>
          </a:p>
        </p:txBody>
      </p:sp>
      <p:sp>
        <p:nvSpPr>
          <p:cNvPr id="28" name="01">
            <a:extLst>
              <a:ext uri="{FF2B5EF4-FFF2-40B4-BE49-F238E27FC236}">
                <a16:creationId xmlns:a16="http://schemas.microsoft.com/office/drawing/2014/main" id="{2174B8EB-B658-4850-99A1-A1C79E4871DB}"/>
              </a:ext>
            </a:extLst>
          </p:cNvPr>
          <p:cNvSpPr>
            <a:spLocks noGrp="1"/>
          </p:cNvSpPr>
          <p:nvPr/>
        </p:nvSpPr>
        <p:spPr>
          <a:xfrm>
            <a:off x="9429750" y="260985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01</a:t>
            </a:r>
          </a:p>
        </p:txBody>
      </p:sp>
      <p:sp>
        <p:nvSpPr>
          <p:cNvPr id="29" name="프로필과 기술">
            <a:extLst>
              <a:ext uri="{FF2B5EF4-FFF2-40B4-BE49-F238E27FC236}">
                <a16:creationId xmlns:a16="http://schemas.microsoft.com/office/drawing/2014/main" id="{BED37297-4D63-447B-BD8B-71DF3BC97431}"/>
              </a:ext>
            </a:extLst>
          </p:cNvPr>
          <p:cNvSpPr>
            <a:spLocks noGrp="1"/>
          </p:cNvSpPr>
          <p:nvPr/>
        </p:nvSpPr>
        <p:spPr>
          <a:xfrm>
            <a:off x="10382250" y="260985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프로필과 기술</a:t>
            </a:r>
          </a:p>
        </p:txBody>
      </p:sp>
      <p:sp>
        <p:nvSpPr>
          <p:cNvPr id="30" name="03p">
            <a:extLst>
              <a:ext uri="{FF2B5EF4-FFF2-40B4-BE49-F238E27FC236}">
                <a16:creationId xmlns:a16="http://schemas.microsoft.com/office/drawing/2014/main" id="{6E4B4D8F-EC26-4A52-8782-04E45EA59B10}"/>
              </a:ext>
            </a:extLst>
          </p:cNvPr>
          <p:cNvSpPr>
            <a:spLocks noGrp="1"/>
          </p:cNvSpPr>
          <p:nvPr/>
        </p:nvSpPr>
        <p:spPr>
          <a:xfrm>
            <a:off x="10382250" y="31146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03p</a:t>
            </a:r>
          </a:p>
        </p:txBody>
      </p:sp>
      <p:sp>
        <p:nvSpPr>
          <p:cNvPr id="31" name="02">
            <a:extLst>
              <a:ext uri="{FF2B5EF4-FFF2-40B4-BE49-F238E27FC236}">
                <a16:creationId xmlns:a16="http://schemas.microsoft.com/office/drawing/2014/main" id="{7C9D8F8D-A50A-4665-B442-1FC5B6D42E64}"/>
              </a:ext>
            </a:extLst>
          </p:cNvPr>
          <p:cNvSpPr>
            <a:spLocks noGrp="1"/>
          </p:cNvSpPr>
          <p:nvPr/>
        </p:nvSpPr>
        <p:spPr>
          <a:xfrm>
            <a:off x="9429750" y="381000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02</a:t>
            </a:r>
          </a:p>
        </p:txBody>
      </p:sp>
      <p:sp>
        <p:nvSpPr>
          <p:cNvPr id="32" name="프로젝트 개요와 담당 범위">
            <a:extLst>
              <a:ext uri="{FF2B5EF4-FFF2-40B4-BE49-F238E27FC236}">
                <a16:creationId xmlns:a16="http://schemas.microsoft.com/office/drawing/2014/main" id="{87102F01-F037-4FDD-88A2-82A3CA16299A}"/>
              </a:ext>
            </a:extLst>
          </p:cNvPr>
          <p:cNvSpPr>
            <a:spLocks noGrp="1"/>
          </p:cNvSpPr>
          <p:nvPr/>
        </p:nvSpPr>
        <p:spPr>
          <a:xfrm>
            <a:off x="10382250" y="381000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프로젝트 개요와 담당 범위</a:t>
            </a:r>
          </a:p>
        </p:txBody>
      </p:sp>
      <p:sp>
        <p:nvSpPr>
          <p:cNvPr id="33" name="04–05p">
            <a:extLst>
              <a:ext uri="{FF2B5EF4-FFF2-40B4-BE49-F238E27FC236}">
                <a16:creationId xmlns:a16="http://schemas.microsoft.com/office/drawing/2014/main" id="{34F51A1B-50E5-46AE-89A9-FA9530B3039D}"/>
              </a:ext>
            </a:extLst>
          </p:cNvPr>
          <p:cNvSpPr>
            <a:spLocks noGrp="1"/>
          </p:cNvSpPr>
          <p:nvPr/>
        </p:nvSpPr>
        <p:spPr>
          <a:xfrm>
            <a:off x="10382250" y="431482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04–05p</a:t>
            </a:r>
          </a:p>
        </p:txBody>
      </p:sp>
      <p:sp>
        <p:nvSpPr>
          <p:cNvPr id="34" name="03">
            <a:extLst>
              <a:ext uri="{FF2B5EF4-FFF2-40B4-BE49-F238E27FC236}">
                <a16:creationId xmlns:a16="http://schemas.microsoft.com/office/drawing/2014/main" id="{37A76DA1-97D5-423F-9AF7-4B0D02DFAB98}"/>
              </a:ext>
            </a:extLst>
          </p:cNvPr>
          <p:cNvSpPr>
            <a:spLocks noGrp="1"/>
          </p:cNvSpPr>
          <p:nvPr/>
        </p:nvSpPr>
        <p:spPr>
          <a:xfrm>
            <a:off x="9429750" y="501015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03</a:t>
            </a:r>
          </a:p>
        </p:txBody>
      </p:sp>
      <p:sp>
        <p:nvSpPr>
          <p:cNvPr id="35" name="핵심 문제 해결 3선">
            <a:extLst>
              <a:ext uri="{FF2B5EF4-FFF2-40B4-BE49-F238E27FC236}">
                <a16:creationId xmlns:a16="http://schemas.microsoft.com/office/drawing/2014/main" id="{50AA4ED0-B31F-49CF-91A0-57BC9DE9CF00}"/>
              </a:ext>
            </a:extLst>
          </p:cNvPr>
          <p:cNvSpPr>
            <a:spLocks noGrp="1"/>
          </p:cNvSpPr>
          <p:nvPr/>
        </p:nvSpPr>
        <p:spPr>
          <a:xfrm>
            <a:off x="10382250" y="501015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핵심 문제 해결 3선</a:t>
            </a:r>
          </a:p>
        </p:txBody>
      </p:sp>
      <p:sp>
        <p:nvSpPr>
          <p:cNvPr id="36" name="06p">
            <a:extLst>
              <a:ext uri="{FF2B5EF4-FFF2-40B4-BE49-F238E27FC236}">
                <a16:creationId xmlns:a16="http://schemas.microsoft.com/office/drawing/2014/main" id="{6644407B-C3F5-4E2D-93B9-D27ACB0C62AA}"/>
              </a:ext>
            </a:extLst>
          </p:cNvPr>
          <p:cNvSpPr>
            <a:spLocks noGrp="1"/>
          </p:cNvSpPr>
          <p:nvPr/>
        </p:nvSpPr>
        <p:spPr>
          <a:xfrm>
            <a:off x="10382250" y="55149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06p</a:t>
            </a:r>
          </a:p>
        </p:txBody>
      </p:sp>
      <p:sp>
        <p:nvSpPr>
          <p:cNvPr id="37" name="04">
            <a:extLst>
              <a:ext uri="{FF2B5EF4-FFF2-40B4-BE49-F238E27FC236}">
                <a16:creationId xmlns:a16="http://schemas.microsoft.com/office/drawing/2014/main" id="{F780EA9C-A8A1-4742-BB0B-3CB41380BCA8}"/>
              </a:ext>
            </a:extLst>
          </p:cNvPr>
          <p:cNvSpPr>
            <a:spLocks noGrp="1"/>
          </p:cNvSpPr>
          <p:nvPr/>
        </p:nvSpPr>
        <p:spPr>
          <a:xfrm>
            <a:off x="9429750" y="621030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04</a:t>
            </a:r>
          </a:p>
        </p:txBody>
      </p:sp>
      <p:sp>
        <p:nvSpPr>
          <p:cNvPr id="38" name="서버 구조와 동시성 설계">
            <a:extLst>
              <a:ext uri="{FF2B5EF4-FFF2-40B4-BE49-F238E27FC236}">
                <a16:creationId xmlns:a16="http://schemas.microsoft.com/office/drawing/2014/main" id="{596E38F0-7EFF-4645-A94D-6C6B68974862}"/>
              </a:ext>
            </a:extLst>
          </p:cNvPr>
          <p:cNvSpPr>
            <a:spLocks noGrp="1"/>
          </p:cNvSpPr>
          <p:nvPr/>
        </p:nvSpPr>
        <p:spPr>
          <a:xfrm>
            <a:off x="10382250" y="621030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서버 구조와 동시성 설계</a:t>
            </a:r>
          </a:p>
        </p:txBody>
      </p:sp>
      <p:sp>
        <p:nvSpPr>
          <p:cNvPr id="39" name="07–10p">
            <a:extLst>
              <a:ext uri="{FF2B5EF4-FFF2-40B4-BE49-F238E27FC236}">
                <a16:creationId xmlns:a16="http://schemas.microsoft.com/office/drawing/2014/main" id="{615C568D-14D0-4DFD-B032-E07ADB6C16F8}"/>
              </a:ext>
            </a:extLst>
          </p:cNvPr>
          <p:cNvSpPr>
            <a:spLocks noGrp="1"/>
          </p:cNvSpPr>
          <p:nvPr/>
        </p:nvSpPr>
        <p:spPr>
          <a:xfrm>
            <a:off x="10382250" y="671512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07–10p</a:t>
            </a:r>
          </a:p>
        </p:txBody>
      </p:sp>
      <p:sp>
        <p:nvSpPr>
          <p:cNvPr id="40" name="05">
            <a:extLst>
              <a:ext uri="{FF2B5EF4-FFF2-40B4-BE49-F238E27FC236}">
                <a16:creationId xmlns:a16="http://schemas.microsoft.com/office/drawing/2014/main" id="{71C081F6-42CB-49FF-9149-E2D0D7593D71}"/>
              </a:ext>
            </a:extLst>
          </p:cNvPr>
          <p:cNvSpPr>
            <a:spLocks noGrp="1"/>
          </p:cNvSpPr>
          <p:nvPr/>
        </p:nvSpPr>
        <p:spPr>
          <a:xfrm>
            <a:off x="9429750" y="741045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05</a:t>
            </a:r>
          </a:p>
        </p:txBody>
      </p:sp>
      <p:sp>
        <p:nvSpPr>
          <p:cNvPr id="41" name="Room 수명 관리와 UAF 해결">
            <a:extLst>
              <a:ext uri="{FF2B5EF4-FFF2-40B4-BE49-F238E27FC236}">
                <a16:creationId xmlns:a16="http://schemas.microsoft.com/office/drawing/2014/main" id="{7D4BF153-9430-4AF7-A2FF-63DAB47C1F51}"/>
              </a:ext>
            </a:extLst>
          </p:cNvPr>
          <p:cNvSpPr>
            <a:spLocks noGrp="1"/>
          </p:cNvSpPr>
          <p:nvPr/>
        </p:nvSpPr>
        <p:spPr>
          <a:xfrm>
            <a:off x="10382250" y="741045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Room 수명 관리와 UAF 해결</a:t>
            </a:r>
          </a:p>
        </p:txBody>
      </p:sp>
      <p:sp>
        <p:nvSpPr>
          <p:cNvPr id="42" name="11p">
            <a:extLst>
              <a:ext uri="{FF2B5EF4-FFF2-40B4-BE49-F238E27FC236}">
                <a16:creationId xmlns:a16="http://schemas.microsoft.com/office/drawing/2014/main" id="{9E50F77E-295E-471B-9ABA-C2BD0B5E94B0}"/>
              </a:ext>
            </a:extLst>
          </p:cNvPr>
          <p:cNvSpPr>
            <a:spLocks noGrp="1"/>
          </p:cNvSpPr>
          <p:nvPr/>
        </p:nvSpPr>
        <p:spPr>
          <a:xfrm>
            <a:off x="10382250" y="79152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11p</a:t>
            </a:r>
          </a:p>
        </p:txBody>
      </p:sp>
    </p:spTree>
    <p:extLst>
      <p:ext uri="{BB962C8B-B14F-4D97-AF65-F5344CB8AC3E}">
        <p14:creationId xmlns:p14="http://schemas.microsoft.com/office/powerpoint/2010/main" val="1053361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10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105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106" name="Picture 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11896725" y="4467225"/>
            <a:ext cx="5067300" cy="1847850"/>
          </a:xfrm>
          <a:prstGeom prst="rect">
            <a:avLst/>
          </a:prstGeom>
        </p:spPr>
      </p:pic>
      <p:pic>
        <p:nvPicPr>
          <p:cNvPr id="107" name="Picture 9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5400000">
            <a:off x="-1930400" y="2197100"/>
            <a:ext cx="8420100" cy="5930900"/>
          </a:xfrm>
          <a:prstGeom prst="rect">
            <a:avLst/>
          </a:prstGeom>
        </p:spPr>
      </p:pic>
      <p:pic>
        <p:nvPicPr>
          <p:cNvPr id="108" name="Picture 10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109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110" name="Picture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2" name="TextBox 22">
            <a:extLst>
              <a:ext uri="{FF2B5EF4-FFF2-40B4-BE49-F238E27FC236}">
                <a16:creationId xmlns:a16="http://schemas.microsoft.com/office/drawing/2014/main" id="{9A97507E-684E-49C7-8893-F2103069A715}"/>
              </a:ext>
            </a:extLst>
          </p:cNvPr>
          <p:cNvSpPr>
            <a:spLocks noGrp="1"/>
          </p:cNvSpPr>
          <p:nvPr/>
        </p:nvSpPr>
        <p:spPr>
          <a:xfrm>
            <a:off x="1422400" y="5397500"/>
            <a:ext cx="3111500" cy="1206500"/>
          </a:xfrm>
          <a:prstGeom prst="rect">
            <a:avLst/>
          </a:prstGeom>
        </p:spPr>
        <p:txBody>
          <a:bodyPr lIns="0" tIns="15113" rIns="0" bIns="0" anchor="t"/>
          <a:lstStyle/>
          <a:p>
            <a:pPr lvl="0" algn="ctr">
              <a:lnSpc>
                <a:spcPct val="110390"/>
              </a:lnSpc>
              <a:buNone/>
            </a:pPr>
            <a:r>
              <a:rPr sz="3400" b="0" i="0" u="non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안녕하세요</a:t>
            </a:r>
          </a:p>
          <a:p>
            <a:pPr lvl="0" algn="ctr">
              <a:lnSpc>
                <a:spcPct val="110390"/>
              </a:lnSpc>
              <a:buNone/>
            </a:pPr>
            <a:r>
              <a:rPr sz="3400" b="0" i="0" u="non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우상훈 </a:t>
            </a:r>
            <a:r>
              <a:rPr sz="3400" b="0" i="0" u="non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입니다.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8C91F0C-AFBA-4261-AAEA-510ADB877392}"/>
              </a:ext>
            </a:extLst>
          </p:cNvPr>
          <p:cNvSpPr>
            <a:spLocks noGrp="1"/>
          </p:cNvSpPr>
          <p:nvPr/>
        </p:nvSpPr>
        <p:spPr>
          <a:xfrm>
            <a:off x="1447800" y="7480300"/>
            <a:ext cx="3022600" cy="1625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144420"/>
              </a:lnSpc>
              <a:buNone/>
            </a:pPr>
            <a:r>
              <a:rPr sz="1899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우상훈</a:t>
            </a:r>
            <a:r>
              <a:rPr sz="18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(</a:t>
            </a:r>
            <a:r>
              <a:rPr sz="1899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Woo</a:t>
            </a:r>
            <a:r>
              <a:rPr sz="18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Sanghoon)</a:t>
            </a:r>
          </a:p>
          <a:p>
            <a:pPr lvl="0" algn="ctr">
              <a:lnSpc>
                <a:spcPct val="144420"/>
              </a:lnSpc>
              <a:buNone/>
            </a:pPr>
            <a:r>
              <a:rPr sz="1899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20</a:t>
            </a:r>
            <a:r>
              <a:rPr sz="18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00.04.20</a:t>
            </a:r>
          </a:p>
          <a:p>
            <a:pPr lvl="0" algn="ctr">
              <a:lnSpc>
                <a:spcPct val="144420"/>
              </a:lnSpc>
              <a:buNone/>
            </a:pPr>
            <a:r>
              <a:rPr sz="1899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asm1133@naver</a:t>
            </a:r>
            <a:r>
              <a:rPr sz="18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.com</a:t>
            </a:r>
          </a:p>
          <a:p>
            <a:pPr lvl="0" algn="ctr">
              <a:lnSpc>
                <a:spcPct val="144420"/>
              </a:lnSpc>
              <a:buNone/>
            </a:pPr>
            <a:r>
              <a:rPr sz="18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010-5920-3386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EC699477-35C4-48EB-AC28-1A0CAAA40963}"/>
              </a:ext>
            </a:extLst>
          </p:cNvPr>
          <p:cNvSpPr>
            <a:spLocks noGrp="1"/>
          </p:cNvSpPr>
          <p:nvPr/>
        </p:nvSpPr>
        <p:spPr>
          <a:xfrm>
            <a:off x="1701800" y="6934200"/>
            <a:ext cx="2514600" cy="444500"/>
          </a:xfrm>
          <a:prstGeom prst="rect">
            <a:avLst/>
          </a:prstGeom>
        </p:spPr>
        <p:txBody>
          <a:bodyPr lIns="0" tIns="30479" rIns="0" bIns="0" anchor="t"/>
          <a:lstStyle/>
          <a:p>
            <a:pPr lvl="0" algn="ctr">
              <a:lnSpc>
                <a:spcPct val="99600"/>
              </a:lnSpc>
              <a:buNone/>
            </a:pPr>
            <a:r>
              <a:rPr sz="2399" b="0" i="0" u="none">
                <a:solidFill>
                  <a:srgbClr val="000000"/>
                </a:solidFill>
                <a:latin typeface="Geologica Roman Regular"/>
                <a:ea typeface="Geologica Roman Regular"/>
                <a:cs typeface="Geologica Roman Regular"/>
              </a:rPr>
              <a:t>About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D4FF5643-A31B-498D-A0E5-B5CD41CAC737}"/>
              </a:ext>
            </a:extLst>
          </p:cNvPr>
          <p:cNvSpPr>
            <a:spLocks noGrp="1"/>
          </p:cNvSpPr>
          <p:nvPr/>
        </p:nvSpPr>
        <p:spPr>
          <a:xfrm>
            <a:off x="6769132" y="8839200"/>
            <a:ext cx="10191750" cy="400050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lvl="0" algn="l">
              <a:lnSpc>
                <a:spcPct val="105000"/>
              </a:lnSpc>
              <a:buNone/>
              <a:defRPr sz="12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275" b="0" i="0" u="none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나를 소개하는 내용을 이곳에 간략하게 입력해주세요. </a:t>
            </a:r>
          </a:p>
          <a:p>
            <a:pPr lvl="0" algn="l">
              <a:lnSpc>
                <a:spcPct val="105000"/>
              </a:lnSpc>
              <a:buNone/>
              <a:defRPr sz="12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275" b="0" i="0" u="none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관련 내용을 이곳에 텍스트로 입력해주세요. 나를 소개하는 관련 내용을 이곳에 텍스트로 입력해주세요. 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D2E0BA59-B977-45E5-9B92-FE3FF0BDCFC4}"/>
              </a:ext>
            </a:extLst>
          </p:cNvPr>
          <p:cNvSpPr>
            <a:spLocks noGrp="1"/>
          </p:cNvSpPr>
          <p:nvPr/>
        </p:nvSpPr>
        <p:spPr>
          <a:xfrm>
            <a:off x="12201525" y="4695825"/>
            <a:ext cx="4457700" cy="447675"/>
          </a:xfrm>
          <a:prstGeom prst="rect">
            <a:avLst/>
          </a:prstGeom>
        </p:spPr>
        <p:txBody>
          <a:bodyPr lIns="0" tIns="15240" rIns="0" bIns="0" anchor="t"/>
          <a:lstStyle/>
          <a:p>
            <a:pPr lvl="0" algn="l">
              <a:lnSpc>
                <a:spcPct val="107899"/>
              </a:lnSpc>
              <a:buNone/>
            </a:pPr>
            <a:r>
              <a:rPr sz="2400" b="0" i="0" u="none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수상</a:t>
            </a:r>
          </a:p>
        </p:txBody>
      </p:sp>
      <p:pic>
        <p:nvPicPr>
          <p:cNvPr id="116" name="그림 4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14475" y="1208253"/>
            <a:ext cx="2889250" cy="3857149"/>
          </a:xfrm>
          <a:prstGeom prst="rect">
            <a:avLst/>
          </a:prstGeom>
        </p:spPr>
      </p:pic>
      <p:pic>
        <p:nvPicPr>
          <p:cNvPr id="117" name="Picture 8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505575" y="1285875"/>
            <a:ext cx="5067300" cy="2800350"/>
          </a:xfrm>
          <a:prstGeom prst="rect">
            <a:avLst/>
          </a:prstGeom>
        </p:spPr>
      </p:pic>
      <p:sp>
        <p:nvSpPr>
          <p:cNvPr id="59" name="TextBox 29">
            <a:extLst>
              <a:ext uri="{FF2B5EF4-FFF2-40B4-BE49-F238E27FC236}">
                <a16:creationId xmlns:a16="http://schemas.microsoft.com/office/drawing/2014/main" id="{BCB84EB7-181D-40D8-8CE8-3F5BC517A4F0}"/>
              </a:ext>
            </a:extLst>
          </p:cNvPr>
          <p:cNvSpPr>
            <a:spLocks noGrp="1"/>
          </p:cNvSpPr>
          <p:nvPr/>
        </p:nvSpPr>
        <p:spPr>
          <a:xfrm>
            <a:off x="6810375" y="1514475"/>
            <a:ext cx="4457700" cy="447675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lvl="0" algn="l">
              <a:lnSpc>
                <a:spcPct val="110000"/>
              </a:lnSpc>
              <a:buNone/>
              <a:defRPr sz="2400" b="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0" i="0" u="none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기술</a:t>
            </a:r>
          </a:p>
        </p:txBody>
      </p:sp>
      <p:sp>
        <p:nvSpPr>
          <p:cNvPr id="60" name="언어">
            <a:extLst>
              <a:ext uri="{FF2B5EF4-FFF2-40B4-BE49-F238E27FC236}">
                <a16:creationId xmlns:a16="http://schemas.microsoft.com/office/drawing/2014/main" id="{1D8D7F1C-9529-40C7-952E-4EDDF7A16077}"/>
              </a:ext>
            </a:extLst>
          </p:cNvPr>
          <p:cNvSpPr>
            <a:spLocks noGrp="1"/>
          </p:cNvSpPr>
          <p:nvPr/>
        </p:nvSpPr>
        <p:spPr>
          <a:xfrm>
            <a:off x="6810375" y="2124075"/>
            <a:ext cx="10477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rPr>
              <a:t>언어</a:t>
            </a:r>
          </a:p>
        </p:txBody>
      </p:sp>
      <p:sp>
        <p:nvSpPr>
          <p:cNvPr id="61" name="C++20">
            <a:extLst>
              <a:ext uri="{FF2B5EF4-FFF2-40B4-BE49-F238E27FC236}">
                <a16:creationId xmlns:a16="http://schemas.microsoft.com/office/drawing/2014/main" id="{CB7AEDAA-E427-4996-816B-B0D60151A994}"/>
              </a:ext>
            </a:extLst>
          </p:cNvPr>
          <p:cNvSpPr>
            <a:spLocks noGrp="1"/>
          </p:cNvSpPr>
          <p:nvPr/>
        </p:nvSpPr>
        <p:spPr>
          <a:xfrm>
            <a:off x="8029575" y="2124075"/>
            <a:ext cx="32385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rPr>
              <a:t>C, C++20</a:t>
            </a:r>
          </a:p>
        </p:txBody>
      </p:sp>
      <p:sp>
        <p:nvSpPr>
          <p:cNvPr id="62" name="네트워크">
            <a:extLst>
              <a:ext uri="{FF2B5EF4-FFF2-40B4-BE49-F238E27FC236}">
                <a16:creationId xmlns:a16="http://schemas.microsoft.com/office/drawing/2014/main" id="{01D1748C-029A-4DB8-933C-A0C4B12929FD}"/>
              </a:ext>
            </a:extLst>
          </p:cNvPr>
          <p:cNvSpPr>
            <a:spLocks noGrp="1"/>
          </p:cNvSpPr>
          <p:nvPr/>
        </p:nvSpPr>
        <p:spPr>
          <a:xfrm>
            <a:off x="6810375" y="2581275"/>
            <a:ext cx="10477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rPr>
              <a:t>서버</a:t>
            </a:r>
          </a:p>
        </p:txBody>
      </p:sp>
      <p:sp>
        <p:nvSpPr>
          <p:cNvPr id="63" name="Winsock2 / IOCP">
            <a:extLst>
              <a:ext uri="{FF2B5EF4-FFF2-40B4-BE49-F238E27FC236}">
                <a16:creationId xmlns:a16="http://schemas.microsoft.com/office/drawing/2014/main" id="{45BECD0F-AD9A-4B82-B3B6-406846059A18}"/>
              </a:ext>
            </a:extLst>
          </p:cNvPr>
          <p:cNvSpPr>
            <a:spLocks noGrp="1"/>
          </p:cNvSpPr>
          <p:nvPr/>
        </p:nvSpPr>
        <p:spPr>
          <a:xfrm>
            <a:off x="8029575" y="2581275"/>
            <a:ext cx="32385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rPr>
              <a:t>IOCP, Multi-thread</a:t>
            </a:r>
          </a:p>
        </p:txBody>
      </p:sp>
      <p:sp>
        <p:nvSpPr>
          <p:cNvPr id="64" name="동시성">
            <a:extLst>
              <a:ext uri="{FF2B5EF4-FFF2-40B4-BE49-F238E27FC236}">
                <a16:creationId xmlns:a16="http://schemas.microsoft.com/office/drawing/2014/main" id="{CBC035C0-D8A3-4B6F-B3A3-CE9D5F71A012}"/>
              </a:ext>
            </a:extLst>
          </p:cNvPr>
          <p:cNvSpPr>
            <a:spLocks noGrp="1"/>
          </p:cNvSpPr>
          <p:nvPr/>
        </p:nvSpPr>
        <p:spPr>
          <a:xfrm>
            <a:off x="6810375" y="3038475"/>
            <a:ext cx="10477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rPr>
              <a:t>클라이언트</a:t>
            </a:r>
          </a:p>
        </p:txBody>
      </p:sp>
      <p:sp>
        <p:nvSpPr>
          <p:cNvPr id="65" name="JobQueue / JobTimer">
            <a:extLst>
              <a:ext uri="{FF2B5EF4-FFF2-40B4-BE49-F238E27FC236}">
                <a16:creationId xmlns:a16="http://schemas.microsoft.com/office/drawing/2014/main" id="{B2837B13-BF8E-4A35-89BF-8C69A92F7366}"/>
              </a:ext>
            </a:extLst>
          </p:cNvPr>
          <p:cNvSpPr>
            <a:spLocks noGrp="1"/>
          </p:cNvSpPr>
          <p:nvPr/>
        </p:nvSpPr>
        <p:spPr>
          <a:xfrm>
            <a:off x="8029575" y="3038475"/>
            <a:ext cx="32385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95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rPr>
              <a:t>Win32 API, OpenGL</a:t>
            </a:r>
            <a:endParaRPr sz="1950" b="0">
              <a:solidFill>
                <a:srgbClr val="3B3B3B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66" name="도구">
            <a:extLst>
              <a:ext uri="{FF2B5EF4-FFF2-40B4-BE49-F238E27FC236}">
                <a16:creationId xmlns:a16="http://schemas.microsoft.com/office/drawing/2014/main" id="{3C9ADB1C-6236-47A9-B981-B47D714352C0}"/>
              </a:ext>
            </a:extLst>
          </p:cNvPr>
          <p:cNvSpPr>
            <a:spLocks noGrp="1"/>
          </p:cNvSpPr>
          <p:nvPr/>
        </p:nvSpPr>
        <p:spPr>
          <a:xfrm>
            <a:off x="6810375" y="3495675"/>
            <a:ext cx="10477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rPr>
              <a:t>기타</a:t>
            </a:r>
          </a:p>
        </p:txBody>
      </p:sp>
      <p:sp>
        <p:nvSpPr>
          <p:cNvPr id="67" name="Git / Visual Studio">
            <a:extLst>
              <a:ext uri="{FF2B5EF4-FFF2-40B4-BE49-F238E27FC236}">
                <a16:creationId xmlns:a16="http://schemas.microsoft.com/office/drawing/2014/main" id="{4867F605-B170-4A5B-A25D-3A27DD57A64F}"/>
              </a:ext>
            </a:extLst>
          </p:cNvPr>
          <p:cNvSpPr>
            <a:spLocks noGrp="1"/>
          </p:cNvSpPr>
          <p:nvPr/>
        </p:nvSpPr>
        <p:spPr>
          <a:xfrm>
            <a:off x="8029575" y="3495675"/>
            <a:ext cx="32385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95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rPr>
              <a:t>MSSQL, MySQL, Git</a:t>
            </a:r>
            <a:endParaRPr sz="1950" b="0">
              <a:solidFill>
                <a:srgbClr val="3B3B3B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pic>
        <p:nvPicPr>
          <p:cNvPr id="127" name="Picture 7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896725" y="1285875"/>
            <a:ext cx="5067300" cy="2800350"/>
          </a:xfrm>
          <a:prstGeom prst="rect">
            <a:avLst/>
          </a:prstGeom>
        </p:spPr>
      </p:pic>
      <p:sp>
        <p:nvSpPr>
          <p:cNvPr id="55" name="TextBox 30">
            <a:extLst>
              <a:ext uri="{FF2B5EF4-FFF2-40B4-BE49-F238E27FC236}">
                <a16:creationId xmlns:a16="http://schemas.microsoft.com/office/drawing/2014/main" id="{58A1067F-2B03-4B02-8D52-AE9B97ED29AB}"/>
              </a:ext>
            </a:extLst>
          </p:cNvPr>
          <p:cNvSpPr>
            <a:spLocks noGrp="1"/>
          </p:cNvSpPr>
          <p:nvPr/>
        </p:nvSpPr>
        <p:spPr>
          <a:xfrm>
            <a:off x="12201525" y="1514475"/>
            <a:ext cx="4457700" cy="447675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lvl="0" algn="l">
              <a:lnSpc>
                <a:spcPct val="110000"/>
              </a:lnSpc>
              <a:buNone/>
              <a:defRPr sz="2400" b="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학력</a:t>
            </a:r>
            <a:r>
              <a:rPr sz="2400" b="0" i="0" u="none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사항</a:t>
            </a:r>
          </a:p>
        </p:txBody>
      </p:sp>
      <p:sp>
        <p:nvSpPr>
          <p:cNvPr id="70" name="[학교명] [학과명]">
            <a:extLst>
              <a:ext uri="{FF2B5EF4-FFF2-40B4-BE49-F238E27FC236}">
                <a16:creationId xmlns:a16="http://schemas.microsoft.com/office/drawing/2014/main" id="{9E16500B-CCDD-4359-AA13-502572AB5C5A}"/>
              </a:ext>
            </a:extLst>
          </p:cNvPr>
          <p:cNvSpPr>
            <a:spLocks noGrp="1"/>
          </p:cNvSpPr>
          <p:nvPr/>
        </p:nvSpPr>
        <p:spPr>
          <a:xfrm>
            <a:off x="13363575" y="2466975"/>
            <a:ext cx="32956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진건고등학교 졸업</a:t>
            </a:r>
            <a:endParaRPr sz="1950" b="0">
              <a:solidFill>
                <a:srgbClr val="3B3B3B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71" name="[재학 기간]  /  [졸업 여부]">
            <a:extLst>
              <a:ext uri="{FF2B5EF4-FFF2-40B4-BE49-F238E27FC236}">
                <a16:creationId xmlns:a16="http://schemas.microsoft.com/office/drawing/2014/main" id="{01AB451B-C5FB-4BE7-AD35-4809C2160D77}"/>
              </a:ext>
            </a:extLst>
          </p:cNvPr>
          <p:cNvSpPr>
            <a:spLocks noGrp="1"/>
          </p:cNvSpPr>
          <p:nvPr/>
        </p:nvSpPr>
        <p:spPr>
          <a:xfrm>
            <a:off x="12201525" y="2466975"/>
            <a:ext cx="10477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2019.02</a:t>
            </a:r>
            <a:endParaRPr sz="1725" b="0">
              <a:solidFill>
                <a:srgbClr val="858585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72" name="[학교명] [학과명]">
            <a:extLst>
              <a:ext uri="{FF2B5EF4-FFF2-40B4-BE49-F238E27FC236}">
                <a16:creationId xmlns:a16="http://schemas.microsoft.com/office/drawing/2014/main" id="{83E6300A-177C-408E-8FD6-FFF94C108B6C}"/>
              </a:ext>
            </a:extLst>
          </p:cNvPr>
          <p:cNvSpPr>
            <a:spLocks noGrp="1"/>
          </p:cNvSpPr>
          <p:nvPr/>
        </p:nvSpPr>
        <p:spPr>
          <a:xfrm>
            <a:off x="13363575" y="3038475"/>
            <a:ext cx="340995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한국공학대학교 게임공학과 졸업예정</a:t>
            </a:r>
            <a:endParaRPr sz="1950" b="0">
              <a:solidFill>
                <a:srgbClr val="3B3B3B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73" name="[재학 기간]  /  [졸업 여부]">
            <a:extLst>
              <a:ext uri="{FF2B5EF4-FFF2-40B4-BE49-F238E27FC236}">
                <a16:creationId xmlns:a16="http://schemas.microsoft.com/office/drawing/2014/main" id="{2EC234FD-ADF8-4B7B-9961-8B08D8CF017B}"/>
              </a:ext>
            </a:extLst>
          </p:cNvPr>
          <p:cNvSpPr>
            <a:spLocks noGrp="1"/>
          </p:cNvSpPr>
          <p:nvPr/>
        </p:nvSpPr>
        <p:spPr>
          <a:xfrm>
            <a:off x="12201525" y="3038475"/>
            <a:ext cx="10477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2027.02</a:t>
            </a:r>
            <a:endParaRPr sz="1725" b="0">
              <a:solidFill>
                <a:srgbClr val="858585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pic>
        <p:nvPicPr>
          <p:cNvPr id="133" name="Picture 6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05575" y="4467225"/>
            <a:ext cx="5067300" cy="1847850"/>
          </a:xfrm>
          <a:prstGeom prst="rect">
            <a:avLst/>
          </a:prstGeom>
        </p:spPr>
      </p:pic>
      <p:sp>
        <p:nvSpPr>
          <p:cNvPr id="42" name="[활동명 또는 교육과정명]">
            <a:extLst>
              <a:ext uri="{FF2B5EF4-FFF2-40B4-BE49-F238E27FC236}">
                <a16:creationId xmlns:a16="http://schemas.microsoft.com/office/drawing/2014/main" id="{2ABCEEA9-8A3D-4B9E-A24B-D55DA684B2A6}"/>
              </a:ext>
            </a:extLst>
          </p:cNvPr>
          <p:cNvSpPr>
            <a:spLocks noGrp="1"/>
          </p:cNvSpPr>
          <p:nvPr/>
        </p:nvSpPr>
        <p:spPr>
          <a:xfrm>
            <a:off x="6810375" y="5724525"/>
            <a:ext cx="44577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학과 학술 소모임 WARP / C++ 멘토 활동</a:t>
            </a:r>
            <a:endParaRPr sz="1950" b="0">
              <a:solidFill>
                <a:srgbClr val="3B3B3B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44" name="[활동 기간]  /  [기관 또는 역할]">
            <a:extLst>
              <a:ext uri="{FF2B5EF4-FFF2-40B4-BE49-F238E27FC236}">
                <a16:creationId xmlns:a16="http://schemas.microsoft.com/office/drawing/2014/main" id="{A6FE6E92-2AE6-47CF-B8CD-C15C13A5780A}"/>
              </a:ext>
            </a:extLst>
          </p:cNvPr>
          <p:cNvSpPr>
            <a:spLocks noGrp="1"/>
          </p:cNvSpPr>
          <p:nvPr/>
        </p:nvSpPr>
        <p:spPr>
          <a:xfrm>
            <a:off x="6810375" y="5305425"/>
            <a:ext cx="44577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2024.09 – 2024.12</a:t>
            </a:r>
            <a:endParaRPr sz="1725" b="0">
              <a:solidFill>
                <a:srgbClr val="858585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47" name="TextBox 37">
            <a:extLst>
              <a:ext uri="{FF2B5EF4-FFF2-40B4-BE49-F238E27FC236}">
                <a16:creationId xmlns:a16="http://schemas.microsoft.com/office/drawing/2014/main" id="{33345E59-1358-49C5-ACE2-66EA7AF81EA4}"/>
              </a:ext>
            </a:extLst>
          </p:cNvPr>
          <p:cNvSpPr>
            <a:spLocks noGrp="1"/>
          </p:cNvSpPr>
          <p:nvPr/>
        </p:nvSpPr>
        <p:spPr>
          <a:xfrm>
            <a:off x="6810375" y="4695825"/>
            <a:ext cx="4457700" cy="447675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lvl="0" algn="l">
              <a:lnSpc>
                <a:spcPct val="110000"/>
              </a:lnSpc>
              <a:buNone/>
              <a:defRPr sz="2400" b="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0" i="0" u="none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활동</a:t>
            </a:r>
          </a:p>
        </p:txBody>
      </p:sp>
      <p:pic>
        <p:nvPicPr>
          <p:cNvPr id="137" name="Picture 6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05575" y="6696075"/>
            <a:ext cx="10458450" cy="1847850"/>
          </a:xfrm>
          <a:prstGeom prst="rect">
            <a:avLst/>
          </a:prstGeom>
        </p:spPr>
      </p:pic>
      <p:sp>
        <p:nvSpPr>
          <p:cNvPr id="49" name="TextBox 37">
            <a:extLst>
              <a:ext uri="{FF2B5EF4-FFF2-40B4-BE49-F238E27FC236}">
                <a16:creationId xmlns:a16="http://schemas.microsoft.com/office/drawing/2014/main" id="{4A2FB7DF-0315-4C2F-9EB2-05AD9AA21366}"/>
              </a:ext>
            </a:extLst>
          </p:cNvPr>
          <p:cNvSpPr>
            <a:spLocks noGrp="1"/>
          </p:cNvSpPr>
          <p:nvPr/>
        </p:nvSpPr>
        <p:spPr>
          <a:xfrm>
            <a:off x="6810375" y="6924675"/>
            <a:ext cx="4457700" cy="447675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lvl="0" algn="l">
              <a:lnSpc>
                <a:spcPct val="110000"/>
              </a:lnSpc>
              <a:buNone/>
              <a:defRPr sz="2400" b="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프로젝트</a:t>
            </a:r>
            <a:endParaRPr sz="2400" b="0" i="0" u="none" spc="-100">
              <a:solidFill>
                <a:srgbClr val="3B3B3B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88" name="[시작 연월]–[종료 연월]">
            <a:extLst>
              <a:ext uri="{FF2B5EF4-FFF2-40B4-BE49-F238E27FC236}">
                <a16:creationId xmlns:a16="http://schemas.microsoft.com/office/drawing/2014/main" id="{60004CF7-EE53-4928-8F91-297F3FE1630C}"/>
              </a:ext>
            </a:extLst>
          </p:cNvPr>
          <p:cNvSpPr>
            <a:spLocks noGrp="1"/>
          </p:cNvSpPr>
          <p:nvPr/>
        </p:nvSpPr>
        <p:spPr>
          <a:xfrm>
            <a:off x="6810375" y="7534275"/>
            <a:ext cx="44577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875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2025.05 – 2025.06</a:t>
            </a:r>
          </a:p>
        </p:txBody>
      </p:sp>
      <p:sp>
        <p:nvSpPr>
          <p:cNvPr id="89" name="[프로젝트명 및 담당 역할]">
            <a:extLst>
              <a:ext uri="{FF2B5EF4-FFF2-40B4-BE49-F238E27FC236}">
                <a16:creationId xmlns:a16="http://schemas.microsoft.com/office/drawing/2014/main" id="{F9A96026-CA92-4F5C-B500-EB39E8293F43}"/>
              </a:ext>
            </a:extLst>
          </p:cNvPr>
          <p:cNvSpPr>
            <a:spLocks noGrp="1"/>
          </p:cNvSpPr>
          <p:nvPr/>
        </p:nvSpPr>
        <p:spPr>
          <a:xfrm>
            <a:off x="6810375" y="7953375"/>
            <a:ext cx="44577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Win32 API 기반</a:t>
            </a:r>
            <a:r>
              <a:rPr sz="1875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의</a:t>
            </a:r>
            <a:r>
              <a: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 게임 </a:t>
            </a:r>
            <a:r>
              <a:rPr sz="1875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&lt;헤드사커&gt; 모작</a:t>
            </a:r>
            <a:endParaRPr sz="1875" b="0">
              <a:solidFill>
                <a:srgbClr val="606060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43" name="[시작 연월]–[종료 연월]">
            <a:extLst>
              <a:ext uri="{FF2B5EF4-FFF2-40B4-BE49-F238E27FC236}">
                <a16:creationId xmlns:a16="http://schemas.microsoft.com/office/drawing/2014/main" id="{E14AA9ED-2440-48E9-9DF9-8CEACB2FD65D}"/>
              </a:ext>
            </a:extLst>
          </p:cNvPr>
          <p:cNvSpPr>
            <a:spLocks noGrp="1"/>
          </p:cNvSpPr>
          <p:nvPr/>
        </p:nvSpPr>
        <p:spPr>
          <a:xfrm>
            <a:off x="12201525" y="7534275"/>
            <a:ext cx="44577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875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2024.09 – 2026.06</a:t>
            </a:r>
          </a:p>
        </p:txBody>
      </p:sp>
      <p:sp>
        <p:nvSpPr>
          <p:cNvPr id="45" name="[프로젝트명 및 담당 역할]">
            <a:extLst>
              <a:ext uri="{FF2B5EF4-FFF2-40B4-BE49-F238E27FC236}">
                <a16:creationId xmlns:a16="http://schemas.microsoft.com/office/drawing/2014/main" id="{45731289-A6C9-422F-B237-6BF82277AD69}"/>
              </a:ext>
            </a:extLst>
          </p:cNvPr>
          <p:cNvSpPr>
            <a:spLocks noGrp="1"/>
          </p:cNvSpPr>
          <p:nvPr/>
        </p:nvSpPr>
        <p:spPr>
          <a:xfrm>
            <a:off x="12201525" y="7953375"/>
            <a:ext cx="44577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졸업작품 &lt;이방인(Outlander)&gt; 개발</a:t>
            </a:r>
            <a:endParaRPr sz="1875" b="0">
              <a:solidFill>
                <a:srgbClr val="606060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50" name="[프로젝트명 및 담당 역할]">
            <a:extLst>
              <a:ext uri="{FF2B5EF4-FFF2-40B4-BE49-F238E27FC236}">
                <a16:creationId xmlns:a16="http://schemas.microsoft.com/office/drawing/2014/main" id="{B6CC112D-0317-4A6D-A47A-4CA10C83753C}"/>
              </a:ext>
            </a:extLst>
          </p:cNvPr>
          <p:cNvSpPr>
            <a:spLocks noGrp="1"/>
          </p:cNvSpPr>
          <p:nvPr/>
        </p:nvSpPr>
        <p:spPr>
          <a:xfrm>
            <a:off x="12245975" y="5338293"/>
            <a:ext cx="4457700" cy="78628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2026학년도 한국공학대학교 게임공학과</a:t>
            </a:r>
          </a:p>
          <a:p>
            <a:pPr algn="l">
              <a:lnSpc>
                <a:spcPct val="112000"/>
              </a:lnSpc>
              <a:buNone/>
              <a:def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졸업작품 총장상 수상</a:t>
            </a:r>
            <a:endParaRPr sz="1875" b="0">
              <a:solidFill>
                <a:srgbClr val="606060"/>
              </a:solidFill>
              <a:latin typeface="Pretendard Regular"/>
              <a:ea typeface="Pretendard Regular"/>
              <a:cs typeface="Pretendard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041426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2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25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2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800" y="6146800"/>
            <a:ext cx="10502900" cy="177800"/>
          </a:xfrm>
          <a:prstGeom prst="rect">
            <a:avLst/>
          </a:prstGeom>
        </p:spPr>
      </p:pic>
      <p:pic>
        <p:nvPicPr>
          <p:cNvPr id="27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9700" y="2286000"/>
            <a:ext cx="8902700" cy="165100"/>
          </a:xfrm>
          <a:prstGeom prst="rect">
            <a:avLst/>
          </a:prstGeom>
        </p:spPr>
      </p:pic>
      <p:sp>
        <p:nvSpPr>
          <p:cNvPr id="18" name="OUTLANDER">
            <a:extLst>
              <a:ext uri="{FF2B5EF4-FFF2-40B4-BE49-F238E27FC236}">
                <a16:creationId xmlns:a16="http://schemas.microsoft.com/office/drawing/2014/main" id="{237BE529-419D-4539-B3DB-8AB277C92A4D}"/>
              </a:ext>
            </a:extLst>
          </p:cNvPr>
          <p:cNvSpPr>
            <a:spLocks noGrp="1"/>
          </p:cNvSpPr>
          <p:nvPr/>
        </p:nvSpPr>
        <p:spPr>
          <a:xfrm>
            <a:off x="8191500" y="3886200"/>
            <a:ext cx="8953500" cy="1714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787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787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OUTLANDER</a:t>
            </a:r>
          </a:p>
        </p:txBody>
      </p:sp>
      <p:sp>
        <p:nvSpPr>
          <p:cNvPr id="19" name="이방인">
            <a:extLst>
              <a:ext uri="{FF2B5EF4-FFF2-40B4-BE49-F238E27FC236}">
                <a16:creationId xmlns:a16="http://schemas.microsoft.com/office/drawing/2014/main" id="{6718D7AE-9022-482D-BBAE-D391348367E9}"/>
              </a:ext>
            </a:extLst>
          </p:cNvPr>
          <p:cNvSpPr>
            <a:spLocks noGrp="1"/>
          </p:cNvSpPr>
          <p:nvPr/>
        </p:nvSpPr>
        <p:spPr>
          <a:xfrm>
            <a:off x="10287000" y="5676900"/>
            <a:ext cx="68580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28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8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이방인</a:t>
            </a:r>
          </a:p>
        </p:txBody>
      </p:sp>
      <p:sp>
        <p:nvSpPr>
          <p:cNvPr id="20" name="4인 co-op 판타지 무쌍 액션">
            <a:extLst>
              <a:ext uri="{FF2B5EF4-FFF2-40B4-BE49-F238E27FC236}">
                <a16:creationId xmlns:a16="http://schemas.microsoft.com/office/drawing/2014/main" id="{5CDA2BED-9577-4891-B7B8-E6EB530DA29B}"/>
              </a:ext>
            </a:extLst>
          </p:cNvPr>
          <p:cNvSpPr>
            <a:spLocks noGrp="1"/>
          </p:cNvSpPr>
          <p:nvPr/>
        </p:nvSpPr>
        <p:spPr>
          <a:xfrm>
            <a:off x="7905750" y="6715125"/>
            <a:ext cx="9239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27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7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4인 co-op 판타지 무쌍 액션</a:t>
            </a:r>
          </a:p>
        </p:txBody>
      </p:sp>
      <p:sp>
        <p:nvSpPr>
          <p:cNvPr id="21" name="서버 엔진 · 로비 서버 · 룸 서버 설계 및 구현">
            <a:extLst>
              <a:ext uri="{FF2B5EF4-FFF2-40B4-BE49-F238E27FC236}">
                <a16:creationId xmlns:a16="http://schemas.microsoft.com/office/drawing/2014/main" id="{FAB9FCF8-9935-48F6-B591-2AD3A1147269}"/>
              </a:ext>
            </a:extLst>
          </p:cNvPr>
          <p:cNvSpPr>
            <a:spLocks noGrp="1"/>
          </p:cNvSpPr>
          <p:nvPr/>
        </p:nvSpPr>
        <p:spPr>
          <a:xfrm>
            <a:off x="6191250" y="7524750"/>
            <a:ext cx="1095375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서버 엔진 · 로비 서버 · 룸 서버 설계 및 구현</a:t>
            </a:r>
          </a:p>
        </p:txBody>
      </p:sp>
      <p:sp>
        <p:nvSpPr>
          <p:cNvPr id="22" name="2024.09 – 2026.06   /   3인 개발, 서버 1인 담당">
            <a:extLst>
              <a:ext uri="{FF2B5EF4-FFF2-40B4-BE49-F238E27FC236}">
                <a16:creationId xmlns:a16="http://schemas.microsoft.com/office/drawing/2014/main" id="{C231415A-662B-45DD-B151-12012A1CF7A4}"/>
              </a:ext>
            </a:extLst>
          </p:cNvPr>
          <p:cNvSpPr>
            <a:spLocks noGrp="1"/>
          </p:cNvSpPr>
          <p:nvPr/>
        </p:nvSpPr>
        <p:spPr>
          <a:xfrm>
            <a:off x="6477000" y="8239125"/>
            <a:ext cx="106680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2100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2024.09 – 2026.06   /   3인 개발, 서버 1인 담당</a:t>
            </a:r>
          </a:p>
        </p:txBody>
      </p:sp>
    </p:spTree>
    <p:extLst>
      <p:ext uri="{BB962C8B-B14F-4D97-AF65-F5344CB8AC3E}">
        <p14:creationId xmlns:p14="http://schemas.microsoft.com/office/powerpoint/2010/main" val="1072283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36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37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38" name="Picture 5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39" name="Pictur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40" name="Pictur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0" name="01">
            <a:extLst>
              <a:ext uri="{FF2B5EF4-FFF2-40B4-BE49-F238E27FC236}">
                <a16:creationId xmlns:a16="http://schemas.microsoft.com/office/drawing/2014/main" id="{C8666B16-6B40-476B-B60F-3CBAF3C087B3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01</a:t>
            </a:r>
          </a:p>
        </p:txBody>
      </p:sp>
      <p:sp>
        <p:nvSpPr>
          <p:cNvPr id="21" name="프로젝트 개요와 담당 범위">
            <a:extLst>
              <a:ext uri="{FF2B5EF4-FFF2-40B4-BE49-F238E27FC236}">
                <a16:creationId xmlns:a16="http://schemas.microsoft.com/office/drawing/2014/main" id="{3D65AB93-A2EF-4E10-B9C3-C07D84613938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프로젝트 개요와 담당 범위</a:t>
            </a:r>
          </a:p>
        </p:txBody>
      </p:sp>
      <p:sp>
        <p:nvSpPr>
          <p:cNvPr id="22" name="다수의 적과 싸우는 액션을 4인 협동 멀티플레이로 구현했습니다.">
            <a:extLst>
              <a:ext uri="{FF2B5EF4-FFF2-40B4-BE49-F238E27FC236}">
                <a16:creationId xmlns:a16="http://schemas.microsoft.com/office/drawing/2014/main" id="{0F0BC5F1-5E56-4D76-AE19-DCB364177F72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다수의 적과 싸우는 액션을 4인 협동 멀티플레이로 구현했습니다.</a:t>
            </a:r>
          </a:p>
        </p:txBody>
      </p:sp>
      <p:sp>
        <p:nvSpPr>
          <p:cNvPr id="23" name="OUTLANDER  /  5">
            <a:extLst>
              <a:ext uri="{FF2B5EF4-FFF2-40B4-BE49-F238E27FC236}">
                <a16:creationId xmlns:a16="http://schemas.microsoft.com/office/drawing/2014/main" id="{C706110B-3830-4748-938A-687395038746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5</a:t>
            </a:r>
          </a:p>
        </p:txBody>
      </p:sp>
      <p:graphicFrame>
        <p:nvGraphicFramePr>
          <p:cNvPr id="45" name="표 44"/>
          <p:cNvGraphicFramePr/>
          <p:nvPr/>
        </p:nvGraphicFramePr>
        <p:xfrm>
          <a:off x="1143000" y="3238500"/>
          <a:ext cx="7905750" cy="3476625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414141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항목</a:t>
                      </a:r>
                    </a:p>
                  </a:txBody>
                  <a:tcPr anchor="ctr">
                    <a:solidFill>
                      <a:srgbClr val="E0E2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414141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내용</a:t>
                      </a:r>
                    </a:p>
                  </a:txBody>
                  <a:tcPr anchor="ctr">
                    <a:solidFill>
                      <a:srgbClr val="E0E2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개발 기간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2024.09 – 2026.06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개발 인원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3인 / 서버 담당 1인(본인)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개발 환경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C++20, Lua, SQL Server LocalDB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수상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한국공학대학교 졸업작품 총장상(2026)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서버 담당">
            <a:extLst>
              <a:ext uri="{FF2B5EF4-FFF2-40B4-BE49-F238E27FC236}">
                <a16:creationId xmlns:a16="http://schemas.microsoft.com/office/drawing/2014/main" id="{DDFAAFF1-5717-4321-BC7F-E93D79444C3B}"/>
              </a:ext>
            </a:extLst>
          </p:cNvPr>
          <p:cNvSpPr>
            <a:spLocks noGrp="1"/>
          </p:cNvSpPr>
          <p:nvPr/>
        </p:nvSpPr>
        <p:spPr>
          <a:xfrm>
            <a:off x="9810750" y="3238500"/>
            <a:ext cx="7239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서버 담당</a:t>
            </a:r>
          </a:p>
        </p:txBody>
      </p:sp>
      <p:sp>
        <p:nvSpPr>
          <p:cNvPr id="26" name="ServerEngine, LobbyServer, RoomServer&#10;설계와 구현&#10;&#10;전술 A">
            <a:extLst>
              <a:ext uri="{FF2B5EF4-FFF2-40B4-BE49-F238E27FC236}">
                <a16:creationId xmlns:a16="http://schemas.microsoft.com/office/drawing/2014/main" id="{45E66C75-47B9-4691-8F01-FAC0B4A1E9A6}"/>
              </a:ext>
            </a:extLst>
          </p:cNvPr>
          <p:cNvSpPr>
            <a:spLocks noGrp="1"/>
          </p:cNvSpPr>
          <p:nvPr/>
        </p:nvSpPr>
        <p:spPr>
          <a:xfrm>
            <a:off x="9810750" y="3810000"/>
            <a:ext cx="7239000" cy="1866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ServerEngine, LobbyServer, RoomServer</a:t>
            </a:r>
          </a:p>
          <a:p>
            <a:pPr algn="l">
              <a:lnSpc>
                <a:spcPct val="120000"/>
              </a:lnSpc>
              <a:buNone/>
              <a:def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설계와 구현</a:t>
            </a:r>
          </a:p>
          <a:p>
            <a:endParaRPr sz="2325" b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  <a:p>
            <a:pPr algn="l">
              <a:lnSpc>
                <a:spcPct val="120000"/>
              </a:lnSpc>
              <a:buNone/>
              <a:def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전술 AI, 스킬 히트 판정, DB 영속화,</a:t>
            </a:r>
          </a:p>
          <a:p>
            <a:pPr algn="l">
              <a:lnSpc>
                <a:spcPct val="120000"/>
              </a:lnSpc>
              <a:buNone/>
              <a:def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입장 티켓 보안</a:t>
            </a:r>
          </a:p>
        </p:txBody>
      </p:sp>
      <p:sp>
        <p:nvSpPr>
          <p:cNvPr id="27" name="팀 협업">
            <a:extLst>
              <a:ext uri="{FF2B5EF4-FFF2-40B4-BE49-F238E27FC236}">
                <a16:creationId xmlns:a16="http://schemas.microsoft.com/office/drawing/2014/main" id="{06598A66-1E8B-4629-B16C-26D27628ED99}"/>
              </a:ext>
            </a:extLst>
          </p:cNvPr>
          <p:cNvSpPr>
            <a:spLocks noGrp="1"/>
          </p:cNvSpPr>
          <p:nvPr/>
        </p:nvSpPr>
        <p:spPr>
          <a:xfrm>
            <a:off x="9810750" y="6096000"/>
            <a:ext cx="7239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팀 협업</a:t>
            </a:r>
          </a:p>
        </p:txBody>
      </p:sp>
      <p:sp>
        <p:nvSpPr>
          <p:cNvPr id="28" name="클라이언트 연동 및 렌더링은 팀원과 협업">
            <a:extLst>
              <a:ext uri="{FF2B5EF4-FFF2-40B4-BE49-F238E27FC236}">
                <a16:creationId xmlns:a16="http://schemas.microsoft.com/office/drawing/2014/main" id="{F4BA601B-6C9F-4C76-8DCF-5D94D68C6F96}"/>
              </a:ext>
            </a:extLst>
          </p:cNvPr>
          <p:cNvSpPr>
            <a:spLocks noGrp="1"/>
          </p:cNvSpPr>
          <p:nvPr/>
        </p:nvSpPr>
        <p:spPr>
          <a:xfrm>
            <a:off x="9810750" y="6667500"/>
            <a:ext cx="7239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클라이언트 연동 및 렌더링은 팀원과 협업</a:t>
            </a:r>
          </a:p>
        </p:txBody>
      </p:sp>
      <p:sp>
        <p:nvSpPr>
          <p:cNvPr id="29" name="60Hz">
            <a:extLst>
              <a:ext uri="{FF2B5EF4-FFF2-40B4-BE49-F238E27FC236}">
                <a16:creationId xmlns:a16="http://schemas.microsoft.com/office/drawing/2014/main" id="{E1EEE623-CE07-4C29-BB0C-012399D89BF2}"/>
              </a:ext>
            </a:extLst>
          </p:cNvPr>
          <p:cNvSpPr>
            <a:spLocks noGrp="1"/>
          </p:cNvSpPr>
          <p:nvPr/>
        </p:nvSpPr>
        <p:spPr>
          <a:xfrm>
            <a:off x="1143000" y="7410450"/>
            <a:ext cx="4095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60Hz</a:t>
            </a:r>
          </a:p>
        </p:txBody>
      </p:sp>
      <p:sp>
        <p:nvSpPr>
          <p:cNvPr id="30" name="서버 시뮬레이션">
            <a:extLst>
              <a:ext uri="{FF2B5EF4-FFF2-40B4-BE49-F238E27FC236}">
                <a16:creationId xmlns:a16="http://schemas.microsoft.com/office/drawing/2014/main" id="{189CCF1D-F986-4674-85E1-4D4C023D3689}"/>
              </a:ext>
            </a:extLst>
          </p:cNvPr>
          <p:cNvSpPr>
            <a:spLocks noGrp="1"/>
          </p:cNvSpPr>
          <p:nvPr/>
        </p:nvSpPr>
        <p:spPr>
          <a:xfrm>
            <a:off x="1143000" y="8239125"/>
            <a:ext cx="4191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서버 시뮬레이션</a:t>
            </a:r>
          </a:p>
        </p:txBody>
      </p:sp>
      <p:sp>
        <p:nvSpPr>
          <p:cNvPr id="31" name="20Hz">
            <a:extLst>
              <a:ext uri="{FF2B5EF4-FFF2-40B4-BE49-F238E27FC236}">
                <a16:creationId xmlns:a16="http://schemas.microsoft.com/office/drawing/2014/main" id="{88A2802C-3113-426F-9CDB-A5E02C8ECC72}"/>
              </a:ext>
            </a:extLst>
          </p:cNvPr>
          <p:cNvSpPr>
            <a:spLocks noGrp="1"/>
          </p:cNvSpPr>
          <p:nvPr/>
        </p:nvSpPr>
        <p:spPr>
          <a:xfrm>
            <a:off x="6381750" y="7410450"/>
            <a:ext cx="4095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20Hz</a:t>
            </a:r>
          </a:p>
        </p:txBody>
      </p:sp>
      <p:sp>
        <p:nvSpPr>
          <p:cNvPr id="32" name="이동 브로드캐스트">
            <a:extLst>
              <a:ext uri="{FF2B5EF4-FFF2-40B4-BE49-F238E27FC236}">
                <a16:creationId xmlns:a16="http://schemas.microsoft.com/office/drawing/2014/main" id="{B7D2E10F-1092-42CC-95B7-3273FBAFD17E}"/>
              </a:ext>
            </a:extLst>
          </p:cNvPr>
          <p:cNvSpPr>
            <a:spLocks noGrp="1"/>
          </p:cNvSpPr>
          <p:nvPr/>
        </p:nvSpPr>
        <p:spPr>
          <a:xfrm>
            <a:off x="6381750" y="8239125"/>
            <a:ext cx="4191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이동 브로드캐스트</a:t>
            </a:r>
          </a:p>
        </p:txBody>
      </p:sp>
      <p:sp>
        <p:nvSpPr>
          <p:cNvPr id="33" name="56종">
            <a:extLst>
              <a:ext uri="{FF2B5EF4-FFF2-40B4-BE49-F238E27FC236}">
                <a16:creationId xmlns:a16="http://schemas.microsoft.com/office/drawing/2014/main" id="{A48A07F3-C700-4A16-B950-72681B7491CD}"/>
              </a:ext>
            </a:extLst>
          </p:cNvPr>
          <p:cNvSpPr>
            <a:spLocks noGrp="1"/>
          </p:cNvSpPr>
          <p:nvPr/>
        </p:nvSpPr>
        <p:spPr>
          <a:xfrm>
            <a:off x="11620500" y="7410450"/>
            <a:ext cx="4095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56종</a:t>
            </a:r>
          </a:p>
        </p:txBody>
      </p:sp>
      <p:sp>
        <p:nvSpPr>
          <p:cNvPr id="34" name="프로토콜 패킷 타입">
            <a:extLst>
              <a:ext uri="{FF2B5EF4-FFF2-40B4-BE49-F238E27FC236}">
                <a16:creationId xmlns:a16="http://schemas.microsoft.com/office/drawing/2014/main" id="{C4A5FE0F-FE9E-4E53-859E-1D2405AB3753}"/>
              </a:ext>
            </a:extLst>
          </p:cNvPr>
          <p:cNvSpPr>
            <a:spLocks noGrp="1"/>
          </p:cNvSpPr>
          <p:nvPr/>
        </p:nvSpPr>
        <p:spPr>
          <a:xfrm>
            <a:off x="11620500" y="8239125"/>
            <a:ext cx="4191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프로토콜 패킷 타입</a:t>
            </a:r>
          </a:p>
        </p:txBody>
      </p:sp>
    </p:spTree>
    <p:extLst>
      <p:ext uri="{BB962C8B-B14F-4D97-AF65-F5344CB8AC3E}">
        <p14:creationId xmlns:p14="http://schemas.microsoft.com/office/powerpoint/2010/main" val="1163419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5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55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56" name="Picture 5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57" name="Pictur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58" name="Pictur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1" name="02">
            <a:extLst>
              <a:ext uri="{FF2B5EF4-FFF2-40B4-BE49-F238E27FC236}">
                <a16:creationId xmlns:a16="http://schemas.microsoft.com/office/drawing/2014/main" id="{26D1E123-5EDD-4043-8540-C04EF0552AD6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02</a:t>
            </a:r>
          </a:p>
        </p:txBody>
      </p:sp>
      <p:sp>
        <p:nvSpPr>
          <p:cNvPr id="22" name="핵심 문제 해결 3선">
            <a:extLst>
              <a:ext uri="{FF2B5EF4-FFF2-40B4-BE49-F238E27FC236}">
                <a16:creationId xmlns:a16="http://schemas.microsoft.com/office/drawing/2014/main" id="{CFC15D51-9A1B-4BCC-9C4D-C21FD4D42666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핵심 문제 해결 3선</a:t>
            </a:r>
          </a:p>
        </p:txBody>
      </p:sp>
      <p:sp>
        <p:nvSpPr>
          <p:cNvPr id="23" name="증상과 원인을 구분하고, 수정 내용과 관측 근거를 함께 정리했습니다.">
            <a:extLst>
              <a:ext uri="{FF2B5EF4-FFF2-40B4-BE49-F238E27FC236}">
                <a16:creationId xmlns:a16="http://schemas.microsoft.com/office/drawing/2014/main" id="{7FA3AAF0-3490-421E-B085-2AE320C39E20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증상과 원인을 구분하고, 수정 내용과 관측 근거를 함께 정리했습니다.</a:t>
            </a:r>
          </a:p>
        </p:txBody>
      </p:sp>
      <p:sp>
        <p:nvSpPr>
          <p:cNvPr id="24" name="OUTLANDER  /  6">
            <a:extLst>
              <a:ext uri="{FF2B5EF4-FFF2-40B4-BE49-F238E27FC236}">
                <a16:creationId xmlns:a16="http://schemas.microsoft.com/office/drawing/2014/main" id="{7FF6B31A-71CA-47BC-9FE9-B49B6F70D7FF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6</a:t>
            </a:r>
          </a:p>
        </p:txBody>
      </p:sp>
      <p:sp>
        <p:nvSpPr>
          <p:cNvPr id="25" name="종료 시 서버 크래시">
            <a:extLst>
              <a:ext uri="{FF2B5EF4-FFF2-40B4-BE49-F238E27FC236}">
                <a16:creationId xmlns:a16="http://schemas.microsoft.com/office/drawing/2014/main" id="{B76C8B15-E3EF-438D-BA72-F0F9EF17A347}"/>
              </a:ext>
            </a:extLst>
          </p:cNvPr>
          <p:cNvSpPr>
            <a:spLocks noGrp="1"/>
          </p:cNvSpPr>
          <p:nvPr/>
        </p:nvSpPr>
        <p:spPr>
          <a:xfrm>
            <a:off x="1143000" y="3048000"/>
            <a:ext cx="48577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종료 시 서버 크래시</a:t>
            </a:r>
          </a:p>
        </p:txBody>
      </p:sp>
      <p:sp>
        <p:nvSpPr>
          <p:cNvPr id="26" name="증상">
            <a:extLst>
              <a:ext uri="{FF2B5EF4-FFF2-40B4-BE49-F238E27FC236}">
                <a16:creationId xmlns:a16="http://schemas.microsoft.com/office/drawing/2014/main" id="{6BDF2CD6-3A3E-439F-9F2E-9EFC662A4C53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증상</a:t>
            </a:r>
          </a:p>
        </p:txBody>
      </p:sp>
      <p:sp>
        <p:nvSpPr>
          <p:cNvPr id="27" name="물리 솔버와 잡 큐 등&#10;크래시 위치가 실행마다 달라짐">
            <a:extLst>
              <a:ext uri="{FF2B5EF4-FFF2-40B4-BE49-F238E27FC236}">
                <a16:creationId xmlns:a16="http://schemas.microsoft.com/office/drawing/2014/main" id="{E894BE40-6BFD-45A4-B339-F2B8D7638C75}"/>
              </a:ext>
            </a:extLst>
          </p:cNvPr>
          <p:cNvSpPr>
            <a:spLocks noGrp="1"/>
          </p:cNvSpPr>
          <p:nvPr/>
        </p:nvSpPr>
        <p:spPr>
          <a:xfrm>
            <a:off x="1143000" y="447675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물리 솔버와 잡 큐 등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크래시 위치가 실행마다 달라짐</a:t>
            </a:r>
          </a:p>
        </p:txBody>
      </p:sp>
      <p:sp>
        <p:nvSpPr>
          <p:cNvPr id="28" name="원인">
            <a:extLst>
              <a:ext uri="{FF2B5EF4-FFF2-40B4-BE49-F238E27FC236}">
                <a16:creationId xmlns:a16="http://schemas.microsoft.com/office/drawing/2014/main" id="{1653B2C7-13B8-4E6A-BFD9-8C24124B9644}"/>
              </a:ext>
            </a:extLst>
          </p:cNvPr>
          <p:cNvSpPr>
            <a:spLocks noGrp="1"/>
          </p:cNvSpPr>
          <p:nvPr/>
        </p:nvSpPr>
        <p:spPr>
          <a:xfrm>
            <a:off x="1143000" y="519112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원인</a:t>
            </a:r>
          </a:p>
        </p:txBody>
      </p:sp>
      <p:sp>
        <p:nvSpPr>
          <p:cNvPr id="29" name="Room이 자신의 잡 실행 중 파괴됨&#10;남은 잡과 실행 루프에서 UAF">
            <a:extLst>
              <a:ext uri="{FF2B5EF4-FFF2-40B4-BE49-F238E27FC236}">
                <a16:creationId xmlns:a16="http://schemas.microsoft.com/office/drawing/2014/main" id="{66365B74-902B-4376-817C-20FB760859B7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Room이 자신의 잡 실행 중 파괴됨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남은 잡과 실행 루프에서 UAF</a:t>
            </a:r>
          </a:p>
        </p:txBody>
      </p:sp>
      <p:sp>
        <p:nvSpPr>
          <p:cNvPr id="30" name="조치">
            <a:extLst>
              <a:ext uri="{FF2B5EF4-FFF2-40B4-BE49-F238E27FC236}">
                <a16:creationId xmlns:a16="http://schemas.microsoft.com/office/drawing/2014/main" id="{A59824DE-D1AD-4BAA-A7C6-0A2A35F2E3C6}"/>
              </a:ext>
            </a:extLst>
          </p:cNvPr>
          <p:cNvSpPr>
            <a:spLocks noGrp="1"/>
          </p:cNvSpPr>
          <p:nvPr/>
        </p:nvSpPr>
        <p:spPr>
          <a:xfrm>
            <a:off x="1143000" y="628650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조치</a:t>
            </a:r>
          </a:p>
        </p:txBody>
      </p:sp>
      <p:sp>
        <p:nvSpPr>
          <p:cNvPr id="31" name="맵 제거와 실제 파괴 분리&#10;유휴 상태 확인 후 풀에 반납">
            <a:extLst>
              <a:ext uri="{FF2B5EF4-FFF2-40B4-BE49-F238E27FC236}">
                <a16:creationId xmlns:a16="http://schemas.microsoft.com/office/drawing/2014/main" id="{A1730E31-E5D3-41E7-A042-F9DAB3761B31}"/>
              </a:ext>
            </a:extLst>
          </p:cNvPr>
          <p:cNvSpPr>
            <a:spLocks noGrp="1"/>
          </p:cNvSpPr>
          <p:nvPr/>
        </p:nvSpPr>
        <p:spPr>
          <a:xfrm>
            <a:off x="1143000" y="666750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맵 제거와 실제 파괴 분리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유휴 상태 확인 후 풀에 반납</a:t>
            </a:r>
          </a:p>
        </p:txBody>
      </p:sp>
      <p:sp>
        <p:nvSpPr>
          <p:cNvPr id="32" name="관측 근거">
            <a:extLst>
              <a:ext uri="{FF2B5EF4-FFF2-40B4-BE49-F238E27FC236}">
                <a16:creationId xmlns:a16="http://schemas.microsoft.com/office/drawing/2014/main" id="{93EAABD0-5480-4FCD-9A69-D887E48131B4}"/>
              </a:ext>
            </a:extLst>
          </p:cNvPr>
          <p:cNvSpPr>
            <a:spLocks noGrp="1"/>
          </p:cNvSpPr>
          <p:nvPr/>
        </p:nvSpPr>
        <p:spPr>
          <a:xfrm>
            <a:off x="1143000" y="738187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관측 근거</a:t>
            </a:r>
          </a:p>
        </p:txBody>
      </p:sp>
      <p:sp>
        <p:nvSpPr>
          <p:cNvPr id="33" name="크래시 위치 2종 관측&#10;3회 생성·파괴에서 동일 주소 재사용">
            <a:extLst>
              <a:ext uri="{FF2B5EF4-FFF2-40B4-BE49-F238E27FC236}">
                <a16:creationId xmlns:a16="http://schemas.microsoft.com/office/drawing/2014/main" id="{FB678FAA-1B2E-4032-A28F-3319337880F3}"/>
              </a:ext>
            </a:extLst>
          </p:cNvPr>
          <p:cNvSpPr>
            <a:spLocks noGrp="1"/>
          </p:cNvSpPr>
          <p:nvPr/>
        </p:nvSpPr>
        <p:spPr>
          <a:xfrm>
            <a:off x="1143000" y="776287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크래시 위치 2종 관측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3회 생성·파괴에서 동일 주소 재사용</a:t>
            </a:r>
          </a:p>
        </p:txBody>
      </p:sp>
      <p:sp>
        <p:nvSpPr>
          <p:cNvPr id="34" name="히트 판정 200–300ms 지연">
            <a:extLst>
              <a:ext uri="{FF2B5EF4-FFF2-40B4-BE49-F238E27FC236}">
                <a16:creationId xmlns:a16="http://schemas.microsoft.com/office/drawing/2014/main" id="{A9BDBA9C-FCF2-48D2-A0CB-EAF670E79BA7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48577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히트 판정 200–300ms 지연</a:t>
            </a:r>
          </a:p>
        </p:txBody>
      </p:sp>
      <p:sp>
        <p:nvSpPr>
          <p:cNvPr id="35" name="증상">
            <a:extLst>
              <a:ext uri="{FF2B5EF4-FFF2-40B4-BE49-F238E27FC236}">
                <a16:creationId xmlns:a16="http://schemas.microsoft.com/office/drawing/2014/main" id="{A75846A3-3540-4F21-888B-96FF22A446AB}"/>
              </a:ext>
            </a:extLst>
          </p:cNvPr>
          <p:cNvSpPr>
            <a:spLocks noGrp="1"/>
          </p:cNvSpPr>
          <p:nvPr/>
        </p:nvSpPr>
        <p:spPr>
          <a:xfrm>
            <a:off x="6572250" y="409575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증상</a:t>
            </a:r>
          </a:p>
        </p:txBody>
      </p:sp>
      <p:sp>
        <p:nvSpPr>
          <p:cNvPr id="36" name="정지한 표적에서도&#10;서버와 클라이언트 판정 불일치">
            <a:extLst>
              <a:ext uri="{FF2B5EF4-FFF2-40B4-BE49-F238E27FC236}">
                <a16:creationId xmlns:a16="http://schemas.microsoft.com/office/drawing/2014/main" id="{32351EA2-D238-4F97-B665-0C3EF3275866}"/>
              </a:ext>
            </a:extLst>
          </p:cNvPr>
          <p:cNvSpPr>
            <a:spLocks noGrp="1"/>
          </p:cNvSpPr>
          <p:nvPr/>
        </p:nvSpPr>
        <p:spPr>
          <a:xfrm>
            <a:off x="6572250" y="447675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정지한 표적에서도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서버와 클라이언트 판정 불일치</a:t>
            </a:r>
          </a:p>
        </p:txBody>
      </p:sp>
      <p:sp>
        <p:nvSpPr>
          <p:cNvPr id="37" name="원인">
            <a:extLst>
              <a:ext uri="{FF2B5EF4-FFF2-40B4-BE49-F238E27FC236}">
                <a16:creationId xmlns:a16="http://schemas.microsoft.com/office/drawing/2014/main" id="{502A4910-26CF-408D-8147-666F5B465622}"/>
              </a:ext>
            </a:extLst>
          </p:cNvPr>
          <p:cNvSpPr>
            <a:spLocks noGrp="1"/>
          </p:cNvSpPr>
          <p:nvPr/>
        </p:nvSpPr>
        <p:spPr>
          <a:xfrm>
            <a:off x="6572250" y="519112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원인</a:t>
            </a:r>
          </a:p>
        </p:txBody>
      </p:sp>
      <p:sp>
        <p:nvSpPr>
          <p:cNvPr id="38" name="상대 지연으로 틱을 재예약하며&#10;update 처리 시간이 주기에 누적">
            <a:extLst>
              <a:ext uri="{FF2B5EF4-FFF2-40B4-BE49-F238E27FC236}">
                <a16:creationId xmlns:a16="http://schemas.microsoft.com/office/drawing/2014/main" id="{7053F895-D1B4-4DE4-8471-C8476FD9E558}"/>
              </a:ext>
            </a:extLst>
          </p:cNvPr>
          <p:cNvSpPr>
            <a:spLocks noGrp="1"/>
          </p:cNvSpPr>
          <p:nvPr/>
        </p:nvSpPr>
        <p:spPr>
          <a:xfrm>
            <a:off x="6572250" y="557212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상대 지연으로 틱을 재예약하며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update 처리 시간이 주기에 누적</a:t>
            </a:r>
          </a:p>
        </p:txBody>
      </p:sp>
      <p:sp>
        <p:nvSpPr>
          <p:cNvPr id="39" name="조치">
            <a:extLst>
              <a:ext uri="{FF2B5EF4-FFF2-40B4-BE49-F238E27FC236}">
                <a16:creationId xmlns:a16="http://schemas.microsoft.com/office/drawing/2014/main" id="{329B474E-3DA1-4E6A-9BE5-CDB0DE8C3EEF}"/>
              </a:ext>
            </a:extLst>
          </p:cNvPr>
          <p:cNvSpPr>
            <a:spLocks noGrp="1"/>
          </p:cNvSpPr>
          <p:nvPr/>
        </p:nvSpPr>
        <p:spPr>
          <a:xfrm>
            <a:off x="6572250" y="628650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조치</a:t>
            </a:r>
          </a:p>
        </p:txBody>
      </p:sp>
      <p:sp>
        <p:nvSpPr>
          <p:cNvPr id="40" name="절대 데드라인으로 재예약&#10;과부하 시 3틱 상한 리싱크">
            <a:extLst>
              <a:ext uri="{FF2B5EF4-FFF2-40B4-BE49-F238E27FC236}">
                <a16:creationId xmlns:a16="http://schemas.microsoft.com/office/drawing/2014/main" id="{DCA37742-0A35-4D45-BEC3-C2393B6364F3}"/>
              </a:ext>
            </a:extLst>
          </p:cNvPr>
          <p:cNvSpPr>
            <a:spLocks noGrp="1"/>
          </p:cNvSpPr>
          <p:nvPr/>
        </p:nvSpPr>
        <p:spPr>
          <a:xfrm>
            <a:off x="6572250" y="666750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절대 데드라인으로 재예약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과부하 시 3틱 상한 리싱크</a:t>
            </a:r>
          </a:p>
        </p:txBody>
      </p:sp>
      <p:sp>
        <p:nvSpPr>
          <p:cNvPr id="41" name="관측 근거">
            <a:extLst>
              <a:ext uri="{FF2B5EF4-FFF2-40B4-BE49-F238E27FC236}">
                <a16:creationId xmlns:a16="http://schemas.microsoft.com/office/drawing/2014/main" id="{F3FE9AF7-35FB-4293-B822-D3E202D53E68}"/>
              </a:ext>
            </a:extLst>
          </p:cNvPr>
          <p:cNvSpPr>
            <a:spLocks noGrp="1"/>
          </p:cNvSpPr>
          <p:nvPr/>
        </p:nvSpPr>
        <p:spPr>
          <a:xfrm>
            <a:off x="6572250" y="738187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관측 근거</a:t>
            </a:r>
          </a:p>
        </p:txBody>
      </p:sp>
      <p:sp>
        <p:nvSpPr>
          <p:cNvPr id="42" name="수정 전 실측 주기 20.09ms&#10;목표 16.667ms / drift 20.52%">
            <a:extLst>
              <a:ext uri="{FF2B5EF4-FFF2-40B4-BE49-F238E27FC236}">
                <a16:creationId xmlns:a16="http://schemas.microsoft.com/office/drawing/2014/main" id="{73C519FE-D489-4AA4-8799-B8BC0CE29B45}"/>
              </a:ext>
            </a:extLst>
          </p:cNvPr>
          <p:cNvSpPr>
            <a:spLocks noGrp="1"/>
          </p:cNvSpPr>
          <p:nvPr/>
        </p:nvSpPr>
        <p:spPr>
          <a:xfrm>
            <a:off x="6572250" y="776287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수정 전 실측 주기 20.09ms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목표 16.667ms / drift 20.52%</a:t>
            </a:r>
          </a:p>
        </p:txBody>
      </p:sp>
      <p:sp>
        <p:nvSpPr>
          <p:cNvPr id="43" name="VFX·사운드 누락">
            <a:extLst>
              <a:ext uri="{FF2B5EF4-FFF2-40B4-BE49-F238E27FC236}">
                <a16:creationId xmlns:a16="http://schemas.microsoft.com/office/drawing/2014/main" id="{3DDF48D9-14AD-4DC4-89CF-352FFC6933AE}"/>
              </a:ext>
            </a:extLst>
          </p:cNvPr>
          <p:cNvSpPr>
            <a:spLocks noGrp="1"/>
          </p:cNvSpPr>
          <p:nvPr/>
        </p:nvSpPr>
        <p:spPr>
          <a:xfrm>
            <a:off x="12001500" y="3048000"/>
            <a:ext cx="48577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VFX·사운드 누락</a:t>
            </a:r>
          </a:p>
        </p:txBody>
      </p:sp>
      <p:sp>
        <p:nvSpPr>
          <p:cNvPr id="44" name="증상">
            <a:extLst>
              <a:ext uri="{FF2B5EF4-FFF2-40B4-BE49-F238E27FC236}">
                <a16:creationId xmlns:a16="http://schemas.microsoft.com/office/drawing/2014/main" id="{D3E024D5-74FF-4782-9D8D-5CB507E715F8}"/>
              </a:ext>
            </a:extLst>
          </p:cNvPr>
          <p:cNvSpPr>
            <a:spLocks noGrp="1"/>
          </p:cNvSpPr>
          <p:nvPr/>
        </p:nvSpPr>
        <p:spPr>
          <a:xfrm>
            <a:off x="12001500" y="409575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증상</a:t>
            </a:r>
          </a:p>
        </p:txBody>
      </p:sp>
      <p:sp>
        <p:nvSpPr>
          <p:cNvPr id="45" name="애니메이션과 데미지는 정상&#10;VFX와 사운드만 사라짐">
            <a:extLst>
              <a:ext uri="{FF2B5EF4-FFF2-40B4-BE49-F238E27FC236}">
                <a16:creationId xmlns:a16="http://schemas.microsoft.com/office/drawing/2014/main" id="{3BA7510E-1775-468E-B79F-EC87483E5712}"/>
              </a:ext>
            </a:extLst>
          </p:cNvPr>
          <p:cNvSpPr>
            <a:spLocks noGrp="1"/>
          </p:cNvSpPr>
          <p:nvPr/>
        </p:nvSpPr>
        <p:spPr>
          <a:xfrm>
            <a:off x="12001500" y="447675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애니메이션과 데미지는 정상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VFX와 사운드만 사라짐</a:t>
            </a:r>
          </a:p>
        </p:txBody>
      </p:sp>
      <p:sp>
        <p:nvSpPr>
          <p:cNvPr id="46" name="원인">
            <a:extLst>
              <a:ext uri="{FF2B5EF4-FFF2-40B4-BE49-F238E27FC236}">
                <a16:creationId xmlns:a16="http://schemas.microsoft.com/office/drawing/2014/main" id="{F257EC23-993B-48D1-8444-4354E3775F14}"/>
              </a:ext>
            </a:extLst>
          </p:cNvPr>
          <p:cNvSpPr>
            <a:spLocks noGrp="1"/>
          </p:cNvSpPr>
          <p:nvPr/>
        </p:nvSpPr>
        <p:spPr>
          <a:xfrm>
            <a:off x="12001500" y="519112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원인</a:t>
            </a:r>
          </a:p>
        </p:txBody>
      </p:sp>
      <p:sp>
        <p:nvSpPr>
          <p:cNvPr id="47" name="누적된 오브젝트 ID가&#10;클라이언트 배열 범위를 초과">
            <a:extLst>
              <a:ext uri="{FF2B5EF4-FFF2-40B4-BE49-F238E27FC236}">
                <a16:creationId xmlns:a16="http://schemas.microsoft.com/office/drawing/2014/main" id="{5F1CC7D1-0215-4321-8F06-264F399BAB93}"/>
              </a:ext>
            </a:extLst>
          </p:cNvPr>
          <p:cNvSpPr>
            <a:spLocks noGrp="1"/>
          </p:cNvSpPr>
          <p:nvPr/>
        </p:nvSpPr>
        <p:spPr>
          <a:xfrm>
            <a:off x="12001500" y="557212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누적된 오브젝트 ID가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클라이언트 배열 범위를 초과</a:t>
            </a:r>
          </a:p>
        </p:txBody>
      </p:sp>
      <p:sp>
        <p:nvSpPr>
          <p:cNvPr id="48" name="조치">
            <a:extLst>
              <a:ext uri="{FF2B5EF4-FFF2-40B4-BE49-F238E27FC236}">
                <a16:creationId xmlns:a16="http://schemas.microsoft.com/office/drawing/2014/main" id="{8DD3C8D9-C85D-4899-82BB-EB534C14362F}"/>
              </a:ext>
            </a:extLst>
          </p:cNvPr>
          <p:cNvSpPr>
            <a:spLocks noGrp="1"/>
          </p:cNvSpPr>
          <p:nvPr/>
        </p:nvSpPr>
        <p:spPr>
          <a:xfrm>
            <a:off x="12001500" y="628650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조치</a:t>
            </a:r>
          </a:p>
        </p:txBody>
      </p:sp>
      <p:sp>
        <p:nvSpPr>
          <p:cNvPr id="49" name="등록 진입점 단일화&#10;배열 확장과 진입 후 복구 스윕">
            <a:extLst>
              <a:ext uri="{FF2B5EF4-FFF2-40B4-BE49-F238E27FC236}">
                <a16:creationId xmlns:a16="http://schemas.microsoft.com/office/drawing/2014/main" id="{70D2FFEE-2E60-4852-AA64-0ADD219CECD1}"/>
              </a:ext>
            </a:extLst>
          </p:cNvPr>
          <p:cNvSpPr>
            <a:spLocks noGrp="1"/>
          </p:cNvSpPr>
          <p:nvPr/>
        </p:nvSpPr>
        <p:spPr>
          <a:xfrm>
            <a:off x="12001500" y="666750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등록 진입점 단일화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배열 확장과 진입 후 복구 스윕</a:t>
            </a:r>
          </a:p>
        </p:txBody>
      </p:sp>
      <p:sp>
        <p:nvSpPr>
          <p:cNvPr id="50" name="관측 근거">
            <a:extLst>
              <a:ext uri="{FF2B5EF4-FFF2-40B4-BE49-F238E27FC236}">
                <a16:creationId xmlns:a16="http://schemas.microsoft.com/office/drawing/2014/main" id="{94B1A1EB-5B20-4BEB-BAB0-43EA591F914A}"/>
              </a:ext>
            </a:extLst>
          </p:cNvPr>
          <p:cNvSpPr>
            <a:spLocks noGrp="1"/>
          </p:cNvSpPr>
          <p:nvPr/>
        </p:nvSpPr>
        <p:spPr>
          <a:xfrm>
            <a:off x="12001500" y="738187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관측 근거</a:t>
            </a:r>
          </a:p>
        </p:txBody>
      </p:sp>
      <p:sp>
        <p:nvSpPr>
          <p:cNvPr id="51" name="세션 ID 1, 244, 487 관측&#10;세 번째 실행에서 재현">
            <a:extLst>
              <a:ext uri="{FF2B5EF4-FFF2-40B4-BE49-F238E27FC236}">
                <a16:creationId xmlns:a16="http://schemas.microsoft.com/office/drawing/2014/main" id="{2AA34D50-194C-40E0-85EE-9DB95CADE9CA}"/>
              </a:ext>
            </a:extLst>
          </p:cNvPr>
          <p:cNvSpPr>
            <a:spLocks noGrp="1"/>
          </p:cNvSpPr>
          <p:nvPr/>
        </p:nvSpPr>
        <p:spPr>
          <a:xfrm>
            <a:off x="12001500" y="776287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세션 ID 1, 244, 487 관측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세 번째 실행에서 재현</a:t>
            </a:r>
          </a:p>
        </p:txBody>
      </p:sp>
      <p:sp>
        <p:nvSpPr>
          <p:cNvPr id="52" name="Room UAF의 원인과 지연 파괴 과정은 11p에서 설명합니다.">
            <a:extLst>
              <a:ext uri="{FF2B5EF4-FFF2-40B4-BE49-F238E27FC236}">
                <a16:creationId xmlns:a16="http://schemas.microsoft.com/office/drawing/2014/main" id="{314DD8B6-387A-45E2-B326-983CBC6CD8A6}"/>
              </a:ext>
            </a:extLst>
          </p:cNvPr>
          <p:cNvSpPr>
            <a:spLocks noGrp="1"/>
          </p:cNvSpPr>
          <p:nvPr/>
        </p:nvSpPr>
        <p:spPr>
          <a:xfrm>
            <a:off x="1143000" y="8963025"/>
            <a:ext cx="1581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650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650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Room UAF의 원인과 지연 파괴 과정은 11p에서 설명합니다.</a:t>
            </a:r>
          </a:p>
        </p:txBody>
      </p:sp>
    </p:spTree>
    <p:extLst>
      <p:ext uri="{BB962C8B-B14F-4D97-AF65-F5344CB8AC3E}">
        <p14:creationId xmlns:p14="http://schemas.microsoft.com/office/powerpoint/2010/main" val="932977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53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54" name="Picture 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55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56" name="Picture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5" name="03">
            <a:extLst>
              <a:ext uri="{FF2B5EF4-FFF2-40B4-BE49-F238E27FC236}">
                <a16:creationId xmlns:a16="http://schemas.microsoft.com/office/drawing/2014/main" id="{C8923AC2-A1C9-4390-A95C-F1551EE393FD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03</a:t>
            </a:r>
          </a:p>
        </p:txBody>
      </p:sp>
      <p:sp>
        <p:nvSpPr>
          <p:cNvPr id="26" name="서버 아키텍처">
            <a:extLst>
              <a:ext uri="{FF2B5EF4-FFF2-40B4-BE49-F238E27FC236}">
                <a16:creationId xmlns:a16="http://schemas.microsoft.com/office/drawing/2014/main" id="{05A1C571-2AED-4F7F-A0AD-133523434298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서버 아키텍처</a:t>
            </a:r>
          </a:p>
        </p:txBody>
      </p:sp>
      <p:sp>
        <p:nvSpPr>
          <p:cNvPr id="27" name="로비와 룸은 별도 프로세스로, 공통 기반은 ServerEngine 정적 라이브러리로 분리했">
            <a:extLst>
              <a:ext uri="{FF2B5EF4-FFF2-40B4-BE49-F238E27FC236}">
                <a16:creationId xmlns:a16="http://schemas.microsoft.com/office/drawing/2014/main" id="{3811345B-1527-4F09-8DF5-46E33BA92CC3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로비와 룸은 별도 프로세스로, 공통 기반은 ServerEngine 정적 라이브러리로 분리했습니다.</a:t>
            </a:r>
          </a:p>
        </p:txBody>
      </p:sp>
      <p:sp>
        <p:nvSpPr>
          <p:cNvPr id="28" name="OUTLANDER  /  7">
            <a:extLst>
              <a:ext uri="{FF2B5EF4-FFF2-40B4-BE49-F238E27FC236}">
                <a16:creationId xmlns:a16="http://schemas.microsoft.com/office/drawing/2014/main" id="{1DBEA6C5-B903-4363-B1EA-4288928DAA6A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7</a:t>
            </a:r>
          </a:p>
        </p:txBody>
      </p:sp>
      <p:sp>
        <p:nvSpPr>
          <p:cNvPr id="29" name="Client">
            <a:extLst>
              <a:ext uri="{FF2B5EF4-FFF2-40B4-BE49-F238E27FC236}">
                <a16:creationId xmlns:a16="http://schemas.microsoft.com/office/drawing/2014/main" id="{651F74DE-BA5A-4E96-BD83-0391883F489D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2667000" cy="13335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0" name="Client">
            <a:extLst>
              <a:ext uri="{FF2B5EF4-FFF2-40B4-BE49-F238E27FC236}">
                <a16:creationId xmlns:a16="http://schemas.microsoft.com/office/drawing/2014/main" id="{C78E141D-EA55-4AC0-B873-6040ACC7ACC9}"/>
              </a:ext>
            </a:extLst>
          </p:cNvPr>
          <p:cNvSpPr>
            <a:spLocks noGrp="1"/>
          </p:cNvSpPr>
          <p:nvPr/>
        </p:nvSpPr>
        <p:spPr>
          <a:xfrm>
            <a:off x="1352550" y="4267200"/>
            <a:ext cx="2247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Client</a:t>
            </a:r>
          </a:p>
        </p:txBody>
      </p:sp>
      <p:sp>
        <p:nvSpPr>
          <p:cNvPr id="31" name="접속·게임 입장">
            <a:extLst>
              <a:ext uri="{FF2B5EF4-FFF2-40B4-BE49-F238E27FC236}">
                <a16:creationId xmlns:a16="http://schemas.microsoft.com/office/drawing/2014/main" id="{476862AC-D1A7-40A4-9D19-C173E7B92D50}"/>
              </a:ext>
            </a:extLst>
          </p:cNvPr>
          <p:cNvSpPr>
            <a:spLocks noGrp="1"/>
          </p:cNvSpPr>
          <p:nvPr/>
        </p:nvSpPr>
        <p:spPr>
          <a:xfrm>
            <a:off x="1352550" y="4781550"/>
            <a:ext cx="22479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접속·게임 입장</a:t>
            </a:r>
          </a:p>
        </p:txBody>
      </p:sp>
      <p:sp>
        <p:nvSpPr>
          <p:cNvPr id="32" name="LobbyServer">
            <a:extLst>
              <a:ext uri="{FF2B5EF4-FFF2-40B4-BE49-F238E27FC236}">
                <a16:creationId xmlns:a16="http://schemas.microsoft.com/office/drawing/2014/main" id="{908AEE1E-3F1A-4A2B-A014-8FE0BE0FDFFA}"/>
              </a:ext>
            </a:extLst>
          </p:cNvPr>
          <p:cNvSpPr>
            <a:spLocks noGrp="1"/>
          </p:cNvSpPr>
          <p:nvPr/>
        </p:nvSpPr>
        <p:spPr>
          <a:xfrm>
            <a:off x="5810250" y="3143250"/>
            <a:ext cx="4286250" cy="1619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3" name="LobbyServer">
            <a:extLst>
              <a:ext uri="{FF2B5EF4-FFF2-40B4-BE49-F238E27FC236}">
                <a16:creationId xmlns:a16="http://schemas.microsoft.com/office/drawing/2014/main" id="{A07CAADA-3608-4A49-8778-709BD34BCF21}"/>
              </a:ext>
            </a:extLst>
          </p:cNvPr>
          <p:cNvSpPr>
            <a:spLocks noGrp="1"/>
          </p:cNvSpPr>
          <p:nvPr/>
        </p:nvSpPr>
        <p:spPr>
          <a:xfrm>
            <a:off x="6019800" y="3314700"/>
            <a:ext cx="38671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LobbyServer</a:t>
            </a:r>
          </a:p>
        </p:txBody>
      </p:sp>
      <p:sp>
        <p:nvSpPr>
          <p:cNvPr id="34" name="계정·파티·입장 티켓&#10;포트 8000">
            <a:extLst>
              <a:ext uri="{FF2B5EF4-FFF2-40B4-BE49-F238E27FC236}">
                <a16:creationId xmlns:a16="http://schemas.microsoft.com/office/drawing/2014/main" id="{C0303A31-957B-4758-9D7A-C0F7A6142494}"/>
              </a:ext>
            </a:extLst>
          </p:cNvPr>
          <p:cNvSpPr>
            <a:spLocks noGrp="1"/>
          </p:cNvSpPr>
          <p:nvPr/>
        </p:nvSpPr>
        <p:spPr>
          <a:xfrm>
            <a:off x="6019800" y="3829050"/>
            <a:ext cx="3867150" cy="876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계정·파티·입장</a:t>
            </a:r>
            <a:r>
              <a:rPr sz="18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18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티켓</a:t>
            </a:r>
            <a:endParaRPr sz="187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35" name="RoomServer">
            <a:extLst>
              <a:ext uri="{FF2B5EF4-FFF2-40B4-BE49-F238E27FC236}">
                <a16:creationId xmlns:a16="http://schemas.microsoft.com/office/drawing/2014/main" id="{6B665248-CC38-4F8D-BF35-51D57747E2AB}"/>
              </a:ext>
            </a:extLst>
          </p:cNvPr>
          <p:cNvSpPr>
            <a:spLocks noGrp="1"/>
          </p:cNvSpPr>
          <p:nvPr/>
        </p:nvSpPr>
        <p:spPr>
          <a:xfrm>
            <a:off x="5810250" y="5715000"/>
            <a:ext cx="4286250" cy="1619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6" name="RoomServer">
            <a:extLst>
              <a:ext uri="{FF2B5EF4-FFF2-40B4-BE49-F238E27FC236}">
                <a16:creationId xmlns:a16="http://schemas.microsoft.com/office/drawing/2014/main" id="{FFC8336C-431C-4B2A-9E46-8E1873F87690}"/>
              </a:ext>
            </a:extLst>
          </p:cNvPr>
          <p:cNvSpPr>
            <a:spLocks noGrp="1"/>
          </p:cNvSpPr>
          <p:nvPr/>
        </p:nvSpPr>
        <p:spPr>
          <a:xfrm>
            <a:off x="6019800" y="5886450"/>
            <a:ext cx="38671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RoomServer</a:t>
            </a:r>
          </a:p>
        </p:txBody>
      </p:sp>
      <p:sp>
        <p:nvSpPr>
          <p:cNvPr id="37" name="60Hz 권위 시뮬레이션&#10;포트 9000">
            <a:extLst>
              <a:ext uri="{FF2B5EF4-FFF2-40B4-BE49-F238E27FC236}">
                <a16:creationId xmlns:a16="http://schemas.microsoft.com/office/drawing/2014/main" id="{ADF6DA8C-820E-4DAC-A434-62E67D13F951}"/>
              </a:ext>
            </a:extLst>
          </p:cNvPr>
          <p:cNvSpPr>
            <a:spLocks noGrp="1"/>
          </p:cNvSpPr>
          <p:nvPr/>
        </p:nvSpPr>
        <p:spPr>
          <a:xfrm>
            <a:off x="6019800" y="6400800"/>
            <a:ext cx="3867150" cy="876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60Hz </a:t>
            </a:r>
            <a:r>
              <a:rPr sz="18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권위</a:t>
            </a:r>
            <a:r>
              <a:rPr sz="18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18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시뮬레이션</a:t>
            </a:r>
            <a:endParaRPr sz="187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38" name="SQL Server LocalDB">
            <a:extLst>
              <a:ext uri="{FF2B5EF4-FFF2-40B4-BE49-F238E27FC236}">
                <a16:creationId xmlns:a16="http://schemas.microsoft.com/office/drawing/2014/main" id="{BA61BCCD-D73B-4279-BF74-BBB4DF5CC987}"/>
              </a:ext>
            </a:extLst>
          </p:cNvPr>
          <p:cNvSpPr>
            <a:spLocks noGrp="1"/>
          </p:cNvSpPr>
          <p:nvPr/>
        </p:nvSpPr>
        <p:spPr>
          <a:xfrm>
            <a:off x="12573000" y="4381500"/>
            <a:ext cx="4286250" cy="17145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9" name="SQL Server LocalDB">
            <a:extLst>
              <a:ext uri="{FF2B5EF4-FFF2-40B4-BE49-F238E27FC236}">
                <a16:creationId xmlns:a16="http://schemas.microsoft.com/office/drawing/2014/main" id="{9DE8083B-FE5D-44EC-A511-D0E79A346F98}"/>
              </a:ext>
            </a:extLst>
          </p:cNvPr>
          <p:cNvSpPr>
            <a:spLocks noGrp="1"/>
          </p:cNvSpPr>
          <p:nvPr/>
        </p:nvSpPr>
        <p:spPr>
          <a:xfrm>
            <a:off x="12782550" y="4552950"/>
            <a:ext cx="38671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SQL Server LocalDB</a:t>
            </a:r>
          </a:p>
        </p:txBody>
      </p:sp>
      <p:sp>
        <p:nvSpPr>
          <p:cNvPr id="40" name="Account / Inventory&#10;DBExecutor 전용 스레드">
            <a:extLst>
              <a:ext uri="{FF2B5EF4-FFF2-40B4-BE49-F238E27FC236}">
                <a16:creationId xmlns:a16="http://schemas.microsoft.com/office/drawing/2014/main" id="{C90BA57E-C48C-4F3F-B472-A49C0311E7D3}"/>
              </a:ext>
            </a:extLst>
          </p:cNvPr>
          <p:cNvSpPr>
            <a:spLocks noGrp="1"/>
          </p:cNvSpPr>
          <p:nvPr/>
        </p:nvSpPr>
        <p:spPr>
          <a:xfrm>
            <a:off x="12782550" y="5067300"/>
            <a:ext cx="3867150" cy="971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Account / Inventory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DBExecutor 전용 스레드</a:t>
            </a:r>
          </a:p>
        </p:txBody>
      </p:sp>
      <p:cxnSp>
        <p:nvCxnSpPr>
          <p:cNvPr id="73" name="직선 화살표 연결선 72"/>
          <p:cNvCxnSpPr>
            <a:stCxn id="29" idx="3"/>
            <a:endCxn id="32" idx="1"/>
          </p:cNvCxnSpPr>
          <p:nvPr/>
        </p:nvCxnSpPr>
        <p:spPr>
          <a:xfrm flipV="1">
            <a:off x="3810000" y="3952875"/>
            <a:ext cx="2000250" cy="809625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4" name="직선 화살표 연결선 73"/>
          <p:cNvCxnSpPr>
            <a:stCxn id="29" idx="3"/>
            <a:endCxn id="35" idx="1"/>
          </p:cNvCxnSpPr>
          <p:nvPr/>
        </p:nvCxnSpPr>
        <p:spPr>
          <a:xfrm>
            <a:off x="3810000" y="4762500"/>
            <a:ext cx="2000250" cy="1762125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5" name="직선 화살표 연결선 74"/>
          <p:cNvCxnSpPr>
            <a:stCxn id="32" idx="3"/>
            <a:endCxn id="38" idx="1"/>
          </p:cNvCxnSpPr>
          <p:nvPr/>
        </p:nvCxnSpPr>
        <p:spPr>
          <a:xfrm>
            <a:off x="10096500" y="3952875"/>
            <a:ext cx="2476500" cy="1285875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6" name="직선 화살표 연결선 75"/>
          <p:cNvCxnSpPr>
            <a:stCxn id="35" idx="3"/>
            <a:endCxn id="38" idx="1"/>
          </p:cNvCxnSpPr>
          <p:nvPr/>
        </p:nvCxnSpPr>
        <p:spPr>
          <a:xfrm flipV="1">
            <a:off x="10096500" y="5238750"/>
            <a:ext cx="2476500" cy="1285875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5" name="로그인·파티">
            <a:extLst>
              <a:ext uri="{FF2B5EF4-FFF2-40B4-BE49-F238E27FC236}">
                <a16:creationId xmlns:a16="http://schemas.microsoft.com/office/drawing/2014/main" id="{53DED053-D808-43DD-BCDF-F67E86D00B45}"/>
              </a:ext>
            </a:extLst>
          </p:cNvPr>
          <p:cNvSpPr>
            <a:spLocks noGrp="1"/>
          </p:cNvSpPr>
          <p:nvPr/>
        </p:nvSpPr>
        <p:spPr>
          <a:xfrm>
            <a:off x="3905250" y="3371850"/>
            <a:ext cx="1857375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로그인·파티</a:t>
            </a:r>
          </a:p>
        </p:txBody>
      </p:sp>
      <p:sp>
        <p:nvSpPr>
          <p:cNvPr id="46" name="티켓을 가지고 입장">
            <a:extLst>
              <a:ext uri="{FF2B5EF4-FFF2-40B4-BE49-F238E27FC236}">
                <a16:creationId xmlns:a16="http://schemas.microsoft.com/office/drawing/2014/main" id="{D9744920-387F-48AB-BD40-85CB798BC66F}"/>
              </a:ext>
            </a:extLst>
          </p:cNvPr>
          <p:cNvSpPr>
            <a:spLocks noGrp="1"/>
          </p:cNvSpPr>
          <p:nvPr/>
        </p:nvSpPr>
        <p:spPr>
          <a:xfrm>
            <a:off x="3810000" y="6200775"/>
            <a:ext cx="2476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티켓을 가지고 입장</a:t>
            </a:r>
          </a:p>
        </p:txBody>
      </p:sp>
      <p:sp>
        <p:nvSpPr>
          <p:cNvPr id="47" name="로비와 룸 사이 직접 소켓 연결 없음&#10;클라이언트가 서명된 입장 티켓을 전달">
            <a:extLst>
              <a:ext uri="{FF2B5EF4-FFF2-40B4-BE49-F238E27FC236}">
                <a16:creationId xmlns:a16="http://schemas.microsoft.com/office/drawing/2014/main" id="{1B69E4CC-C5C1-4FBA-A67E-01D92D41D42E}"/>
              </a:ext>
            </a:extLst>
          </p:cNvPr>
          <p:cNvSpPr>
            <a:spLocks noGrp="1"/>
          </p:cNvSpPr>
          <p:nvPr/>
        </p:nvSpPr>
        <p:spPr>
          <a:xfrm>
            <a:off x="1143000" y="7572375"/>
            <a:ext cx="9429750" cy="790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로비와 룸 사이 직접 소켓 연결 없음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클라이언트가 서명된 입장 티켓을 전달</a:t>
            </a:r>
          </a:p>
        </p:txBody>
      </p:sp>
      <p:sp>
        <p:nvSpPr>
          <p:cNvPr id="48" name="공유 정적 라이브러리">
            <a:extLst>
              <a:ext uri="{FF2B5EF4-FFF2-40B4-BE49-F238E27FC236}">
                <a16:creationId xmlns:a16="http://schemas.microsoft.com/office/drawing/2014/main" id="{E074D3D6-0C6E-4951-A231-F3DC7283EAB3}"/>
              </a:ext>
            </a:extLst>
          </p:cNvPr>
          <p:cNvSpPr>
            <a:spLocks noGrp="1"/>
          </p:cNvSpPr>
          <p:nvPr/>
        </p:nvSpPr>
        <p:spPr>
          <a:xfrm>
            <a:off x="11334750" y="7334250"/>
            <a:ext cx="557212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0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공유 정적 라이브러리</a:t>
            </a:r>
          </a:p>
        </p:txBody>
      </p:sp>
      <p:sp>
        <p:nvSpPr>
          <p:cNvPr id="49" name="ServerEngine&#10;IOCP, 세션, 버퍼, 잡 큐, 메모리 풀, DB">
            <a:extLst>
              <a:ext uri="{FF2B5EF4-FFF2-40B4-BE49-F238E27FC236}">
                <a16:creationId xmlns:a16="http://schemas.microsoft.com/office/drawing/2014/main" id="{75DED949-FC56-4780-9E0F-E1B1682E020D}"/>
              </a:ext>
            </a:extLst>
          </p:cNvPr>
          <p:cNvSpPr>
            <a:spLocks noGrp="1"/>
          </p:cNvSpPr>
          <p:nvPr/>
        </p:nvSpPr>
        <p:spPr>
          <a:xfrm>
            <a:off x="11334750" y="7810500"/>
            <a:ext cx="5572125" cy="857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ServerEngine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IOCP, 세션, 버퍼, 잡 큐, 메모리 풀, DB</a:t>
            </a:r>
          </a:p>
        </p:txBody>
      </p:sp>
      <p:sp>
        <p:nvSpPr>
          <p:cNvPr id="50" name="RoomServer 스레드: IOCP 2개 / JobTimer 1개 / Job max(1,">
            <a:extLst>
              <a:ext uri="{FF2B5EF4-FFF2-40B4-BE49-F238E27FC236}">
                <a16:creationId xmlns:a16="http://schemas.microsoft.com/office/drawing/2014/main" id="{561686B0-DB6D-4269-80D7-ACBBB260ACDF}"/>
              </a:ext>
            </a:extLst>
          </p:cNvPr>
          <p:cNvSpPr>
            <a:spLocks noGrp="1"/>
          </p:cNvSpPr>
          <p:nvPr/>
        </p:nvSpPr>
        <p:spPr>
          <a:xfrm>
            <a:off x="1143000" y="8924925"/>
            <a:ext cx="158115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72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72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RoomServer 스레드: IOCP 2개 / JobTimer 1개 / Job max(1, 물리 코어 − 3) / DBExecutor 1개</a:t>
            </a:r>
          </a:p>
        </p:txBody>
      </p:sp>
    </p:spTree>
    <p:extLst>
      <p:ext uri="{BB962C8B-B14F-4D97-AF65-F5344CB8AC3E}">
        <p14:creationId xmlns:p14="http://schemas.microsoft.com/office/powerpoint/2010/main" val="2070075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47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48" name="Picture 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49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50" name="Picture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5" name="04">
            <a:extLst>
              <a:ext uri="{FF2B5EF4-FFF2-40B4-BE49-F238E27FC236}">
                <a16:creationId xmlns:a16="http://schemas.microsoft.com/office/drawing/2014/main" id="{2F57D8F0-2AB0-4E2D-9E7B-4DE03C327E11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04</a:t>
            </a:r>
          </a:p>
        </p:txBody>
      </p:sp>
      <p:sp>
        <p:nvSpPr>
          <p:cNvPr id="26" name="IOCP와 세션 수명">
            <a:extLst>
              <a:ext uri="{FF2B5EF4-FFF2-40B4-BE49-F238E27FC236}">
                <a16:creationId xmlns:a16="http://schemas.microsoft.com/office/drawing/2014/main" id="{19C121FE-DD9F-4E7B-B289-E41D48490E30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IOCP와 세션 수명</a:t>
            </a:r>
          </a:p>
        </p:txBody>
      </p:sp>
      <p:sp>
        <p:nvSpPr>
          <p:cNvPr id="27" name="연결 종료 여부만으로 해제 시점을 결정하지 않고, 미처리 I/O가 세션 참조를 보유하게 했">
            <a:extLst>
              <a:ext uri="{FF2B5EF4-FFF2-40B4-BE49-F238E27FC236}">
                <a16:creationId xmlns:a16="http://schemas.microsoft.com/office/drawing/2014/main" id="{9197A099-B4C6-4F71-BF8F-2410030FDFAC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연결 종료 여부만으로 해제 시점을 결정하지 않고, 미처리 I/O가 세션 참조를 보유하게 했습니다.</a:t>
            </a:r>
          </a:p>
        </p:txBody>
      </p:sp>
      <p:sp>
        <p:nvSpPr>
          <p:cNvPr id="28" name="OUTLANDER  /  8">
            <a:extLst>
              <a:ext uri="{FF2B5EF4-FFF2-40B4-BE49-F238E27FC236}">
                <a16:creationId xmlns:a16="http://schemas.microsoft.com/office/drawing/2014/main" id="{FD259D5D-35C7-470F-A9CB-5AAC77ECA55F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8</a:t>
            </a:r>
          </a:p>
        </p:txBody>
      </p:sp>
      <p:sp>
        <p:nvSpPr>
          <p:cNvPr id="29" name="I/O 등록">
            <a:extLst>
              <a:ext uri="{FF2B5EF4-FFF2-40B4-BE49-F238E27FC236}">
                <a16:creationId xmlns:a16="http://schemas.microsoft.com/office/drawing/2014/main" id="{76BA61F1-942B-4C23-8455-7580B782CD42}"/>
              </a:ext>
            </a:extLst>
          </p:cNvPr>
          <p:cNvSpPr>
            <a:spLocks noGrp="1"/>
          </p:cNvSpPr>
          <p:nvPr/>
        </p:nvSpPr>
        <p:spPr>
          <a:xfrm>
            <a:off x="1143000" y="3381375"/>
            <a:ext cx="4572000" cy="1809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0" name="I/O 등록">
            <a:extLst>
              <a:ext uri="{FF2B5EF4-FFF2-40B4-BE49-F238E27FC236}">
                <a16:creationId xmlns:a16="http://schemas.microsoft.com/office/drawing/2014/main" id="{10AF3BB1-6523-458D-A4F9-B2CC4F8D7DFD}"/>
              </a:ext>
            </a:extLst>
          </p:cNvPr>
          <p:cNvSpPr>
            <a:spLocks noGrp="1"/>
          </p:cNvSpPr>
          <p:nvPr/>
        </p:nvSpPr>
        <p:spPr>
          <a:xfrm>
            <a:off x="1352550" y="3552825"/>
            <a:ext cx="4152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I/O 등록</a:t>
            </a:r>
          </a:p>
        </p:txBody>
      </p:sp>
      <p:sp>
        <p:nvSpPr>
          <p:cNvPr id="31" name="IoEvent::owner_가&#10;세션의 shared_ptr 참조 보유">
            <a:extLst>
              <a:ext uri="{FF2B5EF4-FFF2-40B4-BE49-F238E27FC236}">
                <a16:creationId xmlns:a16="http://schemas.microsoft.com/office/drawing/2014/main" id="{A47AB474-F060-4516-9836-731393960205}"/>
              </a:ext>
            </a:extLst>
          </p:cNvPr>
          <p:cNvSpPr>
            <a:spLocks noGrp="1"/>
          </p:cNvSpPr>
          <p:nvPr/>
        </p:nvSpPr>
        <p:spPr>
          <a:xfrm>
            <a:off x="1352550" y="4067175"/>
            <a:ext cx="41529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IoEvent::owner_가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세션의 shared_ptr 참조 보유</a:t>
            </a:r>
          </a:p>
        </p:txBody>
      </p:sp>
      <p:sp>
        <p:nvSpPr>
          <p:cNvPr id="32" name="완료 통지 처리">
            <a:extLst>
              <a:ext uri="{FF2B5EF4-FFF2-40B4-BE49-F238E27FC236}">
                <a16:creationId xmlns:a16="http://schemas.microsoft.com/office/drawing/2014/main" id="{A4FB2431-CF55-4595-8D09-A6616909D293}"/>
              </a:ext>
            </a:extLst>
          </p:cNvPr>
          <p:cNvSpPr>
            <a:spLocks noGrp="1"/>
          </p:cNvSpPr>
          <p:nvPr/>
        </p:nvSpPr>
        <p:spPr>
          <a:xfrm>
            <a:off x="6762750" y="3381375"/>
            <a:ext cx="4572000" cy="1809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3" name="완료 통지 처리">
            <a:extLst>
              <a:ext uri="{FF2B5EF4-FFF2-40B4-BE49-F238E27FC236}">
                <a16:creationId xmlns:a16="http://schemas.microsoft.com/office/drawing/2014/main" id="{2FC6AE77-491B-41BD-A6C7-3CE628B8BE50}"/>
              </a:ext>
            </a:extLst>
          </p:cNvPr>
          <p:cNvSpPr>
            <a:spLocks noGrp="1"/>
          </p:cNvSpPr>
          <p:nvPr/>
        </p:nvSpPr>
        <p:spPr>
          <a:xfrm>
            <a:off x="6972300" y="3552825"/>
            <a:ext cx="4152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완료 통지 처리</a:t>
            </a:r>
          </a:p>
        </p:txBody>
      </p:sp>
      <p:sp>
        <p:nvSpPr>
          <p:cNvPr id="34" name="dispatch가 owner를 로컬 복사&#10;처리 중 세션 수명 유지">
            <a:extLst>
              <a:ext uri="{FF2B5EF4-FFF2-40B4-BE49-F238E27FC236}">
                <a16:creationId xmlns:a16="http://schemas.microsoft.com/office/drawing/2014/main" id="{B1B07500-D8E5-4C46-92CC-4142A92C3050}"/>
              </a:ext>
            </a:extLst>
          </p:cNvPr>
          <p:cNvSpPr>
            <a:spLocks noGrp="1"/>
          </p:cNvSpPr>
          <p:nvPr/>
        </p:nvSpPr>
        <p:spPr>
          <a:xfrm>
            <a:off x="6972300" y="4067175"/>
            <a:ext cx="41529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dispatch가 owner를 로컬 복사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처리 중 세션 수명 유지</a:t>
            </a:r>
          </a:p>
        </p:txBody>
      </p:sp>
      <p:sp>
        <p:nvSpPr>
          <p:cNvPr id="35" name="마지막 참조 해제">
            <a:extLst>
              <a:ext uri="{FF2B5EF4-FFF2-40B4-BE49-F238E27FC236}">
                <a16:creationId xmlns:a16="http://schemas.microsoft.com/office/drawing/2014/main" id="{B92C1CEF-F7FE-4C7D-A9E0-480FE6DDE66B}"/>
              </a:ext>
            </a:extLst>
          </p:cNvPr>
          <p:cNvSpPr>
            <a:spLocks noGrp="1"/>
          </p:cNvSpPr>
          <p:nvPr/>
        </p:nvSpPr>
        <p:spPr>
          <a:xfrm>
            <a:off x="12382500" y="3381375"/>
            <a:ext cx="4572000" cy="1809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6" name="마지막 참조 해제">
            <a:extLst>
              <a:ext uri="{FF2B5EF4-FFF2-40B4-BE49-F238E27FC236}">
                <a16:creationId xmlns:a16="http://schemas.microsoft.com/office/drawing/2014/main" id="{706FF2B8-6F10-49BA-A24A-1C054770645D}"/>
              </a:ext>
            </a:extLst>
          </p:cNvPr>
          <p:cNvSpPr>
            <a:spLocks noGrp="1"/>
          </p:cNvSpPr>
          <p:nvPr/>
        </p:nvSpPr>
        <p:spPr>
          <a:xfrm>
            <a:off x="12592050" y="3552825"/>
            <a:ext cx="4152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마지막 참조 해제</a:t>
            </a:r>
          </a:p>
        </p:txBody>
      </p:sp>
      <p:sp>
        <p:nvSpPr>
          <p:cNvPr id="37" name="객체 소멸 후&#10;ObjectPool로 메모리 반환">
            <a:extLst>
              <a:ext uri="{FF2B5EF4-FFF2-40B4-BE49-F238E27FC236}">
                <a16:creationId xmlns:a16="http://schemas.microsoft.com/office/drawing/2014/main" id="{F1E0B405-7E6F-48CA-8167-3B2F9C6CA7CE}"/>
              </a:ext>
            </a:extLst>
          </p:cNvPr>
          <p:cNvSpPr>
            <a:spLocks noGrp="1"/>
          </p:cNvSpPr>
          <p:nvPr/>
        </p:nvSpPr>
        <p:spPr>
          <a:xfrm>
            <a:off x="12592050" y="4067175"/>
            <a:ext cx="41529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객체 소멸 후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ObjectPool로 메모리 반환</a:t>
            </a:r>
          </a:p>
        </p:txBody>
      </p:sp>
      <p:cxnSp>
        <p:nvCxnSpPr>
          <p:cNvPr id="64" name="직선 화살표 연결선 63"/>
          <p:cNvCxnSpPr>
            <a:stCxn id="29" idx="3"/>
            <a:endCxn id="32" idx="1"/>
          </p:cNvCxnSpPr>
          <p:nvPr/>
        </p:nvCxnSpPr>
        <p:spPr>
          <a:xfrm>
            <a:off x="5715000" y="4286250"/>
            <a:ext cx="1047750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65" name="직선 화살표 연결선 64"/>
          <p:cNvCxnSpPr>
            <a:stCxn id="32" idx="3"/>
            <a:endCxn id="35" idx="1"/>
          </p:cNvCxnSpPr>
          <p:nvPr/>
        </p:nvCxnSpPr>
        <p:spPr>
          <a:xfrm>
            <a:off x="11334750" y="4286250"/>
            <a:ext cx="1047750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0" name="disconnect 이후에도 완료 통지가 남아 있을 수 있으므로, 참조가 남아 있는 동안 ">
            <a:extLst>
              <a:ext uri="{FF2B5EF4-FFF2-40B4-BE49-F238E27FC236}">
                <a16:creationId xmlns:a16="http://schemas.microsoft.com/office/drawing/2014/main" id="{F8169D17-5588-4D18-B1EF-BF5BE7680891}"/>
              </a:ext>
            </a:extLst>
          </p:cNvPr>
          <p:cNvSpPr>
            <a:spLocks noGrp="1"/>
          </p:cNvSpPr>
          <p:nvPr/>
        </p:nvSpPr>
        <p:spPr>
          <a:xfrm>
            <a:off x="1143000" y="5610225"/>
            <a:ext cx="15811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75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175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disconnect 이후에도 완료 통지가 남아 있을 수 있으므로, 참조가 남아 있는 동안 세션을 유지합니다.</a:t>
            </a:r>
          </a:p>
        </p:txBody>
      </p:sp>
      <p:sp>
        <p:nvSpPr>
          <p:cNvPr id="41" name="송신 직렬화와 묶음 전송">
            <a:extLst>
              <a:ext uri="{FF2B5EF4-FFF2-40B4-BE49-F238E27FC236}">
                <a16:creationId xmlns:a16="http://schemas.microsoft.com/office/drawing/2014/main" id="{3E7D867D-B7F9-4B8B-B78B-9B21FE60F673}"/>
              </a:ext>
            </a:extLst>
          </p:cNvPr>
          <p:cNvSpPr>
            <a:spLocks noGrp="1"/>
          </p:cNvSpPr>
          <p:nvPr/>
        </p:nvSpPr>
        <p:spPr>
          <a:xfrm>
            <a:off x="1143000" y="672465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송신 직렬화와 묶음 전송</a:t>
            </a:r>
          </a:p>
        </p:txBody>
      </p:sp>
      <p:sp>
        <p:nvSpPr>
          <p:cNvPr id="42" name="sending_.exchange(true)의 전이 획득자만 송신 시작&#10;대기 버퍼 최대 10">
            <a:extLst>
              <a:ext uri="{FF2B5EF4-FFF2-40B4-BE49-F238E27FC236}">
                <a16:creationId xmlns:a16="http://schemas.microsoft.com/office/drawing/2014/main" id="{57798AE1-2A64-4FB2-9EFA-74DFF73BD2BE}"/>
              </a:ext>
            </a:extLst>
          </p:cNvPr>
          <p:cNvSpPr>
            <a:spLocks noGrp="1"/>
          </p:cNvSpPr>
          <p:nvPr/>
        </p:nvSpPr>
        <p:spPr>
          <a:xfrm>
            <a:off x="1143000" y="7296150"/>
            <a:ext cx="8096250" cy="7353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sending_.exchange(true)의 전이 획득자만 송신 시작</a:t>
            </a:r>
          </a:p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대기 버퍼 최대 100개를 WSABUF로 묶어 WSASend</a:t>
            </a:r>
          </a:p>
        </p:txBody>
      </p:sp>
      <p:sp>
        <p:nvSpPr>
          <p:cNvPr id="43" name="오류 경로 정리">
            <a:extLst>
              <a:ext uri="{FF2B5EF4-FFF2-40B4-BE49-F238E27FC236}">
                <a16:creationId xmlns:a16="http://schemas.microsoft.com/office/drawing/2014/main" id="{1937C656-5E5E-4EE5-9E43-E84A4E247085}"/>
              </a:ext>
            </a:extLst>
          </p:cNvPr>
          <p:cNvSpPr>
            <a:spLocks noGrp="1"/>
          </p:cNvSpPr>
          <p:nvPr/>
        </p:nvSpPr>
        <p:spPr>
          <a:xfrm>
            <a:off x="9906000" y="6724650"/>
            <a:ext cx="69532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오류 경로 정리</a:t>
            </a:r>
          </a:p>
        </p:txBody>
      </p:sp>
      <p:sp>
        <p:nvSpPr>
          <p:cNvPr id="44" name="즉시 실패 시 owner 참조와 송신 버퍼 해제&#10;sending_ 상태 복구로 누수·송신 정">
            <a:extLst>
              <a:ext uri="{FF2B5EF4-FFF2-40B4-BE49-F238E27FC236}">
                <a16:creationId xmlns:a16="http://schemas.microsoft.com/office/drawing/2014/main" id="{F4423662-1BE9-4ED1-AC08-DA999A56CF6C}"/>
              </a:ext>
            </a:extLst>
          </p:cNvPr>
          <p:cNvSpPr>
            <a:spLocks noGrp="1"/>
          </p:cNvSpPr>
          <p:nvPr/>
        </p:nvSpPr>
        <p:spPr>
          <a:xfrm>
            <a:off x="9906000" y="7296150"/>
            <a:ext cx="6953250" cy="7353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즉시 실패 시 owner 참조와 송신 버퍼 해제</a:t>
            </a:r>
          </a:p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sending_ 상태 복구로 누수·송신 정지 방지</a:t>
            </a:r>
          </a:p>
        </p:txBody>
      </p:sp>
    </p:spTree>
    <p:extLst>
      <p:ext uri="{BB962C8B-B14F-4D97-AF65-F5344CB8AC3E}">
        <p14:creationId xmlns:p14="http://schemas.microsoft.com/office/powerpoint/2010/main" val="2070075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57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58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59" name="Picture 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60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61" name="Picture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5" name="05">
            <a:extLst>
              <a:ext uri="{FF2B5EF4-FFF2-40B4-BE49-F238E27FC236}">
                <a16:creationId xmlns:a16="http://schemas.microsoft.com/office/drawing/2014/main" id="{B42B9691-DFED-4186-9DCF-61394C02D830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05</a:t>
            </a:r>
          </a:p>
        </p:txBody>
      </p:sp>
      <p:sp>
        <p:nvSpPr>
          <p:cNvPr id="26" name="SendBuffer와 스레드 로컬 청크">
            <a:extLst>
              <a:ext uri="{FF2B5EF4-FFF2-40B4-BE49-F238E27FC236}">
                <a16:creationId xmlns:a16="http://schemas.microsoft.com/office/drawing/2014/main" id="{801DF4B5-5DFC-46C0-BE9D-49BBFC051C62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SendBuffer와 스레드 로컬 청크</a:t>
            </a:r>
          </a:p>
        </p:txBody>
      </p:sp>
      <p:sp>
        <p:nvSpPr>
          <p:cNvPr id="27" name="64KB 청크에서 순차 할당하고, 여러 세션이 같은 송신 버퍼를 공유하도록 구성했습니다.">
            <a:extLst>
              <a:ext uri="{FF2B5EF4-FFF2-40B4-BE49-F238E27FC236}">
                <a16:creationId xmlns:a16="http://schemas.microsoft.com/office/drawing/2014/main" id="{171B3B28-AE1A-44B3-BBE2-9AE87FFF9C37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64KB 청크에서 순차 할당하고, 여러 세션이 같은 송신 버퍼를 공유하도록 구성했습니다.</a:t>
            </a:r>
          </a:p>
        </p:txBody>
      </p:sp>
      <p:sp>
        <p:nvSpPr>
          <p:cNvPr id="28" name="OUTLANDER  /  9">
            <a:extLst>
              <a:ext uri="{FF2B5EF4-FFF2-40B4-BE49-F238E27FC236}">
                <a16:creationId xmlns:a16="http://schemas.microsoft.com/office/drawing/2014/main" id="{A480F65B-4573-4259-A249-FEBC2A7DCAB1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9</a:t>
            </a:r>
          </a:p>
        </p:txBody>
      </p:sp>
      <p:sp>
        <p:nvSpPr>
          <p:cNvPr id="29" name="SendBufferManager">
            <a:extLst>
              <a:ext uri="{FF2B5EF4-FFF2-40B4-BE49-F238E27FC236}">
                <a16:creationId xmlns:a16="http://schemas.microsoft.com/office/drawing/2014/main" id="{FED8F50F-058F-48A4-B970-7709B011B25E}"/>
              </a:ext>
            </a:extLst>
          </p:cNvPr>
          <p:cNvSpPr>
            <a:spLocks noGrp="1"/>
          </p:cNvSpPr>
          <p:nvPr/>
        </p:nvSpPr>
        <p:spPr>
          <a:xfrm>
            <a:off x="1143000" y="3238500"/>
            <a:ext cx="6477000" cy="128587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0" name="SendBufferManager">
            <a:extLst>
              <a:ext uri="{FF2B5EF4-FFF2-40B4-BE49-F238E27FC236}">
                <a16:creationId xmlns:a16="http://schemas.microsoft.com/office/drawing/2014/main" id="{03E4C57A-03C0-4EC8-9576-9F125F72E52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6057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SendBufferManager</a:t>
            </a:r>
          </a:p>
        </p:txBody>
      </p:sp>
      <p:sp>
        <p:nvSpPr>
          <p:cNvPr id="31" name="공유 청크 재활용 큐">
            <a:extLst>
              <a:ext uri="{FF2B5EF4-FFF2-40B4-BE49-F238E27FC236}">
                <a16:creationId xmlns:a16="http://schemas.microsoft.com/office/drawing/2014/main" id="{F3B7664F-31A4-44B5-BCA0-AB63D90F80F9}"/>
              </a:ext>
            </a:extLst>
          </p:cNvPr>
          <p:cNvSpPr>
            <a:spLocks noGrp="1"/>
          </p:cNvSpPr>
          <p:nvPr/>
        </p:nvSpPr>
        <p:spPr>
          <a:xfrm>
            <a:off x="1352550" y="3924300"/>
            <a:ext cx="6057900" cy="542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공유 청크 재활용 큐</a:t>
            </a:r>
          </a:p>
        </p:txBody>
      </p:sp>
      <p:sp>
        <p:nvSpPr>
          <p:cNvPr id="32" name="Thread A의 TLS 청크">
            <a:extLst>
              <a:ext uri="{FF2B5EF4-FFF2-40B4-BE49-F238E27FC236}">
                <a16:creationId xmlns:a16="http://schemas.microsoft.com/office/drawing/2014/main" id="{96359243-3F21-4B18-AADD-E168605002AD}"/>
              </a:ext>
            </a:extLst>
          </p:cNvPr>
          <p:cNvSpPr>
            <a:spLocks noGrp="1"/>
          </p:cNvSpPr>
          <p:nvPr/>
        </p:nvSpPr>
        <p:spPr>
          <a:xfrm>
            <a:off x="1143000" y="5191125"/>
            <a:ext cx="2952750" cy="15240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3" name="Thread A의 TLS 청크">
            <a:extLst>
              <a:ext uri="{FF2B5EF4-FFF2-40B4-BE49-F238E27FC236}">
                <a16:creationId xmlns:a16="http://schemas.microsoft.com/office/drawing/2014/main" id="{E83AEF08-919F-43E7-B1C4-73740FAC5404}"/>
              </a:ext>
            </a:extLst>
          </p:cNvPr>
          <p:cNvSpPr>
            <a:spLocks noGrp="1"/>
          </p:cNvSpPr>
          <p:nvPr/>
        </p:nvSpPr>
        <p:spPr>
          <a:xfrm>
            <a:off x="1352550" y="5362575"/>
            <a:ext cx="25336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Thread A의 TLS 청크</a:t>
            </a:r>
          </a:p>
        </p:txBody>
      </p:sp>
      <p:sp>
        <p:nvSpPr>
          <p:cNvPr id="34" name="64KB&#10;순차 슬라이스 할당">
            <a:extLst>
              <a:ext uri="{FF2B5EF4-FFF2-40B4-BE49-F238E27FC236}">
                <a16:creationId xmlns:a16="http://schemas.microsoft.com/office/drawing/2014/main" id="{7C80DAEF-ED94-4B4C-B0A9-07B72D156EB0}"/>
              </a:ext>
            </a:extLst>
          </p:cNvPr>
          <p:cNvSpPr>
            <a:spLocks noGrp="1"/>
          </p:cNvSpPr>
          <p:nvPr/>
        </p:nvSpPr>
        <p:spPr>
          <a:xfrm>
            <a:off x="1352550" y="5876925"/>
            <a:ext cx="2533650" cy="781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64KB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순차 슬라이스 할당</a:t>
            </a:r>
          </a:p>
        </p:txBody>
      </p:sp>
      <p:sp>
        <p:nvSpPr>
          <p:cNvPr id="35" name="Thread B의 TLS 청크">
            <a:extLst>
              <a:ext uri="{FF2B5EF4-FFF2-40B4-BE49-F238E27FC236}">
                <a16:creationId xmlns:a16="http://schemas.microsoft.com/office/drawing/2014/main" id="{AD0797C9-AFCD-481A-B988-B80EBA39ACDE}"/>
              </a:ext>
            </a:extLst>
          </p:cNvPr>
          <p:cNvSpPr>
            <a:spLocks noGrp="1"/>
          </p:cNvSpPr>
          <p:nvPr/>
        </p:nvSpPr>
        <p:spPr>
          <a:xfrm>
            <a:off x="4667250" y="5191125"/>
            <a:ext cx="2952750" cy="15240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6" name="Thread B의 TLS 청크">
            <a:extLst>
              <a:ext uri="{FF2B5EF4-FFF2-40B4-BE49-F238E27FC236}">
                <a16:creationId xmlns:a16="http://schemas.microsoft.com/office/drawing/2014/main" id="{52248210-D469-4C1B-AD95-F7A7DA128512}"/>
              </a:ext>
            </a:extLst>
          </p:cNvPr>
          <p:cNvSpPr>
            <a:spLocks noGrp="1"/>
          </p:cNvSpPr>
          <p:nvPr/>
        </p:nvSpPr>
        <p:spPr>
          <a:xfrm>
            <a:off x="4876800" y="5362575"/>
            <a:ext cx="25336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Thread B의 TLS 청크</a:t>
            </a:r>
          </a:p>
        </p:txBody>
      </p:sp>
      <p:sp>
        <p:nvSpPr>
          <p:cNvPr id="37" name="64KB&#10;순차 슬라이스 할당">
            <a:extLst>
              <a:ext uri="{FF2B5EF4-FFF2-40B4-BE49-F238E27FC236}">
                <a16:creationId xmlns:a16="http://schemas.microsoft.com/office/drawing/2014/main" id="{BE069BC5-67D5-4CBF-9C34-27164144F782}"/>
              </a:ext>
            </a:extLst>
          </p:cNvPr>
          <p:cNvSpPr>
            <a:spLocks noGrp="1"/>
          </p:cNvSpPr>
          <p:nvPr/>
        </p:nvSpPr>
        <p:spPr>
          <a:xfrm>
            <a:off x="4876800" y="5876925"/>
            <a:ext cx="2533650" cy="781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64KB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순차 슬라이스 할당</a:t>
            </a:r>
          </a:p>
        </p:txBody>
      </p:sp>
      <p:cxnSp>
        <p:nvCxnSpPr>
          <p:cNvPr id="75" name="직선 화살표 연결선 74"/>
          <p:cNvCxnSpPr>
            <a:stCxn id="29" idx="2"/>
            <a:endCxn id="32" idx="0"/>
          </p:cNvCxnSpPr>
          <p:nvPr/>
        </p:nvCxnSpPr>
        <p:spPr>
          <a:xfrm flipH="1">
            <a:off x="2619375" y="4524375"/>
            <a:ext cx="1762125" cy="66675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6" name="직선 화살표 연결선 75"/>
          <p:cNvCxnSpPr>
            <a:stCxn id="29" idx="2"/>
            <a:endCxn id="35" idx="0"/>
          </p:cNvCxnSpPr>
          <p:nvPr/>
        </p:nvCxnSpPr>
        <p:spPr>
          <a:xfrm>
            <a:off x="4381500" y="4524375"/>
            <a:ext cx="1762125" cy="66675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0" name="공유 SendBuffer">
            <a:extLst>
              <a:ext uri="{FF2B5EF4-FFF2-40B4-BE49-F238E27FC236}">
                <a16:creationId xmlns:a16="http://schemas.microsoft.com/office/drawing/2014/main" id="{29750312-8588-4EEE-BE6E-DAFAE273E4C1}"/>
              </a:ext>
            </a:extLst>
          </p:cNvPr>
          <p:cNvSpPr>
            <a:spLocks noGrp="1"/>
          </p:cNvSpPr>
          <p:nvPr/>
        </p:nvSpPr>
        <p:spPr>
          <a:xfrm>
            <a:off x="9810750" y="3238500"/>
            <a:ext cx="7048500" cy="128587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41" name="공유 SendBuffer">
            <a:extLst>
              <a:ext uri="{FF2B5EF4-FFF2-40B4-BE49-F238E27FC236}">
                <a16:creationId xmlns:a16="http://schemas.microsoft.com/office/drawing/2014/main" id="{66222BF0-F3F0-46B2-92FD-57914F3C4A2E}"/>
              </a:ext>
            </a:extLst>
          </p:cNvPr>
          <p:cNvSpPr>
            <a:spLocks noGrp="1"/>
          </p:cNvSpPr>
          <p:nvPr/>
        </p:nvSpPr>
        <p:spPr>
          <a:xfrm>
            <a:off x="10020300" y="3409950"/>
            <a:ext cx="66294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공유 SendBuffer</a:t>
            </a:r>
          </a:p>
        </p:txBody>
      </p:sp>
      <p:sp>
        <p:nvSpPr>
          <p:cNvPr id="42" name="동일 버퍼를 여러 세션의 송신 큐에 등록">
            <a:extLst>
              <a:ext uri="{FF2B5EF4-FFF2-40B4-BE49-F238E27FC236}">
                <a16:creationId xmlns:a16="http://schemas.microsoft.com/office/drawing/2014/main" id="{3359ADA5-A3F4-43F8-AD93-21B384F664CC}"/>
              </a:ext>
            </a:extLst>
          </p:cNvPr>
          <p:cNvSpPr>
            <a:spLocks noGrp="1"/>
          </p:cNvSpPr>
          <p:nvPr/>
        </p:nvSpPr>
        <p:spPr>
          <a:xfrm>
            <a:off x="10020300" y="3924300"/>
            <a:ext cx="6629400" cy="542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동일 버퍼를 여러 세션의 송신 큐에 등록</a:t>
            </a:r>
          </a:p>
        </p:txBody>
      </p:sp>
      <p:sp>
        <p:nvSpPr>
          <p:cNvPr id="43" name="Session 1">
            <a:extLst>
              <a:ext uri="{FF2B5EF4-FFF2-40B4-BE49-F238E27FC236}">
                <a16:creationId xmlns:a16="http://schemas.microsoft.com/office/drawing/2014/main" id="{9247F4F8-9829-41A7-9584-3076EF78FCB1}"/>
              </a:ext>
            </a:extLst>
          </p:cNvPr>
          <p:cNvSpPr>
            <a:spLocks noGrp="1"/>
          </p:cNvSpPr>
          <p:nvPr/>
        </p:nvSpPr>
        <p:spPr>
          <a:xfrm>
            <a:off x="9810750" y="5191125"/>
            <a:ext cx="2190750" cy="10001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44" name="Session 1">
            <a:extLst>
              <a:ext uri="{FF2B5EF4-FFF2-40B4-BE49-F238E27FC236}">
                <a16:creationId xmlns:a16="http://schemas.microsoft.com/office/drawing/2014/main" id="{BD661285-0113-4AF9-B7A4-7ACB74981F24}"/>
              </a:ext>
            </a:extLst>
          </p:cNvPr>
          <p:cNvSpPr>
            <a:spLocks noGrp="1"/>
          </p:cNvSpPr>
          <p:nvPr/>
        </p:nvSpPr>
        <p:spPr>
          <a:xfrm>
            <a:off x="10020300" y="5362575"/>
            <a:ext cx="17716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Session 1</a:t>
            </a:r>
          </a:p>
        </p:txBody>
      </p:sp>
      <p:cxnSp>
        <p:nvCxnSpPr>
          <p:cNvPr id="82" name="직선 화살표 연결선 81"/>
          <p:cNvCxnSpPr>
            <a:stCxn id="43" idx="0"/>
            <a:endCxn id="40" idx="2"/>
          </p:cNvCxnSpPr>
          <p:nvPr/>
        </p:nvCxnSpPr>
        <p:spPr>
          <a:xfrm flipV="1">
            <a:off x="10906125" y="4524375"/>
            <a:ext cx="2428875" cy="66675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6" name="Session 2">
            <a:extLst>
              <a:ext uri="{FF2B5EF4-FFF2-40B4-BE49-F238E27FC236}">
                <a16:creationId xmlns:a16="http://schemas.microsoft.com/office/drawing/2014/main" id="{771C60A6-045D-4DBF-BC5C-4181B553DAF0}"/>
              </a:ext>
            </a:extLst>
          </p:cNvPr>
          <p:cNvSpPr>
            <a:spLocks noGrp="1"/>
          </p:cNvSpPr>
          <p:nvPr/>
        </p:nvSpPr>
        <p:spPr>
          <a:xfrm>
            <a:off x="12239625" y="5191125"/>
            <a:ext cx="2190750" cy="10001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47" name="Session 2">
            <a:extLst>
              <a:ext uri="{FF2B5EF4-FFF2-40B4-BE49-F238E27FC236}">
                <a16:creationId xmlns:a16="http://schemas.microsoft.com/office/drawing/2014/main" id="{9CC9A5C2-3207-4AC1-9338-76405E0223C2}"/>
              </a:ext>
            </a:extLst>
          </p:cNvPr>
          <p:cNvSpPr>
            <a:spLocks noGrp="1"/>
          </p:cNvSpPr>
          <p:nvPr/>
        </p:nvSpPr>
        <p:spPr>
          <a:xfrm>
            <a:off x="12449175" y="5362575"/>
            <a:ext cx="17716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Session 2</a:t>
            </a:r>
          </a:p>
        </p:txBody>
      </p:sp>
      <p:cxnSp>
        <p:nvCxnSpPr>
          <p:cNvPr id="85" name="직선 화살표 연결선 84"/>
          <p:cNvCxnSpPr>
            <a:stCxn id="46" idx="0"/>
            <a:endCxn id="40" idx="2"/>
          </p:cNvCxnSpPr>
          <p:nvPr/>
        </p:nvCxnSpPr>
        <p:spPr>
          <a:xfrm flipV="1">
            <a:off x="13335000" y="4524375"/>
            <a:ext cx="0" cy="66675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9" name="Session 3">
            <a:extLst>
              <a:ext uri="{FF2B5EF4-FFF2-40B4-BE49-F238E27FC236}">
                <a16:creationId xmlns:a16="http://schemas.microsoft.com/office/drawing/2014/main" id="{3B793582-1221-4442-B6B5-920C68159AFB}"/>
              </a:ext>
            </a:extLst>
          </p:cNvPr>
          <p:cNvSpPr>
            <a:spLocks noGrp="1"/>
          </p:cNvSpPr>
          <p:nvPr/>
        </p:nvSpPr>
        <p:spPr>
          <a:xfrm>
            <a:off x="14668500" y="5191125"/>
            <a:ext cx="2190750" cy="10001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50" name="Session 3">
            <a:extLst>
              <a:ext uri="{FF2B5EF4-FFF2-40B4-BE49-F238E27FC236}">
                <a16:creationId xmlns:a16="http://schemas.microsoft.com/office/drawing/2014/main" id="{543E4057-D5B4-4D9D-B906-FE0037D954AF}"/>
              </a:ext>
            </a:extLst>
          </p:cNvPr>
          <p:cNvSpPr>
            <a:spLocks noGrp="1"/>
          </p:cNvSpPr>
          <p:nvPr/>
        </p:nvSpPr>
        <p:spPr>
          <a:xfrm>
            <a:off x="14878050" y="5362575"/>
            <a:ext cx="17716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Session 3</a:t>
            </a:r>
          </a:p>
        </p:txBody>
      </p:sp>
      <p:cxnSp>
        <p:nvCxnSpPr>
          <p:cNvPr id="88" name="직선 화살표 연결선 87"/>
          <p:cNvCxnSpPr>
            <a:stCxn id="49" idx="0"/>
            <a:endCxn id="40" idx="2"/>
          </p:cNvCxnSpPr>
          <p:nvPr/>
        </p:nvCxnSpPr>
        <p:spPr>
          <a:xfrm flipH="1" flipV="1">
            <a:off x="13335000" y="4524375"/>
            <a:ext cx="2428875" cy="66675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52" name="할당 경로의 공유 접근 감소">
            <a:extLst>
              <a:ext uri="{FF2B5EF4-FFF2-40B4-BE49-F238E27FC236}">
                <a16:creationId xmlns:a16="http://schemas.microsoft.com/office/drawing/2014/main" id="{C6794321-B0EA-4FCC-980C-EF7C766003AF}"/>
              </a:ext>
            </a:extLst>
          </p:cNvPr>
          <p:cNvSpPr>
            <a:spLocks noGrp="1"/>
          </p:cNvSpPr>
          <p:nvPr/>
        </p:nvSpPr>
        <p:spPr>
          <a:xfrm>
            <a:off x="1143000" y="7334250"/>
            <a:ext cx="79057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할당 경로의 공유 접근 감소</a:t>
            </a:r>
          </a:p>
        </p:txBody>
      </p:sp>
      <p:sp>
        <p:nvSpPr>
          <p:cNvPr id="53" name="패킷마다 전역 풀을 조회하는 대신 TLS 청크 사용&#10;청크 교체·회수 시에는 공유 재활용 큐">
            <a:extLst>
              <a:ext uri="{FF2B5EF4-FFF2-40B4-BE49-F238E27FC236}">
                <a16:creationId xmlns:a16="http://schemas.microsoft.com/office/drawing/2014/main" id="{C1785B2A-9D4B-42D8-90FC-D2B2234B6928}"/>
              </a:ext>
            </a:extLst>
          </p:cNvPr>
          <p:cNvSpPr>
            <a:spLocks noGrp="1"/>
          </p:cNvSpPr>
          <p:nvPr/>
        </p:nvSpPr>
        <p:spPr>
          <a:xfrm>
            <a:off x="1143000" y="7905750"/>
            <a:ext cx="7905750" cy="7353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패킷마다 전역 풀을 조회하는 대신 TLS 청크 사용</a:t>
            </a:r>
          </a:p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청크 교체·회수 시에는 공유 재활용 큐에 접근</a:t>
            </a:r>
          </a:p>
        </p:txBody>
      </p:sp>
      <p:sp>
        <p:nvSpPr>
          <p:cNvPr id="54" name="브로드캐스트와 종료 경로">
            <a:extLst>
              <a:ext uri="{FF2B5EF4-FFF2-40B4-BE49-F238E27FC236}">
                <a16:creationId xmlns:a16="http://schemas.microsoft.com/office/drawing/2014/main" id="{5ADC536D-5C77-481A-8F64-013CF936976C}"/>
              </a:ext>
            </a:extLst>
          </p:cNvPr>
          <p:cNvSpPr>
            <a:spLocks noGrp="1"/>
          </p:cNvSpPr>
          <p:nvPr/>
        </p:nvSpPr>
        <p:spPr>
          <a:xfrm>
            <a:off x="9810750" y="7334250"/>
            <a:ext cx="71437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브로드캐스트와 종료 경로</a:t>
            </a:r>
          </a:p>
        </p:txBody>
      </p:sp>
      <p:sp>
        <p:nvSpPr>
          <p:cNvPr id="55" name="raw 포인터 개별 해제의 double free를 shared_ptr로 수정&#10;종료 중에는 ">
            <a:extLst>
              <a:ext uri="{FF2B5EF4-FFF2-40B4-BE49-F238E27FC236}">
                <a16:creationId xmlns:a16="http://schemas.microsoft.com/office/drawing/2014/main" id="{D98E26E6-C79B-4A0C-AF33-1DEBD892FBDF}"/>
              </a:ext>
            </a:extLst>
          </p:cNvPr>
          <p:cNvSpPr>
            <a:spLocks noGrp="1"/>
          </p:cNvSpPr>
          <p:nvPr/>
        </p:nvSpPr>
        <p:spPr>
          <a:xfrm>
            <a:off x="9810750" y="7905750"/>
            <a:ext cx="7143750" cy="7124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raw 포인터 개별 해제의 double free를 shared_ptr로 수정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종료 중에는 청크를 큐에 재등록하지 않고 실제 해제</a:t>
            </a:r>
          </a:p>
        </p:txBody>
      </p:sp>
    </p:spTree>
    <p:extLst>
      <p:ext uri="{BB962C8B-B14F-4D97-AF65-F5344CB8AC3E}">
        <p14:creationId xmlns:p14="http://schemas.microsoft.com/office/powerpoint/2010/main" val="2070075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4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44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45" name="Picture 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46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47" name="Picture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5" name="06">
            <a:extLst>
              <a:ext uri="{FF2B5EF4-FFF2-40B4-BE49-F238E27FC236}">
                <a16:creationId xmlns:a16="http://schemas.microsoft.com/office/drawing/2014/main" id="{5EE3B93B-ECC6-48E8-A2B9-49AAEC20C9AC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06</a:t>
            </a:r>
          </a:p>
        </p:txBody>
      </p:sp>
      <p:sp>
        <p:nvSpPr>
          <p:cNvPr id="26" name="JobQueue와 Room 상태 직렬화">
            <a:extLst>
              <a:ext uri="{FF2B5EF4-FFF2-40B4-BE49-F238E27FC236}">
                <a16:creationId xmlns:a16="http://schemas.microsoft.com/office/drawing/2014/main" id="{03ED50C5-7453-4C6A-ABBB-6CE8ACE9DB51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JobQueue와 Room 상태 직렬화</a:t>
            </a:r>
          </a:p>
        </p:txBody>
      </p:sp>
      <p:sp>
        <p:nvSpPr>
          <p:cNvPr id="27" name="Room 상태 변경을 방별 잡 큐로 모으고, 한 큐를 동시에 한 실행자만 처리하도록 설계했">
            <a:extLst>
              <a:ext uri="{FF2B5EF4-FFF2-40B4-BE49-F238E27FC236}">
                <a16:creationId xmlns:a16="http://schemas.microsoft.com/office/drawing/2014/main" id="{87EBE97A-6008-4F88-AE33-510A3DAAF4A4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Room 상태 변경을 방별 잡 큐로 모으고, 한 큐를 동시에 한 실행자만 처리하도록 설계했습니다.</a:t>
            </a:r>
          </a:p>
        </p:txBody>
      </p:sp>
      <p:sp>
        <p:nvSpPr>
          <p:cNvPr id="28" name="OUTLANDER  /  10">
            <a:extLst>
              <a:ext uri="{FF2B5EF4-FFF2-40B4-BE49-F238E27FC236}">
                <a16:creationId xmlns:a16="http://schemas.microsoft.com/office/drawing/2014/main" id="{FDD390B7-BBAC-4B6F-B39A-D397275444E4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10</a:t>
            </a:r>
          </a:p>
        </p:txBody>
      </p:sp>
      <p:sp>
        <p:nvSpPr>
          <p:cNvPr id="29" name="IOCP / JobTimer / Job">
            <a:extLst>
              <a:ext uri="{FF2B5EF4-FFF2-40B4-BE49-F238E27FC236}">
                <a16:creationId xmlns:a16="http://schemas.microsoft.com/office/drawing/2014/main" id="{8487C0B2-62E4-42C5-A864-B8E7B0894063}"/>
              </a:ext>
            </a:extLst>
          </p:cNvPr>
          <p:cNvSpPr>
            <a:spLocks noGrp="1"/>
          </p:cNvSpPr>
          <p:nvPr/>
        </p:nvSpPr>
        <p:spPr>
          <a:xfrm>
            <a:off x="1143000" y="3381375"/>
            <a:ext cx="4286250" cy="15716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0" name="IOCP / JobTimer / Job">
            <a:extLst>
              <a:ext uri="{FF2B5EF4-FFF2-40B4-BE49-F238E27FC236}">
                <a16:creationId xmlns:a16="http://schemas.microsoft.com/office/drawing/2014/main" id="{278E9FB3-9C0A-4782-864F-BF8221B89D46}"/>
              </a:ext>
            </a:extLst>
          </p:cNvPr>
          <p:cNvSpPr>
            <a:spLocks noGrp="1"/>
          </p:cNvSpPr>
          <p:nvPr/>
        </p:nvSpPr>
        <p:spPr>
          <a:xfrm>
            <a:off x="1352550" y="3552825"/>
            <a:ext cx="38671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IOCP / JobTimer / Job</a:t>
            </a:r>
          </a:p>
        </p:txBody>
      </p:sp>
      <p:sp>
        <p:nvSpPr>
          <p:cNvPr id="31" name="doAsync()로 Room 변경 작업 등록">
            <a:extLst>
              <a:ext uri="{FF2B5EF4-FFF2-40B4-BE49-F238E27FC236}">
                <a16:creationId xmlns:a16="http://schemas.microsoft.com/office/drawing/2014/main" id="{2BC424D4-1912-4894-AAF3-A0BDD89F4C0C}"/>
              </a:ext>
            </a:extLst>
          </p:cNvPr>
          <p:cNvSpPr>
            <a:spLocks noGrp="1"/>
          </p:cNvSpPr>
          <p:nvPr/>
        </p:nvSpPr>
        <p:spPr>
          <a:xfrm>
            <a:off x="1352550" y="4067175"/>
            <a:ext cx="3867150" cy="828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doAsync()로 Room 변경 작업 등록</a:t>
            </a:r>
          </a:p>
        </p:txBody>
      </p:sp>
      <p:sp>
        <p:nvSpPr>
          <p:cNvPr id="32" name="Room별 JobQueue">
            <a:extLst>
              <a:ext uri="{FF2B5EF4-FFF2-40B4-BE49-F238E27FC236}">
                <a16:creationId xmlns:a16="http://schemas.microsoft.com/office/drawing/2014/main" id="{456095FD-ACCB-451B-BD7A-B235FAFB35D2}"/>
              </a:ext>
            </a:extLst>
          </p:cNvPr>
          <p:cNvSpPr>
            <a:spLocks noGrp="1"/>
          </p:cNvSpPr>
          <p:nvPr/>
        </p:nvSpPr>
        <p:spPr>
          <a:xfrm>
            <a:off x="6572250" y="3381375"/>
            <a:ext cx="4762500" cy="15716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3" name="Room별 JobQueue">
            <a:extLst>
              <a:ext uri="{FF2B5EF4-FFF2-40B4-BE49-F238E27FC236}">
                <a16:creationId xmlns:a16="http://schemas.microsoft.com/office/drawing/2014/main" id="{250D181E-2975-4F80-8EFA-30D77C5EDE1C}"/>
              </a:ext>
            </a:extLst>
          </p:cNvPr>
          <p:cNvSpPr>
            <a:spLocks noGrp="1"/>
          </p:cNvSpPr>
          <p:nvPr/>
        </p:nvSpPr>
        <p:spPr>
          <a:xfrm>
            <a:off x="6781800" y="3552825"/>
            <a:ext cx="43434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Room별 JobQueue</a:t>
            </a:r>
          </a:p>
        </p:txBody>
      </p:sp>
      <p:sp>
        <p:nvSpPr>
          <p:cNvPr id="34" name="jobCount_.fetch_add(1)&#10;0 → 1 전이에서만 풀에 등록">
            <a:extLst>
              <a:ext uri="{FF2B5EF4-FFF2-40B4-BE49-F238E27FC236}">
                <a16:creationId xmlns:a16="http://schemas.microsoft.com/office/drawing/2014/main" id="{0459D6E8-7F90-4951-9F40-BF3CB3CE10C5}"/>
              </a:ext>
            </a:extLst>
          </p:cNvPr>
          <p:cNvSpPr>
            <a:spLocks noGrp="1"/>
          </p:cNvSpPr>
          <p:nvPr/>
        </p:nvSpPr>
        <p:spPr>
          <a:xfrm>
            <a:off x="6781800" y="4067175"/>
            <a:ext cx="4343400" cy="828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jobCount_.fetch_add(1)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0 → 1 전이에서만 풀에 등록</a:t>
            </a:r>
          </a:p>
        </p:txBody>
      </p:sp>
      <p:sp>
        <p:nvSpPr>
          <p:cNvPr id="35" name="Job worker">
            <a:extLst>
              <a:ext uri="{FF2B5EF4-FFF2-40B4-BE49-F238E27FC236}">
                <a16:creationId xmlns:a16="http://schemas.microsoft.com/office/drawing/2014/main" id="{F1EAC820-91FA-4D4D-A171-F164ACEE954A}"/>
              </a:ext>
            </a:extLst>
          </p:cNvPr>
          <p:cNvSpPr>
            <a:spLocks noGrp="1"/>
          </p:cNvSpPr>
          <p:nvPr/>
        </p:nvSpPr>
        <p:spPr>
          <a:xfrm>
            <a:off x="12573000" y="3381375"/>
            <a:ext cx="4381500" cy="15716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6" name="Job worker">
            <a:extLst>
              <a:ext uri="{FF2B5EF4-FFF2-40B4-BE49-F238E27FC236}">
                <a16:creationId xmlns:a16="http://schemas.microsoft.com/office/drawing/2014/main" id="{B116EBF0-F4D2-4971-898A-0E446C03A0A8}"/>
              </a:ext>
            </a:extLst>
          </p:cNvPr>
          <p:cNvSpPr>
            <a:spLocks noGrp="1"/>
          </p:cNvSpPr>
          <p:nvPr/>
        </p:nvSpPr>
        <p:spPr>
          <a:xfrm>
            <a:off x="12782550" y="3552825"/>
            <a:ext cx="39624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Job worker</a:t>
            </a:r>
          </a:p>
        </p:txBody>
      </p:sp>
      <p:sp>
        <p:nvSpPr>
          <p:cNvPr id="37" name="큐를 획득해 execute()&#10;동일 Room 상태를 순차 변경">
            <a:extLst>
              <a:ext uri="{FF2B5EF4-FFF2-40B4-BE49-F238E27FC236}">
                <a16:creationId xmlns:a16="http://schemas.microsoft.com/office/drawing/2014/main" id="{3ABF6356-632B-43EB-B32E-1428F0B5A12D}"/>
              </a:ext>
            </a:extLst>
          </p:cNvPr>
          <p:cNvSpPr>
            <a:spLocks noGrp="1"/>
          </p:cNvSpPr>
          <p:nvPr/>
        </p:nvSpPr>
        <p:spPr>
          <a:xfrm>
            <a:off x="12782550" y="4067175"/>
            <a:ext cx="3962400" cy="828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큐를 획득해 execute()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동일 Room 상태를 순차 변경</a:t>
            </a:r>
          </a:p>
        </p:txBody>
      </p:sp>
      <p:cxnSp>
        <p:nvCxnSpPr>
          <p:cNvPr id="61" name="직선 화살표 연결선 60"/>
          <p:cNvCxnSpPr>
            <a:stCxn id="29" idx="3"/>
            <a:endCxn id="32" idx="1"/>
          </p:cNvCxnSpPr>
          <p:nvPr/>
        </p:nvCxnSpPr>
        <p:spPr>
          <a:xfrm>
            <a:off x="5429250" y="4167188"/>
            <a:ext cx="1143000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62" name="직선 화살표 연결선 61"/>
          <p:cNvCxnSpPr>
            <a:stCxn id="32" idx="3"/>
            <a:endCxn id="35" idx="1"/>
          </p:cNvCxnSpPr>
          <p:nvPr/>
        </p:nvCxnSpPr>
        <p:spPr>
          <a:xfrm>
            <a:off x="11334750" y="4167188"/>
            <a:ext cx="1238250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graphicFrame>
        <p:nvGraphicFramePr>
          <p:cNvPr id="63" name="표 62"/>
          <p:cNvGraphicFramePr/>
          <p:nvPr/>
        </p:nvGraphicFramePr>
        <p:xfrm>
          <a:off x="1143000" y="5762625"/>
          <a:ext cx="15811500" cy="2857500"/>
        </p:xfrm>
        <a:graphic>
          <a:graphicData uri="http://schemas.openxmlformats.org/drawingml/2006/table">
            <a:tbl>
              <a:tblPr/>
              <a:tblGrid>
                <a:gridCol w="3905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414141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관측 항목</a:t>
                      </a:r>
                    </a:p>
                  </a:txBody>
                  <a:tcPr anchor="ctr">
                    <a:solidFill>
                      <a:srgbClr val="E0E2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414141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의미와 대응</a:t>
                      </a:r>
                    </a:p>
                  </a:txBody>
                  <a:tcPr anchor="ctr">
                    <a:solidFill>
                      <a:srgbClr val="E0E2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executing_ &gt;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동일 큐의 동시 실행을 감지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remaining &lt;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카운터 이상을 기록하고 UAF 등 원인 조사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remaining &lt;=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처리 루프 탈출로 빈 큐 무한 스핀 방지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idle()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실행 중인 스레드가 없고 남은 잡 수가 0 이하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1" name="직렬화 전제는 Room을 수정하는 경로가 해당 잡 큐를 통과하는 것입니다.">
            <a:extLst>
              <a:ext uri="{FF2B5EF4-FFF2-40B4-BE49-F238E27FC236}">
                <a16:creationId xmlns:a16="http://schemas.microsoft.com/office/drawing/2014/main" id="{6D66D9D3-62A1-489B-9364-E6C2AD258D9F}"/>
              </a:ext>
            </a:extLst>
          </p:cNvPr>
          <p:cNvSpPr>
            <a:spLocks noGrp="1"/>
          </p:cNvSpPr>
          <p:nvPr/>
        </p:nvSpPr>
        <p:spPr>
          <a:xfrm>
            <a:off x="1143000" y="8924925"/>
            <a:ext cx="158115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직렬화 전제는 Room을 수정하는 경로가 해당 잡 큐를 통과하는 것입니다.</a:t>
            </a:r>
          </a:p>
        </p:txBody>
      </p:sp>
    </p:spTree>
    <p:extLst>
      <p:ext uri="{BB962C8B-B14F-4D97-AF65-F5344CB8AC3E}">
        <p14:creationId xmlns:p14="http://schemas.microsoft.com/office/powerpoint/2010/main" val="2070075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53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54" name="Picture 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55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56" name="Picture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5" name="07">
            <a:extLst>
              <a:ext uri="{FF2B5EF4-FFF2-40B4-BE49-F238E27FC236}">
                <a16:creationId xmlns:a16="http://schemas.microsoft.com/office/drawing/2014/main" id="{7CF2AC19-436C-412D-A926-2C13F3B54D51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07</a:t>
            </a:r>
          </a:p>
        </p:txBody>
      </p:sp>
      <p:sp>
        <p:nvSpPr>
          <p:cNvPr id="26" name="Room 자기 파괴 UAF와 지연 파괴">
            <a:extLst>
              <a:ext uri="{FF2B5EF4-FFF2-40B4-BE49-F238E27FC236}">
                <a16:creationId xmlns:a16="http://schemas.microsoft.com/office/drawing/2014/main" id="{F16C550F-4F22-4737-BD9C-026939CBE0A6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Room 자기 파괴 UAF와 지연 파괴</a:t>
            </a:r>
          </a:p>
        </p:txBody>
      </p:sp>
      <p:sp>
        <p:nvSpPr>
          <p:cNvPr id="27" name="마지막 사용자가 나갈 때, 실행 중인 Room과 JobQueue를 즉시 파괴하던 경로를 분">
            <a:extLst>
              <a:ext uri="{FF2B5EF4-FFF2-40B4-BE49-F238E27FC236}">
                <a16:creationId xmlns:a16="http://schemas.microsoft.com/office/drawing/2014/main" id="{172E3383-BA55-49F4-93A0-A1079DD15F41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마지막 사용자가 나갈 때, 실행 중인 Room과 JobQueue를 즉시 파괴하던 경로를 분리했습니다.</a:t>
            </a:r>
          </a:p>
        </p:txBody>
      </p:sp>
      <p:sp>
        <p:nvSpPr>
          <p:cNvPr id="28" name="OUTLANDER  /  11">
            <a:extLst>
              <a:ext uri="{FF2B5EF4-FFF2-40B4-BE49-F238E27FC236}">
                <a16:creationId xmlns:a16="http://schemas.microsoft.com/office/drawing/2014/main" id="{E2B07498-5198-49B3-A7E7-6A2B7F60AF5D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11</a:t>
            </a:r>
          </a:p>
        </p:txBody>
      </p:sp>
      <p:sp>
        <p:nvSpPr>
          <p:cNvPr id="29" name="증상과 재현 단서">
            <a:extLst>
              <a:ext uri="{FF2B5EF4-FFF2-40B4-BE49-F238E27FC236}">
                <a16:creationId xmlns:a16="http://schemas.microsoft.com/office/drawing/2014/main" id="{1D25B45E-DFAF-4762-8279-9321F1B66676}"/>
              </a:ext>
            </a:extLst>
          </p:cNvPr>
          <p:cNvSpPr>
            <a:spLocks noGrp="1"/>
          </p:cNvSpPr>
          <p:nvPr/>
        </p:nvSpPr>
        <p:spPr>
          <a:xfrm>
            <a:off x="1143000" y="3000375"/>
            <a:ext cx="78105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증상과 재현 단서</a:t>
            </a:r>
          </a:p>
        </p:txBody>
      </p:sp>
      <p:sp>
        <p:nvSpPr>
          <p:cNvPr id="30" name="물리 솔버와 try_dequeue_bulk에서 번갈아 크래시&#10;생성·파괴 3회에서 동일 주소">
            <a:extLst>
              <a:ext uri="{FF2B5EF4-FFF2-40B4-BE49-F238E27FC236}">
                <a16:creationId xmlns:a16="http://schemas.microsoft.com/office/drawing/2014/main" id="{5B4A3AC7-1F9C-4C68-8A93-1FE3B70B4ADE}"/>
              </a:ext>
            </a:extLst>
          </p:cNvPr>
          <p:cNvSpPr>
            <a:spLocks noGrp="1"/>
          </p:cNvSpPr>
          <p:nvPr/>
        </p:nvSpPr>
        <p:spPr>
          <a:xfrm>
            <a:off x="1143000" y="3571875"/>
            <a:ext cx="7810500" cy="75819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물리 솔버와 try_dequeue_bulk에서 번갈아 크래시</a:t>
            </a:r>
          </a:p>
          <a:p>
            <a:pPr algn="l">
              <a:lnSpc>
                <a:spcPct val="120000"/>
              </a:lnSpc>
              <a:buNone/>
              <a:defRPr sz="21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생성·파괴 3회에서 동일 주소 재사용 관측</a:t>
            </a:r>
          </a:p>
        </p:txBody>
      </p:sp>
      <p:sp>
        <p:nvSpPr>
          <p:cNvPr id="31" name="원인">
            <a:extLst>
              <a:ext uri="{FF2B5EF4-FFF2-40B4-BE49-F238E27FC236}">
                <a16:creationId xmlns:a16="http://schemas.microsoft.com/office/drawing/2014/main" id="{EA436E06-07BC-41E2-9775-786286BD5AAD}"/>
              </a:ext>
            </a:extLst>
          </p:cNvPr>
          <p:cNvSpPr>
            <a:spLocks noGrp="1"/>
          </p:cNvSpPr>
          <p:nvPr/>
        </p:nvSpPr>
        <p:spPr>
          <a:xfrm>
            <a:off x="9810750" y="3000375"/>
            <a:ext cx="71437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원인</a:t>
            </a:r>
          </a:p>
        </p:txBody>
      </p:sp>
      <p:sp>
        <p:nvSpPr>
          <p:cNvPr id="32" name="leave 잡이 자신의 execute() 스택 안에서 Room 파괴&#10;잔여 틱 잡과 실행 루">
            <a:extLst>
              <a:ext uri="{FF2B5EF4-FFF2-40B4-BE49-F238E27FC236}">
                <a16:creationId xmlns:a16="http://schemas.microsoft.com/office/drawing/2014/main" id="{507B3B88-F22E-4C72-B35D-678E53ADDFDC}"/>
              </a:ext>
            </a:extLst>
          </p:cNvPr>
          <p:cNvSpPr>
            <a:spLocks noGrp="1"/>
          </p:cNvSpPr>
          <p:nvPr/>
        </p:nvSpPr>
        <p:spPr>
          <a:xfrm>
            <a:off x="9810750" y="3571875"/>
            <a:ext cx="7143750" cy="7353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leave 잡이 자신의 execute() 스택 안에서 Room 파괴</a:t>
            </a:r>
          </a:p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잔여 틱 잡과 실행 루프가 해제된 메모리에 접근</a:t>
            </a:r>
          </a:p>
        </p:txBody>
      </p:sp>
      <p:sp>
        <p:nvSpPr>
          <p:cNvPr id="33" name="맵에서 제거">
            <a:extLst>
              <a:ext uri="{FF2B5EF4-FFF2-40B4-BE49-F238E27FC236}">
                <a16:creationId xmlns:a16="http://schemas.microsoft.com/office/drawing/2014/main" id="{D7624264-E7F6-432C-B239-7BE2FA09E272}"/>
              </a:ext>
            </a:extLst>
          </p:cNvPr>
          <p:cNvSpPr>
            <a:spLocks noGrp="1"/>
          </p:cNvSpPr>
          <p:nvPr/>
        </p:nvSpPr>
        <p:spPr>
          <a:xfrm>
            <a:off x="1143000" y="5619750"/>
            <a:ext cx="342900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4" name="맵에서 제거">
            <a:extLst>
              <a:ext uri="{FF2B5EF4-FFF2-40B4-BE49-F238E27FC236}">
                <a16:creationId xmlns:a16="http://schemas.microsoft.com/office/drawing/2014/main" id="{9896259B-2731-4C73-80A4-EC9428F442C4}"/>
              </a:ext>
            </a:extLst>
          </p:cNvPr>
          <p:cNvSpPr>
            <a:spLocks noGrp="1"/>
          </p:cNvSpPr>
          <p:nvPr/>
        </p:nvSpPr>
        <p:spPr>
          <a:xfrm>
            <a:off x="1352550" y="5791200"/>
            <a:ext cx="3009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맵에서 제거</a:t>
            </a:r>
          </a:p>
        </p:txBody>
      </p:sp>
      <p:sp>
        <p:nvSpPr>
          <p:cNvPr id="35" name="closed_ 설정&#10;신규 진입·틱 재예약 중단">
            <a:extLst>
              <a:ext uri="{FF2B5EF4-FFF2-40B4-BE49-F238E27FC236}">
                <a16:creationId xmlns:a16="http://schemas.microsoft.com/office/drawing/2014/main" id="{92C4EC22-7B15-4C8E-BFA5-93668B0BD155}"/>
              </a:ext>
            </a:extLst>
          </p:cNvPr>
          <p:cNvSpPr>
            <a:spLocks noGrp="1"/>
          </p:cNvSpPr>
          <p:nvPr/>
        </p:nvSpPr>
        <p:spPr>
          <a:xfrm>
            <a:off x="1352550" y="6305550"/>
            <a:ext cx="30099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closed_ 설정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신규 진입·틱 재예약 중단</a:t>
            </a:r>
          </a:p>
        </p:txBody>
      </p:sp>
      <p:sp>
        <p:nvSpPr>
          <p:cNvPr id="36" name="파괴 대기">
            <a:extLst>
              <a:ext uri="{FF2B5EF4-FFF2-40B4-BE49-F238E27FC236}">
                <a16:creationId xmlns:a16="http://schemas.microsoft.com/office/drawing/2014/main" id="{65EC3CDD-0209-499A-B279-C998800DE2B3}"/>
              </a:ext>
            </a:extLst>
          </p:cNvPr>
          <p:cNvSpPr>
            <a:spLocks noGrp="1"/>
          </p:cNvSpPr>
          <p:nvPr/>
        </p:nvSpPr>
        <p:spPr>
          <a:xfrm>
            <a:off x="5286375" y="5619750"/>
            <a:ext cx="342900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37" name="파괴 대기">
            <a:extLst>
              <a:ext uri="{FF2B5EF4-FFF2-40B4-BE49-F238E27FC236}">
                <a16:creationId xmlns:a16="http://schemas.microsoft.com/office/drawing/2014/main" id="{FD19EB3F-276D-4112-9F9A-2203CD6C338C}"/>
              </a:ext>
            </a:extLst>
          </p:cNvPr>
          <p:cNvSpPr>
            <a:spLocks noGrp="1"/>
          </p:cNvSpPr>
          <p:nvPr/>
        </p:nvSpPr>
        <p:spPr>
          <a:xfrm>
            <a:off x="5495925" y="5791200"/>
            <a:ext cx="3009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파괴 대기</a:t>
            </a:r>
          </a:p>
        </p:txBody>
      </p:sp>
      <p:sp>
        <p:nvSpPr>
          <p:cNvPr id="38" name="pendingDestroy_ 등록&#10;잔여 작업 처리">
            <a:extLst>
              <a:ext uri="{FF2B5EF4-FFF2-40B4-BE49-F238E27FC236}">
                <a16:creationId xmlns:a16="http://schemas.microsoft.com/office/drawing/2014/main" id="{A0EC56DF-6E26-482D-B92C-C8B80DC60B4D}"/>
              </a:ext>
            </a:extLst>
          </p:cNvPr>
          <p:cNvSpPr>
            <a:spLocks noGrp="1"/>
          </p:cNvSpPr>
          <p:nvPr/>
        </p:nvSpPr>
        <p:spPr>
          <a:xfrm>
            <a:off x="5495925" y="6305550"/>
            <a:ext cx="30099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pendingDestroy_ 등록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잔여 작업 처리</a:t>
            </a:r>
          </a:p>
        </p:txBody>
      </p:sp>
      <p:sp>
        <p:nvSpPr>
          <p:cNvPr id="39" name="유휴 확인">
            <a:extLst>
              <a:ext uri="{FF2B5EF4-FFF2-40B4-BE49-F238E27FC236}">
                <a16:creationId xmlns:a16="http://schemas.microsoft.com/office/drawing/2014/main" id="{1AA388F3-E418-4F17-8C70-50AB9CFEC39D}"/>
              </a:ext>
            </a:extLst>
          </p:cNvPr>
          <p:cNvSpPr>
            <a:spLocks noGrp="1"/>
          </p:cNvSpPr>
          <p:nvPr/>
        </p:nvSpPr>
        <p:spPr>
          <a:xfrm>
            <a:off x="9429750" y="5619750"/>
            <a:ext cx="342900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40" name="유휴 확인">
            <a:extLst>
              <a:ext uri="{FF2B5EF4-FFF2-40B4-BE49-F238E27FC236}">
                <a16:creationId xmlns:a16="http://schemas.microsoft.com/office/drawing/2014/main" id="{DA83346B-D894-4DC9-A8D0-17942334DFB2}"/>
              </a:ext>
            </a:extLst>
          </p:cNvPr>
          <p:cNvSpPr>
            <a:spLocks noGrp="1"/>
          </p:cNvSpPr>
          <p:nvPr/>
        </p:nvSpPr>
        <p:spPr>
          <a:xfrm>
            <a:off x="9639300" y="5791200"/>
            <a:ext cx="3009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유휴 확인</a:t>
            </a:r>
          </a:p>
        </p:txBody>
      </p:sp>
      <p:sp>
        <p:nvSpPr>
          <p:cNvPr id="41" name="약 50ms 간격 스윕&#10;idle() 연속 2회 관측">
            <a:extLst>
              <a:ext uri="{FF2B5EF4-FFF2-40B4-BE49-F238E27FC236}">
                <a16:creationId xmlns:a16="http://schemas.microsoft.com/office/drawing/2014/main" id="{289BA1DB-7D24-46E1-9AB3-FAC152562EC8}"/>
              </a:ext>
            </a:extLst>
          </p:cNvPr>
          <p:cNvSpPr>
            <a:spLocks noGrp="1"/>
          </p:cNvSpPr>
          <p:nvPr/>
        </p:nvSpPr>
        <p:spPr>
          <a:xfrm>
            <a:off x="9639300" y="6305550"/>
            <a:ext cx="30099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약 50ms 간격 스윕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idle() 연속 2회 관측</a:t>
            </a:r>
          </a:p>
        </p:txBody>
      </p:sp>
      <p:sp>
        <p:nvSpPr>
          <p:cNvPr id="42" name="풀로 반납">
            <a:extLst>
              <a:ext uri="{FF2B5EF4-FFF2-40B4-BE49-F238E27FC236}">
                <a16:creationId xmlns:a16="http://schemas.microsoft.com/office/drawing/2014/main" id="{8D14CDCA-4F6B-46E7-8C88-AB69667EFC5B}"/>
              </a:ext>
            </a:extLst>
          </p:cNvPr>
          <p:cNvSpPr>
            <a:spLocks noGrp="1"/>
          </p:cNvSpPr>
          <p:nvPr/>
        </p:nvSpPr>
        <p:spPr>
          <a:xfrm>
            <a:off x="13573125" y="5619750"/>
            <a:ext cx="342900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</p:sp>
      <p:sp>
        <p:nvSpPr>
          <p:cNvPr id="43" name="풀로 반납">
            <a:extLst>
              <a:ext uri="{FF2B5EF4-FFF2-40B4-BE49-F238E27FC236}">
                <a16:creationId xmlns:a16="http://schemas.microsoft.com/office/drawing/2014/main" id="{35A1C214-9578-4355-9C72-3055A4B8AB37}"/>
              </a:ext>
            </a:extLst>
          </p:cNvPr>
          <p:cNvSpPr>
            <a:spLocks noGrp="1"/>
          </p:cNvSpPr>
          <p:nvPr/>
        </p:nvSpPr>
        <p:spPr>
          <a:xfrm>
            <a:off x="13782675" y="5791200"/>
            <a:ext cx="3009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풀로 반납</a:t>
            </a:r>
          </a:p>
        </p:txBody>
      </p:sp>
      <p:sp>
        <p:nvSpPr>
          <p:cNvPr id="44" name="실제 소멸과 반환&#10;관리자 락 밖에서 처리">
            <a:extLst>
              <a:ext uri="{FF2B5EF4-FFF2-40B4-BE49-F238E27FC236}">
                <a16:creationId xmlns:a16="http://schemas.microsoft.com/office/drawing/2014/main" id="{97FA5EA5-0B16-4782-8A65-6FB4B6C954BE}"/>
              </a:ext>
            </a:extLst>
          </p:cNvPr>
          <p:cNvSpPr>
            <a:spLocks noGrp="1"/>
          </p:cNvSpPr>
          <p:nvPr/>
        </p:nvSpPr>
        <p:spPr>
          <a:xfrm>
            <a:off x="13782675" y="6305550"/>
            <a:ext cx="30099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실제 소멸과 반환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관리자 락 밖에서 처리</a:t>
            </a:r>
          </a:p>
        </p:txBody>
      </p:sp>
      <p:cxnSp>
        <p:nvCxnSpPr>
          <p:cNvPr id="77" name="직선 화살표 연결선 76"/>
          <p:cNvCxnSpPr>
            <a:stCxn id="33" idx="3"/>
            <a:endCxn id="36" idx="1"/>
          </p:cNvCxnSpPr>
          <p:nvPr/>
        </p:nvCxnSpPr>
        <p:spPr>
          <a:xfrm>
            <a:off x="4572000" y="6334125"/>
            <a:ext cx="714375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8" name="직선 화살표 연결선 77"/>
          <p:cNvCxnSpPr>
            <a:stCxn id="36" idx="3"/>
            <a:endCxn id="39" idx="1"/>
          </p:cNvCxnSpPr>
          <p:nvPr/>
        </p:nvCxnSpPr>
        <p:spPr>
          <a:xfrm>
            <a:off x="8715375" y="6334125"/>
            <a:ext cx="714375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9" name="직선 화살표 연결선 78"/>
          <p:cNvCxnSpPr>
            <a:stCxn id="39" idx="3"/>
            <a:endCxn id="42" idx="1"/>
          </p:cNvCxnSpPr>
          <p:nvPr/>
        </p:nvCxnSpPr>
        <p:spPr>
          <a:xfrm>
            <a:off x="12858750" y="6334125"/>
            <a:ext cx="714375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8" name="조회와 잡 등록도 한 락 안으로">
            <a:extLst>
              <a:ext uri="{FF2B5EF4-FFF2-40B4-BE49-F238E27FC236}">
                <a16:creationId xmlns:a16="http://schemas.microsoft.com/office/drawing/2014/main" id="{605247D0-CAA2-4006-A505-8E5B58DF87CD}"/>
              </a:ext>
            </a:extLst>
          </p:cNvPr>
          <p:cNvSpPr>
            <a:spLocks noGrp="1"/>
          </p:cNvSpPr>
          <p:nvPr/>
        </p:nvSpPr>
        <p:spPr>
          <a:xfrm>
            <a:off x="1143000" y="7715250"/>
            <a:ext cx="77152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조회와 잡 등록도 한 락 안으로</a:t>
            </a:r>
          </a:p>
        </p:txBody>
      </p:sp>
      <p:sp>
        <p:nvSpPr>
          <p:cNvPr id="49" name="postJob()에서 Room 조회와 push를 묶어 TOCTOU 창을 줄였습니다.">
            <a:extLst>
              <a:ext uri="{FF2B5EF4-FFF2-40B4-BE49-F238E27FC236}">
                <a16:creationId xmlns:a16="http://schemas.microsoft.com/office/drawing/2014/main" id="{0335EFAE-9420-4A0D-BC57-9D092241AC75}"/>
              </a:ext>
            </a:extLst>
          </p:cNvPr>
          <p:cNvSpPr>
            <a:spLocks noGrp="1"/>
          </p:cNvSpPr>
          <p:nvPr/>
        </p:nvSpPr>
        <p:spPr>
          <a:xfrm>
            <a:off x="1143000" y="8286750"/>
            <a:ext cx="15621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postJob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()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에서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Room 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조회와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push를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묶어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TOCTOU 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창을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줄였습니다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.</a:t>
            </a:r>
          </a:p>
        </p:txBody>
      </p:sp>
      <p:sp>
        <p:nvSpPr>
          <p:cNvPr id="50" name="2회 유휴 관측은 추가 유예입니다. 안전한 회수에는 신규 작업 차단과 모든 참조 경로 관리">
            <a:extLst>
              <a:ext uri="{FF2B5EF4-FFF2-40B4-BE49-F238E27FC236}">
                <a16:creationId xmlns:a16="http://schemas.microsoft.com/office/drawing/2014/main" id="{524382BD-6672-4F3C-B3EC-692FC167B5F0}"/>
              </a:ext>
            </a:extLst>
          </p:cNvPr>
          <p:cNvSpPr>
            <a:spLocks noGrp="1"/>
          </p:cNvSpPr>
          <p:nvPr/>
        </p:nvSpPr>
        <p:spPr>
          <a:xfrm>
            <a:off x="1143000" y="8924925"/>
            <a:ext cx="15811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72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72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2회 유휴 관측은 추가 유예입니다. 안전한 회수에는 신규 작업 차단과 모든 참조 경로 관리가 함께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2070075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20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21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22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800" y="6146800"/>
            <a:ext cx="10502900" cy="177800"/>
          </a:xfrm>
          <a:prstGeom prst="rect">
            <a:avLst/>
          </a:prstGeom>
        </p:spPr>
      </p:pic>
      <p:pic>
        <p:nvPicPr>
          <p:cNvPr id="23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9700" y="2286000"/>
            <a:ext cx="8902700" cy="165100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E99488E7-11B0-416B-95AF-0C192C5FC03D}"/>
              </a:ext>
            </a:extLst>
          </p:cNvPr>
          <p:cNvSpPr>
            <a:spLocks noGrp="1"/>
          </p:cNvSpPr>
          <p:nvPr/>
        </p:nvSpPr>
        <p:spPr>
          <a:xfrm>
            <a:off x="1130300" y="2387600"/>
            <a:ext cx="9690100" cy="1866900"/>
          </a:xfrm>
          <a:prstGeom prst="rect">
            <a:avLst/>
          </a:prstGeom>
        </p:spPr>
        <p:txBody>
          <a:bodyPr lIns="0" tIns="131383" rIns="0" bIns="131383" anchor="ctr"/>
          <a:lstStyle/>
          <a:p>
            <a:pPr lvl="0" algn="l">
              <a:lnSpc>
                <a:spcPct val="99600"/>
              </a:lnSpc>
              <a:buNone/>
            </a:pPr>
            <a:r>
              <a:rPr sz="10345" b="0" i="0" u="none" spc="-40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Thank you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DF2E8024-546E-454A-B0A2-3B8250E5DC84}"/>
              </a:ext>
            </a:extLst>
          </p:cNvPr>
          <p:cNvSpPr>
            <a:spLocks noGrp="1"/>
          </p:cNvSpPr>
          <p:nvPr/>
        </p:nvSpPr>
        <p:spPr>
          <a:xfrm>
            <a:off x="8877300" y="5804034"/>
            <a:ext cx="8394700" cy="469766"/>
          </a:xfrm>
          <a:prstGeom prst="rect">
            <a:avLst/>
          </a:prstGeom>
        </p:spPr>
        <p:txBody>
          <a:bodyPr lIns="0" tIns="31749" rIns="0" bIns="31749" anchor="ctr"/>
          <a:lstStyle/>
          <a:p>
            <a:pPr lvl="0" algn="r">
              <a:lnSpc>
                <a:spcPct val="99600"/>
              </a:lnSpc>
              <a:buNone/>
            </a:pPr>
            <a:r>
              <a:rPr sz="24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끝까지 봐주셔서 감사합니다.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11E9FBA-BCBE-4680-B25A-3F8D166023ED}"/>
              </a:ext>
            </a:extLst>
          </p:cNvPr>
          <p:cNvSpPr>
            <a:spLocks noGrp="1"/>
          </p:cNvSpPr>
          <p:nvPr/>
        </p:nvSpPr>
        <p:spPr>
          <a:xfrm>
            <a:off x="1130300" y="7797800"/>
            <a:ext cx="1651000" cy="368300"/>
          </a:xfrm>
          <a:prstGeom prst="rect">
            <a:avLst/>
          </a:prstGeom>
        </p:spPr>
        <p:txBody>
          <a:bodyPr lIns="0" tIns="21589" rIns="0" bIns="21589" anchor="ctr"/>
          <a:lstStyle/>
          <a:p>
            <a:pPr lvl="0" algn="l">
              <a:lnSpc>
                <a:spcPct val="99600"/>
              </a:lnSpc>
              <a:buNone/>
            </a:pPr>
            <a:r>
              <a:rPr sz="1916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CONTACT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0A0BD51-9851-4801-B54C-7E0CFBE766D1}"/>
              </a:ext>
            </a:extLst>
          </p:cNvPr>
          <p:cNvSpPr>
            <a:spLocks noGrp="1"/>
          </p:cNvSpPr>
          <p:nvPr/>
        </p:nvSpPr>
        <p:spPr>
          <a:xfrm>
            <a:off x="1130300" y="8343900"/>
            <a:ext cx="25273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+82 010 </a:t>
            </a:r>
            <a:r>
              <a:rPr sz="1916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5920</a:t>
            </a: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 3386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D1E5462-050F-4DA0-9CA3-A75805BC3516}"/>
              </a:ext>
            </a:extLst>
          </p:cNvPr>
          <p:cNvSpPr>
            <a:spLocks noGrp="1"/>
          </p:cNvSpPr>
          <p:nvPr/>
        </p:nvSpPr>
        <p:spPr>
          <a:xfrm>
            <a:off x="1130300" y="8674100"/>
            <a:ext cx="34671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r>
              <a:rPr sz="1916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asm1133</a:t>
            </a: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@naver.com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F7A86E6-C201-42B1-BB27-1DFADCED7119}"/>
              </a:ext>
            </a:extLst>
          </p:cNvPr>
          <p:cNvSpPr>
            <a:spLocks noGrp="1"/>
          </p:cNvSpPr>
          <p:nvPr/>
        </p:nvSpPr>
        <p:spPr>
          <a:xfrm>
            <a:off x="1130300" y="9004300"/>
            <a:ext cx="34671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endParaRPr sz="1916" b="0" i="0" u="none">
              <a:solidFill>
                <a:srgbClr val="595959"/>
              </a:solidFill>
              <a:latin typeface="Pretendard Light"/>
              <a:ea typeface="Pretendard Light"/>
              <a:cs typeface="Pretendard Light"/>
            </a:endParaRPr>
          </a:p>
        </p:txBody>
      </p:sp>
    </p:spTree>
    <p:extLst>
      <p:ext uri="{BB962C8B-B14F-4D97-AF65-F5344CB8AC3E}">
        <p14:creationId xmlns:p14="http://schemas.microsoft.com/office/powerpoint/2010/main" val="592537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1082</Words>
  <Application>Microsoft Office PowerPoint</Application>
  <DocSecurity>0</DocSecurity>
  <PresentationFormat>사용자 지정</PresentationFormat>
  <Paragraphs>250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Pretendard Light</vt:lpstr>
      <vt:lpstr>Pretendard Medium</vt:lpstr>
      <vt:lpstr>Calibri</vt:lpstr>
      <vt:lpstr>Pretendard Regular</vt:lpstr>
      <vt:lpstr>Pretendard Bold</vt:lpstr>
      <vt:lpstr>Montserrat SemiBold</vt:lpstr>
      <vt:lpstr>Geologica Roman Regular</vt:lpstr>
      <vt:lpstr>Arial</vt:lpstr>
      <vt:lpstr>Pretendard ExtraBold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우상훈</cp:lastModifiedBy>
  <cp:revision>13</cp:revision>
  <dcterms:created xsi:type="dcterms:W3CDTF">2026-09-21T03:44:49Z</dcterms:created>
  <dcterms:modified xsi:type="dcterms:W3CDTF">2026-09-21T03:55:49Z</dcterms:modified>
</cp:coreProperties>
</file>