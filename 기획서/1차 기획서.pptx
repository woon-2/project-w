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7" r:id="rId4"/>
    <p:sldId id="282" r:id="rId5"/>
    <p:sldId id="276" r:id="rId6"/>
    <p:sldId id="279" r:id="rId7"/>
    <p:sldId id="263" r:id="rId8"/>
    <p:sldId id="284" r:id="rId9"/>
    <p:sldId id="267" r:id="rId10"/>
    <p:sldId id="268" r:id="rId11"/>
    <p:sldId id="269" r:id="rId12"/>
    <p:sldId id="270" r:id="rId13"/>
    <p:sldId id="271" r:id="rId14"/>
    <p:sldId id="285" r:id="rId15"/>
    <p:sldId id="272" r:id="rId16"/>
    <p:sldId id="291" r:id="rId17"/>
    <p:sldId id="288" r:id="rId18"/>
    <p:sldId id="292" r:id="rId19"/>
    <p:sldId id="290" r:id="rId20"/>
    <p:sldId id="293" r:id="rId21"/>
    <p:sldId id="294" r:id="rId22"/>
    <p:sldId id="289" r:id="rId23"/>
    <p:sldId id="277" r:id="rId24"/>
    <p:sldId id="259" r:id="rId25"/>
    <p:sldId id="280" r:id="rId26"/>
  </p:sldIdLst>
  <p:sldSz cx="12192000" cy="6858000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9ED5"/>
    <a:srgbClr val="E2E8F4"/>
    <a:srgbClr val="042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87259" autoAdjust="0"/>
  </p:normalViewPr>
  <p:slideViewPr>
    <p:cSldViewPr snapToGrid="0" showGuides="1">
      <p:cViewPr varScale="1">
        <p:scale>
          <a:sx n="136" d="100"/>
          <a:sy n="136" d="100"/>
        </p:scale>
        <p:origin x="1104" y="120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89982E7-198D-6D16-C5E2-71B0BD86B34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9B908B1-9FAB-D136-47BF-04F60E160FF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F516DF8A-8164-49B9-8E24-E4FF16AF5F28}" type="datetimeFigureOut">
              <a:rPr lang="ko-KR" altLang="en-US"/>
              <a:pPr>
                <a:defRPr/>
              </a:pPr>
              <a:t>2024-06-16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E15FD82C-12E6-E0EC-3C6B-E348F9689E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09E36AA2-B133-90C3-FDB6-644C249EE7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편집하려면 클릭</a:t>
            </a:r>
          </a:p>
          <a:p>
            <a:pPr lvl="1"/>
            <a:r>
              <a:rPr lang="ko-KR" altLang="en-US" noProof="0"/>
              <a:t>두 번째 수준</a:t>
            </a:r>
          </a:p>
          <a:p>
            <a:pPr lvl="2"/>
            <a:r>
              <a:rPr lang="ko-KR" altLang="en-US" noProof="0"/>
              <a:t>세 번째 수준</a:t>
            </a:r>
          </a:p>
          <a:p>
            <a:pPr lvl="3"/>
            <a:r>
              <a:rPr lang="ko-KR" altLang="en-US" noProof="0"/>
              <a:t>네 번째 수준</a:t>
            </a:r>
          </a:p>
          <a:p>
            <a:pPr lvl="4"/>
            <a:r>
              <a:rPr lang="ko-KR" altLang="en-US" noProof="0"/>
              <a:t>다섯 번째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A51DE0-49E1-8C34-FD5F-68B992CDE55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66BD4C-9C13-A8D6-C7E1-7E676B5CE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6479F023-A751-4FA0-BE86-364F8818E07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79F023-A751-4FA0-BE86-364F8818E07B}" type="slidenum">
              <a:rPr lang="ko-KR" altLang="en-US" smtClean="0"/>
              <a:pPr>
                <a:defRPr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922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보스의 공격을 옆으로 피하는 게 일반적이며 보스와 거리가 멀면 뒤로 움직이는 것으로도 근접 공격을 피할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79F023-A751-4FA0-BE86-364F8818E07B}" type="slidenum">
              <a:rPr lang="ko-KR" altLang="en-US" smtClean="0"/>
              <a:pPr>
                <a:defRPr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810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>
                <a:latin typeface="+mn-lt"/>
                <a:ea typeface="+mn-ea"/>
              </a:rPr>
              <a:t>근접 전투일 때 일정 확률로 원거리 전투로 전환합니다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>
                <a:latin typeface="+mn-lt"/>
                <a:ea typeface="+mn-ea"/>
              </a:rPr>
              <a:t>일정 확률 </a:t>
            </a:r>
            <a:r>
              <a:rPr lang="en-US" altLang="ko-KR" sz="1200" b="1" dirty="0">
                <a:latin typeface="+mn-lt"/>
                <a:ea typeface="+mn-ea"/>
              </a:rPr>
              <a:t>-&gt; </a:t>
            </a:r>
            <a:r>
              <a:rPr lang="ko-KR" altLang="en-US" sz="1200" b="1" dirty="0">
                <a:latin typeface="+mn-lt"/>
                <a:ea typeface="+mn-ea"/>
              </a:rPr>
              <a:t>매 프레임마다 랜덤 한 수를 생성해서 정해진 수가 나오면 원거리 전투로 전환합니다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>
                <a:latin typeface="+mn-lt"/>
                <a:ea typeface="+mn-ea"/>
              </a:rPr>
              <a:t>원거리 전투를 시작하면 플레이어가 보스와 거리를 좁히기 전까지 계속 원거리 공격을 합니다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>
                <a:latin typeface="+mn-lt"/>
                <a:ea typeface="+mn-ea"/>
              </a:rPr>
              <a:t>플레이어가 접근하면 다시 근접 전투로 전환합니다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79F023-A751-4FA0-BE86-364F8818E07B}" type="slidenum">
              <a:rPr lang="ko-KR" altLang="en-US" smtClean="0"/>
              <a:pPr>
                <a:defRPr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835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저격 총 사용은 거리 벌리기 행동이 선행되어야 해서 은신 후 매우 빠른 속도로 플레이어와  멀어집니다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79F023-A751-4FA0-BE86-364F8818E07B}" type="slidenum">
              <a:rPr lang="ko-KR" altLang="en-US" smtClean="0"/>
              <a:pPr>
                <a:defRPr/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0015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D76B9C-B56F-9B6F-89FE-F13F9D83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67EC98-F07B-4D00-89C1-BFE24738631A}" type="datetime1">
              <a:rPr lang="ko-KR" altLang="en-US"/>
              <a:pPr>
                <a:defRPr/>
              </a:pPr>
              <a:t>2024-06-16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827962-56D2-DC00-AB30-DB672B31F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EAF784-A938-135A-0833-E058A3D1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D3D2E-DA5D-41BE-AA9A-354996C4F3F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56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EDCFCF-CA1B-7E5C-644C-A980597DE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FF17E-BBD7-4563-99B9-C8F142C05AFA}" type="datetime1">
              <a:rPr lang="ko-KR" altLang="en-US"/>
              <a:pPr>
                <a:defRPr/>
              </a:pPr>
              <a:t>2024-06-16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D3F83D-AD62-66A0-60BB-4115CDB4B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7D55AB-611E-53A3-E997-091743EDB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C50477-67B3-4710-8B4D-2837DE40D3A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258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38407E-1866-D1CD-3151-A59DA40A6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6A8F0A-5233-4331-AABE-39475F0D61AB}" type="datetime1">
              <a:rPr lang="ko-KR" altLang="en-US"/>
              <a:pPr>
                <a:defRPr/>
              </a:pPr>
              <a:t>2024-06-16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D63780-B596-886C-52D4-3A7F23373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E9F60E-C1DC-CAEA-C175-4C7FC90E6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FA34BB-1544-49C1-8466-A0FF858E78A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223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96A76F93-72C2-8372-239D-14273C756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16320D-8F02-434B-B13A-B5C2BEFE607D}" type="datetime1">
              <a:rPr lang="ko-KR" altLang="en-US"/>
              <a:pPr>
                <a:defRPr/>
              </a:pPr>
              <a:t>2024-06-16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D2B76B48-958F-D4D1-59CC-DC95B3702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01DBB45D-F4A4-2702-EB90-C4A69FE6E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2BD9C6-2A3A-438D-872D-99C4A6E6C92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71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CE95AF5D-2CDB-C6EA-6C2A-42E78A71E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BFAD60-BB1E-4276-A5B3-FE383FB0F8FB}" type="datetime1">
              <a:rPr lang="ko-KR" altLang="en-US"/>
              <a:pPr>
                <a:defRPr/>
              </a:pPr>
              <a:t>2024-06-16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5C4D0549-1114-52A3-486F-96F11DF0D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08369828-7814-9C8C-61B9-D020BF3A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C41A27-5CF0-4C58-8BEC-C0A6C393CFA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01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9A656F4E-1445-5261-73A2-1152A4EAA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36D9BF-8C15-40A9-BDC7-1A2D4977DB92}" type="datetime1">
              <a:rPr lang="ko-KR" altLang="en-US"/>
              <a:pPr>
                <a:defRPr/>
              </a:pPr>
              <a:t>2024-06-16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ECD9ECBC-60F5-4CFE-B39C-5E90D9AAB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4C06E590-2C7A-5059-CFAD-5518BBAD2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098E43-363F-4E69-9840-60AEF6146AC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620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26619470-0F87-3380-968E-48C88F121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E0762D-98C8-4394-B649-BB742EE37987}" type="datetime1">
              <a:rPr lang="ko-KR" altLang="en-US"/>
              <a:pPr>
                <a:defRPr/>
              </a:pPr>
              <a:t>2024-06-16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14133AEB-BFB7-6650-BD64-9079749D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ED4B713D-7814-E485-7714-5A2A6C8D5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EB44DF-FF80-4752-B8C8-F649E8FA39B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637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844639F-EDDD-D8E4-FF2B-E85805B03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9CA41D-23D5-442F-A323-C40B3EA5F242}" type="datetime1">
              <a:rPr lang="ko-KR" altLang="en-US"/>
              <a:pPr>
                <a:defRPr/>
              </a:pPr>
              <a:t>2024-06-16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D949B4A6-FDD8-8DFC-26F7-AA7821027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7B02033B-DA3B-2BB8-D897-FE215E41F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C48EE4-C531-41D9-99ED-098FE3BC030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76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7929A4F6-916A-4947-58B0-C563B9BE1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19F2CD-BBDC-44D4-9B0E-84AD94FA68E2}" type="datetime1">
              <a:rPr lang="ko-KR" altLang="en-US"/>
              <a:pPr>
                <a:defRPr/>
              </a:pPr>
              <a:t>2024-06-16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FA737D0-1CA8-8526-A728-3617779F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9EB1B0C4-3A42-1387-2D65-AD985693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175BCE-D762-4733-A31B-07D2F8B1C9F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29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73C5C9-F4FC-B3FA-E2BB-2EA8531A4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FDC663-6995-4726-8C0D-A52A63A5064F}" type="datetime1">
              <a:rPr lang="ko-KR" altLang="en-US"/>
              <a:pPr>
                <a:defRPr/>
              </a:pPr>
              <a:t>2024-06-16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43F26A-2881-7F4A-46F7-41D1AC619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17F7FA-8EB4-B541-0E0D-8E4B9AABC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A0C92F-AD0F-4C9D-97DF-9393256F20C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510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2C7225-B3F1-40AD-487D-539B935C5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9140F9-976C-4590-85BA-BCA88B883951}" type="datetime1">
              <a:rPr lang="ko-KR" altLang="en-US"/>
              <a:pPr>
                <a:defRPr/>
              </a:pPr>
              <a:t>2024-06-16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723B10-CB49-6CEE-1C8E-3301CE5BB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EB3B53-4698-4033-444B-E1663C146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F766EE-CA80-4B75-A3C3-C2AB5040F56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877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AFCCA23C-5FF9-BC9C-A802-ED405A3BBF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B9A5EF63-4CC4-C378-E621-E508E97EE2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D42973-1C9B-2CAD-780C-4E7416EDE9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1ECF257-587E-4627-87BC-3033737758BC}" type="datetime1">
              <a:rPr lang="ko-KR" altLang="en-US"/>
              <a:pPr>
                <a:defRPr/>
              </a:pPr>
              <a:t>2024-06-16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AA380A-8E33-C928-C74F-32CC89322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D7FA5-18FE-DE10-1256-487F2C3E7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60C36F2-127B-415E-A8E7-B76AA81BEEB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1" fontAlgn="base" latinLnBrk="1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l" rtl="0" eaLnBrk="1" fontAlgn="base" latinLnBrk="1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l" rtl="0" eaLnBrk="1" fontAlgn="base" latinLnBrk="1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l" rtl="0" eaLnBrk="1" fontAlgn="base" latinLnBrk="1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l" rtl="0" eaLnBrk="1" fontAlgn="base" latinLnBrk="1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l" rtl="0" eaLnBrk="1" fontAlgn="base" latinLnBrk="1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l" rtl="0" eaLnBrk="1" fontAlgn="base" latinLnBrk="1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l" rtl="0" eaLnBrk="1" fontAlgn="base" latinLnBrk="1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228600" indent="-228600" algn="l" rtl="0" eaLnBrk="1" fontAlgn="base" latinLnBrk="1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latinLnBrk="1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latinLnBrk="1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latinLnBrk="1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latinLnBrk="1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QXhEs8B_oDg?si=bnvCIrME2sSW4yWo" TargetMode="External"/><Relationship Id="rId2" Type="http://schemas.openxmlformats.org/officeDocument/2006/relationships/hyperlink" Target="https://images.app.goo.gl/3jHwoSxU4FSfqZ8W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gueoflegends.fandom.com/wiki/Minion_(League_of_Legends)?Red_Caster_jpg=undefined#Melee%20Minion" TargetMode="External"/><Relationship Id="rId5" Type="http://schemas.openxmlformats.org/officeDocument/2006/relationships/hyperlink" Target="https://images.app.goo.gl/Tbdbks6y8T1RSs5DA" TargetMode="External"/><Relationship Id="rId4" Type="http://schemas.openxmlformats.org/officeDocument/2006/relationships/hyperlink" Target="https://images.app.goo.gl/dDmffmtpNCaTkW8e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제목 1">
            <a:extLst>
              <a:ext uri="{FF2B5EF4-FFF2-40B4-BE49-F238E27FC236}">
                <a16:creationId xmlns:a16="http://schemas.microsoft.com/office/drawing/2014/main" id="{ADC67B94-7F61-7CEE-FE16-7E8B8FE4331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4400"/>
              <a:t>Outlander</a:t>
            </a:r>
            <a:r>
              <a:rPr lang="en-US" altLang="ko-KR" sz="14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</a:t>
            </a:r>
            <a:r>
              <a:rPr lang="ko-KR" altLang="en-US" sz="14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가제</a:t>
            </a:r>
            <a:r>
              <a:rPr lang="en-US" altLang="ko-KR" sz="140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)</a:t>
            </a:r>
            <a:endParaRPr lang="ko-KR" altLang="en-US" sz="140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78FD412-6405-8C95-115D-436AC51B3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935468"/>
              </p:ext>
            </p:extLst>
          </p:nvPr>
        </p:nvGraphicFramePr>
        <p:xfrm>
          <a:off x="0" y="0"/>
          <a:ext cx="12179300" cy="741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학번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이름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과제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제출일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2020184026</a:t>
                      </a:r>
                      <a:endParaRPr lang="ko-KR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이종진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게임 시스템 기획서 </a:t>
                      </a:r>
                      <a:r>
                        <a:rPr lang="en-US" altLang="ko-KR" sz="1800" dirty="0"/>
                        <a:t>2</a:t>
                      </a:r>
                      <a:r>
                        <a:rPr lang="ko-KR" altLang="en-US" sz="1800" dirty="0"/>
                        <a:t>차 발표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2024.6.15</a:t>
                      </a:r>
                      <a:endParaRPr lang="ko-KR" altLang="en-US" sz="1800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E6583D-F0BC-C261-8FEF-0CA5A2565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E6FB0D-BF93-4DF4-9B7D-012D243B4281}" type="slidenum">
              <a:rPr lang="ko-KR" altLang="en-US"/>
              <a:pPr>
                <a:defRPr/>
              </a:pPr>
              <a:t>1</a:t>
            </a:fld>
            <a:endParaRPr lang="ko-KR" altLang="en-US"/>
          </a:p>
        </p:txBody>
      </p:sp>
      <p:sp>
        <p:nvSpPr>
          <p:cNvPr id="3093" name="부제목 6">
            <a:extLst>
              <a:ext uri="{FF2B5EF4-FFF2-40B4-BE49-F238E27FC236}">
                <a16:creationId xmlns:a16="http://schemas.microsoft.com/office/drawing/2014/main" id="{173E053A-7644-CE39-1741-2827951C4BD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게임 시스템 기획서</a:t>
            </a:r>
          </a:p>
        </p:txBody>
      </p:sp>
      <p:sp>
        <p:nvSpPr>
          <p:cNvPr id="3094" name="TextBox 2">
            <a:extLst>
              <a:ext uri="{FF2B5EF4-FFF2-40B4-BE49-F238E27FC236}">
                <a16:creationId xmlns:a16="http://schemas.microsoft.com/office/drawing/2014/main" id="{BB3C4E7B-0B00-C1CD-A6BA-D3392B48D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3400" y="1122363"/>
            <a:ext cx="2489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altLang="ko-KR"/>
              <a:t>* Outlander : </a:t>
            </a:r>
            <a:r>
              <a:rPr lang="ko-KR" altLang="en-US"/>
              <a:t>이방인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FF25C76-84EC-9039-D319-97F9339F2505}"/>
              </a:ext>
            </a:extLst>
          </p:cNvPr>
          <p:cNvSpPr/>
          <p:nvPr/>
        </p:nvSpPr>
        <p:spPr>
          <a:xfrm>
            <a:off x="0" y="0"/>
            <a:ext cx="12179300" cy="741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/>
              <a:t>    목차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F872B6-1A22-FA51-3932-33B1A8F7E9F9}"/>
              </a:ext>
            </a:extLst>
          </p:cNvPr>
          <p:cNvSpPr txBox="1"/>
          <p:nvPr/>
        </p:nvSpPr>
        <p:spPr>
          <a:xfrm>
            <a:off x="4254500" y="2413000"/>
            <a:ext cx="2997200" cy="249299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400" b="1" dirty="0">
                <a:latin typeface="+mn-lt"/>
                <a:ea typeface="+mn-ea"/>
              </a:rPr>
              <a:t>2. </a:t>
            </a:r>
            <a:r>
              <a:rPr lang="ko-KR" altLang="en-US" sz="2400" b="1" dirty="0">
                <a:latin typeface="+mn-lt"/>
                <a:ea typeface="+mn-ea"/>
              </a:rPr>
              <a:t>간단한 게임 소개</a:t>
            </a:r>
            <a:endParaRPr lang="en-US" altLang="ko-KR" sz="24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2400" b="1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dirty="0">
                <a:latin typeface="+mn-lt"/>
                <a:ea typeface="+mn-ea"/>
              </a:rPr>
              <a:t>플레이 요약</a:t>
            </a: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dirty="0">
                <a:latin typeface="+mn-lt"/>
                <a:ea typeface="+mn-ea"/>
              </a:rPr>
              <a:t>중앙 마을</a:t>
            </a: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dirty="0">
                <a:latin typeface="+mn-lt"/>
                <a:ea typeface="+mn-ea"/>
              </a:rPr>
              <a:t>탐험 지역</a:t>
            </a: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dirty="0">
                <a:latin typeface="+mn-lt"/>
                <a:ea typeface="+mn-ea"/>
              </a:rPr>
              <a:t>전투 스테이지</a:t>
            </a:r>
            <a:endParaRPr lang="en-US" altLang="ko-KR" dirty="0">
              <a:latin typeface="+mn-lt"/>
              <a:ea typeface="+mn-ea"/>
            </a:endParaRPr>
          </a:p>
          <a:p>
            <a:pPr marL="342900" indent="-342900" eaLnBrk="1" fontAlgn="auto" latinLnBrk="1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78430C-D483-D63D-0E9A-A57C95AC1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1CC4D2-ADCB-42F9-927F-5F4629BB101F}" type="slidenum">
              <a:rPr lang="ko-KR" altLang="en-US"/>
              <a:pPr>
                <a:defRPr/>
              </a:pPr>
              <a:t>2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D88199-F2D6-7916-86B4-A60B04D665B2}"/>
              </a:ext>
            </a:extLst>
          </p:cNvPr>
          <p:cNvSpPr txBox="1"/>
          <p:nvPr/>
        </p:nvSpPr>
        <p:spPr>
          <a:xfrm>
            <a:off x="685800" y="2413000"/>
            <a:ext cx="2416175" cy="1016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400" b="1" dirty="0">
                <a:latin typeface="+mn-lt"/>
                <a:ea typeface="+mn-ea"/>
              </a:rPr>
              <a:t>1. </a:t>
            </a:r>
            <a:r>
              <a:rPr lang="ko-KR" altLang="en-US" sz="2400" b="1" dirty="0">
                <a:latin typeface="+mn-lt"/>
                <a:ea typeface="+mn-ea"/>
              </a:rPr>
              <a:t>기획서 컨셉</a:t>
            </a:r>
            <a:endParaRPr lang="en-US" altLang="ko-KR" sz="2400" b="1" dirty="0">
              <a:latin typeface="+mn-lt"/>
              <a:ea typeface="+mn-ea"/>
            </a:endParaRPr>
          </a:p>
          <a:p>
            <a:pPr marL="342900" indent="-342900" eaLnBrk="1" fontAlgn="auto" latinLnBrk="1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75C96A-CBDF-EE01-F2B7-D1F998C49E9A}"/>
              </a:ext>
            </a:extLst>
          </p:cNvPr>
          <p:cNvSpPr txBox="1"/>
          <p:nvPr/>
        </p:nvSpPr>
        <p:spPr>
          <a:xfrm>
            <a:off x="8404225" y="2413000"/>
            <a:ext cx="338391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400" b="1" dirty="0">
                <a:latin typeface="+mn-lt"/>
                <a:ea typeface="+mn-ea"/>
              </a:rPr>
              <a:t>3. </a:t>
            </a:r>
            <a:r>
              <a:rPr lang="ko-KR" altLang="en-US" sz="2400" b="1" dirty="0">
                <a:latin typeface="+mn-lt"/>
                <a:ea typeface="+mn-ea"/>
              </a:rPr>
              <a:t>전투 스테이지 </a:t>
            </a:r>
            <a:endParaRPr lang="en-US" altLang="ko-KR" sz="24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dirty="0">
                <a:latin typeface="+mn-lt"/>
                <a:ea typeface="+mn-ea"/>
              </a:rPr>
              <a:t>몬스터 시스템</a:t>
            </a: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dirty="0">
                <a:solidFill>
                  <a:schemeClr val="accent4">
                    <a:lumMod val="50000"/>
                  </a:schemeClr>
                </a:solidFill>
                <a:highlight>
                  <a:srgbClr val="FFFF00"/>
                </a:highlight>
                <a:latin typeface="+mn-lt"/>
                <a:ea typeface="+mn-ea"/>
              </a:rPr>
              <a:t>보스 몬스터 시스템</a:t>
            </a:r>
            <a:r>
              <a:rPr lang="ko-KR" altLang="en-US" dirty="0">
                <a:solidFill>
                  <a:schemeClr val="accent4">
                    <a:lumMod val="50000"/>
                  </a:schemeClr>
                </a:solidFill>
                <a:latin typeface="+mn-lt"/>
                <a:ea typeface="+mn-ea"/>
              </a:rPr>
              <a:t> </a:t>
            </a:r>
            <a:r>
              <a:rPr lang="en-US" altLang="ko-KR" dirty="0">
                <a:solidFill>
                  <a:schemeClr val="accent4">
                    <a:lumMod val="50000"/>
                  </a:schemeClr>
                </a:solidFill>
                <a:latin typeface="+mn-lt"/>
                <a:ea typeface="+mn-ea"/>
              </a:rPr>
              <a:t>(16p~21)</a:t>
            </a:r>
            <a:endParaRPr lang="ko-KR" altLang="en-US" dirty="0">
              <a:solidFill>
                <a:schemeClr val="accent4">
                  <a:lumMod val="50000"/>
                </a:schemeClr>
              </a:solidFill>
              <a:latin typeface="+mn-lt"/>
              <a:ea typeface="+mn-ea"/>
            </a:endParaRPr>
          </a:p>
          <a:p>
            <a:pPr marL="342900" indent="-342900" eaLnBrk="1" fontAlgn="auto" latinLnBrk="1" hangingPunct="1"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FF25C76-84EC-9039-D319-97F9339F2505}"/>
              </a:ext>
            </a:extLst>
          </p:cNvPr>
          <p:cNvSpPr/>
          <p:nvPr/>
        </p:nvSpPr>
        <p:spPr>
          <a:xfrm>
            <a:off x="0" y="0"/>
            <a:ext cx="12179300" cy="74136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/>
              <a:t>    </a:t>
            </a:r>
            <a:r>
              <a:rPr lang="en-US" altLang="ko-KR" b="1" dirty="0"/>
              <a:t>2</a:t>
            </a:r>
            <a:r>
              <a:rPr lang="ko-KR" altLang="en-US" b="1" dirty="0"/>
              <a:t>차 기획서 컨셉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78430C-D483-D63D-0E9A-A57C95AC1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1CC4D2-ADCB-42F9-927F-5F4629BB101F}" type="slidenum">
              <a:rPr lang="ko-KR" altLang="en-US"/>
              <a:pPr>
                <a:defRPr/>
              </a:pPr>
              <a:t>3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3BE7AB-FF5B-A1DA-D3F7-7987F2923C9F}"/>
              </a:ext>
            </a:extLst>
          </p:cNvPr>
          <p:cNvSpPr txBox="1"/>
          <p:nvPr/>
        </p:nvSpPr>
        <p:spPr>
          <a:xfrm>
            <a:off x="264017" y="1126901"/>
            <a:ext cx="6536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보스 몬스터의 전투 시스템을 구상해보았습니다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093C2E-957A-59A2-5D91-71203B13A25C}"/>
              </a:ext>
            </a:extLst>
          </p:cNvPr>
          <p:cNvSpPr txBox="1"/>
          <p:nvPr/>
        </p:nvSpPr>
        <p:spPr>
          <a:xfrm>
            <a:off x="264017" y="2170091"/>
            <a:ext cx="98458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어떤 컨셉의 보스가 나올 것인지 주로 사용하는 기술이 무엇인지 작성해보았습니다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>
                <a:solidFill>
                  <a:schemeClr val="accent1"/>
                </a:solidFill>
              </a:rPr>
              <a:t>1</a:t>
            </a:r>
            <a:r>
              <a:rPr lang="ko-KR" altLang="en-US" dirty="0">
                <a:solidFill>
                  <a:schemeClr val="accent1"/>
                </a:solidFill>
              </a:rPr>
              <a:t>차로 쓴 부분의 색상</a:t>
            </a:r>
            <a:endParaRPr lang="en-US" altLang="ko-KR" dirty="0">
              <a:solidFill>
                <a:schemeClr val="accent1"/>
              </a:solidFill>
            </a:endParaRPr>
          </a:p>
          <a:p>
            <a:r>
              <a:rPr lang="en-US" altLang="ko-KR" dirty="0">
                <a:solidFill>
                  <a:srgbClr val="0F9ED5"/>
                </a:solidFill>
              </a:rPr>
              <a:t>2</a:t>
            </a:r>
            <a:r>
              <a:rPr lang="ko-KR" altLang="en-US" dirty="0">
                <a:solidFill>
                  <a:srgbClr val="0F9ED5"/>
                </a:solidFill>
              </a:rPr>
              <a:t>차로 쓴 부분의 색상</a:t>
            </a:r>
          </a:p>
        </p:txBody>
      </p:sp>
    </p:spTree>
    <p:extLst>
      <p:ext uri="{BB962C8B-B14F-4D97-AF65-F5344CB8AC3E}">
        <p14:creationId xmlns:p14="http://schemas.microsoft.com/office/powerpoint/2010/main" val="2758671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0871E86-FE1B-DBF6-CB11-FF5C06D91992}"/>
              </a:ext>
            </a:extLst>
          </p:cNvPr>
          <p:cNvSpPr/>
          <p:nvPr/>
        </p:nvSpPr>
        <p:spPr>
          <a:xfrm>
            <a:off x="0" y="0"/>
            <a:ext cx="12179300" cy="741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/>
              <a:t>    간단한 게임 소개 </a:t>
            </a:r>
            <a:r>
              <a:rPr lang="en-US" altLang="ko-KR" b="1" dirty="0"/>
              <a:t>– </a:t>
            </a:r>
            <a:r>
              <a:rPr lang="ko-KR" altLang="en-US" b="1" dirty="0"/>
              <a:t>플레이 요약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08EE7D-F8D2-947F-A5E7-0FE50C1F0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3147DE-6828-4CA8-86CA-38A35F47684E}" type="slidenum">
              <a:rPr lang="ko-KR" altLang="en-US"/>
              <a:pPr>
                <a:defRPr/>
              </a:pPr>
              <a:t>4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6A58BB-C1C6-D2B2-44B3-398637692E24}"/>
              </a:ext>
            </a:extLst>
          </p:cNvPr>
          <p:cNvSpPr txBox="1"/>
          <p:nvPr/>
        </p:nvSpPr>
        <p:spPr>
          <a:xfrm>
            <a:off x="158750" y="922338"/>
            <a:ext cx="7404100" cy="6464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>
                <a:latin typeface="+mn-lt"/>
                <a:ea typeface="+mn-ea"/>
              </a:rPr>
              <a:t>3D </a:t>
            </a:r>
            <a:r>
              <a:rPr lang="ko-KR" altLang="en-US" dirty="0">
                <a:latin typeface="+mn-lt"/>
                <a:ea typeface="+mn-ea"/>
              </a:rPr>
              <a:t>판타지 액션 </a:t>
            </a:r>
            <a:r>
              <a:rPr lang="en-US" altLang="ko-KR" dirty="0">
                <a:latin typeface="+mn-lt"/>
                <a:ea typeface="+mn-ea"/>
              </a:rPr>
              <a:t>RPG </a:t>
            </a:r>
            <a:r>
              <a:rPr lang="ko-KR" altLang="en-US" dirty="0">
                <a:latin typeface="+mn-lt"/>
                <a:ea typeface="+mn-ea"/>
              </a:rPr>
              <a:t>게임</a:t>
            </a: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>
                <a:latin typeface="+mn-lt"/>
                <a:ea typeface="+mn-ea"/>
              </a:rPr>
              <a:t>1. </a:t>
            </a:r>
            <a:r>
              <a:rPr lang="ko-KR" altLang="en-US" dirty="0">
                <a:latin typeface="+mn-lt"/>
                <a:ea typeface="+mn-ea"/>
              </a:rPr>
              <a:t>카메라 시점은 </a:t>
            </a:r>
            <a:r>
              <a:rPr lang="en-US" altLang="ko-KR" dirty="0">
                <a:latin typeface="+mn-lt"/>
                <a:ea typeface="+mn-ea"/>
              </a:rPr>
              <a:t>3</a:t>
            </a:r>
            <a:r>
              <a:rPr lang="ko-KR" altLang="en-US" dirty="0">
                <a:latin typeface="+mn-lt"/>
                <a:ea typeface="+mn-ea"/>
              </a:rPr>
              <a:t>인칭 </a:t>
            </a:r>
            <a:r>
              <a:rPr lang="en-US" altLang="ko-KR" dirty="0">
                <a:latin typeface="+mn-lt"/>
                <a:ea typeface="+mn-ea"/>
              </a:rPr>
              <a:t>back view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>
                <a:latin typeface="+mn-lt"/>
                <a:ea typeface="+mn-ea"/>
              </a:rPr>
              <a:t>2. </a:t>
            </a:r>
            <a:r>
              <a:rPr lang="ko-KR" altLang="en-US" dirty="0">
                <a:latin typeface="+mn-lt"/>
                <a:ea typeface="+mn-ea"/>
              </a:rPr>
              <a:t>중앙 마을에서부터 시작해 다양한 전투 스테이지를 공략해서 </a:t>
            </a: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>
                <a:latin typeface="+mn-lt"/>
                <a:ea typeface="+mn-ea"/>
              </a:rPr>
              <a:t>	</a:t>
            </a:r>
            <a:r>
              <a:rPr lang="ko-KR" altLang="en-US" dirty="0">
                <a:latin typeface="+mn-lt"/>
                <a:ea typeface="+mn-ea"/>
              </a:rPr>
              <a:t>마을을 해금합니다</a:t>
            </a:r>
            <a:r>
              <a:rPr lang="en-US" altLang="ko-KR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>
                <a:latin typeface="+mn-lt"/>
                <a:ea typeface="+mn-ea"/>
              </a:rPr>
              <a:t>3. </a:t>
            </a:r>
            <a:r>
              <a:rPr lang="ko-KR" altLang="en-US" dirty="0">
                <a:latin typeface="+mn-lt"/>
                <a:ea typeface="+mn-ea"/>
              </a:rPr>
              <a:t>스테이지를 클리어하면 새로운 무기를 보상으로 줍니다</a:t>
            </a:r>
            <a:r>
              <a:rPr lang="en-US" altLang="ko-KR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>
                <a:latin typeface="+mn-lt"/>
                <a:ea typeface="+mn-ea"/>
              </a:rPr>
              <a:t>4. </a:t>
            </a:r>
            <a:r>
              <a:rPr lang="ko-KR" altLang="en-US" dirty="0">
                <a:latin typeface="+mn-lt"/>
                <a:ea typeface="+mn-ea"/>
              </a:rPr>
              <a:t>새로운 무기와 함께 더 어려운 스테이지를 도전합니다</a:t>
            </a:r>
            <a:r>
              <a:rPr lang="en-US" altLang="ko-KR" dirty="0">
                <a:latin typeface="+mn-lt"/>
                <a:ea typeface="+mn-ea"/>
              </a:rPr>
              <a:t>.</a:t>
            </a: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>
                <a:latin typeface="+mn-lt"/>
                <a:ea typeface="+mn-ea"/>
              </a:rPr>
              <a:t> </a:t>
            </a:r>
            <a:endParaRPr lang="ko-KR" altLang="en-US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DD0A396-9059-6F3A-B361-D17AC4DBA852}"/>
              </a:ext>
            </a:extLst>
          </p:cNvPr>
          <p:cNvSpPr/>
          <p:nvPr/>
        </p:nvSpPr>
        <p:spPr>
          <a:xfrm>
            <a:off x="0" y="0"/>
            <a:ext cx="12179300" cy="741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/>
              <a:t>    간단한 게임 소개 </a:t>
            </a:r>
            <a:r>
              <a:rPr lang="en-US" altLang="ko-KR" b="1" dirty="0"/>
              <a:t>– </a:t>
            </a:r>
            <a:r>
              <a:rPr lang="ko-KR" altLang="en-US" b="1" dirty="0"/>
              <a:t>중앙 마을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3D68FD-DA78-3BEE-F243-81C6698C3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704E3B-6BF1-422B-A9D9-C487DE66B930}" type="slidenum">
              <a:rPr lang="ko-KR" altLang="en-US"/>
              <a:pPr>
                <a:defRPr/>
              </a:pPr>
              <a:t>5</a:t>
            </a:fld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5E6F9E-6413-1299-D49F-E4DE002CEC28}"/>
              </a:ext>
            </a:extLst>
          </p:cNvPr>
          <p:cNvSpPr txBox="1"/>
          <p:nvPr/>
        </p:nvSpPr>
        <p:spPr>
          <a:xfrm>
            <a:off x="6261100" y="2690813"/>
            <a:ext cx="4989513" cy="1476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ko-KR" altLang="en-US" dirty="0">
                <a:latin typeface="+mn-lt"/>
                <a:ea typeface="+mn-ea"/>
              </a:rPr>
              <a:t>중앙 마을에서 최초 무기를 지급 받는다</a:t>
            </a:r>
            <a:r>
              <a:rPr lang="en-US" altLang="ko-KR" dirty="0">
                <a:latin typeface="+mn-lt"/>
                <a:ea typeface="+mn-ea"/>
              </a:rPr>
              <a:t>.</a:t>
            </a: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ko-KR" altLang="en-US" dirty="0">
                <a:latin typeface="+mn-lt"/>
                <a:ea typeface="+mn-ea"/>
              </a:rPr>
              <a:t>중앙 마을에서 여러 전투 스테이지로 </a:t>
            </a: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>
                <a:latin typeface="+mn-lt"/>
                <a:ea typeface="+mn-ea"/>
              </a:rPr>
              <a:t>   </a:t>
            </a:r>
            <a:r>
              <a:rPr lang="ko-KR" altLang="en-US" dirty="0">
                <a:latin typeface="+mn-lt"/>
                <a:ea typeface="+mn-ea"/>
              </a:rPr>
              <a:t>이동 할 수 있다</a:t>
            </a:r>
            <a:r>
              <a:rPr lang="en-US" altLang="ko-KR" dirty="0">
                <a:latin typeface="+mn-lt"/>
                <a:ea typeface="+mn-ea"/>
              </a:rPr>
              <a:t>.</a:t>
            </a:r>
          </a:p>
        </p:txBody>
      </p:sp>
      <p:pic>
        <p:nvPicPr>
          <p:cNvPr id="8197" name="그림 16" descr="전략 비디오 게임, PC 게임, 비디오 게임 소프트웨어, 액션 어드벤처 게임이(가) 표시된 사진&#10;&#10;자동 생성된 설명">
            <a:extLst>
              <a:ext uri="{FF2B5EF4-FFF2-40B4-BE49-F238E27FC236}">
                <a16:creationId xmlns:a16="http://schemas.microsoft.com/office/drawing/2014/main" id="{D7CBC1F7-1684-1A4D-682C-B8F815CC2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" y="1463675"/>
            <a:ext cx="5705475" cy="393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8" name="TextBox 17">
            <a:extLst>
              <a:ext uri="{FF2B5EF4-FFF2-40B4-BE49-F238E27FC236}">
                <a16:creationId xmlns:a16="http://schemas.microsoft.com/office/drawing/2014/main" id="{F78FD869-178B-C592-5EA9-6EA4A70E6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5" y="5394325"/>
            <a:ext cx="26130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ko-KR" altLang="en-US" sz="1200" b="1"/>
              <a:t>참고자료</a:t>
            </a:r>
            <a:r>
              <a:rPr lang="en-US" altLang="ko-KR" sz="1200" b="1"/>
              <a:t>) </a:t>
            </a:r>
            <a:r>
              <a:rPr lang="ko-KR" altLang="en-US" sz="1200" b="1"/>
              <a:t>몬스터 헌터 월드의 마을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0B4A60A-3010-6C4D-757F-3C9A7F02B20D}"/>
              </a:ext>
            </a:extLst>
          </p:cNvPr>
          <p:cNvSpPr/>
          <p:nvPr/>
        </p:nvSpPr>
        <p:spPr>
          <a:xfrm>
            <a:off x="0" y="0"/>
            <a:ext cx="12179300" cy="741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/>
              <a:t>    간단한 게임 소개 </a:t>
            </a:r>
            <a:r>
              <a:rPr lang="en-US" altLang="ko-KR" b="1" dirty="0"/>
              <a:t>– </a:t>
            </a:r>
            <a:r>
              <a:rPr lang="ko-KR" altLang="en-US" b="1" dirty="0"/>
              <a:t>전투 스테이지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18C8E7-BF90-1938-9D57-B119AD7C2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CCE096-9B5F-4FA8-B21F-4A0F58D8161B}" type="slidenum">
              <a:rPr lang="ko-KR" altLang="en-US"/>
              <a:pPr>
                <a:defRPr/>
              </a:pPr>
              <a:t>6</a:t>
            </a:fld>
            <a:endParaRPr lang="ko-KR" altLang="en-US"/>
          </a:p>
        </p:txBody>
      </p:sp>
      <p:pic>
        <p:nvPicPr>
          <p:cNvPr id="10244" name="그림 2" descr="하늘, 스크린샷, PC 게임, 야외이(가) 표시된 사진&#10;&#10;자동 생성된 설명">
            <a:extLst>
              <a:ext uri="{FF2B5EF4-FFF2-40B4-BE49-F238E27FC236}">
                <a16:creationId xmlns:a16="http://schemas.microsoft.com/office/drawing/2014/main" id="{8AE8A390-FCE6-63CE-E695-00ED90DD3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476375"/>
            <a:ext cx="6940550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TextBox 6">
            <a:extLst>
              <a:ext uri="{FF2B5EF4-FFF2-40B4-BE49-F238E27FC236}">
                <a16:creationId xmlns:a16="http://schemas.microsoft.com/office/drawing/2014/main" id="{6F72D2C2-1B8B-B4BC-0FCA-D6AB074FB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5" y="5394325"/>
            <a:ext cx="27019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ko-KR" altLang="en-US" sz="1200" b="1"/>
              <a:t>참고자료</a:t>
            </a:r>
            <a:r>
              <a:rPr lang="en-US" altLang="ko-KR" sz="1200" b="1"/>
              <a:t>) </a:t>
            </a:r>
            <a:r>
              <a:rPr lang="ko-KR" altLang="en-US" sz="1200" b="1"/>
              <a:t>진삼국무쌍</a:t>
            </a:r>
            <a:r>
              <a:rPr lang="en-US" altLang="ko-KR" sz="1200" b="1"/>
              <a:t>8 </a:t>
            </a:r>
            <a:r>
              <a:rPr lang="ko-KR" altLang="en-US" sz="1200" b="1"/>
              <a:t>인게임 영상</a:t>
            </a:r>
          </a:p>
        </p:txBody>
      </p:sp>
      <p:sp>
        <p:nvSpPr>
          <p:cNvPr id="10246" name="TextBox 13">
            <a:extLst>
              <a:ext uri="{FF2B5EF4-FFF2-40B4-BE49-F238E27FC236}">
                <a16:creationId xmlns:a16="http://schemas.microsoft.com/office/drawing/2014/main" id="{7AD628E0-21C6-DBAF-FF66-BE92383AC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1425" y="2690813"/>
            <a:ext cx="419100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ko-KR" altLang="en-US" dirty="0"/>
              <a:t>많은 몬스터를 처치하면서 진행</a:t>
            </a:r>
            <a:endParaRPr lang="en-US" altLang="ko-KR" dirty="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ko-KR" dirty="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ko-KR" dirty="0"/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altLang="ko-KR" dirty="0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ko-KR" altLang="en-US" dirty="0"/>
              <a:t>이번 기획서에서 다룰 내용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9817B4C-7A23-89EF-FF83-CFB189EA8FFF}"/>
              </a:ext>
            </a:extLst>
          </p:cNvPr>
          <p:cNvSpPr/>
          <p:nvPr/>
        </p:nvSpPr>
        <p:spPr>
          <a:xfrm>
            <a:off x="0" y="0"/>
            <a:ext cx="12179300" cy="741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/>
              <a:t>    기획서 컨셉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750657-47AD-57A0-C3A0-56DCFE588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65D4CC-1508-43FE-8A95-15116253B4F7}" type="slidenum">
              <a:rPr lang="ko-KR" altLang="en-US"/>
              <a:pPr>
                <a:defRPr/>
              </a:pPr>
              <a:t>7</a:t>
            </a:fld>
            <a:endParaRPr lang="ko-KR" altLang="en-US"/>
          </a:p>
        </p:txBody>
      </p:sp>
      <p:pic>
        <p:nvPicPr>
          <p:cNvPr id="11268" name="그림 7">
            <a:extLst>
              <a:ext uri="{FF2B5EF4-FFF2-40B4-BE49-F238E27FC236}">
                <a16:creationId xmlns:a16="http://schemas.microsoft.com/office/drawing/2014/main" id="{A80EA729-748D-4278-4CFE-8008C0D87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13" y="1184275"/>
            <a:ext cx="6762750" cy="517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9" name="TextBox 8">
            <a:extLst>
              <a:ext uri="{FF2B5EF4-FFF2-40B4-BE49-F238E27FC236}">
                <a16:creationId xmlns:a16="http://schemas.microsoft.com/office/drawing/2014/main" id="{64D76278-DC62-4980-BA2E-42BE7B2DC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8588" y="3068638"/>
            <a:ext cx="360521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ko-KR" altLang="en-US"/>
              <a:t>기획서 컨셉을 잡기 위해 그려본</a:t>
            </a:r>
            <a:endParaRPr lang="en-US" altLang="ko-KR"/>
          </a:p>
          <a:p>
            <a:pPr eaLnBrk="1" hangingPunct="1"/>
            <a:endParaRPr lang="en-US" altLang="ko-KR"/>
          </a:p>
          <a:p>
            <a:pPr eaLnBrk="1" hangingPunct="1"/>
            <a:r>
              <a:rPr lang="ko-KR" altLang="en-US"/>
              <a:t>전체적인 게임 흐름 </a:t>
            </a:r>
            <a:r>
              <a:rPr lang="ko-KR" altLang="en-US" b="1"/>
              <a:t>플로우 차트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C860D42-8F0C-D0E1-5A92-BF9A7F4AA24F}"/>
              </a:ext>
            </a:extLst>
          </p:cNvPr>
          <p:cNvSpPr/>
          <p:nvPr/>
        </p:nvSpPr>
        <p:spPr>
          <a:xfrm>
            <a:off x="4197350" y="1301750"/>
            <a:ext cx="533400" cy="349250"/>
          </a:xfrm>
          <a:prstGeom prst="rect">
            <a:avLst/>
          </a:prstGeom>
          <a:noFill/>
          <a:ln w="349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637BDAFC-3B15-6BA9-D581-5A9D241C4F29}"/>
              </a:ext>
            </a:extLst>
          </p:cNvPr>
          <p:cNvCxnSpPr>
            <a:endCxn id="10" idx="1"/>
          </p:cNvCxnSpPr>
          <p:nvPr/>
        </p:nvCxnSpPr>
        <p:spPr>
          <a:xfrm flipV="1">
            <a:off x="3236913" y="1476375"/>
            <a:ext cx="960437" cy="1111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756165E-885B-5829-CCCF-70A4198C5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188" y="1301750"/>
            <a:ext cx="1355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rgbClr val="0070C0"/>
                </a:solidFill>
              </a:rPr>
              <a:t>Game Start</a:t>
            </a:r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1CBB800-61C7-3803-B32F-21B94D05B7C5}"/>
              </a:ext>
            </a:extLst>
          </p:cNvPr>
          <p:cNvSpPr/>
          <p:nvPr/>
        </p:nvSpPr>
        <p:spPr>
          <a:xfrm>
            <a:off x="4197350" y="2827338"/>
            <a:ext cx="533400" cy="349250"/>
          </a:xfrm>
          <a:prstGeom prst="rect">
            <a:avLst/>
          </a:prstGeom>
          <a:noFill/>
          <a:ln w="349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DCCA2C6-37E6-DA6E-2BA7-FF1087D62D0C}"/>
              </a:ext>
            </a:extLst>
          </p:cNvPr>
          <p:cNvCxnSpPr/>
          <p:nvPr/>
        </p:nvCxnSpPr>
        <p:spPr>
          <a:xfrm flipV="1">
            <a:off x="3219450" y="3001963"/>
            <a:ext cx="960438" cy="952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E442494-253C-F831-6D42-AAC22E067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806700"/>
            <a:ext cx="1778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rgbClr val="0070C0"/>
                </a:solidFill>
              </a:rPr>
              <a:t>In-Game Scene</a:t>
            </a:r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6025906-3D70-521B-0555-9B01ACF02A52}"/>
              </a:ext>
            </a:extLst>
          </p:cNvPr>
          <p:cNvSpPr/>
          <p:nvPr/>
        </p:nvSpPr>
        <p:spPr>
          <a:xfrm>
            <a:off x="619125" y="4295775"/>
            <a:ext cx="4676775" cy="2060575"/>
          </a:xfrm>
          <a:prstGeom prst="rect">
            <a:avLst/>
          </a:prstGeom>
          <a:noFill/>
          <a:ln w="349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413F61-99B7-96F2-5494-4B6D5A5E5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" y="4314825"/>
            <a:ext cx="17795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altLang="ko-KR">
                <a:solidFill>
                  <a:srgbClr val="0070C0"/>
                </a:solidFill>
              </a:rPr>
              <a:t>Player Input</a:t>
            </a:r>
            <a:endParaRPr lang="ko-KR" altLang="en-US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/>
      <p:bldP spid="14" grpId="0" animBg="1"/>
      <p:bldP spid="16" grpId="0"/>
      <p:bldP spid="17" grpId="0" animBg="1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B7EFC0F-5CF8-8ADC-FF64-7FB6752552B7}"/>
              </a:ext>
            </a:extLst>
          </p:cNvPr>
          <p:cNvSpPr/>
          <p:nvPr/>
        </p:nvSpPr>
        <p:spPr>
          <a:xfrm>
            <a:off x="0" y="0"/>
            <a:ext cx="12179300" cy="741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/>
              <a:t>    기획서 컨셉</a:t>
            </a:r>
          </a:p>
        </p:txBody>
      </p:sp>
      <p:sp>
        <p:nvSpPr>
          <p:cNvPr id="12291" name="TextBox 4">
            <a:extLst>
              <a:ext uri="{FF2B5EF4-FFF2-40B4-BE49-F238E27FC236}">
                <a16:creationId xmlns:a16="http://schemas.microsoft.com/office/drawing/2014/main" id="{B705F3DF-84EE-1082-1788-264FE3D1B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488" y="1276350"/>
            <a:ext cx="759301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ko-KR" altLang="en-US"/>
              <a:t>게임의 메인 무대인 전투 스테이지에 대한 시스템 기획을 해본다</a:t>
            </a:r>
            <a:r>
              <a:rPr lang="en-US" altLang="ko-KR"/>
              <a:t>.</a:t>
            </a:r>
          </a:p>
          <a:p>
            <a:pPr eaLnBrk="1" hangingPunct="1"/>
            <a:endParaRPr lang="en-US" altLang="ko-KR"/>
          </a:p>
          <a:p>
            <a:pPr eaLnBrk="1" hangingPunct="1"/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18FB09-3038-7EB7-26CA-D5C48D99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669A13-61BD-489A-89AD-719036E0D7F3}" type="slidenum">
              <a:rPr lang="ko-KR" altLang="en-US"/>
              <a:pPr>
                <a:defRPr/>
              </a:pPr>
              <a:t>8</a:t>
            </a:fld>
            <a:endParaRPr lang="ko-KR" altLang="en-US"/>
          </a:p>
        </p:txBody>
      </p:sp>
      <p:pic>
        <p:nvPicPr>
          <p:cNvPr id="12293" name="그림 2" descr="도표, 라인, 스크린샷, 그래프이(가) 표시된 사진&#10;&#10;자동 생성된 설명">
            <a:extLst>
              <a:ext uri="{FF2B5EF4-FFF2-40B4-BE49-F238E27FC236}">
                <a16:creationId xmlns:a16="http://schemas.microsoft.com/office/drawing/2014/main" id="{13B8110D-FD1C-D3FC-91F6-3A194710D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188" y="2332038"/>
            <a:ext cx="10461625" cy="279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8250D2C-ED88-2A53-4485-5FF88D352F1A}"/>
              </a:ext>
            </a:extLst>
          </p:cNvPr>
          <p:cNvSpPr/>
          <p:nvPr/>
        </p:nvSpPr>
        <p:spPr>
          <a:xfrm>
            <a:off x="8945563" y="2578100"/>
            <a:ext cx="2212975" cy="1755775"/>
          </a:xfrm>
          <a:prstGeom prst="rect">
            <a:avLst/>
          </a:prstGeom>
          <a:noFill/>
          <a:ln w="920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56831AF-02E5-58EC-F7E5-A4BB48D63F77}"/>
              </a:ext>
            </a:extLst>
          </p:cNvPr>
          <p:cNvSpPr/>
          <p:nvPr/>
        </p:nvSpPr>
        <p:spPr>
          <a:xfrm>
            <a:off x="0" y="0"/>
            <a:ext cx="12179300" cy="741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/>
              <a:t>    전투 스테이지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348706-439C-09CF-6293-7B6BE6C66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82758D-F027-4362-8E8C-372B17E01B16}" type="slidenum">
              <a:rPr lang="ko-KR" altLang="en-US"/>
              <a:pPr>
                <a:defRPr/>
              </a:pPr>
              <a:t>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1D7C30-376A-4B0E-9027-8C3789A533F1}"/>
              </a:ext>
            </a:extLst>
          </p:cNvPr>
          <p:cNvSpPr txBox="1"/>
          <p:nvPr/>
        </p:nvSpPr>
        <p:spPr>
          <a:xfrm>
            <a:off x="228600" y="1025525"/>
            <a:ext cx="8286750" cy="3416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ko-KR" altLang="en-US" sz="2000" b="1" dirty="0">
                <a:latin typeface="+mn-lt"/>
                <a:ea typeface="+mn-ea"/>
              </a:rPr>
              <a:t>전투 스테이지란</a:t>
            </a:r>
            <a:r>
              <a:rPr lang="en-US" altLang="ko-KR" sz="2000" b="1" dirty="0">
                <a:latin typeface="+mn-lt"/>
                <a:ea typeface="+mn-ea"/>
              </a:rPr>
              <a:t>?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>
                <a:latin typeface="+mn-lt"/>
                <a:ea typeface="+mn-ea"/>
              </a:rPr>
              <a:t>한 필드 안에서 플레이어가 전투를 하고 새로운 무기를 얻게 되는 공간</a:t>
            </a: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>
                <a:latin typeface="+mn-lt"/>
                <a:ea typeface="+mn-ea"/>
              </a:rPr>
              <a:t>하나의 전투 스테이지는 여러 전투 구역으로 나뉜다</a:t>
            </a:r>
            <a:r>
              <a:rPr lang="en-US" altLang="ko-KR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</p:txBody>
      </p:sp>
      <p:pic>
        <p:nvPicPr>
          <p:cNvPr id="13317" name="그림 4">
            <a:extLst>
              <a:ext uri="{FF2B5EF4-FFF2-40B4-BE49-F238E27FC236}">
                <a16:creationId xmlns:a16="http://schemas.microsoft.com/office/drawing/2014/main" id="{C1622AD5-98E3-5166-84A1-4E271C285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3205163"/>
            <a:ext cx="5845175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A5A19E72-AD10-9A6B-8976-3451AE1A9106}"/>
              </a:ext>
            </a:extLst>
          </p:cNvPr>
          <p:cNvSpPr/>
          <p:nvPr/>
        </p:nvSpPr>
        <p:spPr>
          <a:xfrm>
            <a:off x="1462088" y="4573588"/>
            <a:ext cx="452437" cy="2555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13319" name="TextBox 7">
            <a:extLst>
              <a:ext uri="{FF2B5EF4-FFF2-40B4-BE49-F238E27FC236}">
                <a16:creationId xmlns:a16="http://schemas.microsoft.com/office/drawing/2014/main" id="{CA23F735-78CC-AB02-21F3-79D5D27A6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3913188"/>
            <a:ext cx="2032000" cy="3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ko-KR" altLang="en-US" b="1"/>
              <a:t>진행 방향</a:t>
            </a:r>
          </a:p>
        </p:txBody>
      </p:sp>
      <p:sp>
        <p:nvSpPr>
          <p:cNvPr id="13320" name="TextBox 8">
            <a:extLst>
              <a:ext uri="{FF2B5EF4-FFF2-40B4-BE49-F238E27FC236}">
                <a16:creationId xmlns:a16="http://schemas.microsoft.com/office/drawing/2014/main" id="{A2B47852-D8E4-A679-7CA5-030B75F53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3" y="4543425"/>
            <a:ext cx="16779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ko-KR" altLang="en-US" sz="1200" b="1"/>
              <a:t>전투구역 </a:t>
            </a:r>
            <a:r>
              <a:rPr lang="en-US" altLang="ko-KR" sz="1200" b="1"/>
              <a:t>1</a:t>
            </a:r>
            <a:endParaRPr lang="ko-KR" altLang="en-US" sz="1200" b="1"/>
          </a:p>
        </p:txBody>
      </p:sp>
      <p:sp>
        <p:nvSpPr>
          <p:cNvPr id="13321" name="TextBox 11">
            <a:extLst>
              <a:ext uri="{FF2B5EF4-FFF2-40B4-BE49-F238E27FC236}">
                <a16:creationId xmlns:a16="http://schemas.microsoft.com/office/drawing/2014/main" id="{C4665956-6EC5-7F79-9C7E-284BA6415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4850" y="4543425"/>
            <a:ext cx="16779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ko-KR" altLang="en-US" sz="1200" b="1"/>
              <a:t>전투구역 </a:t>
            </a:r>
            <a:r>
              <a:rPr lang="en-US" altLang="ko-KR" sz="1200" b="1"/>
              <a:t>2</a:t>
            </a:r>
            <a:endParaRPr lang="ko-KR" altLang="en-US" sz="1200" b="1"/>
          </a:p>
        </p:txBody>
      </p:sp>
      <p:sp>
        <p:nvSpPr>
          <p:cNvPr id="13322" name="TextBox 12">
            <a:extLst>
              <a:ext uri="{FF2B5EF4-FFF2-40B4-BE49-F238E27FC236}">
                <a16:creationId xmlns:a16="http://schemas.microsoft.com/office/drawing/2014/main" id="{6ED532D9-C43C-BDD4-CA33-7B005B8D7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9813" y="4543425"/>
            <a:ext cx="16779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ko-KR" altLang="en-US" sz="1200" b="1"/>
              <a:t>전투구역 </a:t>
            </a:r>
            <a:r>
              <a:rPr lang="en-US" altLang="ko-KR" sz="1200" b="1"/>
              <a:t>3</a:t>
            </a:r>
            <a:endParaRPr lang="ko-KR" altLang="en-US" sz="1200" b="1"/>
          </a:p>
        </p:txBody>
      </p:sp>
      <p:sp>
        <p:nvSpPr>
          <p:cNvPr id="13323" name="TextBox 13">
            <a:extLst>
              <a:ext uri="{FF2B5EF4-FFF2-40B4-BE49-F238E27FC236}">
                <a16:creationId xmlns:a16="http://schemas.microsoft.com/office/drawing/2014/main" id="{4BFAED11-E9DD-17F5-2C9A-65F0F4258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3463" y="4587875"/>
            <a:ext cx="16764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ko-KR" altLang="en-US" sz="1200" b="1"/>
              <a:t>전투구역 </a:t>
            </a:r>
            <a:r>
              <a:rPr lang="en-US" altLang="ko-KR" sz="1200" b="1"/>
              <a:t>4</a:t>
            </a:r>
            <a:endParaRPr lang="ko-KR" altLang="en-US" sz="1200" b="1"/>
          </a:p>
        </p:txBody>
      </p:sp>
      <p:sp>
        <p:nvSpPr>
          <p:cNvPr id="13324" name="TextBox 14">
            <a:extLst>
              <a:ext uri="{FF2B5EF4-FFF2-40B4-BE49-F238E27FC236}">
                <a16:creationId xmlns:a16="http://schemas.microsoft.com/office/drawing/2014/main" id="{D6FEEAF1-4245-6A71-E937-13A58583D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8013" y="5554663"/>
            <a:ext cx="22828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ko-KR" altLang="en-US" sz="1600" b="1"/>
              <a:t>전투 스테이지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CA4BE2-A685-F0B6-78E5-C045C9BD598A}"/>
              </a:ext>
            </a:extLst>
          </p:cNvPr>
          <p:cNvSpPr txBox="1"/>
          <p:nvPr/>
        </p:nvSpPr>
        <p:spPr>
          <a:xfrm>
            <a:off x="6238875" y="3360738"/>
            <a:ext cx="4984750" cy="1477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ko-KR" altLang="en-US" dirty="0">
                <a:latin typeface="+mn-lt"/>
                <a:ea typeface="+mn-ea"/>
              </a:rPr>
              <a:t>한 방향으로만 진행되는 구조</a:t>
            </a: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ko-KR" altLang="en-US" dirty="0">
                <a:latin typeface="+mn-lt"/>
                <a:ea typeface="+mn-ea"/>
              </a:rPr>
              <a:t>마지막 구역은 보스 몬스터가 나오는 구역</a:t>
            </a:r>
          </a:p>
        </p:txBody>
      </p:sp>
      <p:sp>
        <p:nvSpPr>
          <p:cNvPr id="13326" name="TextBox 16">
            <a:extLst>
              <a:ext uri="{FF2B5EF4-FFF2-40B4-BE49-F238E27FC236}">
                <a16:creationId xmlns:a16="http://schemas.microsoft.com/office/drawing/2014/main" id="{32F29937-FB3D-E409-C290-97B9960AB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5991225"/>
            <a:ext cx="7966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altLang="ko-KR" sz="1400" i="1"/>
              <a:t>*</a:t>
            </a:r>
            <a:r>
              <a:rPr lang="ko-KR" altLang="en-US" sz="1400" i="1"/>
              <a:t>예시 그림은 전투 구역 </a:t>
            </a:r>
            <a:r>
              <a:rPr lang="en-US" altLang="ko-KR" sz="1400" i="1"/>
              <a:t>4</a:t>
            </a:r>
            <a:r>
              <a:rPr lang="ko-KR" altLang="en-US" sz="1400" i="1"/>
              <a:t>까지 있지만 실제로는 더 많을 수 있습니다</a:t>
            </a:r>
            <a:r>
              <a:rPr lang="en-US" altLang="ko-KR" sz="1400" i="1"/>
              <a:t>.</a:t>
            </a:r>
            <a:endParaRPr lang="ko-KR" altLang="en-US" sz="1400" i="1"/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24A8F088-475F-481B-E9C5-F34F7BA88074}"/>
              </a:ext>
            </a:extLst>
          </p:cNvPr>
          <p:cNvSpPr/>
          <p:nvPr/>
        </p:nvSpPr>
        <p:spPr>
          <a:xfrm>
            <a:off x="3006725" y="4567238"/>
            <a:ext cx="450850" cy="2555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2B3429DE-82CB-D929-1A25-2D477AEC8200}"/>
              </a:ext>
            </a:extLst>
          </p:cNvPr>
          <p:cNvSpPr/>
          <p:nvPr/>
        </p:nvSpPr>
        <p:spPr>
          <a:xfrm>
            <a:off x="4592638" y="4594225"/>
            <a:ext cx="341312" cy="2555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9989A81-1481-BFE5-A984-2DBD55BC358D}"/>
              </a:ext>
            </a:extLst>
          </p:cNvPr>
          <p:cNvSpPr/>
          <p:nvPr/>
        </p:nvSpPr>
        <p:spPr>
          <a:xfrm>
            <a:off x="0" y="0"/>
            <a:ext cx="12179300" cy="741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/>
              <a:t>    전투 스테이지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4EA427-7384-2B66-48CF-6F83E4709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90ACC-6A02-4818-A26F-0444B7762DEC}" type="slidenum">
              <a:rPr lang="ko-KR" altLang="en-US"/>
              <a:pPr>
                <a:defRPr/>
              </a:pPr>
              <a:t>10</a:t>
            </a:fld>
            <a:endParaRPr lang="ko-KR" altLang="en-US"/>
          </a:p>
        </p:txBody>
      </p:sp>
      <p:pic>
        <p:nvPicPr>
          <p:cNvPr id="14340" name="그림 4">
            <a:extLst>
              <a:ext uri="{FF2B5EF4-FFF2-40B4-BE49-F238E27FC236}">
                <a16:creationId xmlns:a16="http://schemas.microsoft.com/office/drawing/2014/main" id="{FE811955-E0EE-8363-5E35-ABD1E94D2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965200"/>
            <a:ext cx="4019550" cy="568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그림 9">
            <a:extLst>
              <a:ext uri="{FF2B5EF4-FFF2-40B4-BE49-F238E27FC236}">
                <a16:creationId xmlns:a16="http://schemas.microsoft.com/office/drawing/2014/main" id="{B834C650-1884-DEA1-40C8-500B81B35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804988"/>
            <a:ext cx="7229475" cy="324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CA5E0E-9206-B1CF-B16D-EF1791ED8ECC}"/>
              </a:ext>
            </a:extLst>
          </p:cNvPr>
          <p:cNvSpPr/>
          <p:nvPr/>
        </p:nvSpPr>
        <p:spPr>
          <a:xfrm>
            <a:off x="893763" y="5321300"/>
            <a:ext cx="2690812" cy="1139825"/>
          </a:xfrm>
          <a:prstGeom prst="rect">
            <a:avLst/>
          </a:prstGeom>
          <a:noFill/>
          <a:ln w="539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376CBAF-8D62-3922-A27D-62CAF41281E5}"/>
              </a:ext>
            </a:extLst>
          </p:cNvPr>
          <p:cNvCxnSpPr>
            <a:stCxn id="11" idx="3"/>
          </p:cNvCxnSpPr>
          <p:nvPr/>
        </p:nvCxnSpPr>
        <p:spPr>
          <a:xfrm flipV="1">
            <a:off x="3584575" y="4678363"/>
            <a:ext cx="1079500" cy="1212850"/>
          </a:xfrm>
          <a:prstGeom prst="straightConnector1">
            <a:avLst/>
          </a:prstGeom>
          <a:ln w="28575">
            <a:solidFill>
              <a:srgbClr val="0424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3CBBAEF-FD51-1171-D861-B8C53EA6119F}"/>
              </a:ext>
            </a:extLst>
          </p:cNvPr>
          <p:cNvSpPr/>
          <p:nvPr/>
        </p:nvSpPr>
        <p:spPr>
          <a:xfrm>
            <a:off x="4664075" y="1624013"/>
            <a:ext cx="7165975" cy="3624262"/>
          </a:xfrm>
          <a:prstGeom prst="rect">
            <a:avLst/>
          </a:prstGeom>
          <a:noFill/>
          <a:ln w="539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14345" name="TextBox 14">
            <a:extLst>
              <a:ext uri="{FF2B5EF4-FFF2-40B4-BE49-F238E27FC236}">
                <a16:creationId xmlns:a16="http://schemas.microsoft.com/office/drawing/2014/main" id="{27C4D2AD-DFA2-77E4-8E83-482F9906A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4075" y="5538788"/>
            <a:ext cx="65801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ko-KR" altLang="en-US" b="1"/>
              <a:t>보스 몬스터를 잡으면 보상과 함께 전투 스테이지 공략 완료</a:t>
            </a:r>
            <a:endParaRPr lang="en-US" altLang="ko-KR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C9F2BF-541A-B5BA-65DD-A3DD40331725}"/>
              </a:ext>
            </a:extLst>
          </p:cNvPr>
          <p:cNvSpPr txBox="1"/>
          <p:nvPr/>
        </p:nvSpPr>
        <p:spPr>
          <a:xfrm>
            <a:off x="4381500" y="965200"/>
            <a:ext cx="456565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* </a:t>
            </a:r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전투 스테이지 플로우 차트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8ED31E8-818B-01AF-5F07-547D2A668CB6}"/>
              </a:ext>
            </a:extLst>
          </p:cNvPr>
          <p:cNvSpPr/>
          <p:nvPr/>
        </p:nvSpPr>
        <p:spPr>
          <a:xfrm>
            <a:off x="0" y="0"/>
            <a:ext cx="12179300" cy="741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/>
              <a:t>    전투 스테이지 </a:t>
            </a:r>
            <a:r>
              <a:rPr lang="en-US" altLang="ko-KR" b="1" dirty="0"/>
              <a:t>- </a:t>
            </a:r>
            <a:r>
              <a:rPr lang="ko-KR" altLang="en-US" b="1" dirty="0"/>
              <a:t>몬스터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11D985-9B4E-E263-847C-91BE07AA2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CB1FCB-5B23-468C-9C55-5454AA128140}" type="slidenum">
              <a:rPr lang="ko-KR" altLang="en-US"/>
              <a:pPr>
                <a:defRPr/>
              </a:pPr>
              <a:t>11</a:t>
            </a:fld>
            <a:endParaRPr lang="ko-KR" altLang="en-US"/>
          </a:p>
        </p:txBody>
      </p:sp>
      <p:sp>
        <p:nvSpPr>
          <p:cNvPr id="15364" name="TextBox 2">
            <a:extLst>
              <a:ext uri="{FF2B5EF4-FFF2-40B4-BE49-F238E27FC236}">
                <a16:creationId xmlns:a16="http://schemas.microsoft.com/office/drawing/2014/main" id="{CE973461-3A4E-04C7-EC03-34D365E3A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3" y="928688"/>
            <a:ext cx="9499600" cy="397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ko-KR" altLang="en-US" sz="2000" b="1"/>
              <a:t>몬스터</a:t>
            </a:r>
            <a:r>
              <a:rPr lang="ko-KR" altLang="en-US"/>
              <a:t> </a:t>
            </a:r>
            <a:r>
              <a:rPr lang="en-US" altLang="ko-KR"/>
              <a:t>: </a:t>
            </a:r>
          </a:p>
          <a:p>
            <a:pPr eaLnBrk="1" hangingPunct="1"/>
            <a:endParaRPr lang="en-US" altLang="ko-KR"/>
          </a:p>
          <a:p>
            <a:pPr eaLnBrk="1" hangingPunct="1"/>
            <a:r>
              <a:rPr lang="ko-KR" altLang="en-US"/>
              <a:t>전투 스테이지에서 플레이어가 처치해야 하는 적</a:t>
            </a:r>
            <a:r>
              <a:rPr lang="en-US" altLang="ko-KR"/>
              <a:t>.</a:t>
            </a:r>
          </a:p>
          <a:p>
            <a:pPr eaLnBrk="1" hangingPunct="1"/>
            <a:endParaRPr lang="en-US" altLang="ko-KR"/>
          </a:p>
          <a:p>
            <a:pPr eaLnBrk="1" hangingPunct="1"/>
            <a:r>
              <a:rPr lang="ko-KR" altLang="en-US"/>
              <a:t>한 번 죽인 몬스터는 다시 리스폰 하지 않음</a:t>
            </a:r>
            <a:r>
              <a:rPr lang="en-US" altLang="ko-KR"/>
              <a:t>.</a:t>
            </a:r>
          </a:p>
          <a:p>
            <a:pPr eaLnBrk="1" hangingPunct="1"/>
            <a:endParaRPr lang="en-US" altLang="ko-KR"/>
          </a:p>
          <a:p>
            <a:pPr eaLnBrk="1" hangingPunct="1"/>
            <a:r>
              <a:rPr lang="ko-KR" altLang="en-US"/>
              <a:t>플레이어를 인식하면 행동을 시작함</a:t>
            </a:r>
            <a:r>
              <a:rPr lang="en-US" altLang="ko-KR"/>
              <a:t>.</a:t>
            </a:r>
          </a:p>
          <a:p>
            <a:pPr eaLnBrk="1" hangingPunct="1"/>
            <a:endParaRPr lang="en-US" altLang="ko-KR"/>
          </a:p>
          <a:p>
            <a:pPr eaLnBrk="1" hangingPunct="1"/>
            <a:endParaRPr lang="en-US" altLang="ko-KR"/>
          </a:p>
          <a:p>
            <a:pPr eaLnBrk="1" hangingPunct="1"/>
            <a:endParaRPr lang="en-US" altLang="ko-KR"/>
          </a:p>
          <a:p>
            <a:pPr eaLnBrk="1" hangingPunct="1"/>
            <a:endParaRPr lang="en-US" altLang="ko-KR"/>
          </a:p>
          <a:p>
            <a:pPr eaLnBrk="1" hangingPunct="1"/>
            <a:endParaRPr lang="en-US" altLang="ko-KR"/>
          </a:p>
          <a:p>
            <a:pPr eaLnBrk="1" hangingPunct="1"/>
            <a:endParaRPr lang="en-US" altLang="ko-KR"/>
          </a:p>
          <a:p>
            <a:pPr eaLnBrk="1" hangingPunct="1"/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B5AD88F-0183-3225-CDF0-451B327651B6}"/>
              </a:ext>
            </a:extLst>
          </p:cNvPr>
          <p:cNvGraphicFramePr>
            <a:graphicFrameLocks noGrp="1"/>
          </p:cNvGraphicFramePr>
          <p:nvPr/>
        </p:nvGraphicFramePr>
        <p:xfrm>
          <a:off x="182563" y="4213225"/>
          <a:ext cx="8127999" cy="741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6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몬스터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일반 몬스터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네임드 몬스터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보스 몬스터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D7E7738-C6E2-FA4D-073E-D5D27A9770AF}"/>
              </a:ext>
            </a:extLst>
          </p:cNvPr>
          <p:cNvSpPr/>
          <p:nvPr/>
        </p:nvSpPr>
        <p:spPr>
          <a:xfrm>
            <a:off x="0" y="0"/>
            <a:ext cx="12179300" cy="741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/>
              <a:t>    전투 스테이지 </a:t>
            </a:r>
            <a:r>
              <a:rPr lang="en-US" altLang="ko-KR" b="1" dirty="0"/>
              <a:t>- </a:t>
            </a:r>
            <a:r>
              <a:rPr lang="ko-KR" altLang="en-US" b="1" dirty="0"/>
              <a:t>몬스터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3C9A06-1586-2737-A046-A1EB82AA1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F137F8-1C88-4E5F-B463-63347CA79A85}" type="slidenum">
              <a:rPr lang="ko-KR" altLang="en-US"/>
              <a:pPr>
                <a:defRPr/>
              </a:pPr>
              <a:t>12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6490E8-72C7-28FA-DADF-8FD256208E14}"/>
              </a:ext>
            </a:extLst>
          </p:cNvPr>
          <p:cNvSpPr txBox="1"/>
          <p:nvPr/>
        </p:nvSpPr>
        <p:spPr>
          <a:xfrm>
            <a:off x="234950" y="1101725"/>
            <a:ext cx="9372600" cy="4894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latin typeface="+mn-lt"/>
                <a:ea typeface="+mn-ea"/>
              </a:rPr>
              <a:t>일반 몬스터</a:t>
            </a: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2000" b="1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ko-KR" altLang="en-US" dirty="0">
                <a:latin typeface="+mn-lt"/>
                <a:ea typeface="+mn-ea"/>
              </a:rPr>
              <a:t>근접 공격을 하는 몬스터와 원거리 공격을 하는 몬스터로 나뉨</a:t>
            </a:r>
            <a:r>
              <a:rPr lang="en-US" altLang="ko-KR" dirty="0">
                <a:latin typeface="+mn-lt"/>
                <a:ea typeface="+mn-ea"/>
              </a:rPr>
              <a:t>.</a:t>
            </a: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ko-KR" altLang="en-US" dirty="0">
                <a:latin typeface="+mn-lt"/>
                <a:ea typeface="+mn-ea"/>
              </a:rPr>
              <a:t>평균적으로 한 무리당 </a:t>
            </a:r>
            <a:r>
              <a:rPr lang="en-US" altLang="ko-KR" dirty="0">
                <a:latin typeface="+mn-lt"/>
                <a:ea typeface="+mn-ea"/>
              </a:rPr>
              <a:t>20</a:t>
            </a:r>
            <a:r>
              <a:rPr lang="ko-KR" altLang="en-US" dirty="0">
                <a:latin typeface="+mn-lt"/>
                <a:ea typeface="+mn-ea"/>
              </a:rPr>
              <a:t>마리 정도의 몬스터가 배치됨</a:t>
            </a: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ko-KR" altLang="en-US" dirty="0">
                <a:latin typeface="+mn-lt"/>
                <a:ea typeface="+mn-ea"/>
              </a:rPr>
              <a:t>처치하지 않아도 다른 전투 구역으로 갈 수 있음</a:t>
            </a:r>
            <a:r>
              <a:rPr lang="en-US" altLang="ko-KR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>
                <a:latin typeface="+mn-lt"/>
                <a:ea typeface="+mn-ea"/>
              </a:rPr>
              <a:t> </a:t>
            </a: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E24C140-C727-C049-D511-25690A8AABDB}"/>
              </a:ext>
            </a:extLst>
          </p:cNvPr>
          <p:cNvGraphicFramePr>
            <a:graphicFrameLocks noGrp="1"/>
          </p:cNvGraphicFramePr>
          <p:nvPr/>
        </p:nvGraphicFramePr>
        <p:xfrm>
          <a:off x="234950" y="5081588"/>
          <a:ext cx="5418138" cy="7413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일반 몬스터</a:t>
                      </a:r>
                    </a:p>
                  </a:txBody>
                  <a:tcPr marL="91431" marR="91431" marT="45700" marB="4570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/>
                    </a:p>
                  </a:txBody>
                  <a:tcPr marL="91431" marR="91431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근접 공격</a:t>
                      </a:r>
                    </a:p>
                  </a:txBody>
                  <a:tcPr marL="91431" marR="91431" marT="45700" marB="4570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/>
                        <a:t>원거리 공격</a:t>
                      </a:r>
                    </a:p>
                  </a:txBody>
                  <a:tcPr marL="91431" marR="91431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6400" name="그림 6" descr="만화 영화, 카민, 가상의 캐릭터이(가) 표시된 사진&#10;&#10;자동 생성된 설명">
            <a:extLst>
              <a:ext uri="{FF2B5EF4-FFF2-40B4-BE49-F238E27FC236}">
                <a16:creationId xmlns:a16="http://schemas.microsoft.com/office/drawing/2014/main" id="{24BCB269-155A-1905-C788-687ABA86A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954463"/>
            <a:ext cx="2028825" cy="186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401" name="그림 8" descr="장난감, 만화 영화이(가) 표시된 사진&#10;&#10;자동 생성된 설명">
            <a:extLst>
              <a:ext uri="{FF2B5EF4-FFF2-40B4-BE49-F238E27FC236}">
                <a16:creationId xmlns:a16="http://schemas.microsoft.com/office/drawing/2014/main" id="{109823B8-AEFD-DD9A-3BD2-5413A02C5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363" y="3951288"/>
            <a:ext cx="2106612" cy="187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C137234-EAA5-60A1-A5A8-36474CC016C6}"/>
              </a:ext>
            </a:extLst>
          </p:cNvPr>
          <p:cNvSpPr/>
          <p:nvPr/>
        </p:nvSpPr>
        <p:spPr>
          <a:xfrm>
            <a:off x="0" y="0"/>
            <a:ext cx="12179300" cy="741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/>
              <a:t>    전투 스테이지 </a:t>
            </a:r>
            <a:r>
              <a:rPr lang="en-US" altLang="ko-KR" b="1" dirty="0"/>
              <a:t>- </a:t>
            </a:r>
            <a:r>
              <a:rPr lang="ko-KR" altLang="en-US" b="1" dirty="0"/>
              <a:t>몬스터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DCD2C9-BF2C-E5EA-62CA-AA05E594F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B9894B-8813-4871-8A93-EB757129B98D}" type="slidenum">
              <a:rPr lang="ko-KR" altLang="en-US"/>
              <a:pPr>
                <a:defRPr/>
              </a:pPr>
              <a:t>13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18768-2E22-6139-E562-1F71C104876E}"/>
              </a:ext>
            </a:extLst>
          </p:cNvPr>
          <p:cNvSpPr txBox="1"/>
          <p:nvPr/>
        </p:nvSpPr>
        <p:spPr>
          <a:xfrm>
            <a:off x="140614" y="1093798"/>
            <a:ext cx="9372600" cy="486287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latin typeface="+mn-lt"/>
                <a:ea typeface="+mn-ea"/>
              </a:rPr>
              <a:t>네임드 몬스터</a:t>
            </a: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ko-KR" altLang="en-US" dirty="0">
                <a:latin typeface="+mn-lt"/>
                <a:ea typeface="+mn-ea"/>
              </a:rPr>
              <a:t>플레이어를 인식하는 범위가 일반 몬스터보다 넓다</a:t>
            </a:r>
            <a:r>
              <a:rPr lang="en-US" altLang="ko-KR" dirty="0">
                <a:latin typeface="+mn-lt"/>
                <a:ea typeface="+mn-ea"/>
              </a:rPr>
              <a:t>.</a:t>
            </a: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ko-KR" altLang="en-US" dirty="0">
                <a:latin typeface="+mn-lt"/>
                <a:ea typeface="+mn-ea"/>
              </a:rPr>
              <a:t>네임드 몬스터는 플레이어가 다른 구역으로 갈 수 없게 입구를 막아버린다</a:t>
            </a:r>
            <a:r>
              <a:rPr lang="en-US" altLang="ko-KR" dirty="0">
                <a:latin typeface="+mn-lt"/>
                <a:ea typeface="+mn-ea"/>
              </a:rPr>
              <a:t>. </a:t>
            </a:r>
          </a:p>
          <a:p>
            <a:pPr marL="3943350" lvl="8" indent="-285750"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ko-KR" altLang="en-US" dirty="0">
                <a:latin typeface="+mn-lt"/>
                <a:ea typeface="+mn-ea"/>
              </a:rPr>
              <a:t>일반 몬스터를 </a:t>
            </a:r>
            <a:r>
              <a:rPr lang="ko-KR" altLang="en-US" b="1" dirty="0">
                <a:latin typeface="+mn-lt"/>
                <a:ea typeface="+mn-ea"/>
              </a:rPr>
              <a:t>조작</a:t>
            </a:r>
            <a:r>
              <a:rPr lang="ko-KR" altLang="en-US" dirty="0">
                <a:latin typeface="+mn-lt"/>
                <a:ea typeface="+mn-ea"/>
              </a:rPr>
              <a:t>한다</a:t>
            </a:r>
            <a:r>
              <a:rPr lang="en-US" altLang="ko-KR" dirty="0">
                <a:latin typeface="+mn-lt"/>
                <a:ea typeface="+mn-ea"/>
              </a:rPr>
              <a:t>.</a:t>
            </a: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D4E522-1143-9997-174F-916F71501B3F}"/>
              </a:ext>
            </a:extLst>
          </p:cNvPr>
          <p:cNvSpPr txBox="1"/>
          <p:nvPr/>
        </p:nvSpPr>
        <p:spPr>
          <a:xfrm>
            <a:off x="8159750" y="2808288"/>
            <a:ext cx="36449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b="1" i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( </a:t>
            </a:r>
            <a:r>
              <a:rPr lang="ko-KR" altLang="en-US" sz="1400" b="1" i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플레이어의 이동 제한 </a:t>
            </a:r>
            <a:r>
              <a:rPr lang="en-US" altLang="ko-KR" sz="1400" b="1" i="1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rPr>
              <a:t>)</a:t>
            </a:r>
            <a:endParaRPr lang="ko-KR" altLang="en-US" sz="1400" b="1" i="1" dirty="0">
              <a:solidFill>
                <a:schemeClr val="bg1">
                  <a:lumMod val="50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31C4398-EA46-3FE4-B6B7-FF67FCD1366B}"/>
              </a:ext>
            </a:extLst>
          </p:cNvPr>
          <p:cNvSpPr/>
          <p:nvPr/>
        </p:nvSpPr>
        <p:spPr>
          <a:xfrm>
            <a:off x="0" y="0"/>
            <a:ext cx="12179300" cy="741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/>
              <a:t>    전투 스테이지 </a:t>
            </a:r>
            <a:r>
              <a:rPr lang="en-US" altLang="ko-KR" b="1" dirty="0"/>
              <a:t>- </a:t>
            </a:r>
            <a:r>
              <a:rPr lang="ko-KR" altLang="en-US" b="1" dirty="0"/>
              <a:t>몬스터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FDAA0E-A0DC-F528-CBC9-50684452B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BEB8AC-CA8C-4381-9C82-CF9822D796D6}" type="slidenum">
              <a:rPr lang="ko-KR" altLang="en-US"/>
              <a:pPr>
                <a:defRPr/>
              </a:pPr>
              <a:t>14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BFCA4E-9CB2-CF24-E7C8-E254AA6F2383}"/>
              </a:ext>
            </a:extLst>
          </p:cNvPr>
          <p:cNvSpPr txBox="1"/>
          <p:nvPr/>
        </p:nvSpPr>
        <p:spPr>
          <a:xfrm>
            <a:off x="141288" y="1093788"/>
            <a:ext cx="9372600" cy="59705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latin typeface="+mn-lt"/>
                <a:ea typeface="+mn-ea"/>
              </a:rPr>
              <a:t>네임드 몬스터</a:t>
            </a: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>
                <a:latin typeface="+mn-lt"/>
                <a:ea typeface="+mn-ea"/>
              </a:rPr>
              <a:t>조작</a:t>
            </a:r>
            <a:r>
              <a:rPr lang="en-US" altLang="ko-KR" dirty="0">
                <a:latin typeface="+mn-lt"/>
                <a:ea typeface="+mn-ea"/>
              </a:rPr>
              <a:t>?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ko-KR" altLang="en-US" dirty="0">
                <a:latin typeface="+mn-lt"/>
                <a:ea typeface="+mn-ea"/>
              </a:rPr>
              <a:t>네임드 몬스터의 </a:t>
            </a:r>
            <a:r>
              <a:rPr lang="en-US" altLang="ko-KR" dirty="0">
                <a:latin typeface="+mn-lt"/>
                <a:ea typeface="+mn-ea"/>
              </a:rPr>
              <a:t>AI</a:t>
            </a:r>
            <a:r>
              <a:rPr lang="ko-KR" altLang="en-US" dirty="0">
                <a:latin typeface="+mn-lt"/>
                <a:ea typeface="+mn-ea"/>
              </a:rPr>
              <a:t>를 통해서 일반 몬스터를 조작한다</a:t>
            </a:r>
            <a:r>
              <a:rPr lang="en-US" altLang="ko-KR" dirty="0">
                <a:latin typeface="+mn-lt"/>
                <a:ea typeface="+mn-ea"/>
              </a:rPr>
              <a:t>.</a:t>
            </a: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ko-KR" altLang="en-US" dirty="0">
                <a:latin typeface="+mn-lt"/>
                <a:ea typeface="+mn-ea"/>
              </a:rPr>
              <a:t>일반 몬스터가 진형을 갖춘다</a:t>
            </a:r>
            <a:r>
              <a:rPr lang="en-US" altLang="ko-KR" dirty="0">
                <a:latin typeface="+mn-lt"/>
                <a:ea typeface="+mn-ea"/>
              </a:rPr>
              <a:t>.</a:t>
            </a: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ko-KR" altLang="en-US" dirty="0">
                <a:latin typeface="+mn-lt"/>
                <a:ea typeface="+mn-ea"/>
              </a:rPr>
              <a:t>다른 구역에 있는 일반 몬스터를 현재 전투 공간으로 불러온다</a:t>
            </a:r>
            <a:r>
              <a:rPr lang="en-US" altLang="ko-KR" dirty="0">
                <a:latin typeface="+mn-lt"/>
                <a:ea typeface="+mn-ea"/>
              </a:rPr>
              <a:t>. 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dirty="0">
                <a:latin typeface="+mn-lt"/>
                <a:ea typeface="+mn-ea"/>
              </a:rPr>
              <a:t>   만약 다른 구역에서 일반 몬스터를 처리하지 않고 해당 구역을 넘겼을 때 </a:t>
            </a: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>
                <a:latin typeface="+mn-lt"/>
                <a:ea typeface="+mn-ea"/>
              </a:rPr>
              <a:t>   </a:t>
            </a:r>
            <a:r>
              <a:rPr lang="ko-KR" altLang="en-US" dirty="0">
                <a:latin typeface="+mn-lt"/>
                <a:ea typeface="+mn-ea"/>
              </a:rPr>
              <a:t>네임드 몬스터가 불러오는 일반 몬스터는 더 많아진다</a:t>
            </a:r>
            <a:r>
              <a:rPr lang="en-US" altLang="ko-KR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>
                <a:latin typeface="+mn-lt"/>
                <a:ea typeface="+mn-ea"/>
              </a:rPr>
              <a:t>	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46CD197-A470-B08F-818E-B9650B98A27D}"/>
              </a:ext>
            </a:extLst>
          </p:cNvPr>
          <p:cNvSpPr/>
          <p:nvPr/>
        </p:nvSpPr>
        <p:spPr>
          <a:xfrm>
            <a:off x="0" y="0"/>
            <a:ext cx="12179300" cy="741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/>
              <a:t>    전투 스테이지 </a:t>
            </a:r>
            <a:r>
              <a:rPr lang="en-US" altLang="ko-KR" b="1" dirty="0"/>
              <a:t>- </a:t>
            </a:r>
            <a:r>
              <a:rPr lang="ko-KR" altLang="en-US" b="1" dirty="0"/>
              <a:t>몬스터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2AAAF4-BC63-6E14-7818-1884DAE5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36A3F5-3FFB-4548-A415-3A5F1EE64B35}" type="slidenum">
              <a:rPr lang="ko-KR" altLang="en-US"/>
              <a:pPr>
                <a:defRPr/>
              </a:pPr>
              <a:t>15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D81BAF-359F-9F28-E71E-AA5A4C3B9F65}"/>
              </a:ext>
            </a:extLst>
          </p:cNvPr>
          <p:cNvSpPr txBox="1"/>
          <p:nvPr/>
        </p:nvSpPr>
        <p:spPr>
          <a:xfrm>
            <a:off x="114300" y="1087438"/>
            <a:ext cx="9372600" cy="48926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latin typeface="+mn-lt"/>
                <a:ea typeface="+mn-ea"/>
              </a:rPr>
              <a:t>보스 몬스터</a:t>
            </a: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2000" b="1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ko-KR" altLang="en-US" dirty="0">
                <a:latin typeface="+mn-lt"/>
                <a:ea typeface="+mn-ea"/>
              </a:rPr>
              <a:t>플레이어와 </a:t>
            </a:r>
            <a:r>
              <a:rPr lang="en-US" altLang="ko-KR" dirty="0">
                <a:latin typeface="+mn-lt"/>
                <a:ea typeface="+mn-ea"/>
              </a:rPr>
              <a:t>1</a:t>
            </a:r>
            <a:r>
              <a:rPr lang="ko-KR" altLang="en-US" dirty="0">
                <a:latin typeface="+mn-lt"/>
                <a:ea typeface="+mn-ea"/>
              </a:rPr>
              <a:t>대</a:t>
            </a:r>
            <a:r>
              <a:rPr lang="en-US" altLang="ko-KR" dirty="0">
                <a:latin typeface="+mn-lt"/>
                <a:ea typeface="+mn-ea"/>
              </a:rPr>
              <a:t>1 </a:t>
            </a:r>
            <a:r>
              <a:rPr lang="ko-KR" altLang="en-US" dirty="0">
                <a:latin typeface="+mn-lt"/>
                <a:ea typeface="+mn-ea"/>
              </a:rPr>
              <a:t>전투를 한다</a:t>
            </a:r>
            <a:r>
              <a:rPr lang="en-US" altLang="ko-KR" dirty="0">
                <a:latin typeface="+mn-lt"/>
                <a:ea typeface="+mn-ea"/>
              </a:rPr>
              <a:t>.</a:t>
            </a: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ko-KR" altLang="en-US">
                <a:latin typeface="+mn-lt"/>
                <a:ea typeface="+mn-ea"/>
              </a:rPr>
              <a:t>플레이어는 다른 </a:t>
            </a:r>
            <a:r>
              <a:rPr lang="ko-KR" altLang="en-US" dirty="0">
                <a:latin typeface="+mn-lt"/>
                <a:ea typeface="+mn-ea"/>
              </a:rPr>
              <a:t>구역으로 이동 불가능하다</a:t>
            </a:r>
            <a:r>
              <a:rPr lang="en-US" altLang="ko-KR" dirty="0">
                <a:latin typeface="+mn-lt"/>
                <a:ea typeface="+mn-ea"/>
              </a:rPr>
              <a:t>.</a:t>
            </a: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ko-KR" altLang="en-US" dirty="0">
                <a:latin typeface="+mn-lt"/>
                <a:ea typeface="+mn-ea"/>
              </a:rPr>
              <a:t>죽거나 죽이거나</a:t>
            </a:r>
            <a:r>
              <a:rPr lang="en-US" altLang="ko-KR" dirty="0">
                <a:latin typeface="+mn-lt"/>
                <a:ea typeface="+mn-ea"/>
              </a:rPr>
              <a:t>.</a:t>
            </a: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46CD197-A470-B08F-818E-B9650B98A27D}"/>
              </a:ext>
            </a:extLst>
          </p:cNvPr>
          <p:cNvSpPr/>
          <p:nvPr/>
        </p:nvSpPr>
        <p:spPr>
          <a:xfrm>
            <a:off x="0" y="0"/>
            <a:ext cx="12179300" cy="74136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/>
              <a:t>    보스 몬스터 시스템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2AAAF4-BC63-6E14-7818-1884DAE5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36A3F5-3FFB-4548-A415-3A5F1EE64B35}" type="slidenum">
              <a:rPr lang="ko-KR" altLang="en-US"/>
              <a:pPr>
                <a:defRPr/>
              </a:pPr>
              <a:t>16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D81BAF-359F-9F28-E71E-AA5A4C3B9F65}"/>
              </a:ext>
            </a:extLst>
          </p:cNvPr>
          <p:cNvSpPr txBox="1"/>
          <p:nvPr/>
        </p:nvSpPr>
        <p:spPr>
          <a:xfrm>
            <a:off x="114300" y="1087438"/>
            <a:ext cx="9372600" cy="480131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 b="1" dirty="0">
                <a:latin typeface="+mn-lt"/>
                <a:ea typeface="+mn-ea"/>
              </a:rPr>
              <a:t>1. </a:t>
            </a:r>
            <a:r>
              <a:rPr lang="ko-KR" altLang="en-US" sz="2000" b="1" dirty="0">
                <a:latin typeface="+mn-lt"/>
                <a:ea typeface="+mn-ea"/>
              </a:rPr>
              <a:t>보스 몬스터의</a:t>
            </a:r>
            <a:r>
              <a:rPr lang="en-US" altLang="ko-KR" sz="2000" b="1" dirty="0">
                <a:latin typeface="+mn-lt"/>
                <a:ea typeface="+mn-ea"/>
              </a:rPr>
              <a:t> </a:t>
            </a:r>
            <a:r>
              <a:rPr lang="ko-KR" altLang="en-US" sz="2000" b="1" dirty="0">
                <a:latin typeface="+mn-lt"/>
                <a:ea typeface="+mn-ea"/>
              </a:rPr>
              <a:t>행동 패턴은 아래와 같습니다</a:t>
            </a:r>
            <a:r>
              <a:rPr lang="en-US" altLang="ko-KR" sz="2000" b="1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latin typeface="+mn-lt"/>
                <a:ea typeface="+mn-ea"/>
              </a:rPr>
              <a:t>플레이어가 스테이지 입장 </a:t>
            </a:r>
            <a:r>
              <a:rPr lang="en-US" altLang="ko-KR" sz="2000" b="1" dirty="0">
                <a:latin typeface="+mn-lt"/>
                <a:ea typeface="+mn-ea"/>
              </a:rPr>
              <a:t>-&gt; </a:t>
            </a:r>
            <a:r>
              <a:rPr lang="ko-KR" altLang="en-US" sz="2000" b="1" dirty="0">
                <a:latin typeface="+mn-lt"/>
                <a:ea typeface="+mn-ea"/>
              </a:rPr>
              <a:t>플레이어를 추격 </a:t>
            </a:r>
            <a:r>
              <a:rPr lang="en-US" altLang="ko-KR" sz="2000" b="1" dirty="0">
                <a:latin typeface="+mn-lt"/>
                <a:ea typeface="+mn-ea"/>
              </a:rPr>
              <a:t>-&gt; (</a:t>
            </a:r>
            <a:r>
              <a:rPr lang="ko-KR" altLang="en-US" sz="2000" b="1" dirty="0">
                <a:latin typeface="+mn-lt"/>
                <a:ea typeface="+mn-ea"/>
              </a:rPr>
              <a:t>공격 범위 안으로 들어옴</a:t>
            </a:r>
            <a:r>
              <a:rPr lang="en-US" altLang="ko-KR" sz="2000" b="1" dirty="0">
                <a:latin typeface="+mn-lt"/>
                <a:ea typeface="+mn-ea"/>
              </a:rPr>
              <a:t>) -&gt; </a:t>
            </a:r>
            <a:r>
              <a:rPr lang="ko-KR" altLang="en-US" sz="2000" b="1" dirty="0">
                <a:latin typeface="+mn-lt"/>
                <a:ea typeface="+mn-ea"/>
              </a:rPr>
              <a:t>플레이어를 공격</a:t>
            </a: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 b="1" dirty="0">
                <a:latin typeface="+mn-lt"/>
                <a:ea typeface="+mn-ea"/>
              </a:rPr>
              <a:t>2. </a:t>
            </a:r>
            <a:r>
              <a:rPr lang="ko-KR" altLang="en-US" sz="2000" b="1" dirty="0">
                <a:latin typeface="+mn-lt"/>
                <a:ea typeface="+mn-ea"/>
              </a:rPr>
              <a:t>플레이어를 공격할 때 다양한 공격 패턴이 존재합니다</a:t>
            </a:r>
            <a:r>
              <a:rPr lang="en-US" altLang="ko-KR" sz="2000" b="1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 b="1" dirty="0">
                <a:latin typeface="+mn-lt"/>
                <a:ea typeface="+mn-ea"/>
              </a:rPr>
              <a:t>3. </a:t>
            </a:r>
            <a:r>
              <a:rPr lang="ko-KR" altLang="en-US" sz="2000" b="1" dirty="0">
                <a:latin typeface="+mn-lt"/>
                <a:ea typeface="+mn-ea"/>
              </a:rPr>
              <a:t>플레이어의 공격에 경직되지 않습니다</a:t>
            </a:r>
            <a:r>
              <a:rPr lang="en-US" altLang="ko-KR" sz="2000" b="1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72920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46CD197-A470-B08F-818E-B9650B98A27D}"/>
              </a:ext>
            </a:extLst>
          </p:cNvPr>
          <p:cNvSpPr/>
          <p:nvPr/>
        </p:nvSpPr>
        <p:spPr>
          <a:xfrm>
            <a:off x="0" y="0"/>
            <a:ext cx="12179300" cy="74136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/>
              <a:t>     보스 몬스터 시스템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2AAAF4-BC63-6E14-7818-1884DAE5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36A3F5-3FFB-4548-A415-3A5F1EE64B35}" type="slidenum">
              <a:rPr lang="ko-KR" altLang="en-US"/>
              <a:pPr>
                <a:defRPr/>
              </a:pPr>
              <a:t>17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D81BAF-359F-9F28-E71E-AA5A4C3B9F65}"/>
              </a:ext>
            </a:extLst>
          </p:cNvPr>
          <p:cNvSpPr txBox="1"/>
          <p:nvPr/>
        </p:nvSpPr>
        <p:spPr>
          <a:xfrm>
            <a:off x="114301" y="1100595"/>
            <a:ext cx="5976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</a:rPr>
              <a:t>보스 몬스터 </a:t>
            </a:r>
            <a:r>
              <a:rPr lang="en-US" altLang="ko-KR" sz="2000" b="1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</a:rPr>
              <a:t>- 1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latin typeface="+mn-lt"/>
                <a:ea typeface="+mn-ea"/>
              </a:rPr>
              <a:t>이름 </a:t>
            </a:r>
            <a:r>
              <a:rPr lang="en-US" altLang="ko-KR" sz="2000" b="1" dirty="0">
                <a:latin typeface="+mn-lt"/>
                <a:ea typeface="+mn-ea"/>
              </a:rPr>
              <a:t>: </a:t>
            </a:r>
            <a:r>
              <a:rPr lang="ko-KR" altLang="en-US" sz="2000" b="1" dirty="0" err="1">
                <a:latin typeface="+mn-lt"/>
                <a:ea typeface="+mn-ea"/>
              </a:rPr>
              <a:t>아질리스</a:t>
            </a: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latin typeface="+mn-lt"/>
                <a:ea typeface="+mn-ea"/>
              </a:rPr>
              <a:t>종족 </a:t>
            </a:r>
            <a:r>
              <a:rPr lang="en-US" altLang="ko-KR" sz="2000" b="1" dirty="0">
                <a:latin typeface="+mn-lt"/>
                <a:ea typeface="+mn-ea"/>
              </a:rPr>
              <a:t>: </a:t>
            </a:r>
            <a:r>
              <a:rPr lang="ko-KR" altLang="en-US" sz="2000" b="1" dirty="0">
                <a:latin typeface="+mn-lt"/>
                <a:ea typeface="+mn-ea"/>
              </a:rPr>
              <a:t>기계</a:t>
            </a: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latin typeface="+mn-lt"/>
                <a:ea typeface="+mn-ea"/>
              </a:rPr>
              <a:t>외형 </a:t>
            </a:r>
            <a:r>
              <a:rPr lang="en-US" altLang="ko-KR" sz="2000" b="1" dirty="0">
                <a:latin typeface="+mn-lt"/>
                <a:ea typeface="+mn-ea"/>
              </a:rPr>
              <a:t>: </a:t>
            </a:r>
            <a:r>
              <a:rPr lang="ko-KR" altLang="en-US" sz="2000" b="1" dirty="0">
                <a:latin typeface="+mn-lt"/>
                <a:ea typeface="+mn-ea"/>
              </a:rPr>
              <a:t>사람과 비슷한 외형입니다</a:t>
            </a:r>
            <a:r>
              <a:rPr lang="en-US" altLang="ko-KR" sz="2000" b="1" dirty="0">
                <a:latin typeface="+mn-lt"/>
                <a:ea typeface="+mn-ea"/>
              </a:rPr>
              <a:t>. 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latin typeface="+mn-lt"/>
                <a:ea typeface="+mn-ea"/>
              </a:rPr>
              <a:t>공격 수단 </a:t>
            </a:r>
            <a:r>
              <a:rPr lang="en-US" altLang="ko-KR" sz="2000" b="1" dirty="0">
                <a:latin typeface="+mn-lt"/>
                <a:ea typeface="+mn-ea"/>
              </a:rPr>
              <a:t>: </a:t>
            </a:r>
            <a:r>
              <a:rPr lang="ko-KR" altLang="en-US" sz="2000" b="1" dirty="0">
                <a:latin typeface="+mn-lt"/>
                <a:ea typeface="+mn-ea"/>
              </a:rPr>
              <a:t>기계 칼</a:t>
            </a:r>
            <a:r>
              <a:rPr lang="en-US" altLang="ko-KR" sz="2000" b="1" dirty="0">
                <a:latin typeface="+mn-lt"/>
                <a:ea typeface="+mn-ea"/>
              </a:rPr>
              <a:t>, </a:t>
            </a:r>
            <a:r>
              <a:rPr lang="ko-KR" altLang="en-US" sz="2000" b="1" dirty="0">
                <a:latin typeface="+mn-lt"/>
                <a:ea typeface="+mn-ea"/>
              </a:rPr>
              <a:t>저격 총</a:t>
            </a: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latin typeface="+mn-lt"/>
                <a:ea typeface="+mn-ea"/>
              </a:rPr>
              <a:t>행동 패턴 </a:t>
            </a:r>
            <a:r>
              <a:rPr lang="en-US" altLang="ko-KR" sz="2000" b="1" dirty="0">
                <a:latin typeface="+mn-lt"/>
                <a:ea typeface="+mn-ea"/>
              </a:rPr>
              <a:t>: </a:t>
            </a:r>
            <a:r>
              <a:rPr lang="ko-KR" altLang="en-US" sz="2000" b="1" dirty="0">
                <a:latin typeface="+mn-lt"/>
                <a:ea typeface="+mn-ea"/>
              </a:rPr>
              <a:t>근접 전투</a:t>
            </a:r>
            <a:r>
              <a:rPr lang="en-US" altLang="ko-KR" sz="2000" b="1" dirty="0">
                <a:latin typeface="+mn-lt"/>
                <a:ea typeface="+mn-ea"/>
              </a:rPr>
              <a:t>, </a:t>
            </a:r>
            <a:r>
              <a:rPr lang="ko-KR" altLang="en-US" sz="2000" b="1" dirty="0">
                <a:latin typeface="+mn-lt"/>
                <a:ea typeface="+mn-ea"/>
              </a:rPr>
              <a:t>원거리 전투</a:t>
            </a:r>
            <a:r>
              <a:rPr lang="en-US" altLang="ko-KR" sz="2000" b="1" dirty="0">
                <a:latin typeface="+mn-lt"/>
                <a:ea typeface="+mn-ea"/>
              </a:rPr>
              <a:t>, </a:t>
            </a:r>
            <a:r>
              <a:rPr lang="ko-KR" altLang="en-US" sz="2000" b="1" dirty="0">
                <a:latin typeface="+mn-lt"/>
                <a:ea typeface="+mn-ea"/>
              </a:rPr>
              <a:t>은신 후 이동</a:t>
            </a: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latin typeface="+mn-lt"/>
                <a:ea typeface="+mn-ea"/>
              </a:rPr>
              <a:t>체력</a:t>
            </a:r>
            <a:r>
              <a:rPr lang="en-US" altLang="ko-KR" sz="2000" b="1" dirty="0">
                <a:latin typeface="+mn-lt"/>
                <a:ea typeface="+mn-ea"/>
              </a:rPr>
              <a:t> : -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latin typeface="+mn-lt"/>
                <a:ea typeface="+mn-ea"/>
              </a:rPr>
              <a:t>공격력 </a:t>
            </a:r>
            <a:r>
              <a:rPr lang="en-US" altLang="ko-KR" sz="2000" b="1" dirty="0">
                <a:latin typeface="+mn-lt"/>
                <a:ea typeface="+mn-ea"/>
              </a:rPr>
              <a:t>: -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latin typeface="+mn-lt"/>
                <a:ea typeface="+mn-ea"/>
              </a:rPr>
              <a:t>이동속도 </a:t>
            </a:r>
            <a:r>
              <a:rPr lang="en-US" altLang="ko-KR" sz="2000" b="1" dirty="0">
                <a:latin typeface="+mn-lt"/>
                <a:ea typeface="+mn-ea"/>
              </a:rPr>
              <a:t>: - 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2000" b="1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85764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46CD197-A470-B08F-818E-B9650B98A27D}"/>
              </a:ext>
            </a:extLst>
          </p:cNvPr>
          <p:cNvSpPr/>
          <p:nvPr/>
        </p:nvSpPr>
        <p:spPr>
          <a:xfrm>
            <a:off x="0" y="0"/>
            <a:ext cx="12179300" cy="74136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/>
              <a:t>     보스 몬스터 시스템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2AAAF4-BC63-6E14-7818-1884DAE5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36A3F5-3FFB-4548-A415-3A5F1EE64B35}" type="slidenum">
              <a:rPr lang="ko-KR" altLang="en-US"/>
              <a:pPr>
                <a:defRPr/>
              </a:pPr>
              <a:t>18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0A91C05-2F63-7411-9858-240B91C07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19" y="1056936"/>
            <a:ext cx="9955237" cy="498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545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46CD197-A470-B08F-818E-B9650B98A27D}"/>
              </a:ext>
            </a:extLst>
          </p:cNvPr>
          <p:cNvSpPr/>
          <p:nvPr/>
        </p:nvSpPr>
        <p:spPr>
          <a:xfrm>
            <a:off x="0" y="0"/>
            <a:ext cx="12179300" cy="74136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/>
              <a:t>     보스 몬스터 시스템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2AAAF4-BC63-6E14-7818-1884DAE5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36A3F5-3FFB-4548-A415-3A5F1EE64B35}" type="slidenum">
              <a:rPr lang="ko-KR" altLang="en-US"/>
              <a:pPr>
                <a:defRPr/>
              </a:pPr>
              <a:t>19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D81BAF-359F-9F28-E71E-AA5A4C3B9F65}"/>
              </a:ext>
            </a:extLst>
          </p:cNvPr>
          <p:cNvSpPr txBox="1"/>
          <p:nvPr/>
        </p:nvSpPr>
        <p:spPr>
          <a:xfrm>
            <a:off x="114300" y="1094016"/>
            <a:ext cx="908765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b="1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</a:rPr>
              <a:t>근접 전투 </a:t>
            </a:r>
            <a:endParaRPr lang="en-US" altLang="ko-KR" sz="1400" b="1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 err="1">
                <a:latin typeface="+mn-lt"/>
                <a:ea typeface="+mn-ea"/>
              </a:rPr>
              <a:t>아질리스의</a:t>
            </a:r>
            <a:r>
              <a:rPr lang="ko-KR" altLang="en-US" sz="1200" b="1" dirty="0">
                <a:latin typeface="+mn-lt"/>
                <a:ea typeface="+mn-ea"/>
              </a:rPr>
              <a:t> 기본 행동은 근접 전투로 시작하며 기계 칼을 사용합니다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>
                <a:latin typeface="+mn-lt"/>
                <a:ea typeface="+mn-ea"/>
              </a:rPr>
              <a:t>근접 전투일 때의 행동은 걷기와 공격 둘로 나뉩니다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b="1" dirty="0">
                <a:latin typeface="+mn-lt"/>
                <a:ea typeface="+mn-ea"/>
              </a:rPr>
              <a:t>- </a:t>
            </a:r>
            <a:r>
              <a:rPr lang="ko-KR" altLang="en-US" sz="1200" b="1" dirty="0">
                <a:latin typeface="+mn-lt"/>
                <a:ea typeface="+mn-ea"/>
              </a:rPr>
              <a:t>걷기는 플레이어와 일정 거리를 유지하며 다음 행동을 기다립니다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b="1" dirty="0">
                <a:latin typeface="+mn-lt"/>
                <a:ea typeface="+mn-ea"/>
              </a:rPr>
              <a:t>- </a:t>
            </a:r>
            <a:r>
              <a:rPr lang="ko-KR" altLang="en-US" sz="1200" b="1" dirty="0">
                <a:latin typeface="+mn-lt"/>
                <a:ea typeface="+mn-ea"/>
              </a:rPr>
              <a:t>공격을 할 때는 플레이어 방향으로 </a:t>
            </a: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</a:rPr>
              <a:t>검을 한 번 휘두릅니다</a:t>
            </a:r>
            <a:r>
              <a:rPr lang="en-US" altLang="ko-KR" sz="1200" b="1" dirty="0">
                <a:latin typeface="+mn-lt"/>
                <a:ea typeface="+mn-ea"/>
              </a:rPr>
              <a:t>. 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</a:rPr>
              <a:t>* </a:t>
            </a: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</a:rPr>
              <a:t>검 휘두르는 애니메이션 </a:t>
            </a:r>
            <a:r>
              <a:rPr lang="en-US" altLang="ko-KR" sz="1200" b="1" dirty="0">
                <a:latin typeface="+mn-lt"/>
                <a:ea typeface="+mn-ea"/>
              </a:rPr>
              <a:t>-&gt; </a:t>
            </a:r>
            <a:r>
              <a:rPr lang="ko-KR" altLang="en-US" sz="1200" b="1" dirty="0">
                <a:latin typeface="+mn-lt"/>
                <a:ea typeface="+mn-ea"/>
              </a:rPr>
              <a:t>한 번 점프 후 내려칩니다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>
                <a:latin typeface="+mn-lt"/>
                <a:ea typeface="+mn-ea"/>
              </a:rPr>
              <a:t>공격 하기 전에 </a:t>
            </a:r>
            <a:r>
              <a:rPr lang="en-US" altLang="ko-KR" sz="1200" b="1" dirty="0">
                <a:latin typeface="+mn-lt"/>
                <a:ea typeface="+mn-ea"/>
              </a:rPr>
              <a:t>1</a:t>
            </a:r>
            <a:r>
              <a:rPr lang="ko-KR" altLang="en-US" sz="1200" b="1" dirty="0">
                <a:latin typeface="+mn-lt"/>
                <a:ea typeface="+mn-ea"/>
              </a:rPr>
              <a:t>초 동안 </a:t>
            </a:r>
            <a:r>
              <a:rPr lang="ko-KR" altLang="en-US" sz="1200" b="1" dirty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준비동작</a:t>
            </a:r>
            <a:r>
              <a:rPr lang="ko-KR" altLang="en-US" sz="1200" b="1" dirty="0">
                <a:latin typeface="+mn-lt"/>
                <a:ea typeface="+mn-ea"/>
              </a:rPr>
              <a:t>을 합니다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준비동작 애니메이션 </a:t>
            </a:r>
            <a:r>
              <a:rPr lang="en-US" altLang="ko-KR" sz="1200" b="1" dirty="0">
                <a:latin typeface="+mn-lt"/>
                <a:ea typeface="+mn-ea"/>
              </a:rPr>
              <a:t>-&gt; </a:t>
            </a:r>
            <a:r>
              <a:rPr lang="ko-KR" altLang="en-US" sz="1200" b="1" dirty="0">
                <a:latin typeface="+mn-lt"/>
                <a:ea typeface="+mn-ea"/>
              </a:rPr>
              <a:t>칼을 앞으로 잡고 기를 모읍니다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준비동작</a:t>
            </a:r>
            <a:r>
              <a:rPr lang="ko-KR" altLang="en-US" sz="1200" b="1" dirty="0">
                <a:latin typeface="+mn-lt"/>
                <a:ea typeface="+mn-ea"/>
              </a:rPr>
              <a:t> 동안 화살표 </a:t>
            </a:r>
            <a:r>
              <a:rPr lang="en-US" altLang="ko-KR" sz="1200" b="1" dirty="0">
                <a:latin typeface="+mn-lt"/>
                <a:ea typeface="+mn-ea"/>
              </a:rPr>
              <a:t>UI</a:t>
            </a:r>
            <a:r>
              <a:rPr lang="ko-KR" altLang="en-US" sz="1200" b="1" dirty="0">
                <a:latin typeface="+mn-lt"/>
                <a:ea typeface="+mn-ea"/>
              </a:rPr>
              <a:t>로 공격 범위와 방향을 알려줍니다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준비동작</a:t>
            </a:r>
            <a:r>
              <a:rPr lang="ko-KR" altLang="en-US" sz="1200" b="1" dirty="0">
                <a:latin typeface="+mn-lt"/>
                <a:ea typeface="+mn-ea"/>
              </a:rPr>
              <a:t>이 끝나면 </a:t>
            </a:r>
            <a:r>
              <a:rPr lang="ko-KR" altLang="en-US" sz="1200" b="1" dirty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</a:rPr>
              <a:t>검 휘두르는 애니메이션</a:t>
            </a:r>
            <a:r>
              <a:rPr lang="ko-KR" altLang="en-US" sz="1200" b="1" dirty="0">
                <a:latin typeface="+mn-lt"/>
                <a:ea typeface="+mn-ea"/>
              </a:rPr>
              <a:t>이 나옵니다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  <a:br>
              <a:rPr lang="en-US" altLang="ko-KR" sz="1200" b="1" dirty="0">
                <a:latin typeface="+mn-lt"/>
                <a:ea typeface="+mn-ea"/>
              </a:rPr>
            </a:b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>
                <a:latin typeface="+mn-lt"/>
                <a:ea typeface="+mn-ea"/>
              </a:rPr>
              <a:t>플레이어가 </a:t>
            </a:r>
            <a:r>
              <a:rPr lang="ko-KR" altLang="en-US" sz="1200" b="1" dirty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준비동작</a:t>
            </a:r>
            <a:r>
              <a:rPr lang="ko-KR" altLang="en-US" sz="1200" b="1" dirty="0">
                <a:latin typeface="+mn-lt"/>
                <a:ea typeface="+mn-ea"/>
              </a:rPr>
              <a:t> 동안 움직이면 보스가 공격하는 방향 또한 플레이어를 향해 계속 바뀝니다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>
                <a:latin typeface="+mn-lt"/>
                <a:ea typeface="+mn-ea"/>
              </a:rPr>
              <a:t>공격을 마친 후에는 걷기 행동을 합니다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D7F26A3-BD31-98B7-B4E9-D4DCD5562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01035"/>
            <a:ext cx="5205390" cy="218290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7639338-C154-785E-D91B-D6B87FD68A66}"/>
              </a:ext>
            </a:extLst>
          </p:cNvPr>
          <p:cNvSpPr/>
          <p:nvPr/>
        </p:nvSpPr>
        <p:spPr>
          <a:xfrm>
            <a:off x="114300" y="2301035"/>
            <a:ext cx="4837627" cy="39065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6D099A5-EFEE-D85C-B2B3-0D13CE9729EA}"/>
              </a:ext>
            </a:extLst>
          </p:cNvPr>
          <p:cNvSpPr/>
          <p:nvPr/>
        </p:nvSpPr>
        <p:spPr>
          <a:xfrm>
            <a:off x="114300" y="2835500"/>
            <a:ext cx="4837627" cy="39065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244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46CD197-A470-B08F-818E-B9650B98A27D}"/>
              </a:ext>
            </a:extLst>
          </p:cNvPr>
          <p:cNvSpPr/>
          <p:nvPr/>
        </p:nvSpPr>
        <p:spPr>
          <a:xfrm>
            <a:off x="0" y="0"/>
            <a:ext cx="12179300" cy="74136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/>
              <a:t>     보스 몬스터 시스템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2AAAF4-BC63-6E14-7818-1884DAE5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36A3F5-3FFB-4548-A415-3A5F1EE64B35}" type="slidenum">
              <a:rPr lang="ko-KR" altLang="en-US"/>
              <a:pPr>
                <a:defRPr/>
              </a:pPr>
              <a:t>20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D81BAF-359F-9F28-E71E-AA5A4C3B9F65}"/>
              </a:ext>
            </a:extLst>
          </p:cNvPr>
          <p:cNvSpPr txBox="1"/>
          <p:nvPr/>
        </p:nvSpPr>
        <p:spPr>
          <a:xfrm>
            <a:off x="114300" y="1094016"/>
            <a:ext cx="9087655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b="1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</a:rPr>
              <a:t>원거리 전투 </a:t>
            </a:r>
            <a:endParaRPr lang="en-US" altLang="ko-KR" sz="1400" b="1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>
                <a:latin typeface="+mn-lt"/>
                <a:ea typeface="+mn-ea"/>
              </a:rPr>
              <a:t>원거리 전투일때는 총을 사용하여 공격합니다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>
                <a:latin typeface="+mn-lt"/>
                <a:ea typeface="+mn-ea"/>
              </a:rPr>
              <a:t>원거리 전투일때의 행동은 거리 벌리기</a:t>
            </a:r>
            <a:r>
              <a:rPr lang="en-US" altLang="ko-KR" sz="1200" b="1" dirty="0">
                <a:latin typeface="+mn-lt"/>
                <a:ea typeface="+mn-ea"/>
              </a:rPr>
              <a:t>, </a:t>
            </a:r>
            <a:r>
              <a:rPr lang="ko-KR" altLang="en-US" sz="1200" b="1" dirty="0">
                <a:latin typeface="+mn-lt"/>
                <a:ea typeface="+mn-ea"/>
              </a:rPr>
              <a:t>저격 총 사용</a:t>
            </a:r>
            <a:r>
              <a:rPr lang="en-US" altLang="ko-KR" sz="1200" b="1" dirty="0">
                <a:latin typeface="+mn-lt"/>
                <a:ea typeface="+mn-ea"/>
              </a:rPr>
              <a:t>, </a:t>
            </a:r>
            <a:r>
              <a:rPr lang="ko-KR" altLang="en-US" sz="1200" b="1" dirty="0">
                <a:latin typeface="+mn-lt"/>
                <a:ea typeface="+mn-ea"/>
              </a:rPr>
              <a:t>고지대 이동으로 나뉩니다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marL="171450" indent="-171450" eaLnBrk="1" fontAlgn="auto" latin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ko-KR" altLang="en-US" sz="1200" b="1" dirty="0">
                <a:solidFill>
                  <a:schemeClr val="accent1"/>
                </a:solidFill>
                <a:latin typeface="+mn-lt"/>
                <a:ea typeface="+mn-ea"/>
              </a:rPr>
              <a:t>거리 벌리기</a:t>
            </a:r>
            <a:r>
              <a:rPr lang="ko-KR" altLang="en-US" sz="1200" b="1" dirty="0">
                <a:latin typeface="+mn-lt"/>
                <a:ea typeface="+mn-ea"/>
              </a:rPr>
              <a:t>는 플레이어와 멀리 거리를 벌리기 위해 뒤로 벡 스텝을 합니다</a:t>
            </a:r>
            <a:r>
              <a:rPr lang="en-US" altLang="ko-KR" sz="1200" b="1" dirty="0">
                <a:latin typeface="+mn-lt"/>
                <a:ea typeface="+mn-ea"/>
              </a:rPr>
              <a:t>. 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>
                <a:latin typeface="+mn-lt"/>
                <a:ea typeface="+mn-ea"/>
              </a:rPr>
              <a:t> 이어서 다음 행동을 진행합니다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</a:p>
          <a:p>
            <a:pPr marL="171450" indent="-171450" eaLnBrk="1" fontAlgn="auto" latin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marL="171450" indent="-171450" eaLnBrk="1" fontAlgn="auto" latin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ko-KR" altLang="en-US" sz="1200" b="1" dirty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저격 총 사용</a:t>
            </a:r>
            <a:r>
              <a:rPr lang="ko-KR" altLang="en-US" sz="1200" b="1" dirty="0">
                <a:latin typeface="+mn-lt"/>
                <a:ea typeface="+mn-ea"/>
              </a:rPr>
              <a:t>은 플레이어 방향을 총을 한 번 발사합니다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</a:p>
          <a:p>
            <a:pPr marL="171450" indent="-171450" eaLnBrk="1" fontAlgn="auto" latin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marL="171450" indent="-171450" eaLnBrk="1" fontAlgn="auto" latin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ko-KR" altLang="en-US" sz="1200" b="1" dirty="0">
                <a:solidFill>
                  <a:schemeClr val="accent5"/>
                </a:solidFill>
                <a:latin typeface="+mn-lt"/>
                <a:ea typeface="+mn-ea"/>
              </a:rPr>
              <a:t>고지대 이동</a:t>
            </a:r>
            <a:r>
              <a:rPr lang="ko-KR" altLang="en-US" sz="1200" b="1" dirty="0">
                <a:latin typeface="+mn-lt"/>
                <a:ea typeface="+mn-ea"/>
              </a:rPr>
              <a:t>은 주변에 높은 지형으로 루프탑을 이용해 이동합니다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</a:p>
          <a:p>
            <a:pPr marL="171450" indent="-171450" eaLnBrk="1" fontAlgn="auto" latin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>
                <a:solidFill>
                  <a:schemeClr val="accent1"/>
                </a:solidFill>
                <a:latin typeface="+mn-lt"/>
                <a:ea typeface="+mn-ea"/>
              </a:rPr>
              <a:t>거리 벌리기</a:t>
            </a:r>
            <a:r>
              <a:rPr lang="ko-KR" altLang="en-US" sz="1200" b="1" dirty="0">
                <a:latin typeface="+mn-lt"/>
                <a:ea typeface="+mn-ea"/>
              </a:rPr>
              <a:t>는 플레이어가 금방 접근하지 못할 정도로 이동합니다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>
                <a:latin typeface="+mn-lt"/>
                <a:ea typeface="+mn-ea"/>
              </a:rPr>
              <a:t>거리 벌리기의 다음 행동으로는 </a:t>
            </a:r>
            <a:r>
              <a:rPr lang="ko-KR" altLang="en-US" sz="1200" b="1" dirty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저격총을 발사합니다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>
                <a:latin typeface="+mn-lt"/>
                <a:ea typeface="+mn-ea"/>
              </a:rPr>
              <a:t>보스의 저격 총에서 플레이어의 몸통으로 레이저 광선을 쏩니다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>
                <a:latin typeface="+mn-lt"/>
                <a:ea typeface="+mn-ea"/>
              </a:rPr>
              <a:t>레이저 광선을 플레이어를 </a:t>
            </a:r>
            <a:r>
              <a:rPr lang="en-US" altLang="ko-KR" sz="1200" b="1" dirty="0">
                <a:latin typeface="+mn-lt"/>
                <a:ea typeface="+mn-ea"/>
              </a:rPr>
              <a:t>3</a:t>
            </a:r>
            <a:r>
              <a:rPr lang="ko-KR" altLang="en-US" sz="1200" b="1" dirty="0">
                <a:latin typeface="+mn-lt"/>
                <a:ea typeface="+mn-ea"/>
              </a:rPr>
              <a:t>초 동안 따라다니며 </a:t>
            </a:r>
            <a:r>
              <a:rPr lang="en-US" altLang="ko-KR" sz="1200" b="1" dirty="0">
                <a:latin typeface="+mn-lt"/>
                <a:ea typeface="+mn-ea"/>
              </a:rPr>
              <a:t>3</a:t>
            </a:r>
            <a:r>
              <a:rPr lang="ko-KR" altLang="en-US" sz="1200" b="1" dirty="0">
                <a:latin typeface="+mn-lt"/>
                <a:ea typeface="+mn-ea"/>
              </a:rPr>
              <a:t>초가 지났을 때의 위치에 레이저가 고정됩니다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>
                <a:latin typeface="+mn-lt"/>
                <a:ea typeface="+mn-ea"/>
              </a:rPr>
              <a:t>고정된 위치에 </a:t>
            </a:r>
            <a:r>
              <a:rPr lang="en-US" altLang="ko-KR" sz="1200" b="1" dirty="0">
                <a:latin typeface="+mn-lt"/>
                <a:ea typeface="+mn-ea"/>
              </a:rPr>
              <a:t>1</a:t>
            </a:r>
            <a:r>
              <a:rPr lang="ko-KR" altLang="en-US" sz="1200" b="1" dirty="0">
                <a:latin typeface="+mn-lt"/>
                <a:ea typeface="+mn-ea"/>
              </a:rPr>
              <a:t>초 뒤 총을 발사 합니다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>
                <a:solidFill>
                  <a:schemeClr val="accent5"/>
                </a:solidFill>
                <a:latin typeface="+mn-lt"/>
                <a:ea typeface="+mn-ea"/>
              </a:rPr>
              <a:t>고지대 이동</a:t>
            </a:r>
            <a:r>
              <a:rPr lang="ko-KR" altLang="en-US" sz="1200" b="1" dirty="0">
                <a:latin typeface="+mn-lt"/>
                <a:ea typeface="+mn-ea"/>
              </a:rPr>
              <a:t>은 플레이어가 보스에게 접근할 수 없게 합니다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>
                <a:latin typeface="+mn-lt"/>
                <a:ea typeface="+mn-ea"/>
              </a:rPr>
              <a:t>보스는 높은 지형으로 가서 </a:t>
            </a:r>
            <a:r>
              <a:rPr lang="ko-KR" altLang="en-US" sz="1200" b="1" dirty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저격총을 발사합니다</a:t>
            </a:r>
            <a:r>
              <a:rPr lang="en-US" altLang="ko-KR" sz="1200" b="1" dirty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>
                <a:latin typeface="+mn-lt"/>
                <a:ea typeface="+mn-ea"/>
              </a:rPr>
              <a:t>플레이어는 전투 구역에 있는 아이템과 상호작용하여 보스가 서있는 지형을 무너뜨려야 합니다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>
                <a:latin typeface="+mn-lt"/>
                <a:ea typeface="+mn-ea"/>
              </a:rPr>
              <a:t>아이템은 원격 폭탄이며 보스의 저격 총 공격을 한 번 하면 아이템이 상호작용 할 수 있도록 활성화 됩니다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EE1DE4-C1B0-2CCD-F72C-57A4F6D23D30}"/>
              </a:ext>
            </a:extLst>
          </p:cNvPr>
          <p:cNvSpPr/>
          <p:nvPr/>
        </p:nvSpPr>
        <p:spPr>
          <a:xfrm>
            <a:off x="114300" y="2420611"/>
            <a:ext cx="5456506" cy="39065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A7DEB6-BD7D-53F9-4DAF-F7E40AD062EE}"/>
              </a:ext>
            </a:extLst>
          </p:cNvPr>
          <p:cNvSpPr/>
          <p:nvPr/>
        </p:nvSpPr>
        <p:spPr>
          <a:xfrm>
            <a:off x="114300" y="2947181"/>
            <a:ext cx="5456506" cy="23880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D8F6597-E414-3BA1-4E28-DD6B3ACD9F41}"/>
              </a:ext>
            </a:extLst>
          </p:cNvPr>
          <p:cNvSpPr/>
          <p:nvPr/>
        </p:nvSpPr>
        <p:spPr>
          <a:xfrm>
            <a:off x="114300" y="3314868"/>
            <a:ext cx="5456506" cy="23880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94EEE29-9DC8-B211-241F-94AE6E31C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2873" y="1929968"/>
            <a:ext cx="4378164" cy="2925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492A265-83CC-BDDB-C03F-E8259CE1859F}"/>
              </a:ext>
            </a:extLst>
          </p:cNvPr>
          <p:cNvSpPr txBox="1"/>
          <p:nvPr/>
        </p:nvSpPr>
        <p:spPr>
          <a:xfrm>
            <a:off x="7336301" y="1929968"/>
            <a:ext cx="111838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근접 전투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34A6CF5-0816-66FB-EC04-561029E3B14B}"/>
              </a:ext>
            </a:extLst>
          </p:cNvPr>
          <p:cNvCxnSpPr/>
          <p:nvPr/>
        </p:nvCxnSpPr>
        <p:spPr>
          <a:xfrm>
            <a:off x="7891975" y="2314135"/>
            <a:ext cx="0" cy="7243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2975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46CD197-A470-B08F-818E-B9650B98A27D}"/>
              </a:ext>
            </a:extLst>
          </p:cNvPr>
          <p:cNvSpPr/>
          <p:nvPr/>
        </p:nvSpPr>
        <p:spPr>
          <a:xfrm>
            <a:off x="0" y="0"/>
            <a:ext cx="12179300" cy="74136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/>
              <a:t>     보스 몬스터 시스템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2AAAF4-BC63-6E14-7818-1884DAE5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36A3F5-3FFB-4548-A415-3A5F1EE64B35}" type="slidenum">
              <a:rPr lang="ko-KR" altLang="en-US"/>
              <a:pPr>
                <a:defRPr/>
              </a:pPr>
              <a:t>21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D81BAF-359F-9F28-E71E-AA5A4C3B9F65}"/>
              </a:ext>
            </a:extLst>
          </p:cNvPr>
          <p:cNvSpPr txBox="1"/>
          <p:nvPr/>
        </p:nvSpPr>
        <p:spPr>
          <a:xfrm>
            <a:off x="114300" y="1094016"/>
            <a:ext cx="908765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400" b="1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</a:rPr>
              <a:t>은신 이동</a:t>
            </a:r>
            <a:endParaRPr lang="en-US" altLang="ko-KR" sz="1400" b="1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>
                <a:latin typeface="+mn-lt"/>
                <a:ea typeface="+mn-ea"/>
              </a:rPr>
              <a:t>은신 </a:t>
            </a:r>
            <a:r>
              <a:rPr lang="en-US" altLang="ko-KR" sz="1200" b="1" dirty="0">
                <a:latin typeface="+mn-lt"/>
                <a:ea typeface="+mn-ea"/>
              </a:rPr>
              <a:t>– </a:t>
            </a:r>
            <a:r>
              <a:rPr lang="ko-KR" altLang="en-US" sz="1200" b="1" dirty="0">
                <a:latin typeface="+mn-lt"/>
                <a:ea typeface="+mn-ea"/>
              </a:rPr>
              <a:t>보스가 서서히 사라져서 완전히 안보이게 됩니다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>
                <a:latin typeface="+mn-lt"/>
                <a:ea typeface="+mn-ea"/>
              </a:rPr>
              <a:t>은신 후 </a:t>
            </a:r>
            <a:r>
              <a:rPr lang="en-US" altLang="ko-KR" sz="1200" b="1" dirty="0">
                <a:latin typeface="+mn-lt"/>
                <a:ea typeface="+mn-ea"/>
              </a:rPr>
              <a:t>1</a:t>
            </a:r>
            <a:r>
              <a:rPr lang="ko-KR" altLang="en-US" sz="1200" b="1" dirty="0">
                <a:latin typeface="+mn-lt"/>
                <a:ea typeface="+mn-ea"/>
              </a:rPr>
              <a:t>초 뒤에 앞</a:t>
            </a:r>
            <a:r>
              <a:rPr lang="en-US" altLang="ko-KR" sz="1200" b="1" dirty="0">
                <a:latin typeface="+mn-lt"/>
                <a:ea typeface="+mn-ea"/>
              </a:rPr>
              <a:t>, </a:t>
            </a:r>
            <a:r>
              <a:rPr lang="ko-KR" altLang="en-US" sz="1200" b="1" dirty="0">
                <a:latin typeface="+mn-lt"/>
                <a:ea typeface="+mn-ea"/>
              </a:rPr>
              <a:t>오른쪽</a:t>
            </a:r>
            <a:r>
              <a:rPr lang="en-US" altLang="ko-KR" sz="1200" b="1" dirty="0">
                <a:latin typeface="+mn-lt"/>
                <a:ea typeface="+mn-ea"/>
              </a:rPr>
              <a:t>, </a:t>
            </a:r>
            <a:r>
              <a:rPr lang="ko-KR" altLang="en-US" sz="1200" b="1" dirty="0">
                <a:latin typeface="+mn-lt"/>
                <a:ea typeface="+mn-ea"/>
              </a:rPr>
              <a:t>왼쪽 무작위 위치에서 나타나게 되며 </a:t>
            </a: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>
                <a:latin typeface="+mn-lt"/>
                <a:ea typeface="+mn-ea"/>
              </a:rPr>
              <a:t>아래와 같은 행동을 할 수 있습니다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marL="171450" indent="-171450" eaLnBrk="1" fontAlgn="auto" latin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ko-KR" altLang="en-US" sz="1200" b="1" dirty="0">
                <a:latin typeface="+mn-lt"/>
                <a:ea typeface="+mn-ea"/>
              </a:rPr>
              <a:t>걷기</a:t>
            </a:r>
            <a:endParaRPr lang="en-US" altLang="ko-KR" sz="1200" b="1" dirty="0">
              <a:latin typeface="+mn-lt"/>
              <a:ea typeface="+mn-ea"/>
            </a:endParaRPr>
          </a:p>
          <a:p>
            <a:pPr marL="171450" indent="-171450" eaLnBrk="1" fontAlgn="auto" latin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ko-KR" altLang="en-US" sz="1200" b="1" dirty="0">
                <a:latin typeface="+mn-lt"/>
                <a:ea typeface="+mn-ea"/>
              </a:rPr>
              <a:t>검 휘두르기</a:t>
            </a:r>
            <a:endParaRPr lang="en-US" altLang="ko-KR" sz="1200" b="1" dirty="0">
              <a:latin typeface="+mn-lt"/>
              <a:ea typeface="+mn-ea"/>
            </a:endParaRPr>
          </a:p>
          <a:p>
            <a:pPr marL="171450" indent="-171450" eaLnBrk="1" fontAlgn="auto" latin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ko-KR" altLang="en-US" sz="1200" b="1" dirty="0">
                <a:latin typeface="+mn-lt"/>
                <a:ea typeface="+mn-ea"/>
              </a:rPr>
              <a:t>저격 총 사용</a:t>
            </a:r>
            <a:endParaRPr lang="en-US" altLang="ko-KR" sz="1200" b="1" dirty="0">
              <a:latin typeface="+mn-lt"/>
              <a:ea typeface="+mn-ea"/>
            </a:endParaRPr>
          </a:p>
          <a:p>
            <a:pPr marL="171450" indent="-171450" eaLnBrk="1" fontAlgn="auto" latinLnBrk="1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200" b="1" dirty="0">
                <a:latin typeface="+mn-lt"/>
                <a:ea typeface="+mn-ea"/>
              </a:rPr>
              <a:t>저격 총 사용을 하는 경우 플레이어의 위치와 멀리 떨어지게 됩니다</a:t>
            </a:r>
            <a:r>
              <a:rPr lang="en-US" altLang="ko-KR" sz="1200" b="1" dirty="0">
                <a:latin typeface="+mn-lt"/>
                <a:ea typeface="+mn-ea"/>
              </a:rPr>
              <a:t>.</a:t>
            </a:r>
            <a:endParaRPr lang="en-US" altLang="ko-KR" sz="1200" b="1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solidFill>
                <a:schemeClr val="accent6">
                  <a:lumMod val="75000"/>
                </a:schemeClr>
              </a:solidFill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b="1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891947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46CD197-A470-B08F-818E-B9650B98A27D}"/>
              </a:ext>
            </a:extLst>
          </p:cNvPr>
          <p:cNvSpPr/>
          <p:nvPr/>
        </p:nvSpPr>
        <p:spPr>
          <a:xfrm>
            <a:off x="0" y="0"/>
            <a:ext cx="12179300" cy="741363"/>
          </a:xfrm>
          <a:prstGeom prst="rect">
            <a:avLst/>
          </a:prstGeom>
          <a:solidFill>
            <a:srgbClr val="0F9E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/>
              <a:t>    전투 스테이지 </a:t>
            </a:r>
            <a:r>
              <a:rPr lang="en-US" altLang="ko-KR" b="1" dirty="0"/>
              <a:t>- </a:t>
            </a:r>
            <a:r>
              <a:rPr lang="ko-KR" altLang="en-US" b="1" dirty="0"/>
              <a:t>몬스터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2AAAF4-BC63-6E14-7818-1884DAE5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36A3F5-3FFB-4548-A415-3A5F1EE64B35}" type="slidenum">
              <a:rPr lang="ko-KR" altLang="en-US"/>
              <a:pPr>
                <a:defRPr/>
              </a:pPr>
              <a:t>22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D81BAF-359F-9F28-E71E-AA5A4C3B9F65}"/>
              </a:ext>
            </a:extLst>
          </p:cNvPr>
          <p:cNvSpPr txBox="1"/>
          <p:nvPr/>
        </p:nvSpPr>
        <p:spPr>
          <a:xfrm>
            <a:off x="114300" y="1087438"/>
            <a:ext cx="9087655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</a:rPr>
              <a:t>보스 몬스터 </a:t>
            </a:r>
            <a:r>
              <a:rPr lang="en-US" altLang="ko-KR" sz="2000" b="1" dirty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</a:rPr>
              <a:t>- 2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latin typeface="+mn-lt"/>
                <a:ea typeface="+mn-ea"/>
              </a:rPr>
              <a:t>이름 </a:t>
            </a:r>
            <a:r>
              <a:rPr lang="en-US" altLang="ko-KR" sz="2000" b="1" dirty="0">
                <a:latin typeface="+mn-lt"/>
                <a:ea typeface="+mn-ea"/>
              </a:rPr>
              <a:t>: </a:t>
            </a:r>
            <a:r>
              <a:rPr lang="ko-KR" altLang="en-US" sz="2000" b="1" dirty="0">
                <a:latin typeface="+mn-lt"/>
                <a:ea typeface="+mn-ea"/>
              </a:rPr>
              <a:t>미정</a:t>
            </a: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latin typeface="+mn-lt"/>
                <a:ea typeface="+mn-ea"/>
              </a:rPr>
              <a:t>종족 </a:t>
            </a:r>
            <a:r>
              <a:rPr lang="en-US" altLang="ko-KR" sz="2000" b="1" dirty="0">
                <a:latin typeface="+mn-lt"/>
                <a:ea typeface="+mn-ea"/>
              </a:rPr>
              <a:t>: </a:t>
            </a:r>
            <a:r>
              <a:rPr lang="ko-KR" altLang="en-US" sz="2000" b="1" dirty="0">
                <a:latin typeface="+mn-lt"/>
                <a:ea typeface="+mn-ea"/>
              </a:rPr>
              <a:t>수인</a:t>
            </a: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b="1" dirty="0">
                <a:latin typeface="+mn-lt"/>
                <a:ea typeface="+mn-ea"/>
              </a:rPr>
              <a:t>공격 수단</a:t>
            </a:r>
            <a:r>
              <a:rPr lang="en-US" altLang="ko-KR" sz="2000" b="1" dirty="0">
                <a:latin typeface="+mn-lt"/>
                <a:ea typeface="+mn-ea"/>
              </a:rPr>
              <a:t> : </a:t>
            </a:r>
            <a:r>
              <a:rPr lang="ko-KR" altLang="en-US" sz="2000" b="1" dirty="0">
                <a:latin typeface="+mn-lt"/>
                <a:ea typeface="+mn-ea"/>
              </a:rPr>
              <a:t>마법</a:t>
            </a:r>
            <a:r>
              <a:rPr lang="en-US" altLang="ko-KR" sz="2000" b="1" dirty="0">
                <a:latin typeface="+mn-lt"/>
                <a:ea typeface="+mn-ea"/>
              </a:rPr>
              <a:t>, </a:t>
            </a:r>
            <a:r>
              <a:rPr lang="ko-KR" altLang="en-US" sz="2000" b="1" dirty="0" err="1">
                <a:latin typeface="+mn-lt"/>
                <a:ea typeface="+mn-ea"/>
              </a:rPr>
              <a:t>무투</a:t>
            </a: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2000" b="1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848263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360BE77-B78F-D9D6-CD7F-A376837A47D3}"/>
              </a:ext>
            </a:extLst>
          </p:cNvPr>
          <p:cNvSpPr/>
          <p:nvPr/>
        </p:nvSpPr>
        <p:spPr>
          <a:xfrm>
            <a:off x="0" y="0"/>
            <a:ext cx="12179300" cy="741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 dirty="0"/>
              <a:t>    후기 및 코멘트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C7263A-136E-2A55-1E2B-CB2FBDE1F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9360E8-DFE0-4C9D-A9F2-34F1B6E23507}" type="slidenum">
              <a:rPr lang="ko-KR" altLang="en-US"/>
              <a:pPr>
                <a:defRPr/>
              </a:pPr>
              <a:t>23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D43B27-EDF5-BEBE-0FDA-5A016B190870}"/>
              </a:ext>
            </a:extLst>
          </p:cNvPr>
          <p:cNvSpPr txBox="1"/>
          <p:nvPr/>
        </p:nvSpPr>
        <p:spPr>
          <a:xfrm>
            <a:off x="414996" y="1373386"/>
            <a:ext cx="55192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+mn-lt"/>
              </a:rPr>
              <a:t>너무 어렵습니다</a:t>
            </a:r>
            <a:r>
              <a:rPr lang="en-US" altLang="ko-KR" sz="1200" b="1" dirty="0">
                <a:latin typeface="+mn-lt"/>
              </a:rPr>
              <a:t>..</a:t>
            </a:r>
            <a:endParaRPr lang="ko-KR" altLang="en-US" sz="1200" b="1" dirty="0">
              <a:latin typeface="+mn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번호 개체 틀 3">
            <a:extLst>
              <a:ext uri="{FF2B5EF4-FFF2-40B4-BE49-F238E27FC236}">
                <a16:creationId xmlns:a16="http://schemas.microsoft.com/office/drawing/2014/main" id="{E49F9CB3-69C1-ACCF-BAB6-2C36466BBF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BAC7609-3221-40AD-A571-D1090B3A1C62}" type="slidenum">
              <a:rPr lang="ko-KR" altLang="en-US">
                <a:solidFill>
                  <a:srgbClr val="767676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ko-KR" altLang="en-US">
              <a:solidFill>
                <a:srgbClr val="767676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6DACEB-54D4-7869-66B5-DEBAC1F1E0F4}"/>
              </a:ext>
            </a:extLst>
          </p:cNvPr>
          <p:cNvSpPr/>
          <p:nvPr/>
        </p:nvSpPr>
        <p:spPr>
          <a:xfrm>
            <a:off x="0" y="0"/>
            <a:ext cx="12192000" cy="7429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1" dirty="0">
                <a:solidFill>
                  <a:prstClr val="white"/>
                </a:solidFill>
                <a:latin typeface="+mj-ea"/>
                <a:ea typeface="+mj-ea"/>
              </a:rPr>
              <a:t>    </a:t>
            </a:r>
            <a:r>
              <a:rPr lang="ko-KR" altLang="en-US" b="1" dirty="0">
                <a:solidFill>
                  <a:prstClr val="white"/>
                </a:solidFill>
                <a:latin typeface="+mj-ea"/>
                <a:ea typeface="+mj-ea"/>
              </a:rPr>
              <a:t>기획서집필 방향</a:t>
            </a:r>
            <a:endParaRPr lang="ko-KR" altLang="en-US" dirty="0">
              <a:solidFill>
                <a:prstClr val="white"/>
              </a:solidFill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EE0461C-31E4-8DD4-165F-905290E51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610560"/>
              </p:ext>
            </p:extLst>
          </p:nvPr>
        </p:nvGraphicFramePr>
        <p:xfrm>
          <a:off x="338138" y="1423988"/>
          <a:ext cx="11515726" cy="2560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2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3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차회</a:t>
                      </a:r>
                    </a:p>
                  </a:txBody>
                  <a:tcPr marL="91436" marR="91436" marT="45726" marB="45726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제출일</a:t>
                      </a:r>
                    </a:p>
                  </a:txBody>
                  <a:tcPr marL="91436" marR="91436" marT="45726" marB="45726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추가</a:t>
                      </a:r>
                      <a:r>
                        <a:rPr lang="en-US" altLang="ko-KR" sz="18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, </a:t>
                      </a:r>
                      <a:r>
                        <a:rPr lang="ko-KR" altLang="en-US" sz="1800" dirty="0">
                          <a:solidFill>
                            <a:schemeClr val="bg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수정 내용</a:t>
                      </a:r>
                    </a:p>
                  </a:txBody>
                  <a:tcPr marL="91436" marR="91436" marT="45726" marB="4572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solidFill>
                          <a:schemeClr val="tx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 marL="91436" marR="91436" marT="45726" marB="45726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3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월 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20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일</a:t>
                      </a:r>
                    </a:p>
                  </a:txBody>
                  <a:tcPr marL="91436" marR="91436" marT="45726" marB="45726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제안서 및 학업 계획서 작성</a:t>
                      </a:r>
                    </a:p>
                  </a:txBody>
                  <a:tcPr marL="91436" marR="91436" marT="45726" marB="4572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제안서 발표</a:t>
                      </a:r>
                    </a:p>
                  </a:txBody>
                  <a:tcPr marL="91436" marR="91436" marT="45726" marB="45726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3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월 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25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일</a:t>
                      </a:r>
                    </a:p>
                  </a:txBody>
                  <a:tcPr marL="91436" marR="91436" marT="45726" marB="45726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설명이 부족했던 컨셉 문구와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 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슬라이드 수정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, 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슬라이드 배치와 학업 계획 수정</a:t>
                      </a:r>
                    </a:p>
                  </a:txBody>
                  <a:tcPr marL="91436" marR="91436" marT="45726" marB="4572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1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차 발표</a:t>
                      </a:r>
                    </a:p>
                  </a:txBody>
                  <a:tcPr marL="91436" marR="91436" marT="45726" marB="45726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4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월 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17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일</a:t>
                      </a:r>
                    </a:p>
                  </a:txBody>
                  <a:tcPr marL="91436" marR="91436" marT="45726" marB="45726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전투 스테이지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, 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몬스터 시스템 추가</a:t>
                      </a:r>
                    </a:p>
                  </a:txBody>
                  <a:tcPr marL="91436" marR="91436" marT="45726" marB="4572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2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차 발표</a:t>
                      </a:r>
                    </a:p>
                  </a:txBody>
                  <a:tcPr marL="91436" marR="91436" marT="45726" marB="45726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6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월 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16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일</a:t>
                      </a:r>
                    </a:p>
                  </a:txBody>
                  <a:tcPr marL="91436" marR="91436" marT="45726" marB="45726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보스 몬스터 시스템 추가</a:t>
                      </a:r>
                    </a:p>
                  </a:txBody>
                  <a:tcPr marL="91436" marR="91436" marT="45726" marB="4572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latinLnBrk="1"/>
                      <a:endParaRPr lang="ko-KR" altLang="en-US" sz="1800">
                        <a:solidFill>
                          <a:schemeClr val="tx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 marL="91436" marR="91436" marT="45726" marB="45726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solidFill>
                          <a:schemeClr val="tx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 marL="91436" marR="91436" marT="45726" marB="45726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solidFill>
                          <a:schemeClr val="tx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 marL="91436" marR="91436" marT="45726" marB="4572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solidFill>
                          <a:schemeClr val="tx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 marL="91436" marR="91436" marT="45726" marB="45726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solidFill>
                          <a:schemeClr val="tx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 marL="91436" marR="91436" marT="45726" marB="45726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dirty="0">
                        <a:solidFill>
                          <a:schemeClr val="tx1"/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</a:endParaRPr>
                    </a:p>
                  </a:txBody>
                  <a:tcPr marL="91436" marR="91436" marT="45726" marB="4572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슬라이드 번호 개체 틀 3">
            <a:extLst>
              <a:ext uri="{FF2B5EF4-FFF2-40B4-BE49-F238E27FC236}">
                <a16:creationId xmlns:a16="http://schemas.microsoft.com/office/drawing/2014/main" id="{971CFA4A-5DDA-690C-0DFE-850DB7A08E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C38094F-2313-4289-95A7-6AA4732B2DE0}" type="slidenum">
              <a:rPr lang="ko-KR" altLang="en-US">
                <a:solidFill>
                  <a:srgbClr val="767676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ko-KR" altLang="en-US">
              <a:solidFill>
                <a:srgbClr val="767676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C642E1E-5D82-BFF3-7BEB-677344B38D08}"/>
              </a:ext>
            </a:extLst>
          </p:cNvPr>
          <p:cNvSpPr/>
          <p:nvPr/>
        </p:nvSpPr>
        <p:spPr>
          <a:xfrm>
            <a:off x="0" y="0"/>
            <a:ext cx="12192000" cy="7429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1" dirty="0">
                <a:solidFill>
                  <a:prstClr val="white"/>
                </a:solidFill>
                <a:latin typeface="+mj-ea"/>
                <a:ea typeface="+mj-ea"/>
              </a:rPr>
              <a:t>    </a:t>
            </a:r>
            <a:r>
              <a:rPr lang="ko-KR" altLang="en-US" b="1" dirty="0">
                <a:solidFill>
                  <a:prstClr val="white"/>
                </a:solidFill>
                <a:latin typeface="+mj-ea"/>
                <a:ea typeface="+mj-ea"/>
              </a:rPr>
              <a:t>참고 문헌</a:t>
            </a: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2532" name="TextBox 1">
            <a:extLst>
              <a:ext uri="{FF2B5EF4-FFF2-40B4-BE49-F238E27FC236}">
                <a16:creationId xmlns:a16="http://schemas.microsoft.com/office/drawing/2014/main" id="{ABDDA674-F2DB-CEFD-41C1-821A6AA12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50" y="950913"/>
            <a:ext cx="1038225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ko-KR" altLang="en-US"/>
              <a:t>몬헌 마을 </a:t>
            </a:r>
            <a:r>
              <a:rPr lang="en-US" altLang="ko-KR"/>
              <a:t>- </a:t>
            </a:r>
            <a:r>
              <a:rPr lang="en-US" altLang="ko-KR">
                <a:hlinkClick r:id="rId2"/>
              </a:rPr>
              <a:t>https://images.app.goo.gl/3jHwoSxU4FSfqZ8W8</a:t>
            </a:r>
            <a:endParaRPr lang="en-US" altLang="ko-KR"/>
          </a:p>
          <a:p>
            <a:pPr eaLnBrk="1" hangingPunct="1"/>
            <a:r>
              <a:rPr lang="ko-KR" altLang="en-US"/>
              <a:t>진삼국무쌍 </a:t>
            </a:r>
            <a:r>
              <a:rPr lang="en-US" altLang="ko-KR"/>
              <a:t>- </a:t>
            </a:r>
            <a:r>
              <a:rPr lang="ko-KR" altLang="en-US"/>
              <a:t> </a:t>
            </a:r>
            <a:r>
              <a:rPr lang="en-US" altLang="ko-KR">
                <a:hlinkClick r:id="rId3"/>
              </a:rPr>
              <a:t>https://youtu.be/QXhEs8B_oDg?si=bnvCIrME2sSW4yWo</a:t>
            </a:r>
            <a:endParaRPr lang="en-US" altLang="ko-KR"/>
          </a:p>
          <a:p>
            <a:pPr eaLnBrk="1" hangingPunct="1"/>
            <a:r>
              <a:rPr lang="ko-KR" altLang="en-US"/>
              <a:t>로스트아크풍경 </a:t>
            </a:r>
            <a:r>
              <a:rPr lang="en-US" altLang="ko-KR"/>
              <a:t>- </a:t>
            </a:r>
            <a:r>
              <a:rPr lang="en-US" altLang="ko-KR">
                <a:hlinkClick r:id="rId4"/>
              </a:rPr>
              <a:t>https://images.app.goo.gl/dDmffmtpNCaTkW8eA</a:t>
            </a:r>
            <a:endParaRPr lang="en-US" altLang="ko-KR"/>
          </a:p>
          <a:p>
            <a:pPr eaLnBrk="1" hangingPunct="1"/>
            <a:r>
              <a:rPr lang="ko-KR" altLang="en-US"/>
              <a:t>팰월드 초반구역 </a:t>
            </a:r>
            <a:r>
              <a:rPr lang="en-US" altLang="ko-KR"/>
              <a:t>- </a:t>
            </a:r>
            <a:r>
              <a:rPr lang="en-US" altLang="ko-KR">
                <a:hlinkClick r:id="rId5"/>
              </a:rPr>
              <a:t>https://images.app.goo.gl/Tbdbks6y8T1RSs5DA</a:t>
            </a:r>
            <a:endParaRPr lang="en-US" altLang="ko-KR"/>
          </a:p>
          <a:p>
            <a:pPr eaLnBrk="1" hangingPunct="1"/>
            <a:r>
              <a:rPr lang="ko-KR" altLang="en-US"/>
              <a:t>미니언 </a:t>
            </a:r>
            <a:r>
              <a:rPr lang="en-US" altLang="ko-KR"/>
              <a:t>- </a:t>
            </a:r>
            <a:r>
              <a:rPr lang="en-US" altLang="ko-KR">
                <a:hlinkClick r:id="rId6"/>
              </a:rPr>
              <a:t>Minion (League of Legends) | League of Legends Wiki | Fandom</a:t>
            </a: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차발표_2020184026_이종진.potx" id="{7F83EB39-06A7-4310-B4AD-E24F9A6DC76C}" vid="{B38F60F0-55F4-4FF9-9063-16DD373F018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5939C5A-A327-4FAD-A585-0B8EDA7FE0A9}">
  <we:reference id="wa200005566" version="3.0.0.2" store="ko-KR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2차발표_2020184026_이종진</Template>
  <TotalTime>853</TotalTime>
  <Words>1187</Words>
  <Application>Microsoft Office PowerPoint</Application>
  <PresentationFormat>와이드스크린</PresentationFormat>
  <Paragraphs>372</Paragraphs>
  <Slides>25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1" baseType="lpstr">
      <vt:lpstr>나눔고딕 ExtraBold</vt:lpstr>
      <vt:lpstr>나눔스퀘어 Bold</vt:lpstr>
      <vt:lpstr>맑은 고딕</vt:lpstr>
      <vt:lpstr>Arial</vt:lpstr>
      <vt:lpstr>Wingdings</vt:lpstr>
      <vt:lpstr>Office 테마</vt:lpstr>
      <vt:lpstr>Outlander(가제)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종진 이</dc:creator>
  <cp:lastModifiedBy>종진 이</cp:lastModifiedBy>
  <cp:revision>32</cp:revision>
  <dcterms:created xsi:type="dcterms:W3CDTF">2024-06-14T14:54:24Z</dcterms:created>
  <dcterms:modified xsi:type="dcterms:W3CDTF">2024-06-15T16:01:13Z</dcterms:modified>
</cp:coreProperties>
</file>