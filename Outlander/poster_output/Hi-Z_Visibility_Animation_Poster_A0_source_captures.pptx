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33" d="100"/>
          <a:sy n="33" d="100"/>
        </p:scale>
        <p:origin x="2616" y="-10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애니메이션 갱신 횟수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No Culling</c:v>
                </c:pt>
                <c:pt idx="1">
                  <c:v>Frustum Culling</c:v>
                </c:pt>
                <c:pt idx="2">
                  <c:v>Frustum Culling &amp; Hi-Z Culling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302</c:v>
                </c:pt>
                <c:pt idx="1">
                  <c:v>121</c:v>
                </c:pt>
                <c:pt idx="2">
                  <c:v>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28-46AF-8532-9C5C79A2D3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966067999"/>
        <c:axId val="1966068479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평균 총 애니메이션 갱신 시간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No Culling</c:v>
                </c:pt>
                <c:pt idx="1">
                  <c:v>Frustum Culling</c:v>
                </c:pt>
                <c:pt idx="2">
                  <c:v>Frustum Culling &amp; Hi-Z Culling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</c:v>
                </c:pt>
                <c:pt idx="1">
                  <c:v>4.3</c:v>
                </c:pt>
                <c:pt idx="2">
                  <c:v>2.1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428-46AF-8532-9C5C79A2D3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66065119"/>
        <c:axId val="1966035839"/>
      </c:lineChart>
      <c:catAx>
        <c:axId val="1966067999"/>
        <c:scaling>
          <c:orientation val="minMax"/>
        </c:scaling>
        <c:delete val="0"/>
        <c:axPos val="b"/>
        <c:title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66068479"/>
        <c:crosses val="autoZero"/>
        <c:auto val="1"/>
        <c:lblAlgn val="ctr"/>
        <c:lblOffset val="100"/>
        <c:noMultiLvlLbl val="0"/>
      </c:catAx>
      <c:valAx>
        <c:axId val="19660684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eaVert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ko-KR" altLang="en-US" dirty="0"/>
                  <a:t>애니메이션 갱신</a:t>
                </a:r>
                <a:r>
                  <a:rPr lang="ko-KR" altLang="en-US" baseline="0" dirty="0"/>
                  <a:t> 횟수</a:t>
                </a:r>
                <a:r>
                  <a:rPr lang="en-US" altLang="ko-KR" baseline="0" dirty="0"/>
                  <a:t>(</a:t>
                </a:r>
                <a:r>
                  <a:rPr lang="ko-KR" altLang="en-US" baseline="0" dirty="0"/>
                  <a:t>회</a:t>
                </a:r>
                <a:r>
                  <a:rPr lang="en-US" altLang="ko-KR" baseline="0" dirty="0"/>
                  <a:t>)</a:t>
                </a:r>
                <a:endParaRPr lang="ko-KR" alt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eaVert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General" sourceLinked="0"/>
        <c:majorTickMark val="none"/>
        <c:minorTickMark val="in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66067999"/>
        <c:crosses val="autoZero"/>
        <c:crossBetween val="between"/>
      </c:valAx>
      <c:valAx>
        <c:axId val="1966035839"/>
        <c:scaling>
          <c:orientation val="minMax"/>
        </c:scaling>
        <c:delete val="0"/>
        <c:axPos val="r"/>
        <c:title>
          <c:tx>
            <c:rich>
              <a:bodyPr rot="0" spcFirstLastPara="1" vertOverflow="ellipsis" vert="eaVert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ko-KR" altLang="en-US" dirty="0"/>
                  <a:t>총 애니메이션 갱신 시간 </a:t>
                </a:r>
                <a:r>
                  <a:rPr lang="en-US" altLang="ko-KR" dirty="0"/>
                  <a:t>(</a:t>
                </a:r>
                <a:r>
                  <a:rPr lang="ko-KR" altLang="en-US" dirty="0" err="1"/>
                  <a:t>밀리초</a:t>
                </a:r>
                <a:r>
                  <a:rPr lang="en-US" altLang="ko-KR" dirty="0"/>
                  <a:t>)</a:t>
                </a:r>
                <a:endParaRPr lang="ko-KR" alt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eaVert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66065119"/>
        <c:crosses val="max"/>
        <c:crossBetween val="between"/>
      </c:valAx>
      <c:catAx>
        <c:axId val="196606511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966035839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0275999" cy="4536000"/>
          </a:xfrm>
          <a:prstGeom prst="rect">
            <a:avLst/>
          </a:prstGeom>
          <a:solidFill>
            <a:srgbClr val="152D49"/>
          </a:solidFill>
          <a:ln>
            <a:solidFill>
              <a:srgbClr val="152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159214" y="522000"/>
            <a:ext cx="28115999" cy="1440000"/>
          </a:xfrm>
          <a:prstGeom prst="rect">
            <a:avLst/>
          </a:prstGeom>
          <a:noFill/>
        </p:spPr>
        <p:txBody>
          <a:bodyPr wrap="square" lIns="43200" tIns="18000" rIns="43200" bIns="18000">
            <a:noAutofit/>
          </a:bodyPr>
          <a:lstStyle/>
          <a:p>
            <a:pPr algn="ctr">
              <a:lnSpc>
                <a:spcPct val="105000"/>
              </a:lnSpc>
            </a:pPr>
            <a:r>
              <a:rPr sz="6000" b="1" dirty="0">
                <a:solidFill>
                  <a:srgbClr val="FFFFFF"/>
                </a:solidFill>
                <a:latin typeface="Malgun Gothic"/>
              </a:rPr>
              <a:t>Hi-Z </a:t>
            </a:r>
            <a:r>
              <a:rPr sz="6000" b="1" dirty="0" err="1">
                <a:solidFill>
                  <a:srgbClr val="FFFFFF"/>
                </a:solidFill>
                <a:latin typeface="Malgun Gothic"/>
              </a:rPr>
              <a:t>오클루전</a:t>
            </a:r>
            <a:r>
              <a:rPr sz="60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6000" b="1" dirty="0" err="1">
                <a:solidFill>
                  <a:srgbClr val="FFFFFF"/>
                </a:solidFill>
                <a:latin typeface="Malgun Gothic"/>
              </a:rPr>
              <a:t>컬링</a:t>
            </a:r>
            <a:r>
              <a:rPr sz="60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6000" b="1" dirty="0" err="1">
                <a:solidFill>
                  <a:srgbClr val="FFFFFF"/>
                </a:solidFill>
                <a:latin typeface="Malgun Gothic"/>
              </a:rPr>
              <a:t>결과를</a:t>
            </a:r>
            <a:r>
              <a:rPr sz="60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6000" b="1" dirty="0" err="1">
                <a:solidFill>
                  <a:srgbClr val="FFFFFF"/>
                </a:solidFill>
                <a:latin typeface="Malgun Gothic"/>
              </a:rPr>
              <a:t>활용한</a:t>
            </a:r>
            <a:r>
              <a:rPr sz="6000" b="1" dirty="0">
                <a:solidFill>
                  <a:srgbClr val="FFFFFF"/>
                </a:solidFill>
                <a:latin typeface="Malgun Gothic"/>
              </a:rPr>
              <a:t>
</a:t>
            </a:r>
            <a:r>
              <a:rPr sz="6000" b="1" dirty="0" err="1">
                <a:solidFill>
                  <a:srgbClr val="FFFFFF"/>
                </a:solidFill>
                <a:latin typeface="Malgun Gothic"/>
              </a:rPr>
              <a:t>가시성</a:t>
            </a:r>
            <a:r>
              <a:rPr sz="60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6000" b="1" dirty="0" err="1">
                <a:solidFill>
                  <a:srgbClr val="FFFFFF"/>
                </a:solidFill>
                <a:latin typeface="Malgun Gothic"/>
              </a:rPr>
              <a:t>기반</a:t>
            </a:r>
            <a:r>
              <a:rPr sz="60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6000" b="1" dirty="0" err="1">
                <a:solidFill>
                  <a:srgbClr val="FFFFFF"/>
                </a:solidFill>
                <a:latin typeface="Malgun Gothic"/>
              </a:rPr>
              <a:t>애니메이션</a:t>
            </a:r>
            <a:r>
              <a:rPr sz="60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6000" b="1" dirty="0" err="1">
                <a:solidFill>
                  <a:srgbClr val="FFFFFF"/>
                </a:solidFill>
                <a:latin typeface="Malgun Gothic"/>
              </a:rPr>
              <a:t>갱신</a:t>
            </a:r>
            <a:r>
              <a:rPr sz="60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6000" b="1" dirty="0" err="1">
                <a:solidFill>
                  <a:srgbClr val="FFFFFF"/>
                </a:solidFill>
                <a:latin typeface="Malgun Gothic"/>
              </a:rPr>
              <a:t>기법</a:t>
            </a:r>
            <a:endParaRPr sz="6000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59214" y="2502000"/>
            <a:ext cx="28115999" cy="396000"/>
          </a:xfrm>
          <a:prstGeom prst="rect">
            <a:avLst/>
          </a:prstGeom>
          <a:noFill/>
        </p:spPr>
        <p:txBody>
          <a:bodyPr wrap="square" lIns="43200" tIns="18000" rIns="43200" bIns="18000">
            <a:noAutofit/>
          </a:bodyPr>
          <a:lstStyle/>
          <a:p>
            <a:pPr algn="ctr">
              <a:lnSpc>
                <a:spcPct val="105000"/>
              </a:lnSpc>
            </a:pPr>
            <a:r>
              <a:rPr sz="4400" b="0" dirty="0">
                <a:solidFill>
                  <a:srgbClr val="DDE8F2"/>
                </a:solidFill>
                <a:latin typeface="Malgun Gothic"/>
              </a:rPr>
              <a:t>A Visibility-based Animation Update Method Using Hi-Z Occlusion Culling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1214" y="3387955"/>
            <a:ext cx="28115999" cy="360000"/>
          </a:xfrm>
          <a:prstGeom prst="rect">
            <a:avLst/>
          </a:prstGeom>
          <a:noFill/>
        </p:spPr>
        <p:txBody>
          <a:bodyPr wrap="square" lIns="43200" tIns="18000" rIns="43200" bIns="18000">
            <a:noAutofit/>
          </a:bodyPr>
          <a:lstStyle/>
          <a:p>
            <a:pPr algn="ctr">
              <a:lnSpc>
                <a:spcPct val="105000"/>
              </a:lnSpc>
            </a:pPr>
            <a:r>
              <a:rPr sz="2400" b="0" dirty="0">
                <a:solidFill>
                  <a:srgbClr val="FFFFFF"/>
                </a:solidFill>
                <a:latin typeface="Malgun Gothic"/>
              </a:rPr>
              <a:t>장명운, </a:t>
            </a:r>
            <a:r>
              <a:rPr sz="2400" b="0" dirty="0" err="1">
                <a:solidFill>
                  <a:srgbClr val="FFFFFF"/>
                </a:solidFill>
                <a:latin typeface="Malgun Gothic"/>
              </a:rPr>
              <a:t>우상훈</a:t>
            </a:r>
            <a:r>
              <a:rPr sz="2400" b="0" dirty="0">
                <a:solidFill>
                  <a:srgbClr val="FFFFFF"/>
                </a:solidFill>
                <a:latin typeface="Malgun Gothic"/>
              </a:rPr>
              <a:t>, </a:t>
            </a:r>
            <a:r>
              <a:rPr sz="2400" b="0" dirty="0" err="1">
                <a:solidFill>
                  <a:srgbClr val="FFFFFF"/>
                </a:solidFill>
                <a:latin typeface="Malgun Gothic"/>
              </a:rPr>
              <a:t>이종진</a:t>
            </a:r>
            <a:r>
              <a:rPr sz="2400" b="0" dirty="0">
                <a:solidFill>
                  <a:srgbClr val="FFFFFF"/>
                </a:solidFill>
                <a:latin typeface="Malgun Gothic"/>
              </a:rPr>
              <a:t>, </a:t>
            </a:r>
            <a:r>
              <a:rPr sz="2400" b="0" dirty="0" err="1">
                <a:solidFill>
                  <a:srgbClr val="FFFFFF"/>
                </a:solidFill>
                <a:latin typeface="Malgun Gothic"/>
              </a:rPr>
              <a:t>정내훈</a:t>
            </a:r>
            <a:r>
              <a:rPr sz="2400" b="0" dirty="0">
                <a:solidFill>
                  <a:srgbClr val="FFFFFF"/>
                </a:solidFill>
                <a:latin typeface="Malgun Gothic"/>
              </a:rPr>
              <a:t> | </a:t>
            </a:r>
            <a:r>
              <a:rPr sz="2400" b="0" dirty="0" err="1">
                <a:solidFill>
                  <a:srgbClr val="FFFFFF"/>
                </a:solidFill>
                <a:latin typeface="Malgun Gothic"/>
              </a:rPr>
              <a:t>한국공학대학교</a:t>
            </a:r>
            <a:r>
              <a:rPr sz="2400" b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2400" b="0" dirty="0" err="1">
                <a:solidFill>
                  <a:srgbClr val="FFFFFF"/>
                </a:solidFill>
                <a:latin typeface="Malgun Gothic"/>
              </a:rPr>
              <a:t>게임공학과</a:t>
            </a:r>
            <a:endParaRPr sz="2400" b="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62815" y="3927955"/>
            <a:ext cx="28115999" cy="324000"/>
          </a:xfrm>
          <a:prstGeom prst="rect">
            <a:avLst/>
          </a:prstGeom>
          <a:noFill/>
        </p:spPr>
        <p:txBody>
          <a:bodyPr wrap="square" lIns="43200" tIns="18000" rIns="43200" bIns="1800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50" b="0" dirty="0">
                <a:solidFill>
                  <a:srgbClr val="DDE8F2"/>
                </a:solidFill>
                <a:latin typeface="Malgun Gothic"/>
              </a:rPr>
              <a:t>wkdauddns9@gmail.com, asm1133@naver.com, ljj3640@gmail.com, nhjung@tukorea.ac.kr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2000" y="5040000"/>
            <a:ext cx="27972000" cy="403199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BCC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2000" y="5040000"/>
            <a:ext cx="27972000" cy="792000"/>
          </a:xfrm>
          <a:prstGeom prst="rect">
            <a:avLst/>
          </a:prstGeom>
          <a:solidFill>
            <a:srgbClr val="1E5B96"/>
          </a:solidFill>
          <a:ln>
            <a:solidFill>
              <a:srgbClr val="1E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98000" rtlCol="0" anchor="ctr">
            <a:noAutofit/>
          </a:bodyPr>
          <a:lstStyle/>
          <a:p>
            <a:pPr algn="ctr"/>
            <a:r>
              <a:rPr sz="360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개요</a:t>
            </a:r>
            <a:endParaRPr sz="3600" b="1" dirty="0">
              <a:solidFill>
                <a:srgbClr val="FFFFFF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12000" y="6083998"/>
            <a:ext cx="27216000" cy="2772001"/>
          </a:xfrm>
          <a:prstGeom prst="rect">
            <a:avLst/>
          </a:prstGeom>
          <a:noFill/>
        </p:spPr>
        <p:txBody>
          <a:bodyPr wrap="square" lIns="43200" tIns="18000" rIns="43200" bIns="18000">
            <a:noAutofit/>
          </a:bodyPr>
          <a:lstStyle/>
          <a:p>
            <a:pPr fontAlgn="base"/>
            <a:r>
              <a:rPr lang="ko-KR" altLang="en-US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현대의 실시간 렌더링 분야에서는 </a:t>
            </a:r>
            <a:r>
              <a:rPr lang="en-US" altLang="ko-KR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Hi-Z </a:t>
            </a:r>
            <a:r>
              <a:rPr lang="ko-KR" altLang="en-US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기반 </a:t>
            </a:r>
            <a:r>
              <a:rPr lang="ko-KR" altLang="en-US" sz="2800" dirty="0" err="1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오클루전</a:t>
            </a:r>
            <a:r>
              <a:rPr lang="ko-KR" altLang="en-US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 </a:t>
            </a:r>
            <a:r>
              <a:rPr lang="ko-KR" altLang="en-US" sz="2800" dirty="0" err="1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컬링과</a:t>
            </a:r>
            <a:r>
              <a:rPr lang="ko-KR" altLang="en-US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 같은 </a:t>
            </a:r>
            <a:r>
              <a:rPr lang="en-US" altLang="ko-KR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GPU </a:t>
            </a:r>
            <a:r>
              <a:rPr lang="ko-KR" altLang="en-US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중심의 가시성 판별 기법이 널리 활용되고 있다</a:t>
            </a:r>
            <a:r>
              <a:rPr lang="en-US" altLang="ko-KR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. </a:t>
            </a:r>
            <a:r>
              <a:rPr lang="ko-KR" altLang="en-US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그러나 이러한 가시성 정보는 주로 렌더링 단계 최적화에만 집중적으로 활용되며</a:t>
            </a:r>
            <a:r>
              <a:rPr lang="en-US" altLang="ko-KR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, </a:t>
            </a:r>
            <a:r>
              <a:rPr lang="ko-KR" altLang="en-US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복잡한 제어로 인해 </a:t>
            </a:r>
            <a:r>
              <a:rPr lang="en-US" altLang="ko-KR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CPU</a:t>
            </a:r>
            <a:r>
              <a:rPr lang="ko-KR" altLang="en-US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에서 수행되어야 하는 애니메이션 갱신 비용 절감에는 충분히 활용되지 않고 있다</a:t>
            </a:r>
            <a:r>
              <a:rPr lang="en-US" altLang="ko-KR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. </a:t>
            </a:r>
            <a:r>
              <a:rPr lang="ko-KR" altLang="en-US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본 연구는 </a:t>
            </a:r>
            <a:r>
              <a:rPr lang="en-US" altLang="ko-KR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GPU</a:t>
            </a:r>
            <a:r>
              <a:rPr lang="ko-KR" altLang="en-US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에서 판정한 가시성 정보를 활용하여</a:t>
            </a:r>
            <a:r>
              <a:rPr lang="en-US" altLang="ko-KR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, </a:t>
            </a:r>
            <a:r>
              <a:rPr lang="ko-KR" altLang="en-US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보이지 않는 객체의 애니메이션 업데이트를 선택적으로 생략하는 기법을 제안한다</a:t>
            </a:r>
            <a:r>
              <a:rPr lang="en-US" altLang="ko-KR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. </a:t>
            </a:r>
            <a:r>
              <a:rPr lang="ko-KR" altLang="en-US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제안 기법은 </a:t>
            </a:r>
            <a:r>
              <a:rPr lang="en-US" altLang="ko-KR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GPU</a:t>
            </a:r>
            <a:r>
              <a:rPr lang="ko-KR" altLang="en-US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에서 계산된 가시성 정보를 이전 프레임 기반으로 비동기적으로 활용하여</a:t>
            </a:r>
            <a:r>
              <a:rPr lang="en-US" altLang="ko-KR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, CPU-GPU </a:t>
            </a:r>
            <a:r>
              <a:rPr lang="ko-KR" altLang="en-US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간 동기화 병목 없이 </a:t>
            </a:r>
            <a:r>
              <a:rPr lang="en-US" altLang="ko-KR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CPU </a:t>
            </a:r>
            <a:r>
              <a:rPr lang="ko-KR" altLang="en-US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애니메이션 시스템에 반영할 수 있다</a:t>
            </a:r>
            <a:r>
              <a:rPr lang="en-US" altLang="ko-KR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. </a:t>
            </a:r>
            <a:r>
              <a:rPr lang="ko-KR" altLang="en-US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이를 통해 역기구학이나 </a:t>
            </a:r>
            <a:r>
              <a:rPr lang="ko-KR" altLang="en-US" sz="2800" dirty="0" err="1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래그돌</a:t>
            </a:r>
            <a:r>
              <a:rPr lang="ko-KR" altLang="en-US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 물리 등 </a:t>
            </a:r>
            <a:r>
              <a:rPr lang="en-US" altLang="ko-KR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CPU </a:t>
            </a:r>
            <a:r>
              <a:rPr lang="ko-KR" altLang="en-US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기반 처리가 요구되어 병목이 발생하는 애니메이션 환경에서</a:t>
            </a:r>
            <a:r>
              <a:rPr lang="en-US" altLang="ko-KR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, </a:t>
            </a:r>
            <a:r>
              <a:rPr lang="ko-KR" altLang="en-US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애니메이션 </a:t>
            </a:r>
            <a:r>
              <a:rPr lang="ko-KR" altLang="en-US" sz="2800" dirty="0" err="1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연산량을</a:t>
            </a:r>
            <a:r>
              <a:rPr lang="ko-KR" altLang="en-US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 전체 객체 수가 아닌 실제 가시 객체 수에 비례하도록 감소시켜 성능을 향상한다</a:t>
            </a:r>
            <a:r>
              <a:rPr lang="en-US" altLang="ko-KR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.</a:t>
            </a:r>
            <a:endParaRPr lang="ko-KR" altLang="en-US" sz="2800" dirty="0">
              <a:latin typeface="Noto Serif KR" panose="02020200000000000000" pitchFamily="18" charset="-127"/>
              <a:ea typeface="Noto Serif KR" panose="02020200000000000000" pitchFamily="18" charset="-127"/>
              <a:cs typeface="Noto Sans" panose="020B0502040504020204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152000" y="9720000"/>
            <a:ext cx="9360000" cy="10332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BCC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52000" y="9720000"/>
            <a:ext cx="9360000" cy="792000"/>
          </a:xfrm>
          <a:prstGeom prst="rect">
            <a:avLst/>
          </a:prstGeom>
          <a:solidFill>
            <a:srgbClr val="00777C"/>
          </a:solidFill>
          <a:ln>
            <a:solidFill>
              <a:srgbClr val="0077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98000" rtlCol="0" anchor="ctr">
            <a:noAutofit/>
          </a:bodyPr>
          <a:lstStyle/>
          <a:p>
            <a:pPr algn="ctr"/>
            <a:r>
              <a:rPr sz="360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연구</a:t>
            </a:r>
            <a:r>
              <a:rPr sz="36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sz="360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목적</a:t>
            </a:r>
            <a:endParaRPr sz="3600" b="1" dirty="0">
              <a:solidFill>
                <a:srgbClr val="FFFFFF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512000" y="10800000"/>
            <a:ext cx="8640000" cy="3744000"/>
          </a:xfrm>
          <a:prstGeom prst="rect">
            <a:avLst/>
          </a:prstGeom>
          <a:noFill/>
        </p:spPr>
        <p:txBody>
          <a:bodyPr wrap="square" lIns="36000" tIns="0" rIns="36000" bIns="0">
            <a:noAutofit/>
          </a:bodyPr>
          <a:lstStyle/>
          <a:p>
            <a:pPr marL="457200" indent="-457200">
              <a:lnSpc>
                <a:spcPct val="104000"/>
              </a:lnSpc>
              <a:spcAft>
                <a:spcPts val="500"/>
              </a:spcAft>
              <a:buFontTx/>
              <a:buChar char="-"/>
            </a:pPr>
            <a:r>
              <a:rPr lang="ko-KR" altLang="en-US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다수의 객체가 포함된 장면에서 보다 많은 객체를 가시성 기반으로 </a:t>
            </a:r>
            <a:r>
              <a:rPr lang="ko-KR" altLang="en-US" sz="2800" dirty="0" err="1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컬링하여</a:t>
            </a:r>
            <a:r>
              <a:rPr lang="ko-KR" altLang="en-US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 애니메이션 </a:t>
            </a:r>
            <a:r>
              <a:rPr lang="ko-KR" altLang="en-US" sz="2800" dirty="0" err="1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연산량을</a:t>
            </a:r>
            <a:r>
              <a:rPr lang="ko-KR" altLang="en-US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 절감한다</a:t>
            </a:r>
            <a:r>
              <a:rPr lang="en-US" altLang="ko-KR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.</a:t>
            </a:r>
          </a:p>
          <a:p>
            <a:pPr marL="457200" indent="-457200">
              <a:lnSpc>
                <a:spcPct val="104000"/>
              </a:lnSpc>
              <a:spcAft>
                <a:spcPts val="500"/>
              </a:spcAft>
              <a:buFontTx/>
              <a:buChar char="-"/>
            </a:pPr>
            <a:r>
              <a:rPr lang="ko-KR" altLang="en-US" sz="2800" dirty="0" err="1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래그돌</a:t>
            </a:r>
            <a:r>
              <a:rPr lang="en-US" altLang="ko-KR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,</a:t>
            </a:r>
            <a:r>
              <a:rPr lang="ko-KR" altLang="en-US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 </a:t>
            </a:r>
            <a:r>
              <a:rPr lang="en-US" altLang="ko-KR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IK</a:t>
            </a:r>
            <a:r>
              <a:rPr lang="ko-KR" altLang="en-US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 등 복잡한 물리 연산이 애니메이션과 결합되어 </a:t>
            </a:r>
            <a:r>
              <a:rPr lang="en-US" altLang="ko-KR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CPU </a:t>
            </a:r>
            <a:r>
              <a:rPr lang="ko-KR" altLang="en-US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중심 연산이 요구되는 환경에서</a:t>
            </a:r>
            <a:br>
              <a:rPr lang="en-US" altLang="ko-KR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</a:br>
            <a:r>
              <a:rPr lang="en-US" altLang="ko-KR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GPU</a:t>
            </a:r>
            <a:r>
              <a:rPr lang="ko-KR" altLang="en-US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가 생산한 가시성 데이터를 효율적으로 통합하는 방법을 제시한다</a:t>
            </a:r>
            <a:r>
              <a:rPr lang="en-US" altLang="ko-KR" sz="2800" dirty="0">
                <a:latin typeface="Noto Serif KR" panose="02020200000000000000" pitchFamily="18" charset="-127"/>
                <a:ea typeface="Noto Serif KR" panose="02020200000000000000" pitchFamily="18" charset="-127"/>
                <a:cs typeface="Noto Sans" panose="020B0502040504020204" pitchFamily="34" charset="0"/>
              </a:rPr>
              <a:t>.</a:t>
            </a:r>
          </a:p>
        </p:txBody>
      </p:sp>
      <p:pic>
        <p:nvPicPr>
          <p:cNvPr id="23" name="Picture 22" descr="table2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0" y="15120000"/>
            <a:ext cx="7272000" cy="2424000"/>
          </a:xfrm>
          <a:prstGeom prst="rect">
            <a:avLst/>
          </a:prstGeom>
          <a:ln w="9525">
            <a:solidFill>
              <a:srgbClr val="BCC7D2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1800000" y="17580000"/>
            <a:ext cx="7272000" cy="198000"/>
          </a:xfrm>
          <a:prstGeom prst="rect">
            <a:avLst/>
          </a:prstGeom>
          <a:noFill/>
        </p:spPr>
        <p:txBody>
          <a:bodyPr wrap="square" lIns="43200" tIns="18000" rIns="43200" bIns="18000">
            <a:no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646E79"/>
                </a:solidFill>
                <a:latin typeface="Malgun Gothic"/>
              </a:rPr>
              <a:t>원문 [표 2] 성능 분석표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160000" y="9720000"/>
            <a:ext cx="17964000" cy="24732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BCC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1160000" y="9720000"/>
            <a:ext cx="17964000" cy="792000"/>
          </a:xfrm>
          <a:prstGeom prst="rect">
            <a:avLst/>
          </a:prstGeom>
          <a:solidFill>
            <a:srgbClr val="152D49"/>
          </a:solidFill>
          <a:ln>
            <a:solidFill>
              <a:srgbClr val="152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98000" rtlCol="0" anchor="ctr">
            <a:noAutofit/>
          </a:bodyPr>
          <a:lstStyle/>
          <a:p>
            <a:pPr algn="ctr"/>
            <a:r>
              <a:rPr sz="360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가시성</a:t>
            </a:r>
            <a:r>
              <a:rPr sz="36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sz="360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기반</a:t>
            </a:r>
            <a:r>
              <a:rPr sz="36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sz="360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애니메이션</a:t>
            </a:r>
            <a:r>
              <a:rPr sz="36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sz="360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갱신</a:t>
            </a:r>
            <a:endParaRPr sz="3600" b="1" dirty="0">
              <a:solidFill>
                <a:srgbClr val="FFFFFF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28" name="Picture 27" descr="fig1_syst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2000" y="10872000"/>
            <a:ext cx="10080000" cy="4242627"/>
          </a:xfrm>
          <a:prstGeom prst="rect">
            <a:avLst/>
          </a:prstGeom>
          <a:ln w="9525">
            <a:solidFill>
              <a:srgbClr val="BCC7D2"/>
            </a:solidFill>
          </a:ln>
        </p:spPr>
      </p:pic>
      <p:sp>
        <p:nvSpPr>
          <p:cNvPr id="29" name="TextBox 28"/>
          <p:cNvSpPr txBox="1"/>
          <p:nvPr/>
        </p:nvSpPr>
        <p:spPr>
          <a:xfrm>
            <a:off x="11592000" y="15150627"/>
            <a:ext cx="10080000" cy="198000"/>
          </a:xfrm>
          <a:prstGeom prst="rect">
            <a:avLst/>
          </a:prstGeom>
          <a:noFill/>
        </p:spPr>
        <p:txBody>
          <a:bodyPr wrap="square" lIns="43200" tIns="18000" rIns="43200" bIns="18000">
            <a:no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646E79"/>
                </a:solidFill>
                <a:latin typeface="Malgun Gothic"/>
              </a:rPr>
              <a:t>원문 [그림 1] 시스템 개요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032000" y="10944000"/>
            <a:ext cx="6480000" cy="4031999"/>
          </a:xfrm>
          <a:prstGeom prst="rect">
            <a:avLst/>
          </a:prstGeom>
          <a:noFill/>
        </p:spPr>
        <p:txBody>
          <a:bodyPr wrap="square" lIns="43200" tIns="18000" rIns="43200" bIns="18000">
            <a:noAutofit/>
          </a:bodyPr>
          <a:lstStyle/>
          <a:p>
            <a:pPr algn="l">
              <a:lnSpc>
                <a:spcPct val="105000"/>
              </a:lnSpc>
            </a:pPr>
            <a:r>
              <a:rPr sz="1570" b="0">
                <a:solidFill>
                  <a:srgbClr val="333A43"/>
                </a:solidFill>
                <a:latin typeface="Malgun Gothic"/>
              </a:rPr>
              <a:t>렌더링 이벤트는 메시-재질 단위로 정렬되고, Hi-Z 오클루전 컬링은 각 이벤트에 대한 32비트 가시성 플래그를 생성한다. 하위 비트는 가시성, 상위 비트는 객체 식별자를 저장한다.</a:t>
            </a:r>
          </a:p>
        </p:txBody>
      </p:sp>
      <p:pic>
        <p:nvPicPr>
          <p:cNvPr id="31" name="Picture 30" descr="table1_visibility_cas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4000" y="17280000"/>
            <a:ext cx="6192000" cy="3452509"/>
          </a:xfrm>
          <a:prstGeom prst="rect">
            <a:avLst/>
          </a:prstGeom>
          <a:ln w="9525">
            <a:solidFill>
              <a:srgbClr val="BCC7D2"/>
            </a:solidFill>
          </a:ln>
        </p:spPr>
      </p:pic>
      <p:sp>
        <p:nvSpPr>
          <p:cNvPr id="32" name="TextBox 31"/>
          <p:cNvSpPr txBox="1"/>
          <p:nvPr/>
        </p:nvSpPr>
        <p:spPr>
          <a:xfrm>
            <a:off x="11664000" y="20768509"/>
            <a:ext cx="6192000" cy="198000"/>
          </a:xfrm>
          <a:prstGeom prst="rect">
            <a:avLst/>
          </a:prstGeom>
          <a:noFill/>
        </p:spPr>
        <p:txBody>
          <a:bodyPr wrap="square" lIns="43200" tIns="18000" rIns="43200" bIns="18000">
            <a:no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646E79"/>
                </a:solidFill>
                <a:latin typeface="Malgun Gothic"/>
              </a:rPr>
              <a:t>원문 [표 1] 가시성 판정 결과 조합</a:t>
            </a:r>
          </a:p>
        </p:txBody>
      </p:sp>
      <p:pic>
        <p:nvPicPr>
          <p:cNvPr id="33" name="Picture 32" descr="fig2_missing_inst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40000" y="17280000"/>
            <a:ext cx="5652000" cy="2427972"/>
          </a:xfrm>
          <a:prstGeom prst="rect">
            <a:avLst/>
          </a:prstGeom>
          <a:ln w="9525">
            <a:solidFill>
              <a:srgbClr val="BCC7D2"/>
            </a:solidFill>
          </a:ln>
        </p:spPr>
      </p:pic>
      <p:sp>
        <p:nvSpPr>
          <p:cNvPr id="34" name="TextBox 33"/>
          <p:cNvSpPr txBox="1"/>
          <p:nvPr/>
        </p:nvSpPr>
        <p:spPr>
          <a:xfrm>
            <a:off x="18540000" y="19743972"/>
            <a:ext cx="5652000" cy="198000"/>
          </a:xfrm>
          <a:prstGeom prst="rect">
            <a:avLst/>
          </a:prstGeom>
          <a:noFill/>
        </p:spPr>
        <p:txBody>
          <a:bodyPr wrap="square" lIns="43200" tIns="18000" rIns="43200" bIns="18000">
            <a:no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646E79"/>
                </a:solidFill>
                <a:latin typeface="Malgun Gothic"/>
              </a:rPr>
              <a:t>원문 [그림 2] 인스턴스 누락 상황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588000" y="17244000"/>
            <a:ext cx="3816000" cy="5436000"/>
          </a:xfrm>
          <a:prstGeom prst="rect">
            <a:avLst/>
          </a:prstGeom>
          <a:noFill/>
        </p:spPr>
        <p:txBody>
          <a:bodyPr wrap="square" lIns="43200" tIns="18000" rIns="43200" bIns="18000">
            <a:noAutofit/>
          </a:bodyPr>
          <a:lstStyle/>
          <a:p>
            <a:pPr algn="l">
              <a:lnSpc>
                <a:spcPct val="105000"/>
              </a:lnSpc>
            </a:pPr>
            <a:r>
              <a:rPr sz="1480" b="0">
                <a:solidFill>
                  <a:srgbClr val="333A43"/>
                </a:solidFill>
                <a:latin typeface="Malgun Gothic"/>
              </a:rPr>
              <a:t>동기화 없이 버퍼를 읽으면 이전/현재 프레임의 가시성 정보가 섞일 수 있다. 특히 인스턴스 재배치 시 실제로 보이던 객체가 비가시로 잘못 병합되는 누락 상황이 발생할 수 있다.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664000" y="23148000"/>
            <a:ext cx="5292000" cy="1692000"/>
          </a:xfrm>
          <a:prstGeom prst="roundRect">
            <a:avLst>
              <a:gd name="adj" fmla="val 8000"/>
            </a:avLst>
          </a:prstGeom>
          <a:solidFill>
            <a:srgbClr val="E5EFF9"/>
          </a:solidFill>
          <a:ln w="13970">
            <a:solidFill>
              <a:srgbClr val="1E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754000" y="23238000"/>
            <a:ext cx="5112000" cy="234000"/>
          </a:xfrm>
          <a:prstGeom prst="rect">
            <a:avLst/>
          </a:prstGeom>
          <a:noFill/>
        </p:spPr>
        <p:txBody>
          <a:bodyPr wrap="square" lIns="43200" tIns="18000" rIns="43200" bIns="1800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E5B96"/>
                </a:solidFill>
                <a:latin typeface="Malgun Gothic"/>
              </a:rPr>
              <a:t>1. 가시성 플래그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754000" y="23490000"/>
            <a:ext cx="5112000" cy="1314000"/>
          </a:xfrm>
          <a:prstGeom prst="rect">
            <a:avLst/>
          </a:prstGeom>
          <a:noFill/>
        </p:spPr>
        <p:txBody>
          <a:bodyPr wrap="square" lIns="43200" tIns="18000" rIns="43200" bIns="18000">
            <a:noAutofit/>
          </a:bodyPr>
          <a:lstStyle/>
          <a:p>
            <a:pPr algn="ctr">
              <a:lnSpc>
                <a:spcPct val="105000"/>
              </a:lnSpc>
            </a:pPr>
            <a:r>
              <a:rPr sz="1750" b="1">
                <a:solidFill>
                  <a:srgbClr val="152D49"/>
                </a:solidFill>
                <a:latin typeface="Malgun Gothic"/>
              </a:rPr>
              <a:t>visible bit + object ID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352000" y="23148000"/>
            <a:ext cx="5292000" cy="1692000"/>
          </a:xfrm>
          <a:prstGeom prst="roundRect">
            <a:avLst>
              <a:gd name="adj" fmla="val 8000"/>
            </a:avLst>
          </a:prstGeom>
          <a:solidFill>
            <a:srgbClr val="FCEEE0"/>
          </a:solidFill>
          <a:ln w="13970">
            <a:solidFill>
              <a:srgbClr val="CC7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7442000" y="23238000"/>
            <a:ext cx="5112000" cy="234000"/>
          </a:xfrm>
          <a:prstGeom prst="rect">
            <a:avLst/>
          </a:prstGeom>
          <a:noFill/>
        </p:spPr>
        <p:txBody>
          <a:bodyPr wrap="square" lIns="43200" tIns="18000" rIns="43200" bIns="1800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CC7027"/>
                </a:solidFill>
                <a:latin typeface="Malgun Gothic"/>
              </a:rPr>
              <a:t>2. 링 버퍼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442000" y="23490000"/>
            <a:ext cx="5112000" cy="1314000"/>
          </a:xfrm>
          <a:prstGeom prst="rect">
            <a:avLst/>
          </a:prstGeom>
          <a:noFill/>
        </p:spPr>
        <p:txBody>
          <a:bodyPr wrap="square" lIns="43200" tIns="18000" rIns="43200" bIns="18000">
            <a:noAutofit/>
          </a:bodyPr>
          <a:lstStyle/>
          <a:p>
            <a:pPr algn="ctr">
              <a:lnSpc>
                <a:spcPct val="105000"/>
              </a:lnSpc>
            </a:pPr>
            <a:r>
              <a:rPr sz="1750" b="1">
                <a:solidFill>
                  <a:srgbClr val="152D49"/>
                </a:solidFill>
                <a:latin typeface="Malgun Gothic"/>
              </a:rPr>
              <a:t>2-slot visibility buffer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3040000" y="23148000"/>
            <a:ext cx="5292000" cy="1692000"/>
          </a:xfrm>
          <a:prstGeom prst="roundRect">
            <a:avLst>
              <a:gd name="adj" fmla="val 8000"/>
            </a:avLst>
          </a:prstGeom>
          <a:solidFill>
            <a:srgbClr val="E2F4F1"/>
          </a:solidFill>
          <a:ln w="13970">
            <a:solidFill>
              <a:srgbClr val="2B8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3130000" y="23238000"/>
            <a:ext cx="5112000" cy="234000"/>
          </a:xfrm>
          <a:prstGeom prst="rect">
            <a:avLst/>
          </a:prstGeom>
          <a:noFill/>
        </p:spPr>
        <p:txBody>
          <a:bodyPr wrap="square" lIns="43200" tIns="18000" rIns="43200" bIns="18000">
            <a:no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2B824F"/>
                </a:solidFill>
                <a:latin typeface="Malgun Gothic"/>
              </a:rPr>
              <a:t>3. 객체 병합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130000" y="23490000"/>
            <a:ext cx="5112000" cy="1314000"/>
          </a:xfrm>
          <a:prstGeom prst="rect">
            <a:avLst/>
          </a:prstGeom>
          <a:noFill/>
        </p:spPr>
        <p:txBody>
          <a:bodyPr wrap="square" lIns="43200" tIns="18000" rIns="43200" bIns="18000">
            <a:noAutofit/>
          </a:bodyPr>
          <a:lstStyle/>
          <a:p>
            <a:pPr algn="ctr">
              <a:lnSpc>
                <a:spcPct val="105000"/>
              </a:lnSpc>
            </a:pPr>
            <a:r>
              <a:rPr sz="1750" b="1">
                <a:solidFill>
                  <a:srgbClr val="152D49"/>
                </a:solidFill>
                <a:latin typeface="Malgun Gothic"/>
              </a:rPr>
              <a:t>OR 기반 가시 판정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664000" y="25560000"/>
            <a:ext cx="8100000" cy="4320000"/>
          </a:xfrm>
          <a:prstGeom prst="rect">
            <a:avLst/>
          </a:prstGeom>
          <a:noFill/>
        </p:spPr>
        <p:txBody>
          <a:bodyPr wrap="square" lIns="36000" tIns="0" rIns="36000" bIns="0">
            <a:noAutofit/>
          </a:bodyPr>
          <a:lstStyle/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570" b="0">
                <a:solidFill>
                  <a:srgbClr val="333A43"/>
                </a:solidFill>
                <a:latin typeface="Malgun Gothic"/>
              </a:rPr>
              <a:t>- CPU는 GPU와 명시적으로 동기화하지 않고 가시성 플래그 버퍼를 읽는다.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570" b="0">
                <a:solidFill>
                  <a:srgbClr val="333A43"/>
                </a:solidFill>
                <a:latin typeface="Malgun Gothic"/>
              </a:rPr>
              <a:t>- 객체 단위 가시성은 매 프레임 비가시로 초기화한 뒤, 구성 인스턴스 중 하나라도 보이면 가시로 갱신한다.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570" b="0">
                <a:solidFill>
                  <a:srgbClr val="333A43"/>
                </a:solidFill>
                <a:latin typeface="Malgun Gothic"/>
              </a:rPr>
              <a:t>- 슬롯별 컬링 대상 수를 따로 저장해 유효 범위 밖의 오래된 데이터를 읽지 않는다.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160000" y="25560000"/>
            <a:ext cx="8100000" cy="4320000"/>
          </a:xfrm>
          <a:prstGeom prst="rect">
            <a:avLst/>
          </a:prstGeom>
          <a:noFill/>
        </p:spPr>
        <p:txBody>
          <a:bodyPr wrap="square" lIns="36000" tIns="0" rIns="36000" bIns="0">
            <a:noAutofit/>
          </a:bodyPr>
          <a:lstStyle/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570" b="0">
                <a:solidFill>
                  <a:srgbClr val="333A43"/>
                </a:solidFill>
                <a:latin typeface="Malgun Gothic"/>
              </a:rPr>
              <a:t>- 애니메이션 시스템은 가시 객체만 대상으로 거리와 마지막 갱신 시점을 고려해 우선순위를 계산한다.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570" b="0">
                <a:solidFill>
                  <a:srgbClr val="333A43"/>
                </a:solidFill>
                <a:latin typeface="Malgun Gothic"/>
              </a:rPr>
              <a:t>- 우선순위 큐에서 제한 시간 안에 가능한 만큼만 갱신하고 나머지는 생략한다.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570" b="0">
                <a:solidFill>
                  <a:srgbClr val="333A43"/>
                </a:solidFill>
                <a:latin typeface="Malgun Gothic"/>
              </a:rPr>
              <a:t>- 결과적으로 컬링과 LOD가 렌더링뿐 아니라 애니메이션 갱신에도 적용된다.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880000" y="30528000"/>
            <a:ext cx="16487999" cy="2880000"/>
          </a:xfrm>
          <a:prstGeom prst="roundRect">
            <a:avLst>
              <a:gd name="adj" fmla="val 4000"/>
            </a:avLst>
          </a:prstGeom>
          <a:solidFill>
            <a:srgbClr val="F9FBFD"/>
          </a:solidFill>
          <a:ln>
            <a:solidFill>
              <a:srgbClr val="BCC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2276000" y="30852000"/>
            <a:ext cx="5400000" cy="360000"/>
          </a:xfrm>
          <a:prstGeom prst="rect">
            <a:avLst/>
          </a:prstGeom>
          <a:noFill/>
        </p:spPr>
        <p:txBody>
          <a:bodyPr wrap="square" lIns="43200" tIns="18000" rIns="43200" bIns="18000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52D49"/>
                </a:solidFill>
                <a:latin typeface="Malgun Gothic"/>
              </a:rPr>
              <a:t>애니메이션 우선순위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276000" y="31464000"/>
            <a:ext cx="15624000" cy="1044000"/>
          </a:xfrm>
          <a:prstGeom prst="rect">
            <a:avLst/>
          </a:prstGeom>
          <a:noFill/>
        </p:spPr>
        <p:txBody>
          <a:bodyPr wrap="square" lIns="43200" tIns="18000" rIns="43200" bIns="18000">
            <a:noAutofit/>
          </a:bodyPr>
          <a:lstStyle/>
          <a:p>
            <a:pPr algn="ctr">
              <a:lnSpc>
                <a:spcPct val="105000"/>
              </a:lnSpc>
            </a:pPr>
            <a:r>
              <a:rPr sz="1750" b="1">
                <a:solidFill>
                  <a:srgbClr val="1E5B96"/>
                </a:solidFill>
                <a:latin typeface="Malgun Gothic"/>
              </a:rPr>
              <a:t>w_d = 1 / (1 + (d x k_d)^2)     w_t = 1 + t / (t + k_t)     priority = w_d x w_t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276000" y="32615999"/>
            <a:ext cx="15624000" cy="396000"/>
          </a:xfrm>
          <a:prstGeom prst="rect">
            <a:avLst/>
          </a:prstGeom>
          <a:noFill/>
        </p:spPr>
        <p:txBody>
          <a:bodyPr wrap="square" lIns="43200" tIns="18000" rIns="43200" bIns="18000">
            <a:noAutofit/>
          </a:bodyPr>
          <a:lstStyle/>
          <a:p>
            <a:pPr algn="ctr">
              <a:lnSpc>
                <a:spcPct val="105000"/>
              </a:lnSpc>
            </a:pPr>
            <a:r>
              <a:rPr sz="1450" b="0">
                <a:solidFill>
                  <a:srgbClr val="646E79"/>
                </a:solidFill>
                <a:latin typeface="Malgun Gothic"/>
              </a:rPr>
              <a:t>가까운 객체와 오래 갱신되지 않은 객체의 갱신 우선순위를 높인다.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52000" y="20700000"/>
            <a:ext cx="9360000" cy="13752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BCC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152000" y="20700000"/>
            <a:ext cx="9360000" cy="792000"/>
          </a:xfrm>
          <a:prstGeom prst="rect">
            <a:avLst/>
          </a:prstGeom>
          <a:solidFill>
            <a:srgbClr val="2B824F"/>
          </a:solidFill>
          <a:ln>
            <a:solidFill>
              <a:srgbClr val="2B8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98000" rtlCol="0" anchor="ctr">
            <a:noAutofit/>
          </a:bodyPr>
          <a:lstStyle/>
          <a:p>
            <a:pPr algn="ctr"/>
            <a:r>
              <a:rPr sz="360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결과</a:t>
            </a:r>
            <a:endParaRPr sz="3600" b="1" dirty="0">
              <a:solidFill>
                <a:srgbClr val="FFFFFF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539197" y="21811586"/>
            <a:ext cx="8568000" cy="3526855"/>
          </a:xfrm>
          <a:prstGeom prst="rect">
            <a:avLst/>
          </a:prstGeom>
          <a:noFill/>
        </p:spPr>
        <p:txBody>
          <a:bodyPr wrap="square" lIns="43200" tIns="18000" rIns="43200" bIns="18000">
            <a:noAutofit/>
          </a:bodyPr>
          <a:lstStyle/>
          <a:p>
            <a:pPr algn="l">
              <a:lnSpc>
                <a:spcPct val="105000"/>
              </a:lnSpc>
            </a:pPr>
            <a:r>
              <a:rPr lang="ko-KR" altLang="en-US" sz="2800" b="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애니메이션 </a:t>
            </a:r>
            <a:r>
              <a:rPr lang="ko-KR" altLang="en-US" sz="2800" b="0" dirty="0" err="1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컬링</a:t>
            </a:r>
            <a:r>
              <a:rPr lang="ko-KR" altLang="en-US" sz="2800" b="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 적용 방법 중</a:t>
            </a:r>
            <a:r>
              <a:rPr lang="en-US" altLang="ko-KR" sz="280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 </a:t>
            </a:r>
            <a:r>
              <a:rPr lang="ko-KR" altLang="en-US" sz="2800" dirty="0" err="1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컬링을</a:t>
            </a:r>
            <a:r>
              <a:rPr lang="ko-KR" altLang="en-US" sz="280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 하지 않은 경우</a:t>
            </a:r>
            <a:r>
              <a:rPr lang="en-US" altLang="ko-KR" sz="280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, </a:t>
            </a:r>
            <a:r>
              <a:rPr lang="ko-KR" altLang="en-US" sz="280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시야 </a:t>
            </a:r>
            <a:r>
              <a:rPr lang="ko-KR" altLang="en-US" sz="2800" dirty="0" err="1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절두체</a:t>
            </a:r>
            <a:r>
              <a:rPr lang="ko-KR" altLang="en-US" sz="280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 </a:t>
            </a:r>
            <a:r>
              <a:rPr lang="ko-KR" altLang="en-US" sz="2800" dirty="0" err="1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컬링</a:t>
            </a:r>
            <a:r>
              <a:rPr lang="ko-KR" altLang="en-US" sz="280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 정보만 활용한 경우</a:t>
            </a:r>
            <a:r>
              <a:rPr lang="en-US" altLang="ko-KR" sz="280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, </a:t>
            </a:r>
            <a:r>
              <a:rPr lang="ko-KR" altLang="en-US" sz="280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시야 </a:t>
            </a:r>
            <a:r>
              <a:rPr lang="ko-KR" altLang="en-US" sz="2800" dirty="0" err="1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절두체</a:t>
            </a:r>
            <a:r>
              <a:rPr lang="ko-KR" altLang="en-US" sz="280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 </a:t>
            </a:r>
            <a:r>
              <a:rPr lang="ko-KR" altLang="en-US" sz="2800" dirty="0" err="1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컬링</a:t>
            </a:r>
            <a:r>
              <a:rPr lang="ko-KR" altLang="en-US" sz="280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 및 </a:t>
            </a:r>
            <a:r>
              <a:rPr lang="en-US" altLang="ko-KR" sz="280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Hi-Z </a:t>
            </a:r>
            <a:r>
              <a:rPr lang="ko-KR" altLang="en-US" sz="2800" dirty="0" err="1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오클루전</a:t>
            </a:r>
            <a:r>
              <a:rPr lang="ko-KR" altLang="en-US" sz="280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 </a:t>
            </a:r>
            <a:r>
              <a:rPr lang="ko-KR" altLang="en-US" sz="2800" dirty="0" err="1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컬링</a:t>
            </a:r>
            <a:r>
              <a:rPr lang="ko-KR" altLang="en-US" sz="280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 정보를 모두 활용한 경우를 비교군으로 설정하였다</a:t>
            </a:r>
            <a:r>
              <a:rPr lang="en-US" altLang="ko-KR" sz="280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. </a:t>
            </a:r>
            <a:r>
              <a:rPr lang="ko-KR" altLang="en-US" sz="2800" b="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총 </a:t>
            </a:r>
            <a:r>
              <a:rPr lang="en-US" altLang="ko-KR" sz="2800" b="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302</a:t>
            </a:r>
            <a:r>
              <a:rPr lang="ko-KR" altLang="en-US" sz="2800" b="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개의 드로우 콜 대상 인스턴스에 대해</a:t>
            </a:r>
            <a:r>
              <a:rPr lang="en-US" altLang="ko-KR" sz="280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 </a:t>
            </a:r>
            <a:r>
              <a:rPr lang="ko-KR" altLang="en-US" sz="280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샘플 장면을 렌더링해</a:t>
            </a:r>
            <a:r>
              <a:rPr lang="en-US" altLang="ko-KR" sz="280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, </a:t>
            </a:r>
            <a:r>
              <a:rPr lang="ko-KR" altLang="en-US" sz="280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총 </a:t>
            </a:r>
            <a:r>
              <a:rPr lang="en-US" altLang="ko-KR" sz="280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3600</a:t>
            </a:r>
            <a:r>
              <a:rPr lang="ko-KR" altLang="en-US" sz="280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회의 프레임 업데이트에 대한 평균 애니메이션 갱신 횟수</a:t>
            </a:r>
            <a:r>
              <a:rPr lang="en-US" altLang="ko-KR" sz="280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, </a:t>
            </a:r>
            <a:r>
              <a:rPr lang="ko-KR" altLang="en-US" sz="280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평균 총 애니메이션 갱신 시간을 측정했다</a:t>
            </a:r>
            <a:r>
              <a:rPr lang="en-US" altLang="ko-KR" sz="280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. </a:t>
            </a:r>
            <a:r>
              <a:rPr lang="ko-KR" altLang="en-US" sz="280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그 결과는 다음과 같다</a:t>
            </a:r>
            <a:r>
              <a:rPr lang="en-US" altLang="ko-KR" sz="280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.</a:t>
            </a:r>
            <a:endParaRPr sz="2800" b="0" dirty="0">
              <a:solidFill>
                <a:srgbClr val="333A43"/>
              </a:solidFill>
              <a:latin typeface="Noto Serif KR" panose="02020200000000000000" pitchFamily="18" charset="-127"/>
              <a:ea typeface="Noto Serif KR" panose="02020200000000000000" pitchFamily="18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440000" y="32116887"/>
            <a:ext cx="8568000" cy="1435113"/>
          </a:xfrm>
          <a:prstGeom prst="rect">
            <a:avLst/>
          </a:prstGeom>
          <a:noFill/>
        </p:spPr>
        <p:txBody>
          <a:bodyPr wrap="square" lIns="43200" tIns="18000" rIns="43200" bIns="18000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0" dirty="0" err="1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해석</a:t>
            </a:r>
            <a:r>
              <a:rPr sz="2800" b="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: </a:t>
            </a:r>
            <a:r>
              <a:rPr sz="2800" b="0" dirty="0" err="1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readback과</a:t>
            </a:r>
            <a:r>
              <a:rPr sz="2800" b="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 </a:t>
            </a:r>
            <a:r>
              <a:rPr sz="2800" b="0" dirty="0" err="1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객체</a:t>
            </a:r>
            <a:r>
              <a:rPr sz="2800" b="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 </a:t>
            </a:r>
            <a:r>
              <a:rPr sz="2800" b="0" dirty="0" err="1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가시성</a:t>
            </a:r>
            <a:r>
              <a:rPr sz="2800" b="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 </a:t>
            </a:r>
            <a:r>
              <a:rPr sz="2800" b="0" dirty="0" err="1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병합</a:t>
            </a:r>
            <a:r>
              <a:rPr sz="2800" b="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 </a:t>
            </a:r>
            <a:r>
              <a:rPr sz="2800" b="0" dirty="0" err="1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비용이</a:t>
            </a:r>
            <a:r>
              <a:rPr sz="2800" b="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 </a:t>
            </a:r>
            <a:r>
              <a:rPr sz="2800" b="0" dirty="0" err="1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매우</a:t>
            </a:r>
            <a:r>
              <a:rPr sz="2800" b="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 </a:t>
            </a:r>
            <a:r>
              <a:rPr sz="2800" b="0" dirty="0" err="1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작아</a:t>
            </a:r>
            <a:r>
              <a:rPr sz="2800" b="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, CPU </a:t>
            </a:r>
            <a:r>
              <a:rPr sz="2800" b="0" dirty="0" err="1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기반</a:t>
            </a:r>
            <a:r>
              <a:rPr sz="2800" b="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 </a:t>
            </a:r>
            <a:r>
              <a:rPr sz="2800" b="0" dirty="0" err="1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애니메이션이</a:t>
            </a:r>
            <a:r>
              <a:rPr sz="2800" b="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 </a:t>
            </a:r>
            <a:r>
              <a:rPr sz="2800" b="0" dirty="0" err="1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주요</a:t>
            </a:r>
            <a:r>
              <a:rPr sz="2800" b="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 </a:t>
            </a:r>
            <a:r>
              <a:rPr sz="2800" b="0" dirty="0" err="1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병목이</a:t>
            </a:r>
            <a:r>
              <a:rPr sz="2800" b="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 </a:t>
            </a:r>
            <a:r>
              <a:rPr sz="2800" b="0" dirty="0" err="1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되는</a:t>
            </a:r>
            <a:r>
              <a:rPr sz="2800" b="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 </a:t>
            </a:r>
            <a:r>
              <a:rPr sz="2800" b="0" dirty="0" err="1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장면에서</a:t>
            </a:r>
            <a:r>
              <a:rPr sz="2800" b="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 </a:t>
            </a:r>
            <a:r>
              <a:rPr sz="2800" b="0" dirty="0" err="1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효과가</a:t>
            </a:r>
            <a:r>
              <a:rPr sz="2800" b="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 </a:t>
            </a:r>
            <a:r>
              <a:rPr sz="2800" b="0" dirty="0" err="1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크다</a:t>
            </a:r>
            <a:r>
              <a:rPr sz="2800" b="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. </a:t>
            </a:r>
            <a:r>
              <a:rPr sz="2800" b="0" dirty="0" err="1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렌더링</a:t>
            </a:r>
            <a:r>
              <a:rPr sz="2800" b="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 </a:t>
            </a:r>
            <a:r>
              <a:rPr sz="2800" b="0" dirty="0" err="1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품질을</a:t>
            </a:r>
            <a:r>
              <a:rPr sz="2800" b="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 </a:t>
            </a:r>
            <a:r>
              <a:rPr sz="2800" b="0" dirty="0" err="1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유지하면서</a:t>
            </a:r>
            <a:r>
              <a:rPr sz="2800" b="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 </a:t>
            </a:r>
            <a:r>
              <a:rPr sz="2800" b="0" dirty="0" err="1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보이지</a:t>
            </a:r>
            <a:r>
              <a:rPr sz="2800" b="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 </a:t>
            </a:r>
            <a:r>
              <a:rPr sz="2800" b="0" dirty="0" err="1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않는</a:t>
            </a:r>
            <a:r>
              <a:rPr sz="2800" b="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 </a:t>
            </a:r>
            <a:r>
              <a:rPr sz="2800" b="0" dirty="0" err="1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객체의</a:t>
            </a:r>
            <a:r>
              <a:rPr sz="2800" b="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 </a:t>
            </a:r>
            <a:r>
              <a:rPr sz="2800" b="0" dirty="0" err="1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애니메이션</a:t>
            </a:r>
            <a:r>
              <a:rPr sz="2800" b="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 </a:t>
            </a:r>
            <a:r>
              <a:rPr sz="2800" b="0" dirty="0" err="1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계산을</a:t>
            </a:r>
            <a:r>
              <a:rPr sz="2800" b="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 </a:t>
            </a:r>
            <a:r>
              <a:rPr sz="2800" b="0" dirty="0" err="1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줄이는</a:t>
            </a:r>
            <a:r>
              <a:rPr sz="2800" b="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 </a:t>
            </a:r>
            <a:r>
              <a:rPr sz="2800" b="0" dirty="0" err="1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것이</a:t>
            </a:r>
            <a:r>
              <a:rPr sz="2800" b="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 </a:t>
            </a:r>
            <a:r>
              <a:rPr sz="2800" b="0" dirty="0" err="1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핵심이다</a:t>
            </a:r>
            <a:r>
              <a:rPr sz="2800" b="0" dirty="0">
                <a:solidFill>
                  <a:srgbClr val="333A43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52000" y="35280000"/>
            <a:ext cx="27972000" cy="2988000"/>
          </a:xfrm>
          <a:prstGeom prst="rect">
            <a:avLst/>
          </a:prstGeom>
          <a:solidFill>
            <a:srgbClr val="EEF2F6"/>
          </a:solidFill>
          <a:ln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440000" y="35460000"/>
            <a:ext cx="27288000" cy="288000"/>
          </a:xfrm>
          <a:prstGeom prst="rect">
            <a:avLst/>
          </a:prstGeom>
          <a:noFill/>
        </p:spPr>
        <p:txBody>
          <a:bodyPr wrap="square" lIns="43200" tIns="18000" rIns="43200" bIns="18000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646E79"/>
                </a:solidFill>
                <a:latin typeface="Malgun Gothic"/>
              </a:rPr>
              <a:t>참고문헌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440000" y="35856000"/>
            <a:ext cx="27288000" cy="1404000"/>
          </a:xfrm>
          <a:prstGeom prst="rect">
            <a:avLst/>
          </a:prstGeom>
          <a:noFill/>
        </p:spPr>
        <p:txBody>
          <a:bodyPr wrap="square" lIns="43200" tIns="18000" rIns="43200" bIns="18000">
            <a:noAutofit/>
          </a:bodyPr>
          <a:lstStyle/>
          <a:p>
            <a:pPr algn="l">
              <a:lnSpc>
                <a:spcPct val="105000"/>
              </a:lnSpc>
            </a:pPr>
            <a:r>
              <a:rPr sz="940" b="0">
                <a:solidFill>
                  <a:srgbClr val="646E79"/>
                </a:solidFill>
                <a:latin typeface="Malgun Gothic"/>
              </a:rPr>
              <a:t>[1] B. Dudash, Skinned Instancing, NVIDIA SDK 10, 2007.  [2] N. Greene et al., Hierarchical Z-buffer visibility, SIGGRAPH, 1993.  [3] H. Zhang et al., Visibility Culling Using Hierarchical Occlusion Maps, SIGGRAPH, 1997.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440000" y="37152000"/>
            <a:ext cx="27288000" cy="612000"/>
          </a:xfrm>
          <a:prstGeom prst="rect">
            <a:avLst/>
          </a:prstGeom>
          <a:noFill/>
        </p:spPr>
        <p:txBody>
          <a:bodyPr wrap="square" lIns="43200" tIns="18000" rIns="43200" bIns="18000">
            <a:noAutofit/>
          </a:bodyPr>
          <a:lstStyle/>
          <a:p>
            <a:pPr algn="l">
              <a:lnSpc>
                <a:spcPct val="105000"/>
              </a:lnSpc>
            </a:pPr>
            <a:r>
              <a:rPr sz="940" b="0">
                <a:solidFill>
                  <a:srgbClr val="646E79"/>
                </a:solidFill>
                <a:latin typeface="Malgun Gothic"/>
              </a:rPr>
              <a:t>[4] U. Haar and S. Aaltonen, GPU-Driven Rendering Pipelines, SIGGRAPH Course, 2015.  [5] B. Karis et al., Nanite, SIGGRAPH Course, 2021.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40176000"/>
            <a:ext cx="30275999" cy="2628000"/>
          </a:xfrm>
          <a:prstGeom prst="rect">
            <a:avLst/>
          </a:prstGeom>
          <a:solidFill>
            <a:srgbClr val="152D49"/>
          </a:solidFill>
          <a:ln>
            <a:solidFill>
              <a:srgbClr val="152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080000" y="40500000"/>
            <a:ext cx="20880000" cy="576000"/>
          </a:xfrm>
          <a:prstGeom prst="rect">
            <a:avLst/>
          </a:prstGeom>
          <a:noFill/>
        </p:spPr>
        <p:txBody>
          <a:bodyPr wrap="square" lIns="43200" tIns="18000" rIns="43200" bIns="1800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FFFFFF"/>
                </a:solidFill>
                <a:latin typeface="Malgun Gothic"/>
              </a:rPr>
              <a:t>본 연구는 2026년도 과학기술정보통신부 및 정보통신기획평가원의 'SW중심대학사업' 지원을 받아 수행되었음(2025-0-00050)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140000" y="40500000"/>
            <a:ext cx="7020000" cy="468000"/>
          </a:xfrm>
          <a:prstGeom prst="rect">
            <a:avLst/>
          </a:prstGeom>
          <a:noFill/>
        </p:spPr>
        <p:txBody>
          <a:bodyPr wrap="square" lIns="43200" tIns="18000" rIns="43200" bIns="18000">
            <a:noAutofit/>
          </a:bodyPr>
          <a:lstStyle/>
          <a:p>
            <a:pPr algn="r">
              <a:lnSpc>
                <a:spcPct val="105000"/>
              </a:lnSpc>
            </a:pPr>
            <a:r>
              <a:rPr sz="1250" b="0">
                <a:solidFill>
                  <a:srgbClr val="DDE8F2"/>
                </a:solidFill>
                <a:latin typeface="Malgun Gothic"/>
              </a:rPr>
              <a:t>2026 한국게임학회 춘계 학술발표대회</a:t>
            </a:r>
          </a:p>
        </p:txBody>
      </p:sp>
      <p:pic>
        <p:nvPicPr>
          <p:cNvPr id="76" name="그림 75">
            <a:extLst>
              <a:ext uri="{FF2B5EF4-FFF2-40B4-BE49-F238E27FC236}">
                <a16:creationId xmlns:a16="http://schemas.microsoft.com/office/drawing/2014/main" id="{C9ED7AC8-9ECB-7EF7-6094-19A223796FA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8000"/>
          </a:blip>
          <a:stretch/>
        </p:blipFill>
        <p:spPr>
          <a:xfrm>
            <a:off x="7613606" y="12085764"/>
            <a:ext cx="14724787" cy="16760472"/>
          </a:xfrm>
          <a:prstGeom prst="rect">
            <a:avLst/>
          </a:prstGeom>
        </p:spPr>
      </p:pic>
      <p:pic>
        <p:nvPicPr>
          <p:cNvPr id="80" name="그림 79">
            <a:extLst>
              <a:ext uri="{FF2B5EF4-FFF2-40B4-BE49-F238E27FC236}">
                <a16:creationId xmlns:a16="http://schemas.microsoft.com/office/drawing/2014/main" id="{86D30B8B-C567-872C-C525-9CADC502A85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3185" t="55884" r="6593" b="16507"/>
          <a:stretch>
            <a:fillRect/>
          </a:stretch>
        </p:blipFill>
        <p:spPr>
          <a:xfrm>
            <a:off x="702000" y="138528"/>
            <a:ext cx="4523401" cy="4371648"/>
          </a:xfrm>
          <a:prstGeom prst="rect">
            <a:avLst/>
          </a:prstGeom>
        </p:spPr>
      </p:pic>
      <p:graphicFrame>
        <p:nvGraphicFramePr>
          <p:cNvPr id="12" name="차트 11">
            <a:extLst>
              <a:ext uri="{FF2B5EF4-FFF2-40B4-BE49-F238E27FC236}">
                <a16:creationId xmlns:a16="http://schemas.microsoft.com/office/drawing/2014/main" id="{06F7B13E-163D-B9CB-19AC-7BBA3F577E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74605486"/>
              </p:ext>
            </p:extLst>
          </p:nvPr>
        </p:nvGraphicFramePr>
        <p:xfrm>
          <a:off x="1152000" y="25536807"/>
          <a:ext cx="8881331" cy="625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800000" y="34067729"/>
            <a:ext cx="8568000" cy="1116000"/>
          </a:xfrm>
          <a:prstGeom prst="rect">
            <a:avLst/>
          </a:prstGeom>
          <a:noFill/>
        </p:spPr>
        <p:txBody>
          <a:bodyPr wrap="square" lIns="43200" tIns="18000" rIns="43200" bIns="18000">
            <a:noAutofit/>
          </a:bodyPr>
          <a:lstStyle/>
          <a:p>
            <a:pPr algn="l">
              <a:lnSpc>
                <a:spcPct val="105000"/>
              </a:lnSpc>
            </a:pPr>
            <a:r>
              <a:rPr sz="1550" b="0" dirty="0" err="1">
                <a:solidFill>
                  <a:srgbClr val="646E79"/>
                </a:solidFill>
                <a:latin typeface="Malgun Gothic"/>
              </a:rPr>
              <a:t>성능</a:t>
            </a:r>
            <a:r>
              <a:rPr sz="1550" b="0" dirty="0">
                <a:solidFill>
                  <a:srgbClr val="646E79"/>
                </a:solidFill>
                <a:latin typeface="Malgun Gothic"/>
              </a:rPr>
              <a:t> </a:t>
            </a:r>
            <a:r>
              <a:rPr sz="1550" b="0" dirty="0" err="1">
                <a:solidFill>
                  <a:srgbClr val="646E79"/>
                </a:solidFill>
                <a:latin typeface="Malgun Gothic"/>
              </a:rPr>
              <a:t>평가는</a:t>
            </a:r>
            <a:r>
              <a:rPr sz="1550" b="0" dirty="0">
                <a:solidFill>
                  <a:srgbClr val="646E79"/>
                </a:solidFill>
                <a:latin typeface="Malgun Gothic"/>
              </a:rPr>
              <a:t> Ryzen 7 7800X3D, RTX 4070 Ti SUPER, Windows 11 </a:t>
            </a:r>
            <a:r>
              <a:rPr sz="1550" b="0" dirty="0" err="1">
                <a:solidFill>
                  <a:srgbClr val="646E79"/>
                </a:solidFill>
                <a:latin typeface="Malgun Gothic"/>
              </a:rPr>
              <a:t>환경에서</a:t>
            </a:r>
            <a:r>
              <a:rPr sz="1550" b="0" dirty="0">
                <a:solidFill>
                  <a:srgbClr val="646E79"/>
                </a:solidFill>
                <a:latin typeface="Malgun Gothic"/>
              </a:rPr>
              <a:t> </a:t>
            </a:r>
            <a:r>
              <a:rPr sz="1550" b="0" dirty="0" err="1">
                <a:solidFill>
                  <a:srgbClr val="646E79"/>
                </a:solidFill>
                <a:latin typeface="Malgun Gothic"/>
              </a:rPr>
              <a:t>수행되었다</a:t>
            </a:r>
            <a:r>
              <a:rPr sz="1550" b="0" dirty="0">
                <a:solidFill>
                  <a:srgbClr val="646E79"/>
                </a:solidFill>
                <a:latin typeface="Malgun Gothic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715</Words>
  <Application>Microsoft Office PowerPoint</Application>
  <PresentationFormat>사용자 지정</PresentationFormat>
  <Paragraphs>44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Noto Sans KR Medium</vt:lpstr>
      <vt:lpstr>Noto Serif KR</vt:lpstr>
      <vt:lpstr>Malgun Gothic</vt:lpstr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장명운(2020180033)</cp:lastModifiedBy>
  <cp:revision>6</cp:revision>
  <dcterms:created xsi:type="dcterms:W3CDTF">2013-01-27T09:14:16Z</dcterms:created>
  <dcterms:modified xsi:type="dcterms:W3CDTF">2026-05-26T21:07:36Z</dcterms:modified>
  <cp:category/>
</cp:coreProperties>
</file>