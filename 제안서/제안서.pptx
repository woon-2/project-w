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269" r:id="rId3"/>
    <p:sldId id="268" r:id="rId4"/>
    <p:sldId id="270" r:id="rId5"/>
    <p:sldId id="276" r:id="rId6"/>
    <p:sldId id="277" r:id="rId7"/>
    <p:sldId id="271" r:id="rId8"/>
    <p:sldId id="272" r:id="rId9"/>
    <p:sldId id="275" r:id="rId10"/>
    <p:sldId id="273" r:id="rId11"/>
    <p:sldId id="274" r:id="rId12"/>
    <p:sldId id="278" r:id="rId13"/>
    <p:sldId id="281" r:id="rId14"/>
    <p:sldId id="279" r:id="rId15"/>
    <p:sldId id="280" r:id="rId16"/>
    <p:sldId id="267" r:id="rId17"/>
    <p:sldId id="283" r:id="rId18"/>
    <p:sldId id="284" r:id="rId19"/>
    <p:sldId id="285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</p:sldIdLst>
  <p:sldSz cx="18288000" cy="10287000"/>
  <p:notesSz cx="6858000" cy="9144000"/>
  <p:embeddedFontLst>
    <p:embeddedFont>
      <p:font typeface="210 디딤고딕" panose="020B0600000101010101" charset="-127"/>
      <p:regular r:id="rId31"/>
    </p:embeddedFont>
    <p:embeddedFont>
      <p:font typeface="210 디딤고딕 Light" panose="020B0600000101010101" charset="-127"/>
      <p:regular r:id="rId32"/>
    </p:embeddedFont>
    <p:embeddedFont>
      <p:font typeface="210 밀레니얼" panose="020B0600000101010101" charset="-127"/>
      <p:regular r:id="rId33"/>
    </p:embeddedFont>
    <p:embeddedFont>
      <p:font typeface="210 밀레니얼 Light" panose="020B0600000101010101" charset="-127"/>
      <p:regular r:id="rId34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E6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7" d="100"/>
          <a:sy n="97" d="100"/>
        </p:scale>
        <p:origin x="114" y="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DC739-243D-47E1-A733-16D1459E3ED0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69CB2-B027-42F6-9EBA-41B1D35EA6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201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69CB2-B027-42F6-9EBA-41B1D35EA6B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428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11" Type="http://schemas.openxmlformats.org/officeDocument/2006/relationships/image" Target="../media/image15.jpe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Relationship Id="rId1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jp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30919" y="3255915"/>
            <a:ext cx="11226161" cy="187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3"/>
              </a:lnSpc>
            </a:pPr>
            <a:r>
              <a:rPr lang="ko-KR" altLang="en-US" sz="9600" dirty="0">
                <a:solidFill>
                  <a:srgbClr val="3087BB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이방인</a:t>
            </a:r>
            <a:r>
              <a:rPr lang="en-US" altLang="ko-KR" sz="9600" dirty="0">
                <a:solidFill>
                  <a:srgbClr val="3087BB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(Outlander)</a:t>
            </a:r>
            <a:endParaRPr lang="en-US" sz="9600" dirty="0">
              <a:solidFill>
                <a:srgbClr val="3087BB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30919" y="5029448"/>
            <a:ext cx="11226161" cy="187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3"/>
              </a:lnSpc>
            </a:pPr>
            <a:r>
              <a:rPr lang="ko-KR" altLang="en-US" sz="9600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종합설계기획 제안서</a:t>
            </a:r>
            <a:endParaRPr lang="en-US" sz="9600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A2C213A-815D-1C0F-CF82-C8D3C9D958BF}"/>
              </a:ext>
            </a:extLst>
          </p:cNvPr>
          <p:cNvGrpSpPr/>
          <p:nvPr/>
        </p:nvGrpSpPr>
        <p:grpSpPr>
          <a:xfrm>
            <a:off x="3891134" y="8686656"/>
            <a:ext cx="10505730" cy="382270"/>
            <a:chOff x="4427043" y="8651032"/>
            <a:chExt cx="10505730" cy="382270"/>
          </a:xfrm>
        </p:grpSpPr>
        <p:sp>
          <p:nvSpPr>
            <p:cNvPr id="10" name="TextBox 10"/>
            <p:cNvSpPr txBox="1"/>
            <p:nvPr/>
          </p:nvSpPr>
          <p:spPr>
            <a:xfrm>
              <a:off x="12268200" y="8651032"/>
              <a:ext cx="2664573" cy="3787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  <a:spcBef>
                  <a:spcPct val="0"/>
                </a:spcBef>
              </a:pPr>
              <a:r>
                <a:rPr lang="en-US" altLang="ko-KR" sz="2199" dirty="0">
                  <a:solidFill>
                    <a:srgbClr val="3087BB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2020184026 </a:t>
              </a:r>
              <a:r>
                <a:rPr lang="ko-KR" altLang="en-US" sz="2199" dirty="0">
                  <a:solidFill>
                    <a:srgbClr val="3087BB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이종진</a:t>
              </a:r>
              <a:endParaRPr lang="en-US" altLang="ko-KR" sz="2199" u="none" strike="noStrike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0147" y="8651032"/>
              <a:ext cx="2737109" cy="3787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dirty="0">
                  <a:solidFill>
                    <a:srgbClr val="3087BB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2020184021 </a:t>
              </a:r>
              <a:r>
                <a:rPr lang="ko-KR" altLang="en-US" sz="2199" dirty="0">
                  <a:solidFill>
                    <a:srgbClr val="3087BB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우상훈</a:t>
              </a:r>
              <a:endPara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27043" y="8651032"/>
              <a:ext cx="2943283" cy="382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 dirty="0">
                  <a:solidFill>
                    <a:srgbClr val="3087BB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2020180033 </a:t>
              </a:r>
              <a:r>
                <a:rPr lang="ko-KR" altLang="en-US" sz="2199" dirty="0">
                  <a:solidFill>
                    <a:srgbClr val="3087BB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장명운</a:t>
              </a:r>
              <a:endParaRPr lang="en-US" sz="2199" u="none" strike="noStrike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endParaRP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7543800" y="8733158"/>
              <a:ext cx="0" cy="249374"/>
            </a:xfrm>
            <a:prstGeom prst="line">
              <a:avLst/>
            </a:prstGeom>
            <a:ln w="19050" cap="flat">
              <a:solidFill>
                <a:srgbClr val="3087B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11430000" y="8733158"/>
              <a:ext cx="0" cy="249374"/>
            </a:xfrm>
            <a:prstGeom prst="line">
              <a:avLst/>
            </a:prstGeom>
            <a:ln w="19050" cap="flat">
              <a:solidFill>
                <a:srgbClr val="3087B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D4482-738D-F0AC-BD5F-AE7813313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EA6AA8-FFC2-D37F-F4FC-A4C6FB8FBBBF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5D39369-CA10-CEBB-FBA7-9DD66FB27D22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6186D40-7D2B-3314-DFCA-2EECF39DA95B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1E94F39D-4D6A-6DF6-87D0-E965A76717C4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231D538-A653-AA2A-02B0-BE630B63DBB8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DD775CA-51EF-733D-77DC-967D253B1939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13BEE410-D40C-F514-E32B-0654982DE762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개발 환경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pic>
        <p:nvPicPr>
          <p:cNvPr id="9" name="그림 8" descr="그래픽, 상징, 원, 스크린샷이(가) 표시된 사진&#10;&#10;자동 생성된 설명">
            <a:extLst>
              <a:ext uri="{FF2B5EF4-FFF2-40B4-BE49-F238E27FC236}">
                <a16:creationId xmlns:a16="http://schemas.microsoft.com/office/drawing/2014/main" id="{D22AAE53-16CA-200A-F014-9A41E4E98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464" y="4086225"/>
            <a:ext cx="3200000" cy="3600000"/>
          </a:xfrm>
          <a:prstGeom prst="rect">
            <a:avLst/>
          </a:prstGeom>
        </p:spPr>
      </p:pic>
      <p:pic>
        <p:nvPicPr>
          <p:cNvPr id="11" name="그림 10" descr="삼각형, 국기, 디자인이(가) 표시된 사진&#10;&#10;자동 생성된 설명">
            <a:extLst>
              <a:ext uri="{FF2B5EF4-FFF2-40B4-BE49-F238E27FC236}">
                <a16:creationId xmlns:a16="http://schemas.microsoft.com/office/drawing/2014/main" id="{358351B3-14CD-C33B-FA64-DC0FE85D5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998" y="4057650"/>
            <a:ext cx="3600000" cy="3600000"/>
          </a:xfrm>
          <a:prstGeom prst="rect">
            <a:avLst/>
          </a:prstGeom>
        </p:spPr>
      </p:pic>
      <p:pic>
        <p:nvPicPr>
          <p:cNvPr id="13" name="그림 12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E706A00A-0D76-F159-811F-F306085DD6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2532" y="4114800"/>
            <a:ext cx="3629032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25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9A51F0-5C34-5340-2D2F-69BDFA87E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0255ECB-18DA-3C4E-9047-6407C43F4AA3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2832709-BC37-61F3-5FE3-732D5902BA6A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C8048EE-2223-59DF-B873-5173F2299DBA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5B7BE068-57DB-D8CB-3959-D6A6DBBDBF9B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D5F15EDB-A63C-C4DE-7B43-1CA4716163A8}"/>
              </a:ext>
            </a:extLst>
          </p:cNvPr>
          <p:cNvGrpSpPr/>
          <p:nvPr/>
        </p:nvGrpSpPr>
        <p:grpSpPr>
          <a:xfrm>
            <a:off x="8153400" y="4036890"/>
            <a:ext cx="7974146" cy="1382047"/>
            <a:chOff x="0" y="0"/>
            <a:chExt cx="1788168" cy="36399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F998D311-8474-6371-9BD1-EFB6182F9A09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4FE9AC42-A08B-F373-D42A-D7D498D418DB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8451BD5-A480-3BD9-88CF-716E5F9442D1}"/>
              </a:ext>
            </a:extLst>
          </p:cNvPr>
          <p:cNvGrpSpPr/>
          <p:nvPr/>
        </p:nvGrpSpPr>
        <p:grpSpPr>
          <a:xfrm>
            <a:off x="8153400" y="5657062"/>
            <a:ext cx="7974146" cy="1382047"/>
            <a:chOff x="0" y="0"/>
            <a:chExt cx="1788168" cy="363996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05B59B5-B825-A38B-176A-8C4FCF8248CD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C6A57C42-FBB9-55EA-2147-6DEAEC2B8CFE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63ECBECC-7A60-DEA6-FD2A-47F17295A416}"/>
              </a:ext>
            </a:extLst>
          </p:cNvPr>
          <p:cNvGrpSpPr/>
          <p:nvPr/>
        </p:nvGrpSpPr>
        <p:grpSpPr>
          <a:xfrm>
            <a:off x="8153400" y="7277234"/>
            <a:ext cx="7974146" cy="1382047"/>
            <a:chOff x="0" y="0"/>
            <a:chExt cx="1788168" cy="363996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F20EE6BB-DCF4-FA9E-3D13-7FDD5165FFCE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1C992C8E-EAAE-B001-04FD-8A554A9D6952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BEA49186-0C84-1179-3887-C51649AD4631}"/>
              </a:ext>
            </a:extLst>
          </p:cNvPr>
          <p:cNvGrpSpPr/>
          <p:nvPr/>
        </p:nvGrpSpPr>
        <p:grpSpPr>
          <a:xfrm>
            <a:off x="2160455" y="4036890"/>
            <a:ext cx="5510101" cy="4622392"/>
            <a:chOff x="0" y="0"/>
            <a:chExt cx="1451220" cy="121742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CABB95BD-FF8C-A8B8-DEAF-845CF92C1ADE}"/>
                </a:ext>
              </a:extLst>
            </p:cNvPr>
            <p:cNvSpPr/>
            <p:nvPr/>
          </p:nvSpPr>
          <p:spPr>
            <a:xfrm>
              <a:off x="0" y="0"/>
              <a:ext cx="1451220" cy="1217420"/>
            </a:xfrm>
            <a:custGeom>
              <a:avLst/>
              <a:gdLst/>
              <a:ahLst/>
              <a:cxnLst/>
              <a:rect l="l" t="t" r="r" b="b"/>
              <a:pathLst>
                <a:path w="1451220" h="1217420">
                  <a:moveTo>
                    <a:pt x="0" y="0"/>
                  </a:moveTo>
                  <a:lnTo>
                    <a:pt x="1451220" y="0"/>
                  </a:lnTo>
                  <a:lnTo>
                    <a:pt x="1451220" y="1217420"/>
                  </a:lnTo>
                  <a:lnTo>
                    <a:pt x="0" y="1217420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E9E4611F-EDE1-63FA-F1E7-3446E9250A5B}"/>
                </a:ext>
              </a:extLst>
            </p:cNvPr>
            <p:cNvSpPr txBox="1"/>
            <p:nvPr/>
          </p:nvSpPr>
          <p:spPr>
            <a:xfrm>
              <a:off x="0" y="-47625"/>
              <a:ext cx="1451220" cy="1265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C0594ABF-761A-0914-A212-4A48A0E3648C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829A97B3-089A-FBA9-BE3D-ADD5E62AF742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B94D292-540D-EC66-3641-2925121210CF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연구 목적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BE712F88-A49C-1495-1231-63F515F9954D}"/>
              </a:ext>
            </a:extLst>
          </p:cNvPr>
          <p:cNvSpPr txBox="1"/>
          <p:nvPr/>
        </p:nvSpPr>
        <p:spPr>
          <a:xfrm>
            <a:off x="8541957" y="4304804"/>
            <a:ext cx="7346559" cy="798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D3D12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와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IOCP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를 활용한 멀티플레이어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Co-op </a:t>
            </a:r>
            <a:r>
              <a:rPr lang="en-US" altLang="ko-KR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PvE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개발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3D9995BA-F161-82FD-E7CA-8FD9E26674D3}"/>
              </a:ext>
            </a:extLst>
          </p:cNvPr>
          <p:cNvSpPr txBox="1"/>
          <p:nvPr/>
        </p:nvSpPr>
        <p:spPr>
          <a:xfrm>
            <a:off x="8541957" y="6130161"/>
            <a:ext cx="7346559" cy="388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거대 다수의 게임 객체의 자연스러운 업데이트와 렌더링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101A9604-3688-56D3-C987-A66453B5E3CC}"/>
              </a:ext>
            </a:extLst>
          </p:cNvPr>
          <p:cNvSpPr txBox="1"/>
          <p:nvPr/>
        </p:nvSpPr>
        <p:spPr>
          <a:xfrm>
            <a:off x="8541957" y="7743959"/>
            <a:ext cx="7346559" cy="387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집단 전술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AI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의 구현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pic>
        <p:nvPicPr>
          <p:cNvPr id="39" name="그래픽 38" descr="게임 컨트롤러 윤곽선">
            <a:extLst>
              <a:ext uri="{FF2B5EF4-FFF2-40B4-BE49-F238E27FC236}">
                <a16:creationId xmlns:a16="http://schemas.microsoft.com/office/drawing/2014/main" id="{387DA2EA-4AFC-7572-6A73-B81E2754F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1856" y="4251029"/>
            <a:ext cx="3819607" cy="381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64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2870B-EA80-ADA4-D244-097599AC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3B075EE-7C8D-0649-BD7D-CE015DC6DFF0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2FAA7D7-F3D0-5E36-F43F-D585BAF50476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5E0E0CD-C5D2-F062-53AF-7C8B5020F453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BB1F1DF3-EE41-2E90-515B-6D64D18F4C47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785BEB28-9E35-D371-F3AF-6B27B978FA64}"/>
              </a:ext>
            </a:extLst>
          </p:cNvPr>
          <p:cNvGrpSpPr/>
          <p:nvPr/>
        </p:nvGrpSpPr>
        <p:grpSpPr>
          <a:xfrm>
            <a:off x="3429000" y="3567110"/>
            <a:ext cx="11430000" cy="911374"/>
            <a:chOff x="0" y="0"/>
            <a:chExt cx="1788168" cy="36399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D224C00-66E9-298E-175D-62421F59DE01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0364F9C6-57D5-5737-8A4D-1ABA80B9DAA1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91259F9F-9398-5A3A-5679-A9E6624FA051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2061AFD1-8671-B184-5891-A602D5EE9AC5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326F596D-578C-D760-EA73-2477E9B4E62B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게임 개요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33D1B92C-FB14-B867-16F0-BBD9CD798FA5}"/>
              </a:ext>
            </a:extLst>
          </p:cNvPr>
          <p:cNvSpPr txBox="1"/>
          <p:nvPr/>
        </p:nvSpPr>
        <p:spPr>
          <a:xfrm>
            <a:off x="3817557" y="3835023"/>
            <a:ext cx="10530428" cy="388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장르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: 4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인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Co-op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전술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MO RPG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grpSp>
        <p:nvGrpSpPr>
          <p:cNvPr id="13" name="Group 15">
            <a:extLst>
              <a:ext uri="{FF2B5EF4-FFF2-40B4-BE49-F238E27FC236}">
                <a16:creationId xmlns:a16="http://schemas.microsoft.com/office/drawing/2014/main" id="{DC81605F-794A-6687-DC0F-DE3B2CF4AEA5}"/>
              </a:ext>
            </a:extLst>
          </p:cNvPr>
          <p:cNvGrpSpPr/>
          <p:nvPr/>
        </p:nvGrpSpPr>
        <p:grpSpPr>
          <a:xfrm>
            <a:off x="3429000" y="4828604"/>
            <a:ext cx="11430000" cy="911374"/>
            <a:chOff x="0" y="0"/>
            <a:chExt cx="1788168" cy="363996"/>
          </a:xfrm>
        </p:grpSpPr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67E8CDB3-1100-F88F-73A5-9DED7B56693D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41D3DBE7-68A7-7F8F-0571-EB677DFD9CB5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28" name="TextBox 35">
            <a:extLst>
              <a:ext uri="{FF2B5EF4-FFF2-40B4-BE49-F238E27FC236}">
                <a16:creationId xmlns:a16="http://schemas.microsoft.com/office/drawing/2014/main" id="{CDC05915-0865-FFEE-0A71-884803896028}"/>
              </a:ext>
            </a:extLst>
          </p:cNvPr>
          <p:cNvSpPr txBox="1"/>
          <p:nvPr/>
        </p:nvSpPr>
        <p:spPr>
          <a:xfrm>
            <a:off x="3817557" y="4884918"/>
            <a:ext cx="10530428" cy="798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타깃 소비자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: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이미 많은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RPG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게임들을 플레이해오면서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“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다수의 적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=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단순함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“,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“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공략하는 재미가 있음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=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보스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”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의 공식을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지루해하는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20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대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-30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대 게이머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grpSp>
        <p:nvGrpSpPr>
          <p:cNvPr id="29" name="Group 15">
            <a:extLst>
              <a:ext uri="{FF2B5EF4-FFF2-40B4-BE49-F238E27FC236}">
                <a16:creationId xmlns:a16="http://schemas.microsoft.com/office/drawing/2014/main" id="{B70634CB-620B-84F7-1CE3-82A6FD60D9BA}"/>
              </a:ext>
            </a:extLst>
          </p:cNvPr>
          <p:cNvGrpSpPr/>
          <p:nvPr/>
        </p:nvGrpSpPr>
        <p:grpSpPr>
          <a:xfrm>
            <a:off x="3429000" y="6234110"/>
            <a:ext cx="11430000" cy="2876196"/>
            <a:chOff x="0" y="0"/>
            <a:chExt cx="1788168" cy="363996"/>
          </a:xfrm>
        </p:grpSpPr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6A735679-EF66-B161-BEA6-BD4E872CA428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88E39F6E-4CA2-2880-BE3E-9FD9CE8474F4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38" name="TextBox 35">
            <a:extLst>
              <a:ext uri="{FF2B5EF4-FFF2-40B4-BE49-F238E27FC236}">
                <a16:creationId xmlns:a16="http://schemas.microsoft.com/office/drawing/2014/main" id="{D25FA243-2F3D-E54E-C866-D0F3D18C8C4D}"/>
              </a:ext>
            </a:extLst>
          </p:cNvPr>
          <p:cNvSpPr txBox="1"/>
          <p:nvPr/>
        </p:nvSpPr>
        <p:spPr>
          <a:xfrm>
            <a:off x="3817557" y="6502023"/>
            <a:ext cx="10530428" cy="2029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플레이 목표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:</a:t>
            </a: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미지의 탐험 속에 숨겨진 무기들을 수집하여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좋아하는 무기와 함께 성장</a:t>
            </a:r>
            <a:endParaRPr lang="en-US" altLang="ko-KR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다양한 맵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기믹과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적의 전술을 파악하고 유동적으로 파티원의 역할을 분배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성공적으로 대응하여 높은 시스템 보너스를 받고 적을 격파</a:t>
            </a:r>
            <a:endParaRPr lang="en-US" altLang="ko-KR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총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6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가지 스테이지의 모든 보스를 클리어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70A9607D-1836-6174-5454-9AC331A2AAC2}"/>
              </a:ext>
            </a:extLst>
          </p:cNvPr>
          <p:cNvSpPr txBox="1"/>
          <p:nvPr/>
        </p:nvSpPr>
        <p:spPr>
          <a:xfrm>
            <a:off x="3276600" y="7737990"/>
            <a:ext cx="11430000" cy="10306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038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1D494-9C08-F44A-771B-C3AD03DF2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C24EEB-9FD0-7032-BC5B-9377A8B935AB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B7A9A54-0733-B2F9-16D1-343C1078BE03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18BDD06-32B6-0C7C-3B34-6243128516E7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0AB2B45B-F7F0-E175-293B-D88D2386791E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A3064267-E177-1025-298D-AD16C76133FD}"/>
              </a:ext>
            </a:extLst>
          </p:cNvPr>
          <p:cNvGrpSpPr/>
          <p:nvPr/>
        </p:nvGrpSpPr>
        <p:grpSpPr>
          <a:xfrm>
            <a:off x="8153400" y="4036890"/>
            <a:ext cx="7974146" cy="1382047"/>
            <a:chOff x="0" y="0"/>
            <a:chExt cx="1788168" cy="36399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DBE408F2-D8A1-7B65-7294-2C28D10FAAB9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71D31C96-072F-2B87-6A79-39C6A156CB37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F62FDEE2-05E6-EDFD-680B-900529FDDA2F}"/>
              </a:ext>
            </a:extLst>
          </p:cNvPr>
          <p:cNvGrpSpPr/>
          <p:nvPr/>
        </p:nvGrpSpPr>
        <p:grpSpPr>
          <a:xfrm>
            <a:off x="8153400" y="5657062"/>
            <a:ext cx="7974146" cy="1382047"/>
            <a:chOff x="0" y="0"/>
            <a:chExt cx="1788168" cy="363996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3B046B7F-B03C-05D0-8470-6C073EDA8CDC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18D97D59-BE12-6651-87A2-5F23166F74BC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BB6A49D6-B7DA-8304-3F7D-C7F88A9AAEE9}"/>
              </a:ext>
            </a:extLst>
          </p:cNvPr>
          <p:cNvGrpSpPr/>
          <p:nvPr/>
        </p:nvGrpSpPr>
        <p:grpSpPr>
          <a:xfrm>
            <a:off x="8153400" y="7277234"/>
            <a:ext cx="7974146" cy="1382047"/>
            <a:chOff x="0" y="0"/>
            <a:chExt cx="1788168" cy="363996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7BFADE58-D9B6-7DBD-E337-CC471835A737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D170E451-BBEA-B026-F3FC-312444D1E3BD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BD9FC68D-BA38-385B-8D2B-6AF0A00D589D}"/>
              </a:ext>
            </a:extLst>
          </p:cNvPr>
          <p:cNvGrpSpPr/>
          <p:nvPr/>
        </p:nvGrpSpPr>
        <p:grpSpPr>
          <a:xfrm>
            <a:off x="2160455" y="4036890"/>
            <a:ext cx="5510101" cy="4622392"/>
            <a:chOff x="0" y="0"/>
            <a:chExt cx="1451220" cy="121742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5B97A392-3FBC-F1EC-B338-EC1632C4577E}"/>
                </a:ext>
              </a:extLst>
            </p:cNvPr>
            <p:cNvSpPr/>
            <p:nvPr/>
          </p:nvSpPr>
          <p:spPr>
            <a:xfrm>
              <a:off x="0" y="0"/>
              <a:ext cx="1451220" cy="1217420"/>
            </a:xfrm>
            <a:custGeom>
              <a:avLst/>
              <a:gdLst/>
              <a:ahLst/>
              <a:cxnLst/>
              <a:rect l="l" t="t" r="r" b="b"/>
              <a:pathLst>
                <a:path w="1451220" h="1217420">
                  <a:moveTo>
                    <a:pt x="0" y="0"/>
                  </a:moveTo>
                  <a:lnTo>
                    <a:pt x="1451220" y="0"/>
                  </a:lnTo>
                  <a:lnTo>
                    <a:pt x="1451220" y="1217420"/>
                  </a:lnTo>
                  <a:lnTo>
                    <a:pt x="0" y="1217420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1C8CF5BD-EFE0-D201-C78E-7260E3C12FC3}"/>
                </a:ext>
              </a:extLst>
            </p:cNvPr>
            <p:cNvSpPr txBox="1"/>
            <p:nvPr/>
          </p:nvSpPr>
          <p:spPr>
            <a:xfrm>
              <a:off x="0" y="-47625"/>
              <a:ext cx="1451220" cy="1265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08FA9881-8B11-33CF-A38A-BC429EDAA30D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5AAE3547-483D-5C35-2193-5D7C37E14276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081BFD92-A562-89FD-6BBB-13C40652F385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캐릭터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E706616-3199-B0FE-E433-52AD192EB8EB}"/>
              </a:ext>
            </a:extLst>
          </p:cNvPr>
          <p:cNvSpPr txBox="1"/>
          <p:nvPr/>
        </p:nvSpPr>
        <p:spPr>
          <a:xfrm>
            <a:off x="8541957" y="4304804"/>
            <a:ext cx="7346559" cy="798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동일한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스탯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(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힘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체력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지능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)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과 능력치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(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최대 체력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방어력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이동 속도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적중률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회피율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무게 상한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)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로 시작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62388194-4E93-BC06-378F-FA2DFA9BBB92}"/>
              </a:ext>
            </a:extLst>
          </p:cNvPr>
          <p:cNvSpPr txBox="1"/>
          <p:nvPr/>
        </p:nvSpPr>
        <p:spPr>
          <a:xfrm>
            <a:off x="8541957" y="5950517"/>
            <a:ext cx="7346559" cy="798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각자 다른 무기를 성장시키고 다른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스탯을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찍으면서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캐릭터의 개성이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갖춰짐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E2A21696-98C1-322D-5286-E483F09244F2}"/>
              </a:ext>
            </a:extLst>
          </p:cNvPr>
          <p:cNvSpPr txBox="1"/>
          <p:nvPr/>
        </p:nvSpPr>
        <p:spPr>
          <a:xfrm>
            <a:off x="8541957" y="7743959"/>
            <a:ext cx="7346559" cy="387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탱킹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어그로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기동타격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화력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정찰의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5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가지 역할을 수행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3582804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77C44-6901-A201-B200-CFDC3213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6111896-00EB-D890-6A7F-3B0E09B563A3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0940F9C-2201-BC29-3989-95565DC0690B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8FAE0AF-F5B8-8B37-AEA9-9E9326170BC4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58E75D8F-76FF-A11E-1615-4B7970714960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B26EC11-0FA4-EBEE-2962-229BBB46069B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DDE791F-E4C3-8848-EB4F-3F186F3BA084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292952F-93C2-8D4A-EDE2-0153400391C2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무기 예시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pic>
        <p:nvPicPr>
          <p:cNvPr id="9" name="그림 8" descr="그래픽, 상징, 원, 스크린샷이(가) 표시된 사진&#10;&#10;자동 생성된 설명">
            <a:extLst>
              <a:ext uri="{FF2B5EF4-FFF2-40B4-BE49-F238E27FC236}">
                <a16:creationId xmlns:a16="http://schemas.microsoft.com/office/drawing/2014/main" id="{B60C020C-DBA7-42EA-BEEB-5C56ED673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464" y="4086225"/>
            <a:ext cx="3200000" cy="3600000"/>
          </a:xfrm>
          <a:prstGeom prst="rect">
            <a:avLst/>
          </a:prstGeom>
        </p:spPr>
      </p:pic>
      <p:pic>
        <p:nvPicPr>
          <p:cNvPr id="11" name="그림 10" descr="삼각형, 국기, 디자인이(가) 표시된 사진&#10;&#10;자동 생성된 설명">
            <a:extLst>
              <a:ext uri="{FF2B5EF4-FFF2-40B4-BE49-F238E27FC236}">
                <a16:creationId xmlns:a16="http://schemas.microsoft.com/office/drawing/2014/main" id="{8472D4AA-CB0B-2F88-A875-F83E49F36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998" y="4057650"/>
            <a:ext cx="3600000" cy="3600000"/>
          </a:xfrm>
          <a:prstGeom prst="rect">
            <a:avLst/>
          </a:prstGeom>
        </p:spPr>
      </p:pic>
      <p:pic>
        <p:nvPicPr>
          <p:cNvPr id="13" name="그림 12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40587875-ED90-A6A7-AA01-8D7E2BEA04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2532" y="4114800"/>
            <a:ext cx="3629032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39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DFE48-0EC1-6E0D-FBC6-A9080DBAB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E8461EC-7EA1-3CE2-0412-24711E955C96}"/>
              </a:ext>
            </a:extLst>
          </p:cNvPr>
          <p:cNvGrpSpPr/>
          <p:nvPr/>
        </p:nvGrpSpPr>
        <p:grpSpPr>
          <a:xfrm>
            <a:off x="815676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6364726-1F84-4702-D0D1-F32247145EB0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B9EC6A3-0484-D17A-9EAF-407E435BF17D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7A658ADE-2994-A9F4-7C4E-6C685E4402F4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396F25B-763A-9943-FA53-94F9937046CE}"/>
              </a:ext>
            </a:extLst>
          </p:cNvPr>
          <p:cNvGrpSpPr/>
          <p:nvPr/>
        </p:nvGrpSpPr>
        <p:grpSpPr>
          <a:xfrm>
            <a:off x="2133600" y="2218390"/>
            <a:ext cx="3109176" cy="3866670"/>
            <a:chOff x="0" y="0"/>
            <a:chExt cx="1098476" cy="136933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6D0D913-9F26-8E65-9208-CD1C90756F04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78857A5-94B9-DE4C-11F1-1E5E49C2689A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DC48BB64-F7DF-49C8-506C-B5BD92F47CDA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BB60ED3-E80D-CCBE-A7AF-A9C0C5603720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FFC1969-2BB9-661D-AF1F-88B2B8B93432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스테이지 구성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B206142-206D-1CB5-EAC2-30BA30221AA7}"/>
              </a:ext>
            </a:extLst>
          </p:cNvPr>
          <p:cNvSpPr txBox="1"/>
          <p:nvPr/>
        </p:nvSpPr>
        <p:spPr>
          <a:xfrm>
            <a:off x="2133600" y="5421192"/>
            <a:ext cx="310917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숲</a:t>
            </a:r>
            <a:r>
              <a:rPr lang="en-US" altLang="ko-KR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(Forest)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pic>
        <p:nvPicPr>
          <p:cNvPr id="31" name="그림 30" descr="텍스트, 지도, 폰트, 아틀라스이(가) 표시된 사진&#10;&#10;자동 생성된 설명">
            <a:extLst>
              <a:ext uri="{FF2B5EF4-FFF2-40B4-BE49-F238E27FC236}">
                <a16:creationId xmlns:a16="http://schemas.microsoft.com/office/drawing/2014/main" id="{BDB0DBD4-E54C-E78E-BEBF-9319F7B74D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3862480"/>
            <a:ext cx="4305300" cy="4305300"/>
          </a:xfrm>
          <a:prstGeom prst="rect">
            <a:avLst/>
          </a:prstGeom>
        </p:spPr>
      </p:pic>
      <p:pic>
        <p:nvPicPr>
          <p:cNvPr id="47" name="그림 46" descr="PC 게임, 만화 영화, 가상의 캐릭터, 스크린샷이(가) 표시된 사진&#10;&#10;자동 생성된 설명">
            <a:extLst>
              <a:ext uri="{FF2B5EF4-FFF2-40B4-BE49-F238E27FC236}">
                <a16:creationId xmlns:a16="http://schemas.microsoft.com/office/drawing/2014/main" id="{CCC72A0D-F30A-1189-6C52-D0BEB3CDFB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8" r="28979"/>
          <a:stretch/>
        </p:blipFill>
        <p:spPr>
          <a:xfrm>
            <a:off x="2302712" y="2473315"/>
            <a:ext cx="1219200" cy="1432818"/>
          </a:xfrm>
          <a:prstGeom prst="rect">
            <a:avLst/>
          </a:prstGeom>
        </p:spPr>
      </p:pic>
      <p:pic>
        <p:nvPicPr>
          <p:cNvPr id="51" name="그림 50" descr="PC 게임, 만화 영화, 애니메이션, 비디오 게임 소프트웨어이(가) 표시된 사진&#10;&#10;자동 생성된 설명">
            <a:extLst>
              <a:ext uri="{FF2B5EF4-FFF2-40B4-BE49-F238E27FC236}">
                <a16:creationId xmlns:a16="http://schemas.microsoft.com/office/drawing/2014/main" id="{E38ED51F-600D-49F4-008C-864A5C6D44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89" t="10642" r="27240"/>
          <a:stretch/>
        </p:blipFill>
        <p:spPr>
          <a:xfrm>
            <a:off x="3663451" y="2473315"/>
            <a:ext cx="1447800" cy="1439640"/>
          </a:xfrm>
          <a:prstGeom prst="rect">
            <a:avLst/>
          </a:prstGeom>
        </p:spPr>
      </p:pic>
      <p:pic>
        <p:nvPicPr>
          <p:cNvPr id="53" name="그림 52" descr="만화 영화, 스크린샷이(가) 표시된 사진&#10;&#10;자동 생성된 설명">
            <a:extLst>
              <a:ext uri="{FF2B5EF4-FFF2-40B4-BE49-F238E27FC236}">
                <a16:creationId xmlns:a16="http://schemas.microsoft.com/office/drawing/2014/main" id="{AF869B42-E3DA-7B19-71C0-3CA630C441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386" y="3973374"/>
            <a:ext cx="2160000" cy="1440000"/>
          </a:xfrm>
          <a:prstGeom prst="rect">
            <a:avLst/>
          </a:prstGeom>
        </p:spPr>
      </p:pic>
      <p:grpSp>
        <p:nvGrpSpPr>
          <p:cNvPr id="64" name="Group 6">
            <a:extLst>
              <a:ext uri="{FF2B5EF4-FFF2-40B4-BE49-F238E27FC236}">
                <a16:creationId xmlns:a16="http://schemas.microsoft.com/office/drawing/2014/main" id="{4710638F-1511-6F26-3E93-4789270E4646}"/>
              </a:ext>
            </a:extLst>
          </p:cNvPr>
          <p:cNvGrpSpPr/>
          <p:nvPr/>
        </p:nvGrpSpPr>
        <p:grpSpPr>
          <a:xfrm>
            <a:off x="1447800" y="6304503"/>
            <a:ext cx="3109176" cy="3866670"/>
            <a:chOff x="0" y="0"/>
            <a:chExt cx="1098476" cy="1369333"/>
          </a:xfrm>
        </p:grpSpPr>
        <p:sp>
          <p:nvSpPr>
            <p:cNvPr id="65" name="Freeform 7">
              <a:extLst>
                <a:ext uri="{FF2B5EF4-FFF2-40B4-BE49-F238E27FC236}">
                  <a16:creationId xmlns:a16="http://schemas.microsoft.com/office/drawing/2014/main" id="{04C97A51-0C01-B016-09A7-9B49B7724740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Box 8">
              <a:extLst>
                <a:ext uri="{FF2B5EF4-FFF2-40B4-BE49-F238E27FC236}">
                  <a16:creationId xmlns:a16="http://schemas.microsoft.com/office/drawing/2014/main" id="{7AEABEFA-20F6-8580-0005-3D7ADB9B0088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7" name="TextBox 24">
            <a:extLst>
              <a:ext uri="{FF2B5EF4-FFF2-40B4-BE49-F238E27FC236}">
                <a16:creationId xmlns:a16="http://schemas.microsoft.com/office/drawing/2014/main" id="{23A61C9B-C5E6-761B-F931-010B533070C5}"/>
              </a:ext>
            </a:extLst>
          </p:cNvPr>
          <p:cNvSpPr txBox="1"/>
          <p:nvPr/>
        </p:nvSpPr>
        <p:spPr>
          <a:xfrm>
            <a:off x="1447800" y="9507305"/>
            <a:ext cx="310917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얼음</a:t>
            </a:r>
            <a:r>
              <a:rPr lang="en-US" altLang="ko-KR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(Ice)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grpSp>
        <p:nvGrpSpPr>
          <p:cNvPr id="71" name="Group 6">
            <a:extLst>
              <a:ext uri="{FF2B5EF4-FFF2-40B4-BE49-F238E27FC236}">
                <a16:creationId xmlns:a16="http://schemas.microsoft.com/office/drawing/2014/main" id="{2476449C-0101-ED2D-211C-A253BDEE39B5}"/>
              </a:ext>
            </a:extLst>
          </p:cNvPr>
          <p:cNvGrpSpPr/>
          <p:nvPr/>
        </p:nvGrpSpPr>
        <p:grpSpPr>
          <a:xfrm>
            <a:off x="12420600" y="2218390"/>
            <a:ext cx="3109176" cy="3866670"/>
            <a:chOff x="0" y="0"/>
            <a:chExt cx="1098476" cy="1369333"/>
          </a:xfrm>
        </p:grpSpPr>
        <p:sp>
          <p:nvSpPr>
            <p:cNvPr id="72" name="Freeform 7">
              <a:extLst>
                <a:ext uri="{FF2B5EF4-FFF2-40B4-BE49-F238E27FC236}">
                  <a16:creationId xmlns:a16="http://schemas.microsoft.com/office/drawing/2014/main" id="{ECD6B864-9996-6152-D8A7-2CF972DB7E31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TextBox 8">
              <a:extLst>
                <a:ext uri="{FF2B5EF4-FFF2-40B4-BE49-F238E27FC236}">
                  <a16:creationId xmlns:a16="http://schemas.microsoft.com/office/drawing/2014/main" id="{9B5211B8-76C7-A081-F91E-86F0AB99A723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4" name="TextBox 24">
            <a:extLst>
              <a:ext uri="{FF2B5EF4-FFF2-40B4-BE49-F238E27FC236}">
                <a16:creationId xmlns:a16="http://schemas.microsoft.com/office/drawing/2014/main" id="{A1E72DB4-5D4C-AF35-8FAC-248F7EAE4962}"/>
              </a:ext>
            </a:extLst>
          </p:cNvPr>
          <p:cNvSpPr txBox="1"/>
          <p:nvPr/>
        </p:nvSpPr>
        <p:spPr>
          <a:xfrm>
            <a:off x="12420600" y="5421192"/>
            <a:ext cx="310917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물</a:t>
            </a:r>
            <a:r>
              <a:rPr lang="en-US" altLang="ko-KR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(Water)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grpSp>
        <p:nvGrpSpPr>
          <p:cNvPr id="78" name="Group 6">
            <a:extLst>
              <a:ext uri="{FF2B5EF4-FFF2-40B4-BE49-F238E27FC236}">
                <a16:creationId xmlns:a16="http://schemas.microsoft.com/office/drawing/2014/main" id="{09FE71CE-3E6B-FA7E-F8AD-1944B2DA45C2}"/>
              </a:ext>
            </a:extLst>
          </p:cNvPr>
          <p:cNvGrpSpPr/>
          <p:nvPr/>
        </p:nvGrpSpPr>
        <p:grpSpPr>
          <a:xfrm>
            <a:off x="13616724" y="6269757"/>
            <a:ext cx="3109176" cy="3866670"/>
            <a:chOff x="0" y="0"/>
            <a:chExt cx="1098476" cy="1369333"/>
          </a:xfrm>
        </p:grpSpPr>
        <p:sp>
          <p:nvSpPr>
            <p:cNvPr id="79" name="Freeform 7">
              <a:extLst>
                <a:ext uri="{FF2B5EF4-FFF2-40B4-BE49-F238E27FC236}">
                  <a16:creationId xmlns:a16="http://schemas.microsoft.com/office/drawing/2014/main" id="{C67B0520-6B02-C822-EE42-EF9D930B0354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TextBox 8">
              <a:extLst>
                <a:ext uri="{FF2B5EF4-FFF2-40B4-BE49-F238E27FC236}">
                  <a16:creationId xmlns:a16="http://schemas.microsoft.com/office/drawing/2014/main" id="{CE2CEDCD-4AA1-BBA5-CC32-070A71CC2780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1" name="TextBox 24">
            <a:extLst>
              <a:ext uri="{FF2B5EF4-FFF2-40B4-BE49-F238E27FC236}">
                <a16:creationId xmlns:a16="http://schemas.microsoft.com/office/drawing/2014/main" id="{7E454F4D-E8CF-7726-E096-B735BA9B25F1}"/>
              </a:ext>
            </a:extLst>
          </p:cNvPr>
          <p:cNvSpPr txBox="1"/>
          <p:nvPr/>
        </p:nvSpPr>
        <p:spPr>
          <a:xfrm>
            <a:off x="13616724" y="9472559"/>
            <a:ext cx="310917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불</a:t>
            </a:r>
            <a:r>
              <a:rPr lang="en-US" altLang="ko-KR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(Fire)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pic>
        <p:nvPicPr>
          <p:cNvPr id="100" name="그림 99" descr="PC 게임, 비디오 게임 소프트웨어, 디지털 합성, 스크린샷이(가) 표시된 사진&#10;&#10;자동 생성된 설명">
            <a:extLst>
              <a:ext uri="{FF2B5EF4-FFF2-40B4-BE49-F238E27FC236}">
                <a16:creationId xmlns:a16="http://schemas.microsoft.com/office/drawing/2014/main" id="{8BB3B824-E6E7-FB49-A3E3-A7B2A48EC2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26" t="25356" r="30097" b="7616"/>
          <a:stretch/>
        </p:blipFill>
        <p:spPr>
          <a:xfrm>
            <a:off x="12781970" y="2491689"/>
            <a:ext cx="1512190" cy="1447800"/>
          </a:xfrm>
          <a:prstGeom prst="rect">
            <a:avLst/>
          </a:prstGeom>
        </p:spPr>
      </p:pic>
      <p:pic>
        <p:nvPicPr>
          <p:cNvPr id="102" name="그림 101" descr="만화 영화, 스크린샷, CG 아트워크, 드레스이(가) 표시된 사진&#10;&#10;자동 생성된 설명">
            <a:extLst>
              <a:ext uri="{FF2B5EF4-FFF2-40B4-BE49-F238E27FC236}">
                <a16:creationId xmlns:a16="http://schemas.microsoft.com/office/drawing/2014/main" id="{BF8EE4E8-81D3-A283-90BF-2580AF151F9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5454" y="3989704"/>
            <a:ext cx="2160000" cy="1440000"/>
          </a:xfrm>
          <a:prstGeom prst="rect">
            <a:avLst/>
          </a:prstGeom>
        </p:spPr>
      </p:pic>
      <p:pic>
        <p:nvPicPr>
          <p:cNvPr id="104" name="그림 103" descr="가상의 캐릭터, 액션 피겨, 애니메이션, 만화 영화이(가) 표시된 사진&#10;&#10;자동 생성된 설명">
            <a:extLst>
              <a:ext uri="{FF2B5EF4-FFF2-40B4-BE49-F238E27FC236}">
                <a16:creationId xmlns:a16="http://schemas.microsoft.com/office/drawing/2014/main" id="{F5152CF7-4A3A-B5CE-A107-1ED819E9819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93" r="34757"/>
          <a:stretch/>
        </p:blipFill>
        <p:spPr>
          <a:xfrm>
            <a:off x="14438316" y="2499489"/>
            <a:ext cx="662042" cy="1440000"/>
          </a:xfrm>
          <a:prstGeom prst="rect">
            <a:avLst/>
          </a:prstGeom>
        </p:spPr>
      </p:pic>
      <p:pic>
        <p:nvPicPr>
          <p:cNvPr id="106" name="그림 105" descr="PC 게임, 비디오 게임 소프트웨어, 만화 영화, 어드벤처 게임이(가) 표시된 사진&#10;&#10;자동 생성된 설명">
            <a:extLst>
              <a:ext uri="{FF2B5EF4-FFF2-40B4-BE49-F238E27FC236}">
                <a16:creationId xmlns:a16="http://schemas.microsoft.com/office/drawing/2014/main" id="{2986AB4C-85D6-70BA-7485-5E7E8476633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51" t="5879" r="32740" b="9454"/>
          <a:stretch/>
        </p:blipFill>
        <p:spPr>
          <a:xfrm>
            <a:off x="1863621" y="6561369"/>
            <a:ext cx="1079209" cy="1440000"/>
          </a:xfrm>
          <a:prstGeom prst="rect">
            <a:avLst/>
          </a:prstGeom>
        </p:spPr>
      </p:pic>
      <p:pic>
        <p:nvPicPr>
          <p:cNvPr id="108" name="그림 107" descr="PC 게임, 비디오 게임 소프트웨어, 애니메이션, 만화 영화이(가) 표시된 사진&#10;&#10;자동 생성된 설명">
            <a:extLst>
              <a:ext uri="{FF2B5EF4-FFF2-40B4-BE49-F238E27FC236}">
                <a16:creationId xmlns:a16="http://schemas.microsoft.com/office/drawing/2014/main" id="{8F540984-AC30-5F6D-F422-88E2A01DFE2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75" r="30238"/>
          <a:stretch/>
        </p:blipFill>
        <p:spPr>
          <a:xfrm>
            <a:off x="3168151" y="6561369"/>
            <a:ext cx="990600" cy="1440000"/>
          </a:xfrm>
          <a:prstGeom prst="rect">
            <a:avLst/>
          </a:prstGeom>
        </p:spPr>
      </p:pic>
      <p:pic>
        <p:nvPicPr>
          <p:cNvPr id="110" name="그림 109" descr="PC 게임, 비디오 게임 소프트웨어, 만화 영화, 어드벤처 게임이(가) 표시된 사진&#10;&#10;자동 생성된 설명">
            <a:extLst>
              <a:ext uri="{FF2B5EF4-FFF2-40B4-BE49-F238E27FC236}">
                <a16:creationId xmlns:a16="http://schemas.microsoft.com/office/drawing/2014/main" id="{E4383A5D-0A9F-7090-99F7-D161DD47040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49" r="19068"/>
          <a:stretch/>
        </p:blipFill>
        <p:spPr>
          <a:xfrm>
            <a:off x="2126673" y="8068610"/>
            <a:ext cx="1802510" cy="1440000"/>
          </a:xfrm>
          <a:prstGeom prst="rect">
            <a:avLst/>
          </a:prstGeom>
        </p:spPr>
      </p:pic>
      <p:pic>
        <p:nvPicPr>
          <p:cNvPr id="112" name="그림 111" descr="PC 게임, 비디오 게임 소프트웨어, 어드벤처 게임, 액션 어드벤처 게임이(가) 표시된 사진&#10;&#10;자동 생성된 설명">
            <a:extLst>
              <a:ext uri="{FF2B5EF4-FFF2-40B4-BE49-F238E27FC236}">
                <a16:creationId xmlns:a16="http://schemas.microsoft.com/office/drawing/2014/main" id="{7F44FA8D-A773-D2B3-3DFE-0224A75B4E2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 t="33799" r="24300"/>
          <a:stretch/>
        </p:blipFill>
        <p:spPr>
          <a:xfrm>
            <a:off x="14227800" y="7971689"/>
            <a:ext cx="1887023" cy="1429933"/>
          </a:xfrm>
          <a:prstGeom prst="rect">
            <a:avLst/>
          </a:prstGeom>
        </p:spPr>
      </p:pic>
      <p:pic>
        <p:nvPicPr>
          <p:cNvPr id="114" name="그림 113" descr="스크린샷, PC 게임, 비디오 게임 소프트웨어, 디지털 합성이(가) 표시된 사진&#10;&#10;자동 생성된 설명">
            <a:extLst>
              <a:ext uri="{FF2B5EF4-FFF2-40B4-BE49-F238E27FC236}">
                <a16:creationId xmlns:a16="http://schemas.microsoft.com/office/drawing/2014/main" id="{08246FF3-F9FD-6A01-BB39-B6B428E3BE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28" t="48286" r="42973" b="4089"/>
          <a:stretch/>
        </p:blipFill>
        <p:spPr>
          <a:xfrm>
            <a:off x="13875910" y="6503586"/>
            <a:ext cx="1295401" cy="1371600"/>
          </a:xfrm>
          <a:prstGeom prst="rect">
            <a:avLst/>
          </a:prstGeom>
        </p:spPr>
      </p:pic>
      <p:pic>
        <p:nvPicPr>
          <p:cNvPr id="116" name="그림 115" descr="PC 게임, 비디오 게임 소프트웨어, 스크린샷, 어드벤처 게임이(가) 표시된 사진&#10;&#10;자동 생성된 설명">
            <a:extLst>
              <a:ext uri="{FF2B5EF4-FFF2-40B4-BE49-F238E27FC236}">
                <a16:creationId xmlns:a16="http://schemas.microsoft.com/office/drawing/2014/main" id="{53C147F8-4081-C02A-7012-354B877329F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06" t="21569" r="29487" b="4203"/>
          <a:stretch/>
        </p:blipFill>
        <p:spPr>
          <a:xfrm>
            <a:off x="15377614" y="6499986"/>
            <a:ext cx="1141983" cy="1378800"/>
          </a:xfrm>
          <a:prstGeom prst="rect">
            <a:avLst/>
          </a:prstGeom>
        </p:spPr>
      </p:pic>
      <p:grpSp>
        <p:nvGrpSpPr>
          <p:cNvPr id="117" name="Group 21">
            <a:extLst>
              <a:ext uri="{FF2B5EF4-FFF2-40B4-BE49-F238E27FC236}">
                <a16:creationId xmlns:a16="http://schemas.microsoft.com/office/drawing/2014/main" id="{B8FA6649-5469-CFA3-15C4-1B67CAF4ADE2}"/>
              </a:ext>
            </a:extLst>
          </p:cNvPr>
          <p:cNvGrpSpPr/>
          <p:nvPr/>
        </p:nvGrpSpPr>
        <p:grpSpPr>
          <a:xfrm>
            <a:off x="6505402" y="8530478"/>
            <a:ext cx="5122888" cy="708022"/>
            <a:chOff x="0" y="0"/>
            <a:chExt cx="1788168" cy="363996"/>
          </a:xfrm>
        </p:grpSpPr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DDD9CC1F-8C68-8906-2385-2B204A824B8F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9" name="TextBox 23">
              <a:extLst>
                <a:ext uri="{FF2B5EF4-FFF2-40B4-BE49-F238E27FC236}">
                  <a16:creationId xmlns:a16="http://schemas.microsoft.com/office/drawing/2014/main" id="{70CB94BB-7313-7521-2712-F615A9DFD877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0" name="TextBox 35">
            <a:extLst>
              <a:ext uri="{FF2B5EF4-FFF2-40B4-BE49-F238E27FC236}">
                <a16:creationId xmlns:a16="http://schemas.microsoft.com/office/drawing/2014/main" id="{1D9E5099-0E82-6DF7-5534-D3B7C1EC42C7}"/>
              </a:ext>
            </a:extLst>
          </p:cNvPr>
          <p:cNvSpPr txBox="1"/>
          <p:nvPr/>
        </p:nvSpPr>
        <p:spPr>
          <a:xfrm>
            <a:off x="6769467" y="8643982"/>
            <a:ext cx="8318133" cy="388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각 스테이지의 마지막엔 어려운 보스가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!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35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6B15D-BC4F-5C45-0D7F-9AE7C0CB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2780FB6-A733-D644-B159-6777E18A7017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EFC40CB-B769-2DBA-5020-819DD4D562EC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9DE5424-EEAB-8DC2-6D37-60DB717220E0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0D03BB9A-99FE-C126-170F-516E21F0D64E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7F6C37B-3887-3951-D296-A1CE4076E851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72642B3-6A83-69A1-5C12-187F149CB6C9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2BAAB75-A8C9-3C7D-AC9F-A9267872281D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스테이지 구성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pic>
        <p:nvPicPr>
          <p:cNvPr id="31" name="그림 30" descr="텍스트, 지도, 폰트, 아틀라스이(가) 표시된 사진&#10;&#10;자동 생성된 설명">
            <a:extLst>
              <a:ext uri="{FF2B5EF4-FFF2-40B4-BE49-F238E27FC236}">
                <a16:creationId xmlns:a16="http://schemas.microsoft.com/office/drawing/2014/main" id="{2F747584-5E29-DB12-F137-B96FE956BF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3862480"/>
            <a:ext cx="4305300" cy="4305300"/>
          </a:xfrm>
          <a:prstGeom prst="rect">
            <a:avLst/>
          </a:prstGeom>
        </p:spPr>
      </p:pic>
      <p:grpSp>
        <p:nvGrpSpPr>
          <p:cNvPr id="71" name="Group 6">
            <a:extLst>
              <a:ext uri="{FF2B5EF4-FFF2-40B4-BE49-F238E27FC236}">
                <a16:creationId xmlns:a16="http://schemas.microsoft.com/office/drawing/2014/main" id="{D15AF834-FD39-669C-5217-FEFFA5C47BAF}"/>
              </a:ext>
            </a:extLst>
          </p:cNvPr>
          <p:cNvGrpSpPr/>
          <p:nvPr/>
        </p:nvGrpSpPr>
        <p:grpSpPr>
          <a:xfrm>
            <a:off x="2636412" y="4201940"/>
            <a:ext cx="3109176" cy="3866670"/>
            <a:chOff x="0" y="0"/>
            <a:chExt cx="1098476" cy="1369333"/>
          </a:xfrm>
        </p:grpSpPr>
        <p:sp>
          <p:nvSpPr>
            <p:cNvPr id="72" name="Freeform 7">
              <a:extLst>
                <a:ext uri="{FF2B5EF4-FFF2-40B4-BE49-F238E27FC236}">
                  <a16:creationId xmlns:a16="http://schemas.microsoft.com/office/drawing/2014/main" id="{8E46F3A9-46D0-7AF3-1DB0-C356C7BE2DA9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TextBox 8">
              <a:extLst>
                <a:ext uri="{FF2B5EF4-FFF2-40B4-BE49-F238E27FC236}">
                  <a16:creationId xmlns:a16="http://schemas.microsoft.com/office/drawing/2014/main" id="{E72BD884-AE4F-1EAF-E1E9-796294569715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4" name="TextBox 24">
            <a:extLst>
              <a:ext uri="{FF2B5EF4-FFF2-40B4-BE49-F238E27FC236}">
                <a16:creationId xmlns:a16="http://schemas.microsoft.com/office/drawing/2014/main" id="{93ADA497-B6C8-4AF2-66D7-22808961C5C8}"/>
              </a:ext>
            </a:extLst>
          </p:cNvPr>
          <p:cNvSpPr txBox="1"/>
          <p:nvPr/>
        </p:nvSpPr>
        <p:spPr>
          <a:xfrm>
            <a:off x="2636412" y="7404742"/>
            <a:ext cx="310917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대지</a:t>
            </a:r>
            <a:r>
              <a:rPr lang="en-US" altLang="ko-KR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(Earth)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grpSp>
        <p:nvGrpSpPr>
          <p:cNvPr id="78" name="Group 6">
            <a:extLst>
              <a:ext uri="{FF2B5EF4-FFF2-40B4-BE49-F238E27FC236}">
                <a16:creationId xmlns:a16="http://schemas.microsoft.com/office/drawing/2014/main" id="{D7422C36-04A8-51A3-99CC-40693B611836}"/>
              </a:ext>
            </a:extLst>
          </p:cNvPr>
          <p:cNvGrpSpPr/>
          <p:nvPr/>
        </p:nvGrpSpPr>
        <p:grpSpPr>
          <a:xfrm>
            <a:off x="12428112" y="4201940"/>
            <a:ext cx="3109176" cy="3866670"/>
            <a:chOff x="0" y="0"/>
            <a:chExt cx="1098476" cy="1369333"/>
          </a:xfrm>
        </p:grpSpPr>
        <p:sp>
          <p:nvSpPr>
            <p:cNvPr id="79" name="Freeform 7">
              <a:extLst>
                <a:ext uri="{FF2B5EF4-FFF2-40B4-BE49-F238E27FC236}">
                  <a16:creationId xmlns:a16="http://schemas.microsoft.com/office/drawing/2014/main" id="{4358DDC8-0D4F-B2FA-0309-3E7FFDC112F8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TextBox 8">
              <a:extLst>
                <a:ext uri="{FF2B5EF4-FFF2-40B4-BE49-F238E27FC236}">
                  <a16:creationId xmlns:a16="http://schemas.microsoft.com/office/drawing/2014/main" id="{04653B97-BB40-28DC-3CED-F9E0EF7915B0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1" name="TextBox 24">
            <a:extLst>
              <a:ext uri="{FF2B5EF4-FFF2-40B4-BE49-F238E27FC236}">
                <a16:creationId xmlns:a16="http://schemas.microsoft.com/office/drawing/2014/main" id="{CA808E92-9249-AF72-8DA9-A3FC71EDB8D5}"/>
              </a:ext>
            </a:extLst>
          </p:cNvPr>
          <p:cNvSpPr txBox="1"/>
          <p:nvPr/>
        </p:nvSpPr>
        <p:spPr>
          <a:xfrm>
            <a:off x="12428112" y="7404742"/>
            <a:ext cx="310917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어둠</a:t>
            </a:r>
            <a:r>
              <a:rPr lang="en-US" altLang="ko-KR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(DARK)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pic>
        <p:nvPicPr>
          <p:cNvPr id="10" name="그림 9" descr="만화 영화, 장난감, 애니메이션, 가상의 캐릭터이(가) 표시된 사진&#10;&#10;자동 생성된 설명">
            <a:extLst>
              <a:ext uri="{FF2B5EF4-FFF2-40B4-BE49-F238E27FC236}">
                <a16:creationId xmlns:a16="http://schemas.microsoft.com/office/drawing/2014/main" id="{A6B8D843-BB4D-BC35-F7B5-EE109F3F82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000" y="5897501"/>
            <a:ext cx="2160000" cy="1440000"/>
          </a:xfrm>
          <a:prstGeom prst="rect">
            <a:avLst/>
          </a:prstGeom>
        </p:spPr>
      </p:pic>
      <p:pic>
        <p:nvPicPr>
          <p:cNvPr id="12" name="그림 11" descr="텍스트, PC 게임, 스크린샷, 3D 모델링이(가) 표시된 사진&#10;&#10;자동 생성된 설명">
            <a:extLst>
              <a:ext uri="{FF2B5EF4-FFF2-40B4-BE49-F238E27FC236}">
                <a16:creationId xmlns:a16="http://schemas.microsoft.com/office/drawing/2014/main" id="{0F467D57-D89F-2AD5-DDD0-7CF4C7A795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0" t="13986" r="29961"/>
          <a:stretch/>
        </p:blipFill>
        <p:spPr>
          <a:xfrm>
            <a:off x="2857416" y="4385012"/>
            <a:ext cx="1219200" cy="1393428"/>
          </a:xfrm>
          <a:prstGeom prst="rect">
            <a:avLst/>
          </a:prstGeom>
        </p:spPr>
      </p:pic>
      <p:pic>
        <p:nvPicPr>
          <p:cNvPr id="14" name="그림 13" descr="PC 게임, 스크린샷, 비디오 게임 소프트웨어, 디지털 합성이(가) 표시된 사진&#10;&#10;자동 생성된 설명">
            <a:extLst>
              <a:ext uri="{FF2B5EF4-FFF2-40B4-BE49-F238E27FC236}">
                <a16:creationId xmlns:a16="http://schemas.microsoft.com/office/drawing/2014/main" id="{9261721A-DC64-30B2-E73A-560B8506DB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49" t="29769" r="36018" b="15167"/>
          <a:stretch/>
        </p:blipFill>
        <p:spPr>
          <a:xfrm>
            <a:off x="4191000" y="4385240"/>
            <a:ext cx="1338889" cy="1393200"/>
          </a:xfrm>
          <a:prstGeom prst="rect">
            <a:avLst/>
          </a:prstGeom>
        </p:spPr>
      </p:pic>
      <p:pic>
        <p:nvPicPr>
          <p:cNvPr id="16" name="그림 15" descr="텍스트, 스크린샷, PC 게임, 만화 영화이(가) 표시된 사진&#10;&#10;자동 생성된 설명">
            <a:extLst>
              <a:ext uri="{FF2B5EF4-FFF2-40B4-BE49-F238E27FC236}">
                <a16:creationId xmlns:a16="http://schemas.microsoft.com/office/drawing/2014/main" id="{9878DD66-FB1D-FB32-E3F5-EBE8D95F28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72" r="24423"/>
          <a:stretch/>
        </p:blipFill>
        <p:spPr>
          <a:xfrm>
            <a:off x="12717972" y="4410822"/>
            <a:ext cx="1379028" cy="1440000"/>
          </a:xfrm>
          <a:prstGeom prst="rect">
            <a:avLst/>
          </a:prstGeom>
        </p:spPr>
      </p:pic>
      <p:pic>
        <p:nvPicPr>
          <p:cNvPr id="18" name="그림 17" descr="스크린샷, PC 게임, 디지털 합성, 3D 모델링이(가) 표시된 사진&#10;&#10;자동 생성된 설명">
            <a:extLst>
              <a:ext uri="{FF2B5EF4-FFF2-40B4-BE49-F238E27FC236}">
                <a16:creationId xmlns:a16="http://schemas.microsoft.com/office/drawing/2014/main" id="{E18A0A58-22B0-ACA4-0F96-54D03D398E3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03" t="7846" r="33043"/>
          <a:stretch/>
        </p:blipFill>
        <p:spPr>
          <a:xfrm>
            <a:off x="14249400" y="4410822"/>
            <a:ext cx="909569" cy="1440000"/>
          </a:xfrm>
          <a:prstGeom prst="rect">
            <a:avLst/>
          </a:prstGeom>
        </p:spPr>
      </p:pic>
      <p:pic>
        <p:nvPicPr>
          <p:cNvPr id="20" name="그림 19" descr="텍스트, 스크린샷, PC 게임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5A9B59D9-44BE-A2C6-6A9E-E94B653278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34" t="32081" r="25586" b="25586"/>
          <a:stretch/>
        </p:blipFill>
        <p:spPr>
          <a:xfrm>
            <a:off x="12877799" y="5981991"/>
            <a:ext cx="2209801" cy="1219200"/>
          </a:xfrm>
          <a:prstGeom prst="rect">
            <a:avLst/>
          </a:prstGeom>
        </p:spPr>
      </p:pic>
      <p:grpSp>
        <p:nvGrpSpPr>
          <p:cNvPr id="25" name="Group 21">
            <a:extLst>
              <a:ext uri="{FF2B5EF4-FFF2-40B4-BE49-F238E27FC236}">
                <a16:creationId xmlns:a16="http://schemas.microsoft.com/office/drawing/2014/main" id="{94DACCC0-6DB4-2A4A-8828-5EEE83DA746D}"/>
              </a:ext>
            </a:extLst>
          </p:cNvPr>
          <p:cNvGrpSpPr/>
          <p:nvPr/>
        </p:nvGrpSpPr>
        <p:grpSpPr>
          <a:xfrm>
            <a:off x="6505402" y="8530478"/>
            <a:ext cx="5122888" cy="708022"/>
            <a:chOff x="0" y="0"/>
            <a:chExt cx="1788168" cy="363996"/>
          </a:xfrm>
        </p:grpSpPr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FACAD7D1-D9B6-D327-4CC1-4F0922EDD0EF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3">
              <a:extLst>
                <a:ext uri="{FF2B5EF4-FFF2-40B4-BE49-F238E27FC236}">
                  <a16:creationId xmlns:a16="http://schemas.microsoft.com/office/drawing/2014/main" id="{31C851A8-5DB9-05B4-A578-2F20F921E50B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35">
            <a:extLst>
              <a:ext uri="{FF2B5EF4-FFF2-40B4-BE49-F238E27FC236}">
                <a16:creationId xmlns:a16="http://schemas.microsoft.com/office/drawing/2014/main" id="{1B3CBD95-72E5-1C6C-4336-D5A3BD31579F}"/>
              </a:ext>
            </a:extLst>
          </p:cNvPr>
          <p:cNvSpPr txBox="1"/>
          <p:nvPr/>
        </p:nvSpPr>
        <p:spPr>
          <a:xfrm>
            <a:off x="6769467" y="8643982"/>
            <a:ext cx="8318133" cy="388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각 스테이지의 마지막엔 어려운 보스가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!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2659501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9A29A-5FBA-FD7D-0733-FC53DAE6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D4451A6-4849-51E9-9BF4-11FE2E4553C8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3D5EAC2-3A8B-5122-D957-B32061E6041D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7B5B78-CDBC-6822-1F42-1BE27525A7D8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68118926-2E29-B45A-4C2F-3C257D9B652D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932BB18-B9D1-B033-C14C-14E3054C2B62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EBB2167-2B86-7CD9-78DA-4DFD999FFFEE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1D52080-3E80-FAD7-68EA-DB9B8540E0AB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전투의 흐름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grpSp>
        <p:nvGrpSpPr>
          <p:cNvPr id="6" name="Group 15">
            <a:extLst>
              <a:ext uri="{FF2B5EF4-FFF2-40B4-BE49-F238E27FC236}">
                <a16:creationId xmlns:a16="http://schemas.microsoft.com/office/drawing/2014/main" id="{6069DFE7-6E36-2D4D-7986-6327C6F45C15}"/>
              </a:ext>
            </a:extLst>
          </p:cNvPr>
          <p:cNvGrpSpPr/>
          <p:nvPr/>
        </p:nvGrpSpPr>
        <p:grpSpPr>
          <a:xfrm>
            <a:off x="5481310" y="3528761"/>
            <a:ext cx="11430000" cy="1610966"/>
            <a:chOff x="0" y="-47625"/>
            <a:chExt cx="1788168" cy="643408"/>
          </a:xfrm>
        </p:grpSpPr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EC9289BB-7C7D-3811-3F24-739AF142369D}"/>
                </a:ext>
              </a:extLst>
            </p:cNvPr>
            <p:cNvSpPr/>
            <p:nvPr/>
          </p:nvSpPr>
          <p:spPr>
            <a:xfrm>
              <a:off x="0" y="0"/>
              <a:ext cx="1180191" cy="595783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/>
                <a:t>스테이지의 곳곳에 군집하고 있는 일반 </a:t>
              </a:r>
              <a:r>
                <a:rPr lang="ko-KR" altLang="en-US" dirty="0" err="1"/>
                <a:t>몬스터들</a:t>
              </a:r>
              <a:endParaRPr lang="en-US" altLang="ko-KR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dirty="0"/>
                <a:t>단독 패턴 혹은 소규모 집단 패턴 구사</a:t>
              </a:r>
              <a:endParaRPr lang="en-US" altLang="ko-K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/>
                <a:t>일반 몬스터를 지휘하는 </a:t>
              </a:r>
              <a:r>
                <a:rPr lang="ko-KR" altLang="en-US" dirty="0" err="1"/>
                <a:t>네임드</a:t>
              </a:r>
              <a:r>
                <a:rPr lang="ko-KR" altLang="en-US" dirty="0"/>
                <a:t> 몬스터</a:t>
              </a:r>
              <a:endParaRPr lang="en-US" altLang="ko-KR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dirty="0"/>
                <a:t>플레이어 감지 시</a:t>
              </a:r>
              <a:r>
                <a:rPr lang="en-US" altLang="ko-KR" dirty="0"/>
                <a:t>, </a:t>
              </a:r>
              <a:r>
                <a:rPr lang="ko-KR" altLang="en-US" dirty="0"/>
                <a:t>자신의 감지 범위 내 일반 몬스터를 일제히 통솔</a:t>
              </a:r>
              <a:endParaRPr lang="en-US" altLang="ko-KR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dirty="0"/>
                <a:t>대규모 집단 패턴 구사</a:t>
              </a:r>
              <a:endParaRPr lang="en-US" altLang="ko-KR" dirty="0"/>
            </a:p>
          </p:txBody>
        </p:sp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EEEC6015-F854-0757-77D5-AA90C20652C9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7BB0F6C-C9DB-1A46-53FB-F187677FB9AC}"/>
              </a:ext>
            </a:extLst>
          </p:cNvPr>
          <p:cNvGrpSpPr/>
          <p:nvPr/>
        </p:nvGrpSpPr>
        <p:grpSpPr>
          <a:xfrm>
            <a:off x="4648200" y="5521325"/>
            <a:ext cx="8001000" cy="3048000"/>
            <a:chOff x="1447800" y="4406900"/>
            <a:chExt cx="6464300" cy="2241550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D8A59E5F-B744-FA12-FF8C-204C6E27C2B5}"/>
                </a:ext>
              </a:extLst>
            </p:cNvPr>
            <p:cNvSpPr/>
            <p:nvPr/>
          </p:nvSpPr>
          <p:spPr>
            <a:xfrm>
              <a:off x="2343150" y="4406900"/>
              <a:ext cx="5568950" cy="224155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210 디딤고딕 Light" panose="020B0600000101010101" charset="-127"/>
                  <a:ea typeface="210 디딤고딕 Light" panose="020B0600000101010101" charset="-127"/>
                </a:rPr>
                <a:t>                        </a:t>
              </a:r>
              <a:r>
                <a:rPr lang="ko-KR" altLang="en-US" dirty="0" err="1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네임드</a:t>
              </a:r>
              <a:r>
                <a:rPr lang="ko-KR" altLang="en-US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 몬스터</a:t>
              </a:r>
              <a:br>
                <a:rPr lang="en-US" altLang="ko-KR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</a:br>
              <a:r>
                <a:rPr lang="en-US" altLang="ko-KR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                         </a:t>
              </a:r>
              <a:r>
                <a:rPr lang="ko-KR" altLang="en-US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감지 범위</a:t>
              </a: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B29ED5C-C3B4-CFCD-4785-D1FDF6816923}"/>
                </a:ext>
              </a:extLst>
            </p:cNvPr>
            <p:cNvSpPr/>
            <p:nvPr/>
          </p:nvSpPr>
          <p:spPr>
            <a:xfrm>
              <a:off x="3098800" y="4591050"/>
              <a:ext cx="1644650" cy="14351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일반 몬스터</a:t>
              </a:r>
              <a:br>
                <a:rPr lang="en-US" altLang="ko-KR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</a:br>
              <a:br>
                <a:rPr lang="en-US" altLang="ko-KR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</a:br>
              <a:r>
                <a:rPr lang="ko-KR" altLang="en-US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감지 범위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1CF31EB-A4B0-5DE6-2CD8-052EC57CB267}"/>
                </a:ext>
              </a:extLst>
            </p:cNvPr>
            <p:cNvSpPr/>
            <p:nvPr/>
          </p:nvSpPr>
          <p:spPr>
            <a:xfrm>
              <a:off x="3851275" y="5233987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FBE5AAC-23BF-E9AC-8874-FC05A545BE67}"/>
                </a:ext>
              </a:extLst>
            </p:cNvPr>
            <p:cNvSpPr/>
            <p:nvPr/>
          </p:nvSpPr>
          <p:spPr>
            <a:xfrm>
              <a:off x="2197100" y="5311775"/>
              <a:ext cx="292100" cy="273050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C01D1FC-7215-B72A-7BD9-05A05AAF9E5C}"/>
                </a:ext>
              </a:extLst>
            </p:cNvPr>
            <p:cNvSpPr txBox="1"/>
            <p:nvPr/>
          </p:nvSpPr>
          <p:spPr>
            <a:xfrm>
              <a:off x="1447800" y="5000823"/>
              <a:ext cx="1346200" cy="271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210 디딤고딕 Light" panose="020B0600000101010101" charset="-127"/>
                  <a:ea typeface="210 디딤고딕 Light" panose="020B0600000101010101" charset="-127"/>
                </a:rPr>
                <a:t>플레이어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EA218AC-6F5D-97DC-0916-CF7C114C1872}"/>
                </a:ext>
              </a:extLst>
            </p:cNvPr>
            <p:cNvSpPr/>
            <p:nvPr/>
          </p:nvSpPr>
          <p:spPr>
            <a:xfrm>
              <a:off x="4841875" y="5311775"/>
              <a:ext cx="292100" cy="2730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2604AF6-5BB8-8986-8334-84DD7BD32F9F}"/>
                </a:ext>
              </a:extLst>
            </p:cNvPr>
            <p:cNvSpPr/>
            <p:nvPr/>
          </p:nvSpPr>
          <p:spPr>
            <a:xfrm>
              <a:off x="5213350" y="4668837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5025607-8E70-C5F0-4A83-3DFF092BDFC3}"/>
                </a:ext>
              </a:extLst>
            </p:cNvPr>
            <p:cNvSpPr/>
            <p:nvPr/>
          </p:nvSpPr>
          <p:spPr>
            <a:xfrm>
              <a:off x="4710113" y="6027738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" name="연결선: 구부러짐 24">
              <a:extLst>
                <a:ext uri="{FF2B5EF4-FFF2-40B4-BE49-F238E27FC236}">
                  <a16:creationId xmlns:a16="http://schemas.microsoft.com/office/drawing/2014/main" id="{82129D31-0C61-FE9A-ACC3-25165D4535D5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rot="16200000" flipH="1" flipV="1">
              <a:off x="3352007" y="4739480"/>
              <a:ext cx="74612" cy="1063625"/>
            </a:xfrm>
            <a:prstGeom prst="curvedConnector4">
              <a:avLst>
                <a:gd name="adj1" fmla="val -408513"/>
                <a:gd name="adj2" fmla="val 88507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3D0CF78-2A4E-60F8-FF79-8913114C2DDA}"/>
                </a:ext>
              </a:extLst>
            </p:cNvPr>
            <p:cNvSpPr/>
            <p:nvPr/>
          </p:nvSpPr>
          <p:spPr>
            <a:xfrm>
              <a:off x="6711950" y="5299075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7" name="연결선: 구부러짐 26">
              <a:extLst>
                <a:ext uri="{FF2B5EF4-FFF2-40B4-BE49-F238E27FC236}">
                  <a16:creationId xmlns:a16="http://schemas.microsoft.com/office/drawing/2014/main" id="{80BBDDA0-9C90-7452-2D89-CFB82A4CF06C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rot="10800000">
              <a:off x="3098801" y="5648723"/>
              <a:ext cx="1611313" cy="453629"/>
            </a:xfrm>
            <a:prstGeom prst="curvedConnector3">
              <a:avLst>
                <a:gd name="adj1" fmla="val 74039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연결선: 구부러짐 27">
              <a:extLst>
                <a:ext uri="{FF2B5EF4-FFF2-40B4-BE49-F238E27FC236}">
                  <a16:creationId xmlns:a16="http://schemas.microsoft.com/office/drawing/2014/main" id="{0AFDB6F9-8FE0-FDF6-7F26-8AABADC87EC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248150" y="4743451"/>
              <a:ext cx="965200" cy="565148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연결선: 구부러짐 28">
              <a:extLst>
                <a:ext uri="{FF2B5EF4-FFF2-40B4-BE49-F238E27FC236}">
                  <a16:creationId xmlns:a16="http://schemas.microsoft.com/office/drawing/2014/main" id="{192792A8-2330-E0FE-D5A6-B32161573454}"/>
                </a:ext>
              </a:extLst>
            </p:cNvPr>
            <p:cNvCxnSpPr>
              <a:cxnSpLocks/>
              <a:stCxn id="26" idx="1"/>
              <a:endCxn id="14" idx="5"/>
            </p:cNvCxnSpPr>
            <p:nvPr/>
          </p:nvCxnSpPr>
          <p:spPr>
            <a:xfrm rot="10800000" flipV="1">
              <a:off x="4502598" y="5373688"/>
              <a:ext cx="2209353" cy="442296"/>
            </a:xfrm>
            <a:prstGeom prst="curvedConnector4">
              <a:avLst>
                <a:gd name="adj1" fmla="val 20694"/>
                <a:gd name="adj2" fmla="val 131724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연결선: 구부러짐 29">
              <a:extLst>
                <a:ext uri="{FF2B5EF4-FFF2-40B4-BE49-F238E27FC236}">
                  <a16:creationId xmlns:a16="http://schemas.microsoft.com/office/drawing/2014/main" id="{9056F4EA-D2E6-0FE8-9525-04F103D967BE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rot="10800000" flipV="1">
              <a:off x="4394201" y="5448300"/>
              <a:ext cx="447675" cy="6350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5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0472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4826F-02F3-3DB9-8547-6AD449F7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5BB90C-0A25-DB8C-0363-0F30C168E7A5}"/>
              </a:ext>
            </a:extLst>
          </p:cNvPr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D5066CB-9891-D279-EC7C-2418AE364D1A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472D1E6-C8E8-DCE1-F139-DD5329C8BFE6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EFB7FFC5-58CB-336E-5792-8031851F753A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1323EC3-F63A-1348-2766-EC7F7935CD21}"/>
              </a:ext>
            </a:extLst>
          </p:cNvPr>
          <p:cNvGrpSpPr/>
          <p:nvPr/>
        </p:nvGrpSpPr>
        <p:grpSpPr>
          <a:xfrm>
            <a:off x="2539492" y="4184270"/>
            <a:ext cx="1524665" cy="2192637"/>
            <a:chOff x="0" y="0"/>
            <a:chExt cx="401558" cy="57748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CEBCE5E-2C4B-A437-2E02-89EFFC05ACC6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F96BC04-A6CD-6CD8-C20A-794CC4134C06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989B817-7F7A-D6CA-C30B-93F8AE9B32CF}"/>
              </a:ext>
            </a:extLst>
          </p:cNvPr>
          <p:cNvGrpSpPr/>
          <p:nvPr/>
        </p:nvGrpSpPr>
        <p:grpSpPr>
          <a:xfrm>
            <a:off x="9245276" y="4184270"/>
            <a:ext cx="1524665" cy="2192637"/>
            <a:chOff x="0" y="0"/>
            <a:chExt cx="401558" cy="57748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88BD571-D69B-CC48-6551-3D23BD1F2620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F60267B-656A-774F-0B67-F4FD6452339D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3A18FF7-8728-DB9B-0E9E-0F41EAAF5388}"/>
              </a:ext>
            </a:extLst>
          </p:cNvPr>
          <p:cNvGrpSpPr/>
          <p:nvPr/>
        </p:nvGrpSpPr>
        <p:grpSpPr>
          <a:xfrm>
            <a:off x="2539492" y="6488609"/>
            <a:ext cx="1524665" cy="2192637"/>
            <a:chOff x="0" y="0"/>
            <a:chExt cx="401558" cy="57748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F0B1984-543B-7927-DEEC-CE6B1C6C1298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8AF8EE0-B94E-A9B2-E912-EDEA37E4A33F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F65BAC6D-7269-D86E-C842-CD1BD9FF7F66}"/>
              </a:ext>
            </a:extLst>
          </p:cNvPr>
          <p:cNvGrpSpPr/>
          <p:nvPr/>
        </p:nvGrpSpPr>
        <p:grpSpPr>
          <a:xfrm>
            <a:off x="9245276" y="6488609"/>
            <a:ext cx="1524665" cy="2192637"/>
            <a:chOff x="0" y="0"/>
            <a:chExt cx="401558" cy="577485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6C42CA27-FCAB-CCB4-EA65-3DCFE3784229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43BFA236-896B-F3FC-B991-B3A6D33A2698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AD202EB-63E5-A55A-7ADB-6AC0047BEB1B}"/>
              </a:ext>
            </a:extLst>
          </p:cNvPr>
          <p:cNvGrpSpPr/>
          <p:nvPr/>
        </p:nvGrpSpPr>
        <p:grpSpPr>
          <a:xfrm>
            <a:off x="4035582" y="4184270"/>
            <a:ext cx="5079843" cy="2192637"/>
            <a:chOff x="0" y="0"/>
            <a:chExt cx="1337901" cy="577485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1E459E2-E40D-DEF3-2222-54888CBF68B6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17EB0A5A-5932-522A-0C75-8AD98592BFB0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FF7BE978-2006-73BD-F011-7A9E06510A7B}"/>
              </a:ext>
            </a:extLst>
          </p:cNvPr>
          <p:cNvGrpSpPr/>
          <p:nvPr/>
        </p:nvGrpSpPr>
        <p:grpSpPr>
          <a:xfrm>
            <a:off x="10741366" y="4184270"/>
            <a:ext cx="5079843" cy="2192637"/>
            <a:chOff x="0" y="0"/>
            <a:chExt cx="1337901" cy="577485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3DEB7CE6-2EAD-7951-30B3-7AF527A28E1C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ABD41732-75EC-0A3D-1DCB-924B73C40B71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41821160-C306-3857-5074-0FEEFD7EA436}"/>
              </a:ext>
            </a:extLst>
          </p:cNvPr>
          <p:cNvGrpSpPr/>
          <p:nvPr/>
        </p:nvGrpSpPr>
        <p:grpSpPr>
          <a:xfrm>
            <a:off x="4035582" y="6488609"/>
            <a:ext cx="5079843" cy="2192637"/>
            <a:chOff x="0" y="0"/>
            <a:chExt cx="1337901" cy="577485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51C0F288-302C-7A94-70CE-C3DA105147DF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2B095EB0-6DA6-3ADE-24E3-F8558263EE0B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18F302F2-2E87-269B-9161-B550B4CAAE56}"/>
              </a:ext>
            </a:extLst>
          </p:cNvPr>
          <p:cNvGrpSpPr/>
          <p:nvPr/>
        </p:nvGrpSpPr>
        <p:grpSpPr>
          <a:xfrm>
            <a:off x="10741366" y="6488609"/>
            <a:ext cx="5079843" cy="2192637"/>
            <a:chOff x="0" y="0"/>
            <a:chExt cx="1337901" cy="577485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760BF78-9679-98CB-D726-4EBEF5CC3FAA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79BBC222-FFED-B1B5-2354-19E828724990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50A80F2C-C503-4741-4F8C-23840F19A602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51EA073-B3B2-270D-73EC-EEF7393D159E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B11E31E-4B55-CCD5-1D1F-7A60C9ADD6F7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전술 요소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3299D405-47EF-0E40-207F-00A635497BC0}"/>
              </a:ext>
            </a:extLst>
          </p:cNvPr>
          <p:cNvSpPr txBox="1"/>
          <p:nvPr/>
        </p:nvSpPr>
        <p:spPr>
          <a:xfrm>
            <a:off x="4405236" y="4658288"/>
            <a:ext cx="4340536" cy="79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고지를 선점하여 공격하면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추가 데미지를 입힐 수 있습니다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7E18F53C-6658-8DA6-B55A-EEA9ADD047A3}"/>
              </a:ext>
            </a:extLst>
          </p:cNvPr>
          <p:cNvSpPr txBox="1"/>
          <p:nvPr/>
        </p:nvSpPr>
        <p:spPr>
          <a:xfrm>
            <a:off x="4405236" y="6762602"/>
            <a:ext cx="4340536" cy="161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적이 발동한 전술을 격파하거나 저지하면 적의 이동 속도와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공격 속도가 감소하고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추가 데미지를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입힐 수 있습니다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37BE66A0-0C46-991B-668F-ADF37BBEA653}"/>
              </a:ext>
            </a:extLst>
          </p:cNvPr>
          <p:cNvSpPr txBox="1"/>
          <p:nvPr/>
        </p:nvSpPr>
        <p:spPr>
          <a:xfrm>
            <a:off x="11111020" y="6762602"/>
            <a:ext cx="4340536" cy="1209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기습을 하거나 경계를 통해 기습을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저지하면 스킬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쿨타임이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줄어들고 추가 데미지를 입힐 수 있습니다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7448B932-8171-3902-722C-70C8286649B9}"/>
              </a:ext>
            </a:extLst>
          </p:cNvPr>
          <p:cNvSpPr txBox="1"/>
          <p:nvPr/>
        </p:nvSpPr>
        <p:spPr>
          <a:xfrm>
            <a:off x="2865849" y="4531288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ko-KR" altLang="en-US" sz="3200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고저</a:t>
            </a:r>
            <a:endParaRPr lang="en-US" sz="3200" u="none" strike="noStrike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763E633E-F759-0CCF-67BC-5147935E5818}"/>
              </a:ext>
            </a:extLst>
          </p:cNvPr>
          <p:cNvSpPr txBox="1"/>
          <p:nvPr/>
        </p:nvSpPr>
        <p:spPr>
          <a:xfrm>
            <a:off x="9571633" y="4531288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3200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포위</a:t>
            </a:r>
            <a:endParaRPr lang="en-US" altLang="ko-KR" sz="3200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259F1FC-98B9-4E5B-F14E-74DF4ABBF2E7}"/>
              </a:ext>
            </a:extLst>
          </p:cNvPr>
          <p:cNvSpPr txBox="1"/>
          <p:nvPr/>
        </p:nvSpPr>
        <p:spPr>
          <a:xfrm>
            <a:off x="2865849" y="6835627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3200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교란</a:t>
            </a:r>
            <a:endParaRPr lang="en-US" sz="3200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0D979510-572C-F16C-766A-D2232932A0C6}"/>
              </a:ext>
            </a:extLst>
          </p:cNvPr>
          <p:cNvSpPr txBox="1"/>
          <p:nvPr/>
        </p:nvSpPr>
        <p:spPr>
          <a:xfrm>
            <a:off x="9571633" y="6835627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3200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주의</a:t>
            </a:r>
            <a:endParaRPr lang="en-US" sz="3200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41" name="TextBox 33">
            <a:extLst>
              <a:ext uri="{FF2B5EF4-FFF2-40B4-BE49-F238E27FC236}">
                <a16:creationId xmlns:a16="http://schemas.microsoft.com/office/drawing/2014/main" id="{6B8E92A3-D4A0-939D-E743-EAA494E862A1}"/>
              </a:ext>
            </a:extLst>
          </p:cNvPr>
          <p:cNvSpPr txBox="1"/>
          <p:nvPr/>
        </p:nvSpPr>
        <p:spPr>
          <a:xfrm>
            <a:off x="11125307" y="4561339"/>
            <a:ext cx="4340536" cy="1209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적을 여러 방향에서 포위해 공격하면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적의 이동 속도와 공격 속도가 감소하고 회피율이 낮아집니다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1172413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21D5F-D2F7-11F4-A682-3DB1F0BFA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BC90A8D-92DE-8703-8A5A-255E9F2C06F3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F255E13-685B-0DB2-3560-938C3BA349D4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B1DDAE1-9B6C-E010-EC6C-391A25FD73F9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BECF5EEB-B55D-FD2B-AA19-1B0E418D0866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FB6B4F2-E361-3F0E-8F2C-11FE244C542F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6EBD5C1-60CE-8D2B-CA49-BE2D2CCABFEA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D19007B-6264-8C86-14C4-31A53040DF5D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대형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grpSp>
        <p:nvGrpSpPr>
          <p:cNvPr id="6" name="Group 15">
            <a:extLst>
              <a:ext uri="{FF2B5EF4-FFF2-40B4-BE49-F238E27FC236}">
                <a16:creationId xmlns:a16="http://schemas.microsoft.com/office/drawing/2014/main" id="{2FD488BE-8708-58F3-AD55-0DE1FA619C30}"/>
              </a:ext>
            </a:extLst>
          </p:cNvPr>
          <p:cNvGrpSpPr/>
          <p:nvPr/>
        </p:nvGrpSpPr>
        <p:grpSpPr>
          <a:xfrm>
            <a:off x="3429000" y="3567110"/>
            <a:ext cx="11430000" cy="911374"/>
            <a:chOff x="0" y="0"/>
            <a:chExt cx="1788168" cy="363996"/>
          </a:xfrm>
        </p:grpSpPr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D08F3C64-D5B4-3F62-7034-044493B35B94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066E4A33-1E2B-C957-C212-A5133A10C8C6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TextBox 35">
            <a:extLst>
              <a:ext uri="{FF2B5EF4-FFF2-40B4-BE49-F238E27FC236}">
                <a16:creationId xmlns:a16="http://schemas.microsoft.com/office/drawing/2014/main" id="{F5311412-7FD8-5FD4-5A12-036BDDD023FB}"/>
              </a:ext>
            </a:extLst>
          </p:cNvPr>
          <p:cNvSpPr txBox="1"/>
          <p:nvPr/>
        </p:nvSpPr>
        <p:spPr>
          <a:xfrm>
            <a:off x="3810000" y="3590462"/>
            <a:ext cx="10530428" cy="798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적은 밀집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산개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쐐기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기동의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4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가지 기본 대형을 조금씩 변형하고 조합한 대형을 펼칩니다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중후반부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스테이지에서는 여러 개의 대형이 유기적으로 변하는 것을 자주 볼 수 있습니다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pic>
        <p:nvPicPr>
          <p:cNvPr id="11" name="내용 개체 틀 4" descr="텍스트, 폰트, 스크린샷, 도표이(가) 표시된 사진&#10;&#10;자동 생성된 설명">
            <a:extLst>
              <a:ext uri="{FF2B5EF4-FFF2-40B4-BE49-F238E27FC236}">
                <a16:creationId xmlns:a16="http://schemas.microsoft.com/office/drawing/2014/main" id="{9A409F57-34B5-6019-732B-AE2E9735B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844" y="5825528"/>
            <a:ext cx="3018385" cy="1942709"/>
          </a:xfrm>
          <a:prstGeom prst="rect">
            <a:avLst/>
          </a:prstGeom>
        </p:spPr>
      </p:pic>
      <p:pic>
        <p:nvPicPr>
          <p:cNvPr id="13" name="그림 12" descr="스케치, 그림, 예술, 라인 아트이(가) 표시된 사진&#10;&#10;자동 생성된 설명">
            <a:extLst>
              <a:ext uri="{FF2B5EF4-FFF2-40B4-BE49-F238E27FC236}">
                <a16:creationId xmlns:a16="http://schemas.microsoft.com/office/drawing/2014/main" id="{5EBD5753-F4C6-A5E7-D743-3D38E5FBC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650" y="6134100"/>
            <a:ext cx="3094700" cy="1325563"/>
          </a:xfrm>
          <a:prstGeom prst="rect">
            <a:avLst/>
          </a:prstGeom>
        </p:spPr>
      </p:pic>
      <p:pic>
        <p:nvPicPr>
          <p:cNvPr id="15" name="그림 14" descr="스케치, 텍스트, 그림, 패턴이(가) 표시된 사진&#10;&#10;자동 생성된 설명">
            <a:extLst>
              <a:ext uri="{FF2B5EF4-FFF2-40B4-BE49-F238E27FC236}">
                <a16:creationId xmlns:a16="http://schemas.microsoft.com/office/drawing/2014/main" id="{805D8469-C88A-30B3-D639-067DE8A878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9793" y="5046555"/>
            <a:ext cx="2676423" cy="350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64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43EB5-91E5-22C6-C178-4E541847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D44E07A-FBDF-80F2-720A-B517A1E9872F}"/>
              </a:ext>
            </a:extLst>
          </p:cNvPr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6CD09C3-D48D-D4FE-43AD-BE82E7AEA674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73EF616-D7D7-9343-57D6-DB33D6183871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EC460D5D-70C1-D118-EEB4-960E2C6E355E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FD7CE6D-BA04-2DBE-F216-40B31EFDAA91}"/>
              </a:ext>
            </a:extLst>
          </p:cNvPr>
          <p:cNvGrpSpPr/>
          <p:nvPr/>
        </p:nvGrpSpPr>
        <p:grpSpPr>
          <a:xfrm>
            <a:off x="2539492" y="4184270"/>
            <a:ext cx="1524665" cy="2192637"/>
            <a:chOff x="0" y="0"/>
            <a:chExt cx="401558" cy="57748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BF625A9-1D29-A73B-6E0C-79F08EE2FC55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FE751FF-876A-43A7-3D21-8CC58467FDC3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B90E9BD-A58D-145A-4D3E-198FB22EFD7C}"/>
              </a:ext>
            </a:extLst>
          </p:cNvPr>
          <p:cNvGrpSpPr/>
          <p:nvPr/>
        </p:nvGrpSpPr>
        <p:grpSpPr>
          <a:xfrm>
            <a:off x="9245276" y="4184270"/>
            <a:ext cx="1524665" cy="2192637"/>
            <a:chOff x="0" y="0"/>
            <a:chExt cx="401558" cy="57748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F367647-8FC3-0444-DBEB-9D3F4EDEBA1F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CE2140F-031A-1777-448A-8E8FDA71F4CC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A8919BD-C0A4-5047-3056-BD19F59ADEDE}"/>
              </a:ext>
            </a:extLst>
          </p:cNvPr>
          <p:cNvGrpSpPr/>
          <p:nvPr/>
        </p:nvGrpSpPr>
        <p:grpSpPr>
          <a:xfrm>
            <a:off x="2539492" y="6488609"/>
            <a:ext cx="1524665" cy="2192637"/>
            <a:chOff x="0" y="0"/>
            <a:chExt cx="401558" cy="57748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C53DFE5-B40A-ADC4-37E6-3D10FB3DD399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B3D1ADD1-AFAD-23D8-CF8D-618CDCC1F019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B16B95CE-6C0A-309E-05CD-1D9869646138}"/>
              </a:ext>
            </a:extLst>
          </p:cNvPr>
          <p:cNvGrpSpPr/>
          <p:nvPr/>
        </p:nvGrpSpPr>
        <p:grpSpPr>
          <a:xfrm>
            <a:off x="9245276" y="6488609"/>
            <a:ext cx="1524665" cy="2192637"/>
            <a:chOff x="0" y="0"/>
            <a:chExt cx="401558" cy="577485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1094461-7A9C-88A8-3C0F-3FCFBA4F6909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52AF52C2-0D27-9458-D305-745A83BFEDF0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4D1B0627-9094-7314-6FBA-E35BC37FE04E}"/>
              </a:ext>
            </a:extLst>
          </p:cNvPr>
          <p:cNvGrpSpPr/>
          <p:nvPr/>
        </p:nvGrpSpPr>
        <p:grpSpPr>
          <a:xfrm>
            <a:off x="4035582" y="4184270"/>
            <a:ext cx="5079843" cy="2192637"/>
            <a:chOff x="0" y="0"/>
            <a:chExt cx="1337901" cy="577485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EC47419-E3A5-CA64-0F3C-5057B36F6978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72AD8121-0DCF-F278-DEB6-F248EADE9F15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905DC837-AA88-FE1B-D306-A9C7CE918ADB}"/>
              </a:ext>
            </a:extLst>
          </p:cNvPr>
          <p:cNvGrpSpPr/>
          <p:nvPr/>
        </p:nvGrpSpPr>
        <p:grpSpPr>
          <a:xfrm>
            <a:off x="10741366" y="4184270"/>
            <a:ext cx="5079843" cy="2192637"/>
            <a:chOff x="0" y="0"/>
            <a:chExt cx="1337901" cy="577485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660E07F2-3D28-FB04-B2AC-C6EF7125CF4D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06563169-F9CA-854E-E160-605DDDEF81DB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54AE1270-C358-3023-40E9-E68E1D1AD13F}"/>
              </a:ext>
            </a:extLst>
          </p:cNvPr>
          <p:cNvGrpSpPr/>
          <p:nvPr/>
        </p:nvGrpSpPr>
        <p:grpSpPr>
          <a:xfrm>
            <a:off x="4035582" y="6488609"/>
            <a:ext cx="5079843" cy="2192637"/>
            <a:chOff x="0" y="0"/>
            <a:chExt cx="1337901" cy="577485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763A4B2-D415-EC19-F99B-9B0ABC68749C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594C4751-9093-2448-F772-DA126DB1997D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83A2FB31-D39D-70BA-38AB-6E456316091B}"/>
              </a:ext>
            </a:extLst>
          </p:cNvPr>
          <p:cNvGrpSpPr/>
          <p:nvPr/>
        </p:nvGrpSpPr>
        <p:grpSpPr>
          <a:xfrm>
            <a:off x="10741366" y="6488609"/>
            <a:ext cx="5079843" cy="2192637"/>
            <a:chOff x="0" y="0"/>
            <a:chExt cx="1337901" cy="577485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B0F11D04-C29B-6B35-C2A6-D999CBC04E4A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E4A0E933-D162-D693-9CE5-B2E34F74BE08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FCF16F16-47B7-D0CA-CC2A-6D269A35759A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5BF00BA-5F1F-695F-2EFC-7DC630515B77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78A76EF8-F9CE-3F60-2410-607722B9ACB5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조작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B575D5D2-2292-817C-90AA-CE70987B2203}"/>
              </a:ext>
            </a:extLst>
          </p:cNvPr>
          <p:cNvSpPr txBox="1"/>
          <p:nvPr/>
        </p:nvSpPr>
        <p:spPr>
          <a:xfrm>
            <a:off x="4405236" y="4658288"/>
            <a:ext cx="4340536" cy="1209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W/A/S/D: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기본 이동</a:t>
            </a:r>
            <a:endParaRPr lang="en-US" altLang="ko-KR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L-Shift: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대쉬</a:t>
            </a:r>
            <a:endParaRPr lang="en-US" altLang="ko-KR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Space Bar: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점프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4766716B-FAB5-E217-7EEA-36A31630B174}"/>
              </a:ext>
            </a:extLst>
          </p:cNvPr>
          <p:cNvSpPr txBox="1"/>
          <p:nvPr/>
        </p:nvSpPr>
        <p:spPr>
          <a:xfrm>
            <a:off x="11111020" y="4658288"/>
            <a:ext cx="4340536" cy="38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Mouse Left: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공격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4011373-14AC-1562-EDB5-F40037C87686}"/>
              </a:ext>
            </a:extLst>
          </p:cNvPr>
          <p:cNvSpPr txBox="1"/>
          <p:nvPr/>
        </p:nvSpPr>
        <p:spPr>
          <a:xfrm>
            <a:off x="4405236" y="6762602"/>
            <a:ext cx="4340536" cy="38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Mouse Right: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방어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DA26F04E-8EF1-B567-C747-EF97F9156E60}"/>
              </a:ext>
            </a:extLst>
          </p:cNvPr>
          <p:cNvSpPr txBox="1"/>
          <p:nvPr/>
        </p:nvSpPr>
        <p:spPr>
          <a:xfrm>
            <a:off x="11111020" y="6762602"/>
            <a:ext cx="4340536" cy="161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스택형 스킬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: G</a:t>
            </a:r>
          </a:p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차 액티브 스킬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: R</a:t>
            </a:r>
          </a:p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2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차 액티브 스킬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: T</a:t>
            </a:r>
          </a:p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차 액티브 스킬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: F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0CEB1888-316B-92A7-2E85-A798940355E8}"/>
              </a:ext>
            </a:extLst>
          </p:cNvPr>
          <p:cNvSpPr txBox="1"/>
          <p:nvPr/>
        </p:nvSpPr>
        <p:spPr>
          <a:xfrm>
            <a:off x="2865849" y="4558721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ko-KR" altLang="en-US" sz="3200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이동</a:t>
            </a:r>
            <a:endParaRPr lang="en-US" sz="3200" u="none" strike="noStrike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45" name="TextBox 37">
            <a:extLst>
              <a:ext uri="{FF2B5EF4-FFF2-40B4-BE49-F238E27FC236}">
                <a16:creationId xmlns:a16="http://schemas.microsoft.com/office/drawing/2014/main" id="{5B482945-F90A-4B99-6057-639886570115}"/>
              </a:ext>
            </a:extLst>
          </p:cNvPr>
          <p:cNvSpPr txBox="1"/>
          <p:nvPr/>
        </p:nvSpPr>
        <p:spPr>
          <a:xfrm>
            <a:off x="9571632" y="4558721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ko-KR" altLang="en-US" sz="3200" u="none" strike="noStrike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공격</a:t>
            </a:r>
            <a:endParaRPr lang="en-US" sz="3200" u="none" strike="noStrike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EC61F0D7-DD2B-4199-B675-FE6611C00C65}"/>
              </a:ext>
            </a:extLst>
          </p:cNvPr>
          <p:cNvSpPr txBox="1"/>
          <p:nvPr/>
        </p:nvSpPr>
        <p:spPr>
          <a:xfrm>
            <a:off x="2865849" y="6850925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ko-KR" altLang="en-US" sz="3200" u="none" strike="noStrike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방어</a:t>
            </a:r>
            <a:endParaRPr lang="en-US" sz="3200" u="none" strike="noStrike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51" name="TextBox 37">
            <a:extLst>
              <a:ext uri="{FF2B5EF4-FFF2-40B4-BE49-F238E27FC236}">
                <a16:creationId xmlns:a16="http://schemas.microsoft.com/office/drawing/2014/main" id="{69AC678A-3268-E54F-8CFF-7E8062445408}"/>
              </a:ext>
            </a:extLst>
          </p:cNvPr>
          <p:cNvSpPr txBox="1"/>
          <p:nvPr/>
        </p:nvSpPr>
        <p:spPr>
          <a:xfrm>
            <a:off x="9571632" y="6850925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ko-KR" altLang="en-US" sz="3200" u="none" strike="noStrike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스킬</a:t>
            </a:r>
            <a:endParaRPr lang="en-US" sz="3200" u="none" strike="noStrike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</p:spTree>
    <p:extLst>
      <p:ext uri="{BB962C8B-B14F-4D97-AF65-F5344CB8AC3E}">
        <p14:creationId xmlns:p14="http://schemas.microsoft.com/office/powerpoint/2010/main" val="3016103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5CDF6-0547-43C8-9051-777618AF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56EF21F-9B7A-A76C-714A-85827CC1A379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BCEB8A8-3735-FBD3-2A07-2B1F4407D308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2B97F8D-8BE4-A087-45D3-B88DF1D14730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DAE9FB42-4835-018E-D03E-1038C327DC1B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19A136A-BAB7-ED30-2923-AA89D599E90B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0411F9D-57D6-6268-F3E3-9C7BC5143622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636E3E5-C7F3-B88F-BDAE-B982AE90A145}"/>
              </a:ext>
            </a:extLst>
          </p:cNvPr>
          <p:cNvSpPr txBox="1"/>
          <p:nvPr/>
        </p:nvSpPr>
        <p:spPr>
          <a:xfrm>
            <a:off x="6087586" y="2337877"/>
            <a:ext cx="6230422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타 게임과의 비교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grpSp>
        <p:nvGrpSpPr>
          <p:cNvPr id="6" name="Group 15">
            <a:extLst>
              <a:ext uri="{FF2B5EF4-FFF2-40B4-BE49-F238E27FC236}">
                <a16:creationId xmlns:a16="http://schemas.microsoft.com/office/drawing/2014/main" id="{C9D11812-89D0-DF44-AAA6-86E8BF07321F}"/>
              </a:ext>
            </a:extLst>
          </p:cNvPr>
          <p:cNvGrpSpPr/>
          <p:nvPr/>
        </p:nvGrpSpPr>
        <p:grpSpPr>
          <a:xfrm>
            <a:off x="5481310" y="3528761"/>
            <a:ext cx="11430000" cy="1610966"/>
            <a:chOff x="0" y="-47625"/>
            <a:chExt cx="1788168" cy="643408"/>
          </a:xfrm>
        </p:grpSpPr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66FB974D-E50D-C570-40B4-2DC4EEB66A90}"/>
                </a:ext>
              </a:extLst>
            </p:cNvPr>
            <p:cNvSpPr/>
            <p:nvPr/>
          </p:nvSpPr>
          <p:spPr>
            <a:xfrm>
              <a:off x="0" y="0"/>
              <a:ext cx="1180191" cy="595783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/>
                <a:t>스테이지의 곳곳에 군집하고 있는 일반 </a:t>
              </a:r>
              <a:r>
                <a:rPr lang="ko-KR" altLang="en-US" dirty="0" err="1"/>
                <a:t>몬스터들</a:t>
              </a:r>
              <a:endParaRPr lang="en-US" altLang="ko-KR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dirty="0"/>
                <a:t>단독 패턴 혹은 소규모 집단 패턴 구사</a:t>
              </a:r>
              <a:endParaRPr lang="en-US" altLang="ko-K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/>
                <a:t>일반 몬스터를 지휘하는 </a:t>
              </a:r>
              <a:r>
                <a:rPr lang="ko-KR" altLang="en-US" dirty="0" err="1"/>
                <a:t>네임드</a:t>
              </a:r>
              <a:r>
                <a:rPr lang="ko-KR" altLang="en-US" dirty="0"/>
                <a:t> 몬스터</a:t>
              </a:r>
              <a:endParaRPr lang="en-US" altLang="ko-KR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dirty="0"/>
                <a:t>플레이어 감지 시</a:t>
              </a:r>
              <a:r>
                <a:rPr lang="en-US" altLang="ko-KR" dirty="0"/>
                <a:t>, </a:t>
              </a:r>
              <a:r>
                <a:rPr lang="ko-KR" altLang="en-US" dirty="0"/>
                <a:t>자신의 감지 범위 내 일반 몬스터를 일제히 통솔</a:t>
              </a:r>
              <a:endParaRPr lang="en-US" altLang="ko-KR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dirty="0"/>
                <a:t>대규모 집단 패턴 구사</a:t>
              </a:r>
              <a:endParaRPr lang="en-US" altLang="ko-KR" dirty="0"/>
            </a:p>
          </p:txBody>
        </p:sp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585A824B-51F1-72DD-D077-9A0F15237AF1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B600A1D-DEFC-5BBC-65DB-CC647E8D78F2}"/>
              </a:ext>
            </a:extLst>
          </p:cNvPr>
          <p:cNvGrpSpPr/>
          <p:nvPr/>
        </p:nvGrpSpPr>
        <p:grpSpPr>
          <a:xfrm>
            <a:off x="4648200" y="5521325"/>
            <a:ext cx="8001000" cy="3048000"/>
            <a:chOff x="1447800" y="4406900"/>
            <a:chExt cx="6464300" cy="2241550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88034F2E-0C29-3316-FAF4-F432609632D0}"/>
                </a:ext>
              </a:extLst>
            </p:cNvPr>
            <p:cNvSpPr/>
            <p:nvPr/>
          </p:nvSpPr>
          <p:spPr>
            <a:xfrm>
              <a:off x="2343150" y="4406900"/>
              <a:ext cx="5568950" cy="224155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210 디딤고딕 Light" panose="020B0600000101010101" charset="-127"/>
                  <a:ea typeface="210 디딤고딕 Light" panose="020B0600000101010101" charset="-127"/>
                </a:rPr>
                <a:t>                        </a:t>
              </a:r>
              <a:r>
                <a:rPr lang="ko-KR" altLang="en-US" dirty="0" err="1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네임드</a:t>
              </a:r>
              <a:r>
                <a:rPr lang="ko-KR" altLang="en-US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 몬스터</a:t>
              </a:r>
              <a:br>
                <a:rPr lang="en-US" altLang="ko-KR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</a:br>
              <a:r>
                <a:rPr lang="en-US" altLang="ko-KR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                         </a:t>
              </a:r>
              <a:r>
                <a:rPr lang="ko-KR" altLang="en-US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감지 범위</a:t>
              </a: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6DE4542-2D74-0CAA-7CCC-B636EC22E27D}"/>
                </a:ext>
              </a:extLst>
            </p:cNvPr>
            <p:cNvSpPr/>
            <p:nvPr/>
          </p:nvSpPr>
          <p:spPr>
            <a:xfrm>
              <a:off x="3098800" y="4591050"/>
              <a:ext cx="1644650" cy="14351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일반 몬스터</a:t>
              </a:r>
              <a:br>
                <a:rPr lang="en-US" altLang="ko-KR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</a:br>
              <a:br>
                <a:rPr lang="en-US" altLang="ko-KR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</a:br>
              <a:r>
                <a:rPr lang="ko-KR" altLang="en-US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감지 범위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DEB660C-905C-12E9-4665-C4B00D57BB85}"/>
                </a:ext>
              </a:extLst>
            </p:cNvPr>
            <p:cNvSpPr/>
            <p:nvPr/>
          </p:nvSpPr>
          <p:spPr>
            <a:xfrm>
              <a:off x="3851275" y="5233987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B52AFA6-FF05-3103-441D-28807209FB87}"/>
                </a:ext>
              </a:extLst>
            </p:cNvPr>
            <p:cNvSpPr/>
            <p:nvPr/>
          </p:nvSpPr>
          <p:spPr>
            <a:xfrm>
              <a:off x="2197100" y="5311775"/>
              <a:ext cx="292100" cy="273050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6BD866B-9319-D734-A8BB-A73E54CAD7C4}"/>
                </a:ext>
              </a:extLst>
            </p:cNvPr>
            <p:cNvSpPr txBox="1"/>
            <p:nvPr/>
          </p:nvSpPr>
          <p:spPr>
            <a:xfrm>
              <a:off x="1447800" y="5000823"/>
              <a:ext cx="1346200" cy="271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210 디딤고딕 Light" panose="020B0600000101010101" charset="-127"/>
                  <a:ea typeface="210 디딤고딕 Light" panose="020B0600000101010101" charset="-127"/>
                </a:rPr>
                <a:t>플레이어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D484E7C-E8BC-4285-D69A-A1265C45FEBF}"/>
                </a:ext>
              </a:extLst>
            </p:cNvPr>
            <p:cNvSpPr/>
            <p:nvPr/>
          </p:nvSpPr>
          <p:spPr>
            <a:xfrm>
              <a:off x="4841875" y="5311775"/>
              <a:ext cx="292100" cy="2730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C1EEB8A-581E-472E-71B8-8D261E190959}"/>
                </a:ext>
              </a:extLst>
            </p:cNvPr>
            <p:cNvSpPr/>
            <p:nvPr/>
          </p:nvSpPr>
          <p:spPr>
            <a:xfrm>
              <a:off x="5213350" y="4668837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B0AB13F-4972-86D1-3EE0-F82B8329C7A9}"/>
                </a:ext>
              </a:extLst>
            </p:cNvPr>
            <p:cNvSpPr/>
            <p:nvPr/>
          </p:nvSpPr>
          <p:spPr>
            <a:xfrm>
              <a:off x="4710113" y="6027738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" name="연결선: 구부러짐 24">
              <a:extLst>
                <a:ext uri="{FF2B5EF4-FFF2-40B4-BE49-F238E27FC236}">
                  <a16:creationId xmlns:a16="http://schemas.microsoft.com/office/drawing/2014/main" id="{86B1D44E-2D62-AE79-7938-14C7D29D3DD0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rot="16200000" flipH="1" flipV="1">
              <a:off x="3352007" y="4739480"/>
              <a:ext cx="74612" cy="1063625"/>
            </a:xfrm>
            <a:prstGeom prst="curvedConnector4">
              <a:avLst>
                <a:gd name="adj1" fmla="val -408513"/>
                <a:gd name="adj2" fmla="val 88507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A05AD99-F138-34E4-173B-2128242A100D}"/>
                </a:ext>
              </a:extLst>
            </p:cNvPr>
            <p:cNvSpPr/>
            <p:nvPr/>
          </p:nvSpPr>
          <p:spPr>
            <a:xfrm>
              <a:off x="6711950" y="5299075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7" name="연결선: 구부러짐 26">
              <a:extLst>
                <a:ext uri="{FF2B5EF4-FFF2-40B4-BE49-F238E27FC236}">
                  <a16:creationId xmlns:a16="http://schemas.microsoft.com/office/drawing/2014/main" id="{61319CAA-9D84-10EE-0A1E-3D16D8E26044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rot="10800000">
              <a:off x="3098801" y="5648723"/>
              <a:ext cx="1611313" cy="453629"/>
            </a:xfrm>
            <a:prstGeom prst="curvedConnector3">
              <a:avLst>
                <a:gd name="adj1" fmla="val 74039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연결선: 구부러짐 27">
              <a:extLst>
                <a:ext uri="{FF2B5EF4-FFF2-40B4-BE49-F238E27FC236}">
                  <a16:creationId xmlns:a16="http://schemas.microsoft.com/office/drawing/2014/main" id="{B61D0CE3-C6E0-E26F-EEAC-66C434505CE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248150" y="4743451"/>
              <a:ext cx="965200" cy="565148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연결선: 구부러짐 28">
              <a:extLst>
                <a:ext uri="{FF2B5EF4-FFF2-40B4-BE49-F238E27FC236}">
                  <a16:creationId xmlns:a16="http://schemas.microsoft.com/office/drawing/2014/main" id="{B0C5A602-D3CA-6F14-4B57-539AEBA0A9DB}"/>
                </a:ext>
              </a:extLst>
            </p:cNvPr>
            <p:cNvCxnSpPr>
              <a:cxnSpLocks/>
              <a:stCxn id="26" idx="1"/>
              <a:endCxn id="14" idx="5"/>
            </p:cNvCxnSpPr>
            <p:nvPr/>
          </p:nvCxnSpPr>
          <p:spPr>
            <a:xfrm rot="10800000" flipV="1">
              <a:off x="4502598" y="5373688"/>
              <a:ext cx="2209353" cy="442296"/>
            </a:xfrm>
            <a:prstGeom prst="curvedConnector4">
              <a:avLst>
                <a:gd name="adj1" fmla="val 20694"/>
                <a:gd name="adj2" fmla="val 131724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연결선: 구부러짐 29">
              <a:extLst>
                <a:ext uri="{FF2B5EF4-FFF2-40B4-BE49-F238E27FC236}">
                  <a16:creationId xmlns:a16="http://schemas.microsoft.com/office/drawing/2014/main" id="{516ED2F4-AB68-BE03-C657-B52D01D65F5C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rot="10800000" flipV="1">
              <a:off x="4394201" y="5448300"/>
              <a:ext cx="447675" cy="6350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5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084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F54E4-AC6C-0E6F-EBD8-E30B2023B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F882147-CBCA-875D-A92B-3DD8CC02760C}"/>
              </a:ext>
            </a:extLst>
          </p:cNvPr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DA5D6D4-2E2D-68FB-7AD5-BED42F6DAC3E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20334C8-FEE0-C0BC-5620-E7F60A09C03E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D5FC7DB2-8315-A559-6D4C-DA8A21ABC18B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78BD665-A373-DB83-A2D0-F0E19473CC2B}"/>
              </a:ext>
            </a:extLst>
          </p:cNvPr>
          <p:cNvGrpSpPr/>
          <p:nvPr/>
        </p:nvGrpSpPr>
        <p:grpSpPr>
          <a:xfrm>
            <a:off x="2534729" y="3784412"/>
            <a:ext cx="4170777" cy="5199186"/>
            <a:chOff x="0" y="0"/>
            <a:chExt cx="1098476" cy="136933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2736F7-D415-D2B2-2E83-7DBFC87D483E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152FF92-CDC7-976D-2F92-992E39936336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101BBD6-CC25-8A7C-C881-99D47FD1B073}"/>
              </a:ext>
            </a:extLst>
          </p:cNvPr>
          <p:cNvGrpSpPr/>
          <p:nvPr/>
        </p:nvGrpSpPr>
        <p:grpSpPr>
          <a:xfrm>
            <a:off x="7059291" y="3784412"/>
            <a:ext cx="4170777" cy="5199186"/>
            <a:chOff x="0" y="0"/>
            <a:chExt cx="1098476" cy="136933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6605833-CDB1-E582-DF77-F0F7E6BAA333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C619132-36F4-0660-D275-913FFF350CCA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4B662CA-D855-1365-8495-7B5F4510AF21}"/>
              </a:ext>
            </a:extLst>
          </p:cNvPr>
          <p:cNvGrpSpPr/>
          <p:nvPr/>
        </p:nvGrpSpPr>
        <p:grpSpPr>
          <a:xfrm>
            <a:off x="11582494" y="3784412"/>
            <a:ext cx="4170777" cy="5199186"/>
            <a:chOff x="0" y="0"/>
            <a:chExt cx="1098476" cy="136933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599F738-D32A-1A84-F3D8-EAA949AA016E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680F06DB-A1C4-9DA5-7F03-0416ACD2774C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5A622AC-3229-77F4-B003-5DF833E59C8F}"/>
              </a:ext>
            </a:extLst>
          </p:cNvPr>
          <p:cNvGrpSpPr/>
          <p:nvPr/>
        </p:nvGrpSpPr>
        <p:grpSpPr>
          <a:xfrm>
            <a:off x="2633564" y="3887732"/>
            <a:ext cx="3973108" cy="2496273"/>
            <a:chOff x="0" y="0"/>
            <a:chExt cx="679993" cy="427235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380A442-B79E-9F54-DFCC-4CCE99BD8AA2}"/>
                </a:ext>
              </a:extLst>
            </p:cNvPr>
            <p:cNvSpPr/>
            <p:nvPr/>
          </p:nvSpPr>
          <p:spPr>
            <a:xfrm>
              <a:off x="0" y="0"/>
              <a:ext cx="679993" cy="427235"/>
            </a:xfrm>
            <a:custGeom>
              <a:avLst/>
              <a:gdLst/>
              <a:ahLst/>
              <a:cxnLst/>
              <a:rect l="l" t="t" r="r" b="b"/>
              <a:pathLst>
                <a:path w="679993" h="427235">
                  <a:moveTo>
                    <a:pt x="0" y="0"/>
                  </a:moveTo>
                  <a:lnTo>
                    <a:pt x="679993" y="0"/>
                  </a:lnTo>
                  <a:lnTo>
                    <a:pt x="679993" y="427235"/>
                  </a:lnTo>
                  <a:lnTo>
                    <a:pt x="0" y="427235"/>
                  </a:lnTo>
                  <a:close/>
                </a:path>
              </a:pathLst>
            </a:custGeom>
            <a:blipFill>
              <a:blip r:embed="rId2"/>
              <a:stretch>
                <a:fillRect t="-3120" b="-312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E563787-3A94-EBD6-879E-EA938BB7BEA2}"/>
              </a:ext>
            </a:extLst>
          </p:cNvPr>
          <p:cNvGrpSpPr/>
          <p:nvPr/>
        </p:nvGrpSpPr>
        <p:grpSpPr>
          <a:xfrm>
            <a:off x="7158126" y="3887732"/>
            <a:ext cx="3973108" cy="2496273"/>
            <a:chOff x="0" y="0"/>
            <a:chExt cx="679993" cy="427235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E9DF2D7-32CC-5591-4759-C0CCD24F66C8}"/>
                </a:ext>
              </a:extLst>
            </p:cNvPr>
            <p:cNvSpPr/>
            <p:nvPr/>
          </p:nvSpPr>
          <p:spPr>
            <a:xfrm>
              <a:off x="0" y="0"/>
              <a:ext cx="679993" cy="427235"/>
            </a:xfrm>
            <a:custGeom>
              <a:avLst/>
              <a:gdLst/>
              <a:ahLst/>
              <a:cxnLst/>
              <a:rect l="l" t="t" r="r" b="b"/>
              <a:pathLst>
                <a:path w="679993" h="427235">
                  <a:moveTo>
                    <a:pt x="0" y="0"/>
                  </a:moveTo>
                  <a:lnTo>
                    <a:pt x="679993" y="0"/>
                  </a:lnTo>
                  <a:lnTo>
                    <a:pt x="679993" y="427235"/>
                  </a:lnTo>
                  <a:lnTo>
                    <a:pt x="0" y="427235"/>
                  </a:lnTo>
                  <a:close/>
                </a:path>
              </a:pathLst>
            </a:custGeom>
            <a:blipFill>
              <a:blip r:embed="rId3"/>
              <a:stretch>
                <a:fillRect l="-5848" r="-584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281CD9FA-9E43-D0A5-1A60-27816F1BC7FF}"/>
              </a:ext>
            </a:extLst>
          </p:cNvPr>
          <p:cNvGrpSpPr/>
          <p:nvPr/>
        </p:nvGrpSpPr>
        <p:grpSpPr>
          <a:xfrm>
            <a:off x="11681328" y="3887732"/>
            <a:ext cx="3973108" cy="2496273"/>
            <a:chOff x="0" y="0"/>
            <a:chExt cx="679993" cy="427235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D46DA16-B776-97E3-9C5B-F1B98FC5C66F}"/>
                </a:ext>
              </a:extLst>
            </p:cNvPr>
            <p:cNvSpPr/>
            <p:nvPr/>
          </p:nvSpPr>
          <p:spPr>
            <a:xfrm>
              <a:off x="0" y="0"/>
              <a:ext cx="679993" cy="427235"/>
            </a:xfrm>
            <a:custGeom>
              <a:avLst/>
              <a:gdLst/>
              <a:ahLst/>
              <a:cxnLst/>
              <a:rect l="l" t="t" r="r" b="b"/>
              <a:pathLst>
                <a:path w="679993" h="427235">
                  <a:moveTo>
                    <a:pt x="0" y="0"/>
                  </a:moveTo>
                  <a:lnTo>
                    <a:pt x="679993" y="0"/>
                  </a:lnTo>
                  <a:lnTo>
                    <a:pt x="679993" y="427235"/>
                  </a:lnTo>
                  <a:lnTo>
                    <a:pt x="0" y="427235"/>
                  </a:lnTo>
                  <a:close/>
                </a:path>
              </a:pathLst>
            </a:custGeom>
            <a:blipFill>
              <a:blip r:embed="rId4"/>
              <a:stretch>
                <a:fillRect t="-3020" b="-302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8FC55774-614D-5EAF-4048-0CE4BD57F22D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FBE73A7-3D2C-773B-B019-46FE27C8A884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2BC9002-9C66-E915-F1BD-9AE36AD831EC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핵심 연구 과제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63BB2CB-3CDB-277A-2C12-360F2061948F}"/>
              </a:ext>
            </a:extLst>
          </p:cNvPr>
          <p:cNvSpPr txBox="1"/>
          <p:nvPr/>
        </p:nvSpPr>
        <p:spPr>
          <a:xfrm>
            <a:off x="2534729" y="6773403"/>
            <a:ext cx="417077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dirty="0" err="1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브랜드</a:t>
            </a:r>
            <a:r>
              <a:rPr 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 </a:t>
            </a:r>
            <a:r>
              <a:rPr lang="en-US" sz="2799" dirty="0" err="1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인지도</a:t>
            </a:r>
            <a:r>
              <a:rPr 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 </a:t>
            </a:r>
            <a:r>
              <a:rPr lang="en-US" sz="2799" dirty="0" err="1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향상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0F572D7-82A5-7573-0FB0-7CF24FB4E07F}"/>
              </a:ext>
            </a:extLst>
          </p:cNvPr>
          <p:cNvSpPr txBox="1"/>
          <p:nvPr/>
        </p:nvSpPr>
        <p:spPr>
          <a:xfrm>
            <a:off x="7059291" y="6773403"/>
            <a:ext cx="417077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제품 판매량 증가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DE6ABF5-8C1D-A91E-2324-02B3A202B4A5}"/>
              </a:ext>
            </a:extLst>
          </p:cNvPr>
          <p:cNvSpPr txBox="1"/>
          <p:nvPr/>
        </p:nvSpPr>
        <p:spPr>
          <a:xfrm>
            <a:off x="11582494" y="6773403"/>
            <a:ext cx="417077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타깃 고객 확보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15A3068-EF95-7102-BC4A-9FD61339881D}"/>
              </a:ext>
            </a:extLst>
          </p:cNvPr>
          <p:cNvSpPr txBox="1"/>
          <p:nvPr/>
        </p:nvSpPr>
        <p:spPr>
          <a:xfrm>
            <a:off x="2820173" y="7421103"/>
            <a:ext cx="3599890" cy="11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광고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마케팅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전략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소셜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미디어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활용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그리고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고품질의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제품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또는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서비스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제공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10168F8-4E6A-AE43-2AED-7F43F0B64BA0}"/>
              </a:ext>
            </a:extLst>
          </p:cNvPr>
          <p:cNvSpPr txBox="1"/>
          <p:nvPr/>
        </p:nvSpPr>
        <p:spPr>
          <a:xfrm>
            <a:off x="7344735" y="7421103"/>
            <a:ext cx="3599890" cy="11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제품 판매량 증가를 위해 품질 좋은 제품과 효과적인 마케팅 전략의 조화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18C987E-69EB-D582-DF86-11FF8C67A2E8}"/>
              </a:ext>
            </a:extLst>
          </p:cNvPr>
          <p:cNvSpPr txBox="1"/>
          <p:nvPr/>
        </p:nvSpPr>
        <p:spPr>
          <a:xfrm>
            <a:off x="11867937" y="7421103"/>
            <a:ext cx="3599890" cy="11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제품이나 서비스를 지속적으로 개선하고, 고객과의 소통을 유지</a:t>
            </a:r>
          </a:p>
        </p:txBody>
      </p:sp>
    </p:spTree>
    <p:extLst>
      <p:ext uri="{BB962C8B-B14F-4D97-AF65-F5344CB8AC3E}">
        <p14:creationId xmlns:p14="http://schemas.microsoft.com/office/powerpoint/2010/main" val="2134353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B0393-2688-2056-E02C-75BA4990A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C787D5-0DF6-7116-8C81-032937CA227E}"/>
              </a:ext>
            </a:extLst>
          </p:cNvPr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A7C3C11-B114-7641-C296-F1AFDD15A1E6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A2B809D-4D6D-F0FE-8E6E-7A5576585509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6AE47D6A-9454-C093-372C-9C6413D52250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BC018D0-D085-9288-DACB-C00B7D6105F4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FA1049E-3F83-A96A-C59E-6917D7AEF453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C98DC645-8E23-2E74-C7A9-E8867E2B8895}"/>
              </a:ext>
            </a:extLst>
          </p:cNvPr>
          <p:cNvGrpSpPr/>
          <p:nvPr/>
        </p:nvGrpSpPr>
        <p:grpSpPr>
          <a:xfrm>
            <a:off x="3563561" y="4187554"/>
            <a:ext cx="849143" cy="704277"/>
            <a:chOff x="0" y="0"/>
            <a:chExt cx="223643" cy="1854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27D2987-E304-BC18-E05F-99AE46FC1E34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46900BC-45DC-E92A-C5C8-BCFD448CBD33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EC2BB7E-73CD-FDA6-526E-0B799059BD16}"/>
              </a:ext>
            </a:extLst>
          </p:cNvPr>
          <p:cNvGrpSpPr/>
          <p:nvPr/>
        </p:nvGrpSpPr>
        <p:grpSpPr>
          <a:xfrm>
            <a:off x="9496450" y="4187554"/>
            <a:ext cx="849143" cy="704277"/>
            <a:chOff x="0" y="0"/>
            <a:chExt cx="223643" cy="18548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75FAA6E-8072-0520-AFC8-6AA9B12E6C93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FD4F24E-8C6E-7CBF-3398-DD309C23218C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EF0E13A7-4AA6-423F-1628-8FFF1818502B}"/>
              </a:ext>
            </a:extLst>
          </p:cNvPr>
          <p:cNvGrpSpPr/>
          <p:nvPr/>
        </p:nvGrpSpPr>
        <p:grpSpPr>
          <a:xfrm>
            <a:off x="3563561" y="5207563"/>
            <a:ext cx="849143" cy="704277"/>
            <a:chOff x="0" y="0"/>
            <a:chExt cx="223643" cy="185488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5303CC4-D250-2DEF-C519-1FAA75CE2AB3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6D2E025-CD7B-FC49-A2F5-FCF54DA7FA18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FC62290-A095-CF7C-949F-A682D0947F87}"/>
              </a:ext>
            </a:extLst>
          </p:cNvPr>
          <p:cNvGrpSpPr/>
          <p:nvPr/>
        </p:nvGrpSpPr>
        <p:grpSpPr>
          <a:xfrm>
            <a:off x="9496450" y="5207563"/>
            <a:ext cx="849143" cy="704277"/>
            <a:chOff x="0" y="0"/>
            <a:chExt cx="223643" cy="18548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C34911E-45FC-7DC0-8512-43769FE1ECF2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AF0BB0-B4F1-CBE3-A0FE-B9665D186652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FB667549-04BC-EAFC-4EFE-BBF1DA98BC43}"/>
              </a:ext>
            </a:extLst>
          </p:cNvPr>
          <p:cNvGrpSpPr/>
          <p:nvPr/>
        </p:nvGrpSpPr>
        <p:grpSpPr>
          <a:xfrm>
            <a:off x="3563561" y="6196682"/>
            <a:ext cx="849143" cy="704277"/>
            <a:chOff x="0" y="0"/>
            <a:chExt cx="223643" cy="185488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087BCD4C-09A0-8584-AB80-332989A370B0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8597BB5A-0AE0-AFDB-BCDE-7F8CB628F15E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90E204EA-A4BC-770E-468C-AC662525D82C}"/>
              </a:ext>
            </a:extLst>
          </p:cNvPr>
          <p:cNvGrpSpPr/>
          <p:nvPr/>
        </p:nvGrpSpPr>
        <p:grpSpPr>
          <a:xfrm>
            <a:off x="9496450" y="6196682"/>
            <a:ext cx="849143" cy="704277"/>
            <a:chOff x="0" y="0"/>
            <a:chExt cx="223643" cy="185488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BF5100E1-E833-6F80-EEC1-06F3201530F9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0EF7AE9D-98FE-E450-B987-6A2983460624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DF1489E2-4DB2-1D36-FEB9-283EA35BAB4B}"/>
              </a:ext>
            </a:extLst>
          </p:cNvPr>
          <p:cNvGrpSpPr/>
          <p:nvPr/>
        </p:nvGrpSpPr>
        <p:grpSpPr>
          <a:xfrm>
            <a:off x="3579057" y="7207813"/>
            <a:ext cx="849143" cy="704277"/>
            <a:chOff x="0" y="0"/>
            <a:chExt cx="223643" cy="18548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1C4D642-0D48-2C29-2572-30CD918D37FA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E91F0278-148A-578F-6302-2AF423CD8E09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C6638891-9835-74DC-3202-59CB5D211AC6}"/>
              </a:ext>
            </a:extLst>
          </p:cNvPr>
          <p:cNvGrpSpPr/>
          <p:nvPr/>
        </p:nvGrpSpPr>
        <p:grpSpPr>
          <a:xfrm>
            <a:off x="9511946" y="7207813"/>
            <a:ext cx="849143" cy="704277"/>
            <a:chOff x="0" y="0"/>
            <a:chExt cx="223643" cy="185488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A17007B4-9CA1-F98E-F5D3-0CF7DBF09280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D5EDD9F6-3B95-EB82-0118-E4E190274A63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A3EA9172-B5DD-743C-69EC-2CAD0E288719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기술요소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BDC52467-0CF7-B6C5-E24F-1DD4D2E0BFA9}"/>
              </a:ext>
            </a:extLst>
          </p:cNvPr>
          <p:cNvSpPr txBox="1"/>
          <p:nvPr/>
        </p:nvSpPr>
        <p:spPr>
          <a:xfrm>
            <a:off x="5062818" y="4320618"/>
            <a:ext cx="388633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프로젝트 목표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4E2DF36E-E477-ECBF-E10A-B93A5C43DBF1}"/>
              </a:ext>
            </a:extLst>
          </p:cNvPr>
          <p:cNvSpPr txBox="1"/>
          <p:nvPr/>
        </p:nvSpPr>
        <p:spPr>
          <a:xfrm>
            <a:off x="3398211" y="4339668"/>
            <a:ext cx="1179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01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334FE44E-59E5-4F9B-0D44-F535A3E99C8B}"/>
              </a:ext>
            </a:extLst>
          </p:cNvPr>
          <p:cNvSpPr txBox="1"/>
          <p:nvPr/>
        </p:nvSpPr>
        <p:spPr>
          <a:xfrm>
            <a:off x="3398215" y="5337665"/>
            <a:ext cx="1179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02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31D08299-0665-463F-9292-47E6BA917424}"/>
              </a:ext>
            </a:extLst>
          </p:cNvPr>
          <p:cNvSpPr txBox="1"/>
          <p:nvPr/>
        </p:nvSpPr>
        <p:spPr>
          <a:xfrm>
            <a:off x="5062822" y="5318615"/>
            <a:ext cx="388633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시장 분석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25BA399E-A055-D392-C1A2-BB346F937139}"/>
              </a:ext>
            </a:extLst>
          </p:cNvPr>
          <p:cNvSpPr txBox="1"/>
          <p:nvPr/>
        </p:nvSpPr>
        <p:spPr>
          <a:xfrm>
            <a:off x="3398215" y="6348796"/>
            <a:ext cx="121082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03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D5EC2AC-01B7-E391-6862-7C687417C13A}"/>
              </a:ext>
            </a:extLst>
          </p:cNvPr>
          <p:cNvSpPr txBox="1"/>
          <p:nvPr/>
        </p:nvSpPr>
        <p:spPr>
          <a:xfrm>
            <a:off x="5106537" y="6329746"/>
            <a:ext cx="384262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마케팅 전략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5A4229EB-CD8B-FE47-4075-4780CFE6B7EE}"/>
              </a:ext>
            </a:extLst>
          </p:cNvPr>
          <p:cNvSpPr txBox="1"/>
          <p:nvPr/>
        </p:nvSpPr>
        <p:spPr>
          <a:xfrm>
            <a:off x="3398215" y="7359927"/>
            <a:ext cx="1179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04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EC96983-3C6A-9D90-AFF9-CACC22F0435D}"/>
              </a:ext>
            </a:extLst>
          </p:cNvPr>
          <p:cNvSpPr txBox="1"/>
          <p:nvPr/>
        </p:nvSpPr>
        <p:spPr>
          <a:xfrm>
            <a:off x="5062822" y="7340877"/>
            <a:ext cx="388633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프로젝트 진행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43C55005-03EA-ECA0-E1EB-D770B3C9779C}"/>
              </a:ext>
            </a:extLst>
          </p:cNvPr>
          <p:cNvSpPr txBox="1"/>
          <p:nvPr/>
        </p:nvSpPr>
        <p:spPr>
          <a:xfrm>
            <a:off x="9338853" y="4359552"/>
            <a:ext cx="1179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05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400D879E-06B1-4C3F-2698-443A4F5A2CD7}"/>
              </a:ext>
            </a:extLst>
          </p:cNvPr>
          <p:cNvSpPr txBox="1"/>
          <p:nvPr/>
        </p:nvSpPr>
        <p:spPr>
          <a:xfrm>
            <a:off x="9338848" y="5359677"/>
            <a:ext cx="1179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06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E5053839-9A11-8588-B85A-673988B65BA5}"/>
              </a:ext>
            </a:extLst>
          </p:cNvPr>
          <p:cNvSpPr txBox="1"/>
          <p:nvPr/>
        </p:nvSpPr>
        <p:spPr>
          <a:xfrm>
            <a:off x="9338853" y="6359802"/>
            <a:ext cx="1179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07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65DDD959-50C1-DD05-B8EE-6CAA7DE76D86}"/>
              </a:ext>
            </a:extLst>
          </p:cNvPr>
          <p:cNvSpPr txBox="1"/>
          <p:nvPr/>
        </p:nvSpPr>
        <p:spPr>
          <a:xfrm>
            <a:off x="9338848" y="7359927"/>
            <a:ext cx="1179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08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AE05E81A-4BFC-6C51-73D3-23AFEB72A221}"/>
              </a:ext>
            </a:extLst>
          </p:cNvPr>
          <p:cNvSpPr txBox="1"/>
          <p:nvPr/>
        </p:nvSpPr>
        <p:spPr>
          <a:xfrm>
            <a:off x="11003460" y="4340502"/>
            <a:ext cx="388633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예산 계획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4A00552E-001F-B4CD-47D7-B4B068391EE8}"/>
              </a:ext>
            </a:extLst>
          </p:cNvPr>
          <p:cNvSpPr txBox="1"/>
          <p:nvPr/>
        </p:nvSpPr>
        <p:spPr>
          <a:xfrm>
            <a:off x="11003455" y="5340627"/>
            <a:ext cx="388633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마케팅 채널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3357DF5B-FC2D-24FF-C937-C60C80D0EEDE}"/>
              </a:ext>
            </a:extLst>
          </p:cNvPr>
          <p:cNvSpPr txBox="1"/>
          <p:nvPr/>
        </p:nvSpPr>
        <p:spPr>
          <a:xfrm>
            <a:off x="11003460" y="6340752"/>
            <a:ext cx="388633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마케팅 믹스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D756B447-5691-F5C7-A8C1-6B3AC90DE4FE}"/>
              </a:ext>
            </a:extLst>
          </p:cNvPr>
          <p:cNvSpPr txBox="1"/>
          <p:nvPr/>
        </p:nvSpPr>
        <p:spPr>
          <a:xfrm>
            <a:off x="11003455" y="7340877"/>
            <a:ext cx="388633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핵심 성과 지표</a:t>
            </a:r>
          </a:p>
        </p:txBody>
      </p:sp>
    </p:spTree>
    <p:extLst>
      <p:ext uri="{BB962C8B-B14F-4D97-AF65-F5344CB8AC3E}">
        <p14:creationId xmlns:p14="http://schemas.microsoft.com/office/powerpoint/2010/main" val="3627809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AE8DF-2F12-69C6-BD5E-DF36C8A80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C7A1CA9-BA02-847E-B28F-8D7AFB967BC5}"/>
              </a:ext>
            </a:extLst>
          </p:cNvPr>
          <p:cNvGrpSpPr/>
          <p:nvPr/>
        </p:nvGrpSpPr>
        <p:grpSpPr>
          <a:xfrm>
            <a:off x="809825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AFE4152-1006-D220-4176-9A8175D690C2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D8C5902-BF84-1B1D-673D-0FC51EBD8453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FD28F575-209D-02C6-43F2-9AF2D0077A3C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5A94EB4-1CAB-4112-9A9F-4E7D2E4FFCD4}"/>
              </a:ext>
            </a:extLst>
          </p:cNvPr>
          <p:cNvGrpSpPr/>
          <p:nvPr/>
        </p:nvGrpSpPr>
        <p:grpSpPr>
          <a:xfrm>
            <a:off x="2534729" y="3784412"/>
            <a:ext cx="4170777" cy="5199186"/>
            <a:chOff x="0" y="0"/>
            <a:chExt cx="1098476" cy="136933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C42A865-09DF-8AAC-01BF-B2EB442B3640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B53DF4F-44BC-BFE7-C9BF-D531C14CD42F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2E24573-1E27-403B-8094-0AFFCDF769A0}"/>
              </a:ext>
            </a:extLst>
          </p:cNvPr>
          <p:cNvGrpSpPr/>
          <p:nvPr/>
        </p:nvGrpSpPr>
        <p:grpSpPr>
          <a:xfrm>
            <a:off x="7059291" y="3784412"/>
            <a:ext cx="4170777" cy="5199186"/>
            <a:chOff x="0" y="0"/>
            <a:chExt cx="1098476" cy="136933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08FF6B7-6B9A-A2C9-1A7F-1846E729F313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0DF54EC-BCF4-31CF-711D-000725BE4D5E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23FFFA0-4CDA-70BA-E714-140BFE35C4A1}"/>
              </a:ext>
            </a:extLst>
          </p:cNvPr>
          <p:cNvGrpSpPr/>
          <p:nvPr/>
        </p:nvGrpSpPr>
        <p:grpSpPr>
          <a:xfrm>
            <a:off x="11582494" y="3784412"/>
            <a:ext cx="4170777" cy="5199186"/>
            <a:chOff x="0" y="0"/>
            <a:chExt cx="1098476" cy="136933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C1BBF80-5FBA-BB2A-DB95-79B96374ADFB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66BC831-C70E-6DC6-199E-AFD7F20C7D9B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ED686700-B39F-4BC8-10F2-78D87999B977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F1C94B1-5BCD-2141-7E78-43533EA2D4D7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64B0EE8-DB06-7701-1835-5151E10AE05C}"/>
              </a:ext>
            </a:extLst>
          </p:cNvPr>
          <p:cNvSpPr txBox="1"/>
          <p:nvPr/>
        </p:nvSpPr>
        <p:spPr>
          <a:xfrm>
            <a:off x="5789546" y="2289067"/>
            <a:ext cx="67056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개인별 준비현황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BA1316F-8C6E-FAD9-445F-7AEC73FBB302}"/>
              </a:ext>
            </a:extLst>
          </p:cNvPr>
          <p:cNvSpPr txBox="1"/>
          <p:nvPr/>
        </p:nvSpPr>
        <p:spPr>
          <a:xfrm>
            <a:off x="2563304" y="3924300"/>
            <a:ext cx="417077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장명운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CFF60BA-53E3-0F6E-5DF9-79F49419F04C}"/>
              </a:ext>
            </a:extLst>
          </p:cNvPr>
          <p:cNvSpPr txBox="1"/>
          <p:nvPr/>
        </p:nvSpPr>
        <p:spPr>
          <a:xfrm>
            <a:off x="7105557" y="3924299"/>
            <a:ext cx="417077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우상훈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90E514C-6613-0F8D-8CCC-B56B1D3E4F0C}"/>
              </a:ext>
            </a:extLst>
          </p:cNvPr>
          <p:cNvSpPr txBox="1"/>
          <p:nvPr/>
        </p:nvSpPr>
        <p:spPr>
          <a:xfrm>
            <a:off x="11590660" y="3924299"/>
            <a:ext cx="417077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이종진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63512A9-919D-A0E4-BB22-000D4E7A4B78}"/>
              </a:ext>
            </a:extLst>
          </p:cNvPr>
          <p:cNvSpPr txBox="1"/>
          <p:nvPr/>
        </p:nvSpPr>
        <p:spPr>
          <a:xfrm>
            <a:off x="2817838" y="4450854"/>
            <a:ext cx="3659161" cy="283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C | C++ | STL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스크립트 언어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프로그래밍 </a:t>
            </a: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1, 2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컴퓨터 그래픽스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게임수학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자료구조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데이터베이스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  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알고리즘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모델링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| 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애니메이션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멀티코어 프로그래밍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284AAE6-0333-BAFB-FC06-3E9ABEE481D3}"/>
              </a:ext>
            </a:extLst>
          </p:cNvPr>
          <p:cNvSpPr txBox="1"/>
          <p:nvPr/>
        </p:nvSpPr>
        <p:spPr>
          <a:xfrm>
            <a:off x="7342401" y="4450854"/>
            <a:ext cx="3599890" cy="406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C | C++ | STL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스크립트 언어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프로그래밍 </a:t>
            </a: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네트워크 게임 프로그래밍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    | </a:t>
            </a: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서버 프로그래밍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청강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인공지능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컴퓨터 그래픽스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게임수학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자료구조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데이터베이스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  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알고리즘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모델링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| 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애니메이션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algn="just">
              <a:lnSpc>
                <a:spcPts val="3189"/>
              </a:lnSpc>
            </a:pPr>
            <a:endParaRPr lang="en-US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F0B18C8-F4E4-9F87-A4C6-B41E0A603231}"/>
              </a:ext>
            </a:extLst>
          </p:cNvPr>
          <p:cNvSpPr txBox="1"/>
          <p:nvPr/>
        </p:nvSpPr>
        <p:spPr>
          <a:xfrm>
            <a:off x="11865603" y="4450854"/>
            <a:ext cx="3599890" cy="367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C | C++ | STL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프로그래밍 </a:t>
            </a: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1, 2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인공지능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컴퓨터 그래픽스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게임수학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자료구조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데이터베이스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  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알고리즘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애니메이션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algn="just">
              <a:lnSpc>
                <a:spcPts val="3189"/>
              </a:lnSpc>
            </a:pPr>
            <a:endParaRPr lang="en-US" altLang="ko-KR" sz="2400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1693566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2F131-2378-47E4-EF30-0E6DC973A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E2EB773-B610-9508-6EDB-12168C5966E2}"/>
              </a:ext>
            </a:extLst>
          </p:cNvPr>
          <p:cNvGrpSpPr/>
          <p:nvPr/>
        </p:nvGrpSpPr>
        <p:grpSpPr>
          <a:xfrm>
            <a:off x="809825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90D8971-FBCF-53E5-5CA7-7E69B36C6E91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BAF783D-3D28-6608-EE79-5527FC64D408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91C1A459-8B18-0435-BCE2-4049ECA74AE7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4C71668-1250-18A0-0FB0-0295B11F3D96}"/>
              </a:ext>
            </a:extLst>
          </p:cNvPr>
          <p:cNvGrpSpPr/>
          <p:nvPr/>
        </p:nvGrpSpPr>
        <p:grpSpPr>
          <a:xfrm>
            <a:off x="2534729" y="3784412"/>
            <a:ext cx="4170777" cy="5199186"/>
            <a:chOff x="0" y="0"/>
            <a:chExt cx="1098476" cy="136933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B622D1C-D4BB-C7D5-B830-2D98C491482C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124A617-2E24-21BD-43C7-4BC84186D8C0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638EB9E-0051-967F-8A4E-8B00611DB72A}"/>
              </a:ext>
            </a:extLst>
          </p:cNvPr>
          <p:cNvGrpSpPr/>
          <p:nvPr/>
        </p:nvGrpSpPr>
        <p:grpSpPr>
          <a:xfrm>
            <a:off x="7059291" y="3784412"/>
            <a:ext cx="4170777" cy="5199186"/>
            <a:chOff x="0" y="0"/>
            <a:chExt cx="1098476" cy="136933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0B8EA1B-0942-19A8-A2CA-A8CE5B618EF3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3554960-92DC-B22B-5F34-750B6FD57304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B3D502D-871D-045E-AE14-46250F5A2FD8}"/>
              </a:ext>
            </a:extLst>
          </p:cNvPr>
          <p:cNvGrpSpPr/>
          <p:nvPr/>
        </p:nvGrpSpPr>
        <p:grpSpPr>
          <a:xfrm>
            <a:off x="11582494" y="3784412"/>
            <a:ext cx="4170777" cy="5199186"/>
            <a:chOff x="0" y="0"/>
            <a:chExt cx="1098476" cy="136933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648C1FE-ADD9-4BB0-5C4A-5F81D3B56FFF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46484A87-5854-CA7F-3B65-A3278B9C82F5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08B33B2A-F877-E4A0-3B8F-7ACEA9545C94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505D069-DC4A-CA2C-AEC9-CA77C7E3E782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E1270B2-0E14-FBF1-FEAD-DF2418743CAB}"/>
              </a:ext>
            </a:extLst>
          </p:cNvPr>
          <p:cNvSpPr txBox="1"/>
          <p:nvPr/>
        </p:nvSpPr>
        <p:spPr>
          <a:xfrm>
            <a:off x="5789546" y="2289067"/>
            <a:ext cx="67056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역할 분담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49669C7-1E63-7634-7DAD-5BF937FE2EBA}"/>
              </a:ext>
            </a:extLst>
          </p:cNvPr>
          <p:cNvSpPr txBox="1"/>
          <p:nvPr/>
        </p:nvSpPr>
        <p:spPr>
          <a:xfrm>
            <a:off x="2563304" y="3924300"/>
            <a:ext cx="417077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장명운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3C16143-A345-76B8-2D9A-06ED6E3E6B29}"/>
              </a:ext>
            </a:extLst>
          </p:cNvPr>
          <p:cNvSpPr txBox="1"/>
          <p:nvPr/>
        </p:nvSpPr>
        <p:spPr>
          <a:xfrm>
            <a:off x="7105557" y="3924299"/>
            <a:ext cx="417077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우상훈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978557B-BEDA-0024-BC95-961905AE3124}"/>
              </a:ext>
            </a:extLst>
          </p:cNvPr>
          <p:cNvSpPr txBox="1"/>
          <p:nvPr/>
        </p:nvSpPr>
        <p:spPr>
          <a:xfrm>
            <a:off x="11590660" y="3924299"/>
            <a:ext cx="417077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이종진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598C27A-24ED-A650-4766-8FEFCEE5310C}"/>
              </a:ext>
            </a:extLst>
          </p:cNvPr>
          <p:cNvSpPr txBox="1"/>
          <p:nvPr/>
        </p:nvSpPr>
        <p:spPr>
          <a:xfrm>
            <a:off x="2817838" y="4450854"/>
            <a:ext cx="3659161" cy="283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C | C++ | STL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스크립트 언어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프로그래밍 </a:t>
            </a: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1, 2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컴퓨터 그래픽스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게임수학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자료구조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데이터베이스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  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알고리즘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모델링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| 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애니메이션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멀티코어 프로그래밍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DADD560-1694-DAC0-66DA-8C2190496234}"/>
              </a:ext>
            </a:extLst>
          </p:cNvPr>
          <p:cNvSpPr txBox="1"/>
          <p:nvPr/>
        </p:nvSpPr>
        <p:spPr>
          <a:xfrm>
            <a:off x="7342401" y="4450854"/>
            <a:ext cx="3599890" cy="406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C | C++ | STL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스크립트 언어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프로그래밍 </a:t>
            </a: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네트워크 게임 프로그래밍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    | </a:t>
            </a: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서버 프로그래밍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청강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인공지능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컴퓨터 그래픽스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게임수학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자료구조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데이터베이스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  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알고리즘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모델링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| 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애니메이션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algn="just">
              <a:lnSpc>
                <a:spcPts val="3189"/>
              </a:lnSpc>
            </a:pPr>
            <a:endParaRPr lang="en-US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F0EDCB1-5950-3F99-81DB-E22C65017E09}"/>
              </a:ext>
            </a:extLst>
          </p:cNvPr>
          <p:cNvSpPr txBox="1"/>
          <p:nvPr/>
        </p:nvSpPr>
        <p:spPr>
          <a:xfrm>
            <a:off x="11865603" y="4450854"/>
            <a:ext cx="3599890" cy="367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C | C++ | STL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프로그래밍 </a:t>
            </a: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1, 2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인공지능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컴퓨터 그래픽스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게임수학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자료구조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데이터베이스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  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알고리즘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애니메이션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algn="just">
              <a:lnSpc>
                <a:spcPts val="3189"/>
              </a:lnSpc>
            </a:pPr>
            <a:endParaRPr lang="en-US" altLang="ko-KR" sz="2400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913129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B194EA-0C95-91CA-D8C8-C2C96C427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7B92E21-4600-F9D2-0793-0B10B3EBE66A}"/>
              </a:ext>
            </a:extLst>
          </p:cNvPr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36BF4B-2972-5282-1C54-B6E8D5CB01BA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C2B93CD-6231-798B-C122-7DD4AA85C7D6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7A42910C-23BD-1D21-2C6C-286887DDF5F7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6AE2904-AA7C-FF4B-17FD-E166BC63992A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595CF47-1344-AEA4-1213-96589E96FC72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507A03E-DFF3-C02E-E321-E6FC282CD59D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개발 일정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7016A0D0-0076-9ED5-35F8-E7450BB6E5DF}"/>
              </a:ext>
            </a:extLst>
          </p:cNvPr>
          <p:cNvSpPr/>
          <p:nvPr/>
        </p:nvSpPr>
        <p:spPr>
          <a:xfrm flipV="1">
            <a:off x="2846035" y="5232591"/>
            <a:ext cx="13062419" cy="0"/>
          </a:xfrm>
          <a:prstGeom prst="line">
            <a:avLst/>
          </a:prstGeom>
          <a:ln w="19050" cap="rnd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3B7090F-AC1D-BE50-3546-4F2B674F849D}"/>
              </a:ext>
            </a:extLst>
          </p:cNvPr>
          <p:cNvGrpSpPr/>
          <p:nvPr/>
        </p:nvGrpSpPr>
        <p:grpSpPr>
          <a:xfrm>
            <a:off x="2750431" y="5127462"/>
            <a:ext cx="257529" cy="257529"/>
            <a:chOff x="0" y="0"/>
            <a:chExt cx="6350000" cy="63500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BB1B102-70CC-BCF1-5522-A071FE474DF7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087B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73B7F382-68CC-627F-ECC0-FEE2637827AB}"/>
              </a:ext>
            </a:extLst>
          </p:cNvPr>
          <p:cNvGrpSpPr/>
          <p:nvPr/>
        </p:nvGrpSpPr>
        <p:grpSpPr>
          <a:xfrm>
            <a:off x="6085049" y="5127462"/>
            <a:ext cx="257529" cy="257529"/>
            <a:chOff x="0" y="0"/>
            <a:chExt cx="6350000" cy="63500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3E786EB-AAA9-F996-5D8C-69DCF4FEF839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087B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2D4850B-A7FB-C819-161B-408F1EB2C538}"/>
              </a:ext>
            </a:extLst>
          </p:cNvPr>
          <p:cNvGrpSpPr/>
          <p:nvPr/>
        </p:nvGrpSpPr>
        <p:grpSpPr>
          <a:xfrm>
            <a:off x="9419153" y="5127462"/>
            <a:ext cx="257529" cy="257529"/>
            <a:chOff x="0" y="0"/>
            <a:chExt cx="6350000" cy="63500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D2AFCCD4-37EB-925C-04A3-2C944BC5DA8D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087B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BECF5E2-79BE-C052-A6F1-3F99FB83835E}"/>
              </a:ext>
            </a:extLst>
          </p:cNvPr>
          <p:cNvGrpSpPr/>
          <p:nvPr/>
        </p:nvGrpSpPr>
        <p:grpSpPr>
          <a:xfrm>
            <a:off x="12753257" y="5127462"/>
            <a:ext cx="257529" cy="257529"/>
            <a:chOff x="0" y="0"/>
            <a:chExt cx="6350000" cy="63500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6E442ED5-7AD6-F2A7-CE93-41E49E379CF1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087B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139A49A-80E0-D44F-A8CB-9AE5DA3CEFAA}"/>
              </a:ext>
            </a:extLst>
          </p:cNvPr>
          <p:cNvGrpSpPr/>
          <p:nvPr/>
        </p:nvGrpSpPr>
        <p:grpSpPr>
          <a:xfrm>
            <a:off x="2827365" y="5762053"/>
            <a:ext cx="3078264" cy="2222113"/>
            <a:chOff x="0" y="0"/>
            <a:chExt cx="810736" cy="585248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5BC5338-ED9D-F494-67F4-5A92E0245F67}"/>
                </a:ext>
              </a:extLst>
            </p:cNvPr>
            <p:cNvSpPr/>
            <p:nvPr/>
          </p:nvSpPr>
          <p:spPr>
            <a:xfrm>
              <a:off x="0" y="0"/>
              <a:ext cx="810736" cy="585248"/>
            </a:xfrm>
            <a:custGeom>
              <a:avLst/>
              <a:gdLst/>
              <a:ahLst/>
              <a:cxnLst/>
              <a:rect l="l" t="t" r="r" b="b"/>
              <a:pathLst>
                <a:path w="810736" h="585248">
                  <a:moveTo>
                    <a:pt x="0" y="0"/>
                  </a:moveTo>
                  <a:lnTo>
                    <a:pt x="810736" y="0"/>
                  </a:lnTo>
                  <a:lnTo>
                    <a:pt x="810736" y="585248"/>
                  </a:lnTo>
                  <a:lnTo>
                    <a:pt x="0" y="58524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094E206B-AA55-11AF-1EF5-69BB23037750}"/>
                </a:ext>
              </a:extLst>
            </p:cNvPr>
            <p:cNvSpPr txBox="1"/>
            <p:nvPr/>
          </p:nvSpPr>
          <p:spPr>
            <a:xfrm>
              <a:off x="0" y="-47625"/>
              <a:ext cx="810736" cy="63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7D149F2E-C887-D432-9059-02F4B8F94E38}"/>
              </a:ext>
            </a:extLst>
          </p:cNvPr>
          <p:cNvGrpSpPr/>
          <p:nvPr/>
        </p:nvGrpSpPr>
        <p:grpSpPr>
          <a:xfrm>
            <a:off x="6200082" y="5762053"/>
            <a:ext cx="3078264" cy="2222113"/>
            <a:chOff x="0" y="0"/>
            <a:chExt cx="810736" cy="585248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3E078E1B-F121-7508-2092-3A9B5FD956FA}"/>
                </a:ext>
              </a:extLst>
            </p:cNvPr>
            <p:cNvSpPr/>
            <p:nvPr/>
          </p:nvSpPr>
          <p:spPr>
            <a:xfrm>
              <a:off x="0" y="0"/>
              <a:ext cx="810736" cy="585248"/>
            </a:xfrm>
            <a:custGeom>
              <a:avLst/>
              <a:gdLst/>
              <a:ahLst/>
              <a:cxnLst/>
              <a:rect l="l" t="t" r="r" b="b"/>
              <a:pathLst>
                <a:path w="810736" h="585248">
                  <a:moveTo>
                    <a:pt x="0" y="0"/>
                  </a:moveTo>
                  <a:lnTo>
                    <a:pt x="810736" y="0"/>
                  </a:lnTo>
                  <a:lnTo>
                    <a:pt x="810736" y="585248"/>
                  </a:lnTo>
                  <a:lnTo>
                    <a:pt x="0" y="58524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9FC2E0C6-F981-7762-A5E7-962820C9FDE7}"/>
                </a:ext>
              </a:extLst>
            </p:cNvPr>
            <p:cNvSpPr txBox="1"/>
            <p:nvPr/>
          </p:nvSpPr>
          <p:spPr>
            <a:xfrm>
              <a:off x="0" y="-47625"/>
              <a:ext cx="810736" cy="63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5BACE486-FC73-1017-9C52-A5E8FDCC8862}"/>
              </a:ext>
            </a:extLst>
          </p:cNvPr>
          <p:cNvGrpSpPr/>
          <p:nvPr/>
        </p:nvGrpSpPr>
        <p:grpSpPr>
          <a:xfrm>
            <a:off x="9534186" y="5762053"/>
            <a:ext cx="3078264" cy="2222113"/>
            <a:chOff x="0" y="0"/>
            <a:chExt cx="810736" cy="585248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3780893E-8635-79E7-DD35-87B40A119B2D}"/>
                </a:ext>
              </a:extLst>
            </p:cNvPr>
            <p:cNvSpPr/>
            <p:nvPr/>
          </p:nvSpPr>
          <p:spPr>
            <a:xfrm>
              <a:off x="0" y="0"/>
              <a:ext cx="810736" cy="585248"/>
            </a:xfrm>
            <a:custGeom>
              <a:avLst/>
              <a:gdLst/>
              <a:ahLst/>
              <a:cxnLst/>
              <a:rect l="l" t="t" r="r" b="b"/>
              <a:pathLst>
                <a:path w="810736" h="585248">
                  <a:moveTo>
                    <a:pt x="0" y="0"/>
                  </a:moveTo>
                  <a:lnTo>
                    <a:pt x="810736" y="0"/>
                  </a:lnTo>
                  <a:lnTo>
                    <a:pt x="810736" y="585248"/>
                  </a:lnTo>
                  <a:lnTo>
                    <a:pt x="0" y="58524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B32A877E-F74B-35CA-E7E1-0EADDFB934AB}"/>
                </a:ext>
              </a:extLst>
            </p:cNvPr>
            <p:cNvSpPr txBox="1"/>
            <p:nvPr/>
          </p:nvSpPr>
          <p:spPr>
            <a:xfrm>
              <a:off x="0" y="-47625"/>
              <a:ext cx="810736" cy="63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8216B29D-4C74-1AEF-78DC-69C9F45E0B76}"/>
              </a:ext>
            </a:extLst>
          </p:cNvPr>
          <p:cNvGrpSpPr/>
          <p:nvPr/>
        </p:nvGrpSpPr>
        <p:grpSpPr>
          <a:xfrm>
            <a:off x="12868290" y="5762053"/>
            <a:ext cx="3078264" cy="2222113"/>
            <a:chOff x="0" y="0"/>
            <a:chExt cx="810736" cy="585248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D445048C-8DFB-E0A8-AFBF-EB118EB7514C}"/>
                </a:ext>
              </a:extLst>
            </p:cNvPr>
            <p:cNvSpPr/>
            <p:nvPr/>
          </p:nvSpPr>
          <p:spPr>
            <a:xfrm>
              <a:off x="0" y="0"/>
              <a:ext cx="810736" cy="585248"/>
            </a:xfrm>
            <a:custGeom>
              <a:avLst/>
              <a:gdLst/>
              <a:ahLst/>
              <a:cxnLst/>
              <a:rect l="l" t="t" r="r" b="b"/>
              <a:pathLst>
                <a:path w="810736" h="585248">
                  <a:moveTo>
                    <a:pt x="0" y="0"/>
                  </a:moveTo>
                  <a:lnTo>
                    <a:pt x="810736" y="0"/>
                  </a:lnTo>
                  <a:lnTo>
                    <a:pt x="810736" y="585248"/>
                  </a:lnTo>
                  <a:lnTo>
                    <a:pt x="0" y="58524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E667B7C9-7A4D-4A3F-4BBC-F05CBF1E5DF0}"/>
                </a:ext>
              </a:extLst>
            </p:cNvPr>
            <p:cNvSpPr txBox="1"/>
            <p:nvPr/>
          </p:nvSpPr>
          <p:spPr>
            <a:xfrm>
              <a:off x="0" y="-47625"/>
              <a:ext cx="810736" cy="63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41B27C4B-37A7-4162-1B3A-7275C1AD862F}"/>
              </a:ext>
            </a:extLst>
          </p:cNvPr>
          <p:cNvSpPr txBox="1"/>
          <p:nvPr/>
        </p:nvSpPr>
        <p:spPr>
          <a:xfrm>
            <a:off x="2750431" y="4450970"/>
            <a:ext cx="271237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1분기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4C711418-9562-A392-A0AB-4A56B18BF0E4}"/>
              </a:ext>
            </a:extLst>
          </p:cNvPr>
          <p:cNvSpPr txBox="1"/>
          <p:nvPr/>
        </p:nvSpPr>
        <p:spPr>
          <a:xfrm>
            <a:off x="6085049" y="4450970"/>
            <a:ext cx="271237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2분기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93DC5C8D-5261-EA70-C4F7-BB80E11D7624}"/>
              </a:ext>
            </a:extLst>
          </p:cNvPr>
          <p:cNvSpPr txBox="1"/>
          <p:nvPr/>
        </p:nvSpPr>
        <p:spPr>
          <a:xfrm>
            <a:off x="9419153" y="4450970"/>
            <a:ext cx="271237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3분기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5B06CE7C-F711-8548-B4C4-FE669746C8B0}"/>
              </a:ext>
            </a:extLst>
          </p:cNvPr>
          <p:cNvSpPr txBox="1"/>
          <p:nvPr/>
        </p:nvSpPr>
        <p:spPr>
          <a:xfrm>
            <a:off x="12753257" y="4450970"/>
            <a:ext cx="271237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4분기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C71C122F-7B70-0D47-0915-4E740F6CB4EC}"/>
              </a:ext>
            </a:extLst>
          </p:cNvPr>
          <p:cNvSpPr txBox="1"/>
          <p:nvPr/>
        </p:nvSpPr>
        <p:spPr>
          <a:xfrm>
            <a:off x="3013279" y="6251766"/>
            <a:ext cx="2712378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프로젝트 계획 및 전략 수립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78677A47-103B-6F74-6AE6-D7E73B492620}"/>
              </a:ext>
            </a:extLst>
          </p:cNvPr>
          <p:cNvSpPr txBox="1"/>
          <p:nvPr/>
        </p:nvSpPr>
        <p:spPr>
          <a:xfrm>
            <a:off x="6385997" y="6251766"/>
            <a:ext cx="2712378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프로젝트 전략 개발 및 자원 배분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ABB990BB-4F5D-B73D-7BD4-E540EB0052B1}"/>
              </a:ext>
            </a:extLst>
          </p:cNvPr>
          <p:cNvSpPr txBox="1"/>
          <p:nvPr/>
        </p:nvSpPr>
        <p:spPr>
          <a:xfrm>
            <a:off x="9720101" y="6251766"/>
            <a:ext cx="2712378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프로젝트 실행 및 모니터링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B8007691-3215-F73E-6619-BB253D32FD5B}"/>
              </a:ext>
            </a:extLst>
          </p:cNvPr>
          <p:cNvSpPr txBox="1"/>
          <p:nvPr/>
        </p:nvSpPr>
        <p:spPr>
          <a:xfrm>
            <a:off x="13054205" y="6251766"/>
            <a:ext cx="2712378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프로젝트 성과 평가 및 최적화</a:t>
            </a:r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F6459193-E2EC-0EE8-BEC8-2E0A9E968474}"/>
              </a:ext>
            </a:extLst>
          </p:cNvPr>
          <p:cNvSpPr/>
          <p:nvPr/>
        </p:nvSpPr>
        <p:spPr>
          <a:xfrm flipV="1">
            <a:off x="2846035" y="5384991"/>
            <a:ext cx="0" cy="377062"/>
          </a:xfrm>
          <a:prstGeom prst="line">
            <a:avLst/>
          </a:prstGeom>
          <a:ln w="19050" cap="flat">
            <a:solidFill>
              <a:srgbClr val="3087B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E9E0D461-7078-E7ED-A94E-FD1A6E30BDD4}"/>
              </a:ext>
            </a:extLst>
          </p:cNvPr>
          <p:cNvSpPr/>
          <p:nvPr/>
        </p:nvSpPr>
        <p:spPr>
          <a:xfrm flipV="1">
            <a:off x="6209607" y="5384991"/>
            <a:ext cx="0" cy="377062"/>
          </a:xfrm>
          <a:prstGeom prst="line">
            <a:avLst/>
          </a:prstGeom>
          <a:ln w="19050" cap="flat">
            <a:solidFill>
              <a:srgbClr val="3087B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70B759BE-2C8A-F06E-D101-227E0D5C06AB}"/>
              </a:ext>
            </a:extLst>
          </p:cNvPr>
          <p:cNvSpPr/>
          <p:nvPr/>
        </p:nvSpPr>
        <p:spPr>
          <a:xfrm flipV="1">
            <a:off x="9543711" y="5384991"/>
            <a:ext cx="0" cy="377062"/>
          </a:xfrm>
          <a:prstGeom prst="line">
            <a:avLst/>
          </a:prstGeom>
          <a:ln w="19050" cap="flat">
            <a:solidFill>
              <a:srgbClr val="3087B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36AF4A68-73C5-BC0D-22B5-7AC8C7C42993}"/>
              </a:ext>
            </a:extLst>
          </p:cNvPr>
          <p:cNvSpPr/>
          <p:nvPr/>
        </p:nvSpPr>
        <p:spPr>
          <a:xfrm flipV="1">
            <a:off x="12877815" y="5394516"/>
            <a:ext cx="0" cy="377062"/>
          </a:xfrm>
          <a:prstGeom prst="line">
            <a:avLst/>
          </a:prstGeom>
          <a:ln w="19050" cap="flat">
            <a:solidFill>
              <a:srgbClr val="3087B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944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7791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2534729" y="3784412"/>
            <a:ext cx="4170777" cy="5199186"/>
            <a:chOff x="0" y="0"/>
            <a:chExt cx="1098476" cy="136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59291" y="3784412"/>
            <a:ext cx="4170777" cy="5199186"/>
            <a:chOff x="0" y="0"/>
            <a:chExt cx="1098476" cy="136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582494" y="3784412"/>
            <a:ext cx="4170777" cy="5199186"/>
            <a:chOff x="0" y="0"/>
            <a:chExt cx="1098476" cy="13693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633564" y="3887732"/>
            <a:ext cx="3973108" cy="2496273"/>
            <a:chOff x="0" y="0"/>
            <a:chExt cx="679993" cy="42723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79993" cy="427235"/>
            </a:xfrm>
            <a:custGeom>
              <a:avLst/>
              <a:gdLst/>
              <a:ahLst/>
              <a:cxnLst/>
              <a:rect l="l" t="t" r="r" b="b"/>
              <a:pathLst>
                <a:path w="679993" h="427235">
                  <a:moveTo>
                    <a:pt x="0" y="0"/>
                  </a:moveTo>
                  <a:lnTo>
                    <a:pt x="679993" y="0"/>
                  </a:lnTo>
                  <a:lnTo>
                    <a:pt x="679993" y="427235"/>
                  </a:lnTo>
                  <a:lnTo>
                    <a:pt x="0" y="427235"/>
                  </a:lnTo>
                  <a:close/>
                </a:path>
              </a:pathLst>
            </a:custGeom>
            <a:blipFill>
              <a:blip r:embed="rId2"/>
              <a:stretch>
                <a:fillRect t="-3120" b="-312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158126" y="3887732"/>
            <a:ext cx="3973108" cy="2496273"/>
            <a:chOff x="0" y="0"/>
            <a:chExt cx="679993" cy="42723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79993" cy="427235"/>
            </a:xfrm>
            <a:custGeom>
              <a:avLst/>
              <a:gdLst/>
              <a:ahLst/>
              <a:cxnLst/>
              <a:rect l="l" t="t" r="r" b="b"/>
              <a:pathLst>
                <a:path w="679993" h="427235">
                  <a:moveTo>
                    <a:pt x="0" y="0"/>
                  </a:moveTo>
                  <a:lnTo>
                    <a:pt x="679993" y="0"/>
                  </a:lnTo>
                  <a:lnTo>
                    <a:pt x="679993" y="427235"/>
                  </a:lnTo>
                  <a:lnTo>
                    <a:pt x="0" y="427235"/>
                  </a:lnTo>
                  <a:close/>
                </a:path>
              </a:pathLst>
            </a:custGeom>
            <a:blipFill>
              <a:blip r:embed="rId3"/>
              <a:stretch>
                <a:fillRect l="-5848" r="-584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81328" y="3887732"/>
            <a:ext cx="3973108" cy="2496273"/>
            <a:chOff x="0" y="0"/>
            <a:chExt cx="679993" cy="42723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79993" cy="427235"/>
            </a:xfrm>
            <a:custGeom>
              <a:avLst/>
              <a:gdLst/>
              <a:ahLst/>
              <a:cxnLst/>
              <a:rect l="l" t="t" r="r" b="b"/>
              <a:pathLst>
                <a:path w="679993" h="427235">
                  <a:moveTo>
                    <a:pt x="0" y="0"/>
                  </a:moveTo>
                  <a:lnTo>
                    <a:pt x="679993" y="0"/>
                  </a:lnTo>
                  <a:lnTo>
                    <a:pt x="679993" y="427235"/>
                  </a:lnTo>
                  <a:lnTo>
                    <a:pt x="0" y="427235"/>
                  </a:lnTo>
                  <a:close/>
                </a:path>
              </a:pathLst>
            </a:custGeom>
            <a:blipFill>
              <a:blip r:embed="rId4"/>
              <a:stretch>
                <a:fillRect t="-3020" b="-302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42578" y="2298954"/>
            <a:ext cx="560284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프로젝트 목표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34729" y="6773403"/>
            <a:ext cx="417077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dirty="0" err="1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브랜드</a:t>
            </a:r>
            <a:r>
              <a:rPr 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 </a:t>
            </a:r>
            <a:r>
              <a:rPr lang="en-US" sz="2799" dirty="0" err="1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인지도</a:t>
            </a:r>
            <a:r>
              <a:rPr 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 </a:t>
            </a:r>
            <a:r>
              <a:rPr lang="en-US" sz="2799" dirty="0" err="1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향상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059291" y="6773403"/>
            <a:ext cx="417077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제품 판매량 증가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82494" y="6773403"/>
            <a:ext cx="417077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타깃 고객 확보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20173" y="7421103"/>
            <a:ext cx="3599890" cy="11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광고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마케팅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전략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소셜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미디어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활용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그리고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고품질의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제품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또는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서비스</a:t>
            </a: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제공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344735" y="7421103"/>
            <a:ext cx="3599890" cy="11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제품 판매량 증가를 위해 품질 좋은 제품과 효과적인 마케팅 전략의 조화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867937" y="7421103"/>
            <a:ext cx="3599890" cy="11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제품이나 서비스를 지속적으로 개선하고, 고객과의 소통을 유지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2539492" y="4184270"/>
            <a:ext cx="1524665" cy="2192637"/>
            <a:chOff x="0" y="0"/>
            <a:chExt cx="401558" cy="5774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45276" y="4184270"/>
            <a:ext cx="1524665" cy="2192637"/>
            <a:chOff x="0" y="0"/>
            <a:chExt cx="401558" cy="5774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39492" y="6488609"/>
            <a:ext cx="1524665" cy="2192637"/>
            <a:chOff x="0" y="0"/>
            <a:chExt cx="401558" cy="5774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45276" y="6488609"/>
            <a:ext cx="1524665" cy="2192637"/>
            <a:chOff x="0" y="0"/>
            <a:chExt cx="401558" cy="5774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035582" y="4184270"/>
            <a:ext cx="5079843" cy="2192637"/>
            <a:chOff x="0" y="0"/>
            <a:chExt cx="1337901" cy="5774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741366" y="4184270"/>
            <a:ext cx="5079843" cy="2192637"/>
            <a:chOff x="0" y="0"/>
            <a:chExt cx="1337901" cy="57748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35582" y="6488609"/>
            <a:ext cx="5079843" cy="2192637"/>
            <a:chOff x="0" y="0"/>
            <a:chExt cx="1337901" cy="57748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741366" y="6488609"/>
            <a:ext cx="5079843" cy="2192637"/>
            <a:chOff x="0" y="0"/>
            <a:chExt cx="1337901" cy="57748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42578" y="2298954"/>
            <a:ext cx="560284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시장분석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05236" y="4658288"/>
            <a:ext cx="4340536" cy="11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시장에서 강력한 브랜드 인지도를 가지고 있으며, 높은 고객 충성도를 자랑합니다.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11020" y="4658288"/>
            <a:ext cx="4340536" cy="11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온라인 마케팅 채널과 콘텐츠가 부족하며, 디지털 마케팅 경험과 전문 인력이 부족합니다.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05236" y="6762602"/>
            <a:ext cx="4340536" cy="158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소비자들이 온라인 쇼핑과 디지털 콘텐츠 소비에 익숙해지고 있으며, 소셜 미디어 플랫폼을 통해 마케팅 및 고객 참여를 확대할 수 있습니다.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11020" y="6762602"/>
            <a:ext cx="4340536" cy="158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경쟁사들이 공격적인 디지털 마케팅 캠페인을 전개하고 있으며, 빠르게 변화하는 디지털 마케팅 트렌드에 뒤처질 위험이 있습니다.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65849" y="4680830"/>
            <a:ext cx="87195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en-US" sz="6399" u="none" strike="noStrike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71633" y="4680830"/>
            <a:ext cx="87195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W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865849" y="6985169"/>
            <a:ext cx="87195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O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571633" y="6985169"/>
            <a:ext cx="87195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7842006" y="4036890"/>
            <a:ext cx="1524665" cy="1382047"/>
            <a:chOff x="0" y="0"/>
            <a:chExt cx="401558" cy="3639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1558" cy="363996"/>
            </a:xfrm>
            <a:custGeom>
              <a:avLst/>
              <a:gdLst/>
              <a:ahLst/>
              <a:cxnLst/>
              <a:rect l="l" t="t" r="r" b="b"/>
              <a:pathLst>
                <a:path w="401558" h="363996">
                  <a:moveTo>
                    <a:pt x="0" y="0"/>
                  </a:moveTo>
                  <a:lnTo>
                    <a:pt x="401558" y="0"/>
                  </a:lnTo>
                  <a:lnTo>
                    <a:pt x="40155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155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42006" y="5657062"/>
            <a:ext cx="1524665" cy="1382047"/>
            <a:chOff x="0" y="0"/>
            <a:chExt cx="401558" cy="3639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1558" cy="363996"/>
            </a:xfrm>
            <a:custGeom>
              <a:avLst/>
              <a:gdLst/>
              <a:ahLst/>
              <a:cxnLst/>
              <a:rect l="l" t="t" r="r" b="b"/>
              <a:pathLst>
                <a:path w="401558" h="363996">
                  <a:moveTo>
                    <a:pt x="0" y="0"/>
                  </a:moveTo>
                  <a:lnTo>
                    <a:pt x="401558" y="0"/>
                  </a:lnTo>
                  <a:lnTo>
                    <a:pt x="40155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0155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42006" y="7277234"/>
            <a:ext cx="1524665" cy="1382047"/>
            <a:chOff x="0" y="0"/>
            <a:chExt cx="401558" cy="3639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1558" cy="363996"/>
            </a:xfrm>
            <a:custGeom>
              <a:avLst/>
              <a:gdLst/>
              <a:ahLst/>
              <a:cxnLst/>
              <a:rect l="l" t="t" r="r" b="b"/>
              <a:pathLst>
                <a:path w="401558" h="363996">
                  <a:moveTo>
                    <a:pt x="0" y="0"/>
                  </a:moveTo>
                  <a:lnTo>
                    <a:pt x="401558" y="0"/>
                  </a:lnTo>
                  <a:lnTo>
                    <a:pt x="40155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0155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38096" y="4036890"/>
            <a:ext cx="6789450" cy="1382047"/>
            <a:chOff x="0" y="0"/>
            <a:chExt cx="1788168" cy="3639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38096" y="5657062"/>
            <a:ext cx="6789450" cy="1382047"/>
            <a:chOff x="0" y="0"/>
            <a:chExt cx="1788168" cy="3639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38096" y="7277234"/>
            <a:ext cx="6789450" cy="1382047"/>
            <a:chOff x="0" y="0"/>
            <a:chExt cx="1788168" cy="3639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60455" y="4036890"/>
            <a:ext cx="5510101" cy="4622392"/>
            <a:chOff x="0" y="0"/>
            <a:chExt cx="1451220" cy="12174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51220" cy="1217420"/>
            </a:xfrm>
            <a:custGeom>
              <a:avLst/>
              <a:gdLst/>
              <a:ahLst/>
              <a:cxnLst/>
              <a:rect l="l" t="t" r="r" b="b"/>
              <a:pathLst>
                <a:path w="1451220" h="1217420">
                  <a:moveTo>
                    <a:pt x="0" y="0"/>
                  </a:moveTo>
                  <a:lnTo>
                    <a:pt x="1451220" y="0"/>
                  </a:lnTo>
                  <a:lnTo>
                    <a:pt x="1451220" y="1217420"/>
                  </a:lnTo>
                  <a:lnTo>
                    <a:pt x="0" y="1217420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451220" cy="1265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91027" y="4156083"/>
            <a:ext cx="5248955" cy="4384004"/>
            <a:chOff x="0" y="0"/>
            <a:chExt cx="898354" cy="75031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98353" cy="750318"/>
            </a:xfrm>
            <a:custGeom>
              <a:avLst/>
              <a:gdLst/>
              <a:ahLst/>
              <a:cxnLst/>
              <a:rect l="l" t="t" r="r" b="b"/>
              <a:pathLst>
                <a:path w="898353" h="750318">
                  <a:moveTo>
                    <a:pt x="0" y="0"/>
                  </a:moveTo>
                  <a:lnTo>
                    <a:pt x="898353" y="0"/>
                  </a:lnTo>
                  <a:lnTo>
                    <a:pt x="898353" y="750318"/>
                  </a:lnTo>
                  <a:lnTo>
                    <a:pt x="0" y="750318"/>
                  </a:lnTo>
                  <a:close/>
                </a:path>
              </a:pathLst>
            </a:custGeom>
            <a:blipFill>
              <a:blip r:embed="rId2"/>
              <a:stretch>
                <a:fillRect l="-12562" r="-1256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Freeform 29"/>
          <p:cNvSpPr/>
          <p:nvPr/>
        </p:nvSpPr>
        <p:spPr>
          <a:xfrm>
            <a:off x="8202091" y="4326769"/>
            <a:ext cx="804494" cy="802288"/>
          </a:xfrm>
          <a:custGeom>
            <a:avLst/>
            <a:gdLst/>
            <a:ahLst/>
            <a:cxnLst/>
            <a:rect l="l" t="t" r="r" b="b"/>
            <a:pathLst>
              <a:path w="804494" h="802288">
                <a:moveTo>
                  <a:pt x="0" y="0"/>
                </a:moveTo>
                <a:lnTo>
                  <a:pt x="804494" y="0"/>
                </a:lnTo>
                <a:lnTo>
                  <a:pt x="804494" y="802288"/>
                </a:lnTo>
                <a:lnTo>
                  <a:pt x="0" y="8022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Freeform 30"/>
          <p:cNvSpPr/>
          <p:nvPr/>
        </p:nvSpPr>
        <p:spPr>
          <a:xfrm>
            <a:off x="8154903" y="5864877"/>
            <a:ext cx="903160" cy="966416"/>
          </a:xfrm>
          <a:custGeom>
            <a:avLst/>
            <a:gdLst/>
            <a:ahLst/>
            <a:cxnLst/>
            <a:rect l="l" t="t" r="r" b="b"/>
            <a:pathLst>
              <a:path w="903160" h="966416">
                <a:moveTo>
                  <a:pt x="0" y="0"/>
                </a:moveTo>
                <a:lnTo>
                  <a:pt x="903160" y="0"/>
                </a:lnTo>
                <a:lnTo>
                  <a:pt x="903160" y="966417"/>
                </a:lnTo>
                <a:lnTo>
                  <a:pt x="0" y="9664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Freeform 31"/>
          <p:cNvSpPr/>
          <p:nvPr/>
        </p:nvSpPr>
        <p:spPr>
          <a:xfrm>
            <a:off x="8154903" y="7512049"/>
            <a:ext cx="829471" cy="912418"/>
          </a:xfrm>
          <a:custGeom>
            <a:avLst/>
            <a:gdLst/>
            <a:ahLst/>
            <a:cxnLst/>
            <a:rect l="l" t="t" r="r" b="b"/>
            <a:pathLst>
              <a:path w="829471" h="912418">
                <a:moveTo>
                  <a:pt x="0" y="0"/>
                </a:moveTo>
                <a:lnTo>
                  <a:pt x="829470" y="0"/>
                </a:lnTo>
                <a:lnTo>
                  <a:pt x="829470" y="912418"/>
                </a:lnTo>
                <a:lnTo>
                  <a:pt x="0" y="9124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42578" y="2298954"/>
            <a:ext cx="560284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마케팅 전략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42410" y="4505663"/>
            <a:ext cx="6346106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고객 중심의 마케팅 전략 강화하여 장기적인 관계 구축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542410" y="5925811"/>
            <a:ext cx="6346106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새로운 기술의 적극적인 활용을 통한 혁신적인 프로젝트 실행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542410" y="7743959"/>
            <a:ext cx="6346106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기업 가치와 영향력을 통한 지속 가능한 마케팅 실행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42578" y="2298954"/>
            <a:ext cx="560284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프로젝트 진행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2846035" y="5232591"/>
            <a:ext cx="13062419" cy="0"/>
          </a:xfrm>
          <a:prstGeom prst="line">
            <a:avLst/>
          </a:prstGeom>
          <a:ln w="19050" cap="rnd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750431" y="5127462"/>
            <a:ext cx="257529" cy="257529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087B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85049" y="5127462"/>
            <a:ext cx="257529" cy="257529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087B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19153" y="5127462"/>
            <a:ext cx="257529" cy="257529"/>
            <a:chOff x="0" y="0"/>
            <a:chExt cx="6350000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087B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753257" y="5127462"/>
            <a:ext cx="257529" cy="257529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087B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827365" y="5762053"/>
            <a:ext cx="3078264" cy="2222113"/>
            <a:chOff x="0" y="0"/>
            <a:chExt cx="810736" cy="5852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0736" cy="585248"/>
            </a:xfrm>
            <a:custGeom>
              <a:avLst/>
              <a:gdLst/>
              <a:ahLst/>
              <a:cxnLst/>
              <a:rect l="l" t="t" r="r" b="b"/>
              <a:pathLst>
                <a:path w="810736" h="585248">
                  <a:moveTo>
                    <a:pt x="0" y="0"/>
                  </a:moveTo>
                  <a:lnTo>
                    <a:pt x="810736" y="0"/>
                  </a:lnTo>
                  <a:lnTo>
                    <a:pt x="810736" y="585248"/>
                  </a:lnTo>
                  <a:lnTo>
                    <a:pt x="0" y="58524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10736" cy="63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00082" y="5762053"/>
            <a:ext cx="3078264" cy="2222113"/>
            <a:chOff x="0" y="0"/>
            <a:chExt cx="810736" cy="5852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0736" cy="585248"/>
            </a:xfrm>
            <a:custGeom>
              <a:avLst/>
              <a:gdLst/>
              <a:ahLst/>
              <a:cxnLst/>
              <a:rect l="l" t="t" r="r" b="b"/>
              <a:pathLst>
                <a:path w="810736" h="585248">
                  <a:moveTo>
                    <a:pt x="0" y="0"/>
                  </a:moveTo>
                  <a:lnTo>
                    <a:pt x="810736" y="0"/>
                  </a:lnTo>
                  <a:lnTo>
                    <a:pt x="810736" y="585248"/>
                  </a:lnTo>
                  <a:lnTo>
                    <a:pt x="0" y="58524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10736" cy="63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34186" y="5762053"/>
            <a:ext cx="3078264" cy="2222113"/>
            <a:chOff x="0" y="0"/>
            <a:chExt cx="810736" cy="5852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0736" cy="585248"/>
            </a:xfrm>
            <a:custGeom>
              <a:avLst/>
              <a:gdLst/>
              <a:ahLst/>
              <a:cxnLst/>
              <a:rect l="l" t="t" r="r" b="b"/>
              <a:pathLst>
                <a:path w="810736" h="585248">
                  <a:moveTo>
                    <a:pt x="0" y="0"/>
                  </a:moveTo>
                  <a:lnTo>
                    <a:pt x="810736" y="0"/>
                  </a:lnTo>
                  <a:lnTo>
                    <a:pt x="810736" y="585248"/>
                  </a:lnTo>
                  <a:lnTo>
                    <a:pt x="0" y="58524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810736" cy="63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868290" y="5762053"/>
            <a:ext cx="3078264" cy="2222113"/>
            <a:chOff x="0" y="0"/>
            <a:chExt cx="810736" cy="5852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0736" cy="585248"/>
            </a:xfrm>
            <a:custGeom>
              <a:avLst/>
              <a:gdLst/>
              <a:ahLst/>
              <a:cxnLst/>
              <a:rect l="l" t="t" r="r" b="b"/>
              <a:pathLst>
                <a:path w="810736" h="585248">
                  <a:moveTo>
                    <a:pt x="0" y="0"/>
                  </a:moveTo>
                  <a:lnTo>
                    <a:pt x="810736" y="0"/>
                  </a:lnTo>
                  <a:lnTo>
                    <a:pt x="810736" y="585248"/>
                  </a:lnTo>
                  <a:lnTo>
                    <a:pt x="0" y="58524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810736" cy="63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750431" y="4450970"/>
            <a:ext cx="271237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1분기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85049" y="4450970"/>
            <a:ext cx="271237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2분기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19153" y="4450970"/>
            <a:ext cx="271237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3분기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753257" y="4450970"/>
            <a:ext cx="271237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4분기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13279" y="6251766"/>
            <a:ext cx="2712378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프로젝트 계획 및 전략 수립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85997" y="6251766"/>
            <a:ext cx="2712378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프로젝트 전략 개발 및 자원 배분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720101" y="6251766"/>
            <a:ext cx="2712378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프로젝트 실행 및 모니터링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054205" y="6251766"/>
            <a:ext cx="2712378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프로젝트 성과 평가 및 최적화</a:t>
            </a:r>
          </a:p>
        </p:txBody>
      </p:sp>
      <p:sp>
        <p:nvSpPr>
          <p:cNvPr id="38" name="AutoShape 38"/>
          <p:cNvSpPr/>
          <p:nvPr/>
        </p:nvSpPr>
        <p:spPr>
          <a:xfrm flipV="1">
            <a:off x="2846035" y="5384991"/>
            <a:ext cx="0" cy="377062"/>
          </a:xfrm>
          <a:prstGeom prst="line">
            <a:avLst/>
          </a:prstGeom>
          <a:ln w="19050" cap="flat">
            <a:solidFill>
              <a:srgbClr val="3087B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AutoShape 39"/>
          <p:cNvSpPr/>
          <p:nvPr/>
        </p:nvSpPr>
        <p:spPr>
          <a:xfrm flipV="1">
            <a:off x="6209607" y="5384991"/>
            <a:ext cx="0" cy="377062"/>
          </a:xfrm>
          <a:prstGeom prst="line">
            <a:avLst/>
          </a:prstGeom>
          <a:ln w="19050" cap="flat">
            <a:solidFill>
              <a:srgbClr val="3087B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AutoShape 40"/>
          <p:cNvSpPr/>
          <p:nvPr/>
        </p:nvSpPr>
        <p:spPr>
          <a:xfrm flipV="1">
            <a:off x="9543711" y="5384991"/>
            <a:ext cx="0" cy="377062"/>
          </a:xfrm>
          <a:prstGeom prst="line">
            <a:avLst/>
          </a:prstGeom>
          <a:ln w="19050" cap="flat">
            <a:solidFill>
              <a:srgbClr val="3087B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AutoShape 41"/>
          <p:cNvSpPr/>
          <p:nvPr/>
        </p:nvSpPr>
        <p:spPr>
          <a:xfrm flipV="1">
            <a:off x="12877815" y="5394516"/>
            <a:ext cx="0" cy="377062"/>
          </a:xfrm>
          <a:prstGeom prst="line">
            <a:avLst/>
          </a:prstGeom>
          <a:ln w="19050" cap="flat">
            <a:solidFill>
              <a:srgbClr val="3087B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42578" y="2298954"/>
            <a:ext cx="560284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예산 계획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262779" y="3826032"/>
            <a:ext cx="6609271" cy="5174387"/>
            <a:chOff x="0" y="0"/>
            <a:chExt cx="1740713" cy="13628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0713" cy="1362801"/>
            </a:xfrm>
            <a:custGeom>
              <a:avLst/>
              <a:gdLst/>
              <a:ahLst/>
              <a:cxnLst/>
              <a:rect l="l" t="t" r="r" b="b"/>
              <a:pathLst>
                <a:path w="1740713" h="1362801">
                  <a:moveTo>
                    <a:pt x="0" y="0"/>
                  </a:moveTo>
                  <a:lnTo>
                    <a:pt x="1740713" y="0"/>
                  </a:lnTo>
                  <a:lnTo>
                    <a:pt x="1740713" y="1362801"/>
                  </a:lnTo>
                  <a:lnTo>
                    <a:pt x="0" y="136280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740713" cy="1410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15950" y="3826032"/>
            <a:ext cx="6727175" cy="2530923"/>
            <a:chOff x="0" y="0"/>
            <a:chExt cx="1771766" cy="6665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71766" cy="666581"/>
            </a:xfrm>
            <a:custGeom>
              <a:avLst/>
              <a:gdLst/>
              <a:ahLst/>
              <a:cxnLst/>
              <a:rect l="l" t="t" r="r" b="b"/>
              <a:pathLst>
                <a:path w="1771766" h="666581">
                  <a:moveTo>
                    <a:pt x="0" y="0"/>
                  </a:moveTo>
                  <a:lnTo>
                    <a:pt x="1771766" y="0"/>
                  </a:lnTo>
                  <a:lnTo>
                    <a:pt x="1771766" y="666581"/>
                  </a:lnTo>
                  <a:lnTo>
                    <a:pt x="0" y="66658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771766" cy="714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415950" y="6469495"/>
            <a:ext cx="6727175" cy="2530923"/>
            <a:chOff x="0" y="0"/>
            <a:chExt cx="1771766" cy="6665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71766" cy="666581"/>
            </a:xfrm>
            <a:custGeom>
              <a:avLst/>
              <a:gdLst/>
              <a:ahLst/>
              <a:cxnLst/>
              <a:rect l="l" t="t" r="r" b="b"/>
              <a:pathLst>
                <a:path w="1771766" h="666581">
                  <a:moveTo>
                    <a:pt x="0" y="0"/>
                  </a:moveTo>
                  <a:lnTo>
                    <a:pt x="1771766" y="0"/>
                  </a:lnTo>
                  <a:lnTo>
                    <a:pt x="1771766" y="666581"/>
                  </a:lnTo>
                  <a:lnTo>
                    <a:pt x="0" y="66658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771766" cy="714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165" y="3424358"/>
            <a:ext cx="6300854" cy="584679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043730" y="4234671"/>
            <a:ext cx="388533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예산 계획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43730" y="4783518"/>
            <a:ext cx="5471614" cy="11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8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디지털 마케팅 캠페인의 주요 활동별 예산을 효율적으로 배정하여 최대한의 ROI를 달성합니다.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43730" y="6928455"/>
            <a:ext cx="388533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예산 계획 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43730" y="7458068"/>
            <a:ext cx="5471614" cy="11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예상 비용은 온라인 광고, 콘텐츠 제작, 소셜 미디어 관리, 및 데이터 분석 도구 사용에 집중됩니다.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3198150" y="5514979"/>
            <a:ext cx="3411127" cy="2236163"/>
            <a:chOff x="0" y="0"/>
            <a:chExt cx="898404" cy="5889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8404" cy="588948"/>
            </a:xfrm>
            <a:custGeom>
              <a:avLst/>
              <a:gdLst/>
              <a:ahLst/>
              <a:cxnLst/>
              <a:rect l="l" t="t" r="r" b="b"/>
              <a:pathLst>
                <a:path w="898404" h="588948">
                  <a:moveTo>
                    <a:pt x="0" y="0"/>
                  </a:moveTo>
                  <a:lnTo>
                    <a:pt x="898404" y="0"/>
                  </a:lnTo>
                  <a:lnTo>
                    <a:pt x="898404" y="588948"/>
                  </a:lnTo>
                  <a:lnTo>
                    <a:pt x="0" y="58894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98404" cy="636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198150" y="3784735"/>
            <a:ext cx="3411127" cy="1754315"/>
            <a:chOff x="0" y="0"/>
            <a:chExt cx="898404" cy="4620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8404" cy="462042"/>
            </a:xfrm>
            <a:custGeom>
              <a:avLst/>
              <a:gdLst/>
              <a:ahLst/>
              <a:cxnLst/>
              <a:rect l="l" t="t" r="r" b="b"/>
              <a:pathLst>
                <a:path w="898404" h="462042">
                  <a:moveTo>
                    <a:pt x="0" y="0"/>
                  </a:moveTo>
                  <a:lnTo>
                    <a:pt x="898404" y="0"/>
                  </a:lnTo>
                  <a:lnTo>
                    <a:pt x="898404" y="462042"/>
                  </a:lnTo>
                  <a:lnTo>
                    <a:pt x="0" y="462042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98404" cy="509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28930" y="8113093"/>
            <a:ext cx="14441209" cy="879967"/>
            <a:chOff x="0" y="0"/>
            <a:chExt cx="3803446" cy="2317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03446" cy="231761"/>
            </a:xfrm>
            <a:custGeom>
              <a:avLst/>
              <a:gdLst/>
              <a:ahLst/>
              <a:cxnLst/>
              <a:rect l="l" t="t" r="r" b="b"/>
              <a:pathLst>
                <a:path w="3803446" h="231761">
                  <a:moveTo>
                    <a:pt x="0" y="0"/>
                  </a:moveTo>
                  <a:lnTo>
                    <a:pt x="3803446" y="0"/>
                  </a:lnTo>
                  <a:lnTo>
                    <a:pt x="3803446" y="231761"/>
                  </a:lnTo>
                  <a:lnTo>
                    <a:pt x="0" y="231761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803446" cy="279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10851314" y="5524504"/>
            <a:ext cx="841984" cy="0"/>
          </a:xfrm>
          <a:prstGeom prst="line">
            <a:avLst/>
          </a:prstGeom>
          <a:ln w="19050" cap="flat">
            <a:solidFill>
              <a:srgbClr val="3087B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6609278" y="5534029"/>
            <a:ext cx="827408" cy="0"/>
          </a:xfrm>
          <a:prstGeom prst="line">
            <a:avLst/>
          </a:prstGeom>
          <a:ln w="19050" cap="flat">
            <a:solidFill>
              <a:srgbClr val="3087B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42578" y="2298954"/>
            <a:ext cx="560284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마케팅 채널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86938" y="8342100"/>
            <a:ext cx="10310625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9"/>
              </a:lnSpc>
            </a:pPr>
            <a:r>
              <a:rPr lang="en-US" sz="2199">
                <a:solidFill>
                  <a:srgbClr val="1D2A3A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마케팅 채널은 제품 또는 서비스를 소비자에게 홍보하고 판매하기 위한 수단입니다.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443971" y="5514979"/>
            <a:ext cx="3411127" cy="2236163"/>
            <a:chOff x="0" y="0"/>
            <a:chExt cx="898404" cy="5889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98404" cy="588948"/>
            </a:xfrm>
            <a:custGeom>
              <a:avLst/>
              <a:gdLst/>
              <a:ahLst/>
              <a:cxnLst/>
              <a:rect l="l" t="t" r="r" b="b"/>
              <a:pathLst>
                <a:path w="898404" h="588948">
                  <a:moveTo>
                    <a:pt x="0" y="0"/>
                  </a:moveTo>
                  <a:lnTo>
                    <a:pt x="898404" y="0"/>
                  </a:lnTo>
                  <a:lnTo>
                    <a:pt x="898404" y="588948"/>
                  </a:lnTo>
                  <a:lnTo>
                    <a:pt x="0" y="58894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98404" cy="636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693298" y="5514979"/>
            <a:ext cx="3411127" cy="2236163"/>
            <a:chOff x="0" y="0"/>
            <a:chExt cx="898404" cy="5889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98404" cy="588948"/>
            </a:xfrm>
            <a:custGeom>
              <a:avLst/>
              <a:gdLst/>
              <a:ahLst/>
              <a:cxnLst/>
              <a:rect l="l" t="t" r="r" b="b"/>
              <a:pathLst>
                <a:path w="898404" h="588948">
                  <a:moveTo>
                    <a:pt x="0" y="0"/>
                  </a:moveTo>
                  <a:lnTo>
                    <a:pt x="898404" y="0"/>
                  </a:lnTo>
                  <a:lnTo>
                    <a:pt x="898404" y="588948"/>
                  </a:lnTo>
                  <a:lnTo>
                    <a:pt x="0" y="58894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898404" cy="636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443971" y="3784735"/>
            <a:ext cx="3411127" cy="1754315"/>
            <a:chOff x="0" y="0"/>
            <a:chExt cx="898404" cy="46204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98404" cy="462042"/>
            </a:xfrm>
            <a:custGeom>
              <a:avLst/>
              <a:gdLst/>
              <a:ahLst/>
              <a:cxnLst/>
              <a:rect l="l" t="t" r="r" b="b"/>
              <a:pathLst>
                <a:path w="898404" h="462042">
                  <a:moveTo>
                    <a:pt x="0" y="0"/>
                  </a:moveTo>
                  <a:lnTo>
                    <a:pt x="898404" y="0"/>
                  </a:lnTo>
                  <a:lnTo>
                    <a:pt x="898404" y="462042"/>
                  </a:lnTo>
                  <a:lnTo>
                    <a:pt x="0" y="462042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898404" cy="509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693298" y="3784735"/>
            <a:ext cx="3411127" cy="1754315"/>
            <a:chOff x="0" y="0"/>
            <a:chExt cx="898404" cy="46204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98404" cy="462042"/>
            </a:xfrm>
            <a:custGeom>
              <a:avLst/>
              <a:gdLst/>
              <a:ahLst/>
              <a:cxnLst/>
              <a:rect l="l" t="t" r="r" b="b"/>
              <a:pathLst>
                <a:path w="898404" h="462042">
                  <a:moveTo>
                    <a:pt x="0" y="0"/>
                  </a:moveTo>
                  <a:lnTo>
                    <a:pt x="898404" y="0"/>
                  </a:lnTo>
                  <a:lnTo>
                    <a:pt x="898404" y="462042"/>
                  </a:lnTo>
                  <a:lnTo>
                    <a:pt x="0" y="462042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898404" cy="509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4350174" y="4221517"/>
            <a:ext cx="936192" cy="944780"/>
          </a:xfrm>
          <a:custGeom>
            <a:avLst/>
            <a:gdLst/>
            <a:ahLst/>
            <a:cxnLst/>
            <a:rect l="l" t="t" r="r" b="b"/>
            <a:pathLst>
              <a:path w="936192" h="944780">
                <a:moveTo>
                  <a:pt x="0" y="0"/>
                </a:moveTo>
                <a:lnTo>
                  <a:pt x="936191" y="0"/>
                </a:lnTo>
                <a:lnTo>
                  <a:pt x="936191" y="944781"/>
                </a:lnTo>
                <a:lnTo>
                  <a:pt x="0" y="9447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4" name="Freeform 34"/>
          <p:cNvSpPr/>
          <p:nvPr/>
        </p:nvSpPr>
        <p:spPr>
          <a:xfrm>
            <a:off x="8653316" y="4163966"/>
            <a:ext cx="992436" cy="1059884"/>
          </a:xfrm>
          <a:custGeom>
            <a:avLst/>
            <a:gdLst/>
            <a:ahLst/>
            <a:cxnLst/>
            <a:rect l="l" t="t" r="r" b="b"/>
            <a:pathLst>
              <a:path w="992436" h="1059884">
                <a:moveTo>
                  <a:pt x="0" y="0"/>
                </a:moveTo>
                <a:lnTo>
                  <a:pt x="992437" y="0"/>
                </a:lnTo>
                <a:lnTo>
                  <a:pt x="992437" y="1059884"/>
                </a:lnTo>
                <a:lnTo>
                  <a:pt x="0" y="10598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5" name="Freeform 35"/>
          <p:cNvSpPr/>
          <p:nvPr/>
        </p:nvSpPr>
        <p:spPr>
          <a:xfrm>
            <a:off x="12980011" y="4215757"/>
            <a:ext cx="979453" cy="956302"/>
          </a:xfrm>
          <a:custGeom>
            <a:avLst/>
            <a:gdLst/>
            <a:ahLst/>
            <a:cxnLst/>
            <a:rect l="l" t="t" r="r" b="b"/>
            <a:pathLst>
              <a:path w="979453" h="956302">
                <a:moveTo>
                  <a:pt x="0" y="0"/>
                </a:moveTo>
                <a:lnTo>
                  <a:pt x="979452" y="0"/>
                </a:lnTo>
                <a:lnTo>
                  <a:pt x="979452" y="956302"/>
                </a:lnTo>
                <a:lnTo>
                  <a:pt x="0" y="9563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6" name="TextBox 36"/>
          <p:cNvSpPr txBox="1"/>
          <p:nvPr/>
        </p:nvSpPr>
        <p:spPr>
          <a:xfrm>
            <a:off x="7774516" y="5848836"/>
            <a:ext cx="2750037" cy="158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유료 검색 광고를 통해 목표 고객에게 도달하고 웹사이트 트래픽을 증대시킵니다.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023843" y="5848836"/>
            <a:ext cx="2750037" cy="158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개인화된 이메일 캠페인을 통해 고객 관계를 강화하고 전환율을 향상시킵니다.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28695" y="5848836"/>
            <a:ext cx="2750037" cy="158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소셜 미디어 플랫폼을 통해 브랜드 인지도를 높이고 고객과의 상호작용을 강화합니다.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28930" y="8113093"/>
            <a:ext cx="14441209" cy="879967"/>
            <a:chOff x="0" y="0"/>
            <a:chExt cx="3803446" cy="2317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03446" cy="231761"/>
            </a:xfrm>
            <a:custGeom>
              <a:avLst/>
              <a:gdLst/>
              <a:ahLst/>
              <a:cxnLst/>
              <a:rect l="l" t="t" r="r" b="b"/>
              <a:pathLst>
                <a:path w="3803446" h="231761">
                  <a:moveTo>
                    <a:pt x="0" y="0"/>
                  </a:moveTo>
                  <a:lnTo>
                    <a:pt x="3803446" y="0"/>
                  </a:lnTo>
                  <a:lnTo>
                    <a:pt x="3803446" y="231761"/>
                  </a:lnTo>
                  <a:lnTo>
                    <a:pt x="0" y="231761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803446" cy="279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42578" y="2298954"/>
            <a:ext cx="560284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마케팅 믹스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40216" y="8321708"/>
            <a:ext cx="11607567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9"/>
              </a:lnSpc>
            </a:pPr>
            <a:r>
              <a:rPr lang="en-US" sz="2199">
                <a:solidFill>
                  <a:srgbClr val="1D2A3A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마케팅 믹스는 제품, 가격, 홍보, 유통 채널 등 마케팅 핵심 요소들을 통합적으로 다루는 개념입니다. 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928930" y="3839693"/>
          <a:ext cx="14441210" cy="3817877"/>
        </p:xfrm>
        <a:graphic>
          <a:graphicData uri="http://schemas.openxmlformats.org/drawingml/2006/table">
            <a:tbl>
              <a:tblPr/>
              <a:tblGrid>
                <a:gridCol w="3725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5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5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556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2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00">
                          <a:solidFill>
                            <a:srgbClr val="1D2A3A"/>
                          </a:solidFill>
                          <a:latin typeface="210 밀레니얼 Light"/>
                          <a:ea typeface="210 밀레니얼 Light"/>
                          <a:cs typeface="210 밀레니얼 Light"/>
                          <a:sym typeface="210 밀레니얼 Light"/>
                        </a:rPr>
                        <a:t>제품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2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00">
                          <a:solidFill>
                            <a:srgbClr val="1D2A3A"/>
                          </a:solidFill>
                          <a:latin typeface="210 밀레니얼 Light"/>
                          <a:ea typeface="210 밀레니얼 Light"/>
                          <a:cs typeface="210 밀레니얼 Light"/>
                          <a:sym typeface="210 밀레니얼 Light"/>
                        </a:rPr>
                        <a:t>가격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2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00">
                          <a:solidFill>
                            <a:srgbClr val="1D2A3A"/>
                          </a:solidFill>
                          <a:latin typeface="210 밀레니얼 Light"/>
                          <a:ea typeface="210 밀레니얼 Light"/>
                          <a:cs typeface="210 밀레니얼 Light"/>
                          <a:sym typeface="210 밀레니얼 Light"/>
                        </a:rPr>
                        <a:t>장소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2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00">
                          <a:solidFill>
                            <a:srgbClr val="1D2A3A"/>
                          </a:solidFill>
                          <a:latin typeface="210 밀레니얼 Light"/>
                          <a:ea typeface="210 밀레니얼 Light"/>
                          <a:cs typeface="210 밀레니얼 Light"/>
                          <a:sym typeface="210 밀레니얼 Light"/>
                        </a:rPr>
                        <a:t>프로모션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712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533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533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5533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087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42578" y="2298954"/>
            <a:ext cx="560284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핵심 성과 지표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928930" y="8113093"/>
            <a:ext cx="14441209" cy="879967"/>
            <a:chOff x="0" y="0"/>
            <a:chExt cx="3803446" cy="2317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03446" cy="231761"/>
            </a:xfrm>
            <a:custGeom>
              <a:avLst/>
              <a:gdLst/>
              <a:ahLst/>
              <a:cxnLst/>
              <a:rect l="l" t="t" r="r" b="b"/>
              <a:pathLst>
                <a:path w="3803446" h="231761">
                  <a:moveTo>
                    <a:pt x="0" y="0"/>
                  </a:moveTo>
                  <a:lnTo>
                    <a:pt x="3803446" y="0"/>
                  </a:lnTo>
                  <a:lnTo>
                    <a:pt x="3803446" y="231761"/>
                  </a:lnTo>
                  <a:lnTo>
                    <a:pt x="0" y="231761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803446" cy="279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081001" y="8330826"/>
            <a:ext cx="12125998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9"/>
              </a:lnSpc>
            </a:pPr>
            <a:r>
              <a:rPr lang="en-US" sz="2199">
                <a:solidFill>
                  <a:srgbClr val="1D2A3A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핵심 성과 지표는 조직이나 프로젝트의 성과를 측정하고 추적하는 데 사용되는 중요한 지표입니다.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928930" y="3948659"/>
            <a:ext cx="4302559" cy="3826866"/>
            <a:chOff x="0" y="0"/>
            <a:chExt cx="1133184" cy="10078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3184" cy="1007899"/>
            </a:xfrm>
            <a:custGeom>
              <a:avLst/>
              <a:gdLst/>
              <a:ahLst/>
              <a:cxnLst/>
              <a:rect l="l" t="t" r="r" b="b"/>
              <a:pathLst>
                <a:path w="1133184" h="1007899">
                  <a:moveTo>
                    <a:pt x="0" y="0"/>
                  </a:moveTo>
                  <a:lnTo>
                    <a:pt x="1133184" y="0"/>
                  </a:lnTo>
                  <a:lnTo>
                    <a:pt x="1133184" y="1007899"/>
                  </a:lnTo>
                  <a:lnTo>
                    <a:pt x="0" y="100789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133184" cy="1055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067580" y="3948659"/>
            <a:ext cx="4302559" cy="3826866"/>
            <a:chOff x="0" y="0"/>
            <a:chExt cx="1133184" cy="10078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3184" cy="1007899"/>
            </a:xfrm>
            <a:custGeom>
              <a:avLst/>
              <a:gdLst/>
              <a:ahLst/>
              <a:cxnLst/>
              <a:rect l="l" t="t" r="r" b="b"/>
              <a:pathLst>
                <a:path w="1133184" h="1007899">
                  <a:moveTo>
                    <a:pt x="0" y="0"/>
                  </a:moveTo>
                  <a:lnTo>
                    <a:pt x="1133184" y="0"/>
                  </a:lnTo>
                  <a:lnTo>
                    <a:pt x="1133184" y="1007899"/>
                  </a:lnTo>
                  <a:lnTo>
                    <a:pt x="0" y="100789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133184" cy="1055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992721" y="3948659"/>
            <a:ext cx="4302559" cy="3826866"/>
            <a:chOff x="0" y="0"/>
            <a:chExt cx="1133184" cy="10078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33184" cy="1007899"/>
            </a:xfrm>
            <a:custGeom>
              <a:avLst/>
              <a:gdLst/>
              <a:ahLst/>
              <a:cxnLst/>
              <a:rect l="l" t="t" r="r" b="b"/>
              <a:pathLst>
                <a:path w="1133184" h="1007899">
                  <a:moveTo>
                    <a:pt x="0" y="0"/>
                  </a:moveTo>
                  <a:lnTo>
                    <a:pt x="1133184" y="0"/>
                  </a:lnTo>
                  <a:lnTo>
                    <a:pt x="1133184" y="1007899"/>
                  </a:lnTo>
                  <a:lnTo>
                    <a:pt x="0" y="100789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133184" cy="1055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401" y="4108867"/>
            <a:ext cx="3051618" cy="178011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191" y="4108867"/>
            <a:ext cx="3051618" cy="178011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3050" y="4108867"/>
            <a:ext cx="3051618" cy="178011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994821" y="6063442"/>
            <a:ext cx="417077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브랜드 인지도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58611" y="6063442"/>
            <a:ext cx="417077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판매량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33471" y="6063442"/>
            <a:ext cx="417077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고객 참여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80265" y="6911308"/>
            <a:ext cx="3599890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신제품의 인지도 상승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44055" y="6711283"/>
            <a:ext cx="3599890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초기 판매 촉진 및 </a:t>
            </a:r>
          </a:p>
          <a:p>
            <a:pPr algn="ctr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매출 목표 달성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18915" y="6711283"/>
            <a:ext cx="3599890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소비자와의 상호작용 및 </a:t>
            </a:r>
          </a:p>
          <a:p>
            <a:pPr algn="ctr">
              <a:lnSpc>
                <a:spcPts val="318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참여도 증가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30919" y="4015724"/>
            <a:ext cx="11226161" cy="1792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3"/>
              </a:lnSpc>
            </a:pPr>
            <a:r>
              <a:rPr lang="en-US" sz="10445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감사합니다</a:t>
            </a:r>
          </a:p>
        </p:txBody>
      </p:sp>
      <p:sp>
        <p:nvSpPr>
          <p:cNvPr id="6" name="AutoShape 6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53819" y="8631285"/>
            <a:ext cx="31246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hello@reallygreatsite.com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28457" y="8631285"/>
            <a:ext cx="193992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@reallygreatsite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77983" y="8631285"/>
            <a:ext cx="202616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+123-456-7890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09566" y="8631285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마케팅팀 매니저 이수진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443417" y="8717480"/>
            <a:ext cx="0" cy="249374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AutoShape 14"/>
          <p:cNvSpPr/>
          <p:nvPr/>
        </p:nvSpPr>
        <p:spPr>
          <a:xfrm>
            <a:off x="8963658" y="8717480"/>
            <a:ext cx="0" cy="249374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AutoShape 15"/>
          <p:cNvSpPr/>
          <p:nvPr/>
        </p:nvSpPr>
        <p:spPr>
          <a:xfrm>
            <a:off x="11458544" y="8717480"/>
            <a:ext cx="0" cy="249374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1320</Words>
  <Application>Microsoft Office PowerPoint</Application>
  <PresentationFormat>사용자 지정</PresentationFormat>
  <Paragraphs>269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210 디딤고딕 Light</vt:lpstr>
      <vt:lpstr>Calibri</vt:lpstr>
      <vt:lpstr>210 디딤고딕</vt:lpstr>
      <vt:lpstr>Arial</vt:lpstr>
      <vt:lpstr>210 밀레니얼 Light</vt:lpstr>
      <vt:lpstr>맑은 고딕</vt:lpstr>
      <vt:lpstr>210 밀레니얼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흰색 심플한 비즈니스 마케팅 프로젝트 프레젠테이션</dc:title>
  <cp:lastModifiedBy>장명운(2020180033)</cp:lastModifiedBy>
  <cp:revision>41</cp:revision>
  <dcterms:created xsi:type="dcterms:W3CDTF">2006-08-16T00:00:00Z</dcterms:created>
  <dcterms:modified xsi:type="dcterms:W3CDTF">2024-12-23T05:02:16Z</dcterms:modified>
  <dc:identifier>DAGaEoNI7VU</dc:identifier>
</cp:coreProperties>
</file>