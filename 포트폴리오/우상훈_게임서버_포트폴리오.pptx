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2" r:id="rId15"/>
    <p:sldId id="273" r:id="rId16"/>
    <p:sldId id="274" r:id="rId17"/>
    <p:sldId id="275" r:id="rId18"/>
    <p:sldId id="276" r:id="rId19"/>
    <p:sldId id="277" r:id="rId20"/>
  </p:sldIdLst>
  <p:sldSz cx="18288000" cy="10287000"/>
  <p:notesSz cx="6858000" cy="9144000"/>
  <p:embeddedFontLst>
    <p:embeddedFont>
      <p:font typeface="Pretendard Bold" panose="020B0600000101010101" charset="-127"/>
      <p:bold r:id="rId22"/>
    </p:embeddedFont>
    <p:embeddedFont>
      <p:font typeface="Pretendard Light" panose="020B0600000101010101" charset="-127"/>
      <p:regular r:id="rId23"/>
    </p:embeddedFont>
    <p:embeddedFont>
      <p:font typeface="Pretendard Medium" panose="020B0600000101010101" charset="-127"/>
      <p:bold r:id="rId24"/>
    </p:embeddedFont>
    <p:embeddedFont>
      <p:font typeface="Pretendard Regular" panose="020B0600000101010101" charset="-127"/>
      <p:regular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Geologica Roman Regular" panose="020B0600000101010101" charset="0"/>
      <p:regular r:id="rId30"/>
    </p:embeddedFont>
    <p:embeddedFont>
      <p:font typeface="Montserrat SemiBold" panose="020B0600000101010101" charset="0"/>
      <p:bold r:id="rId31"/>
    </p:embeddedFont>
  </p:embeddedFontLst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272" autoAdjust="0"/>
  </p:normalViewPr>
  <p:slideViewPr>
    <p:cSldViewPr snapToGrid="0">
      <p:cViewPr varScale="1">
        <p:scale>
          <a:sx n="70" d="100"/>
          <a:sy n="70" d="100"/>
        </p:scale>
        <p:origin x="212" y="-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2C4F7-7922-4542-8190-B474E93099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87BC9D-D41C-4CFA-881F-3FBA7C7524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74036-0685-4D8D-88C2-ECA332F15EB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2026-10-20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EA837-7CDF-46FD-A3A1-18855655CEF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C9E48-0CF6-49C6-9545-8EA3D27991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D784C-711B-4805-80C3-95C4DCFC2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71FA8-6232-4EE6-A725-D3FA9E9FD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1D1FD-5382-47E9-B387-6B11288D5E6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2026-10-20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5E9CC-3CCF-4E4D-A729-BADA224FD7F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46548-F64B-4522-B3F4-C2DD11DF92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F2C1B-E8B3-4B1D-A1FF-55E9B3912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B46E9-8379-4AE2-B1BC-459C25925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2A502-5D19-4CB2-B919-287AA4CEBF9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2026-10-20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3D300-2947-41BF-B3D6-4D79F0688D4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B4D6A-AF2F-4078-BD18-6C22A43A0D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D1B4F-9CD7-4DD7-990B-2E3465DF5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07F6B-BD71-433D-96BF-C9E1B60D5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346060-4299-43A3-A679-DC51AA2B7D5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F5323-CFF5-4946-9B49-7FF3CF9FED4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2026-10-20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F9CA56-FBFB-453E-BCFD-9F3C75CB1A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BE7FC-367D-4F60-A797-07EF8A0CDE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BF58A-4FA2-4A1A-ACAE-5CC0A4352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D2C27-040A-4E22-85A6-755845F17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C804FF-F790-49BF-95EF-ED6CC4AA0C3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5C8E0F-9848-4EAA-818F-52CA5177D6A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47CA72-8B0A-4583-8F98-ED2969924FC9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7495EA-E830-49B4-9CEE-9ACF89DB835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2026-10-20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008816-0B65-4AF8-ADB2-B715F988D1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9600E0-007A-40DD-8C50-938112A3A3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B710B-FBDA-402F-BD8B-189213352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D96EB-010E-4F38-A49E-D1040A280A6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2026-10-20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AAB837-14A1-4C3E-B4EB-5023CC884BA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F734ED-8886-4C19-88AA-9010DB06D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0C6E02-0CA6-4ECE-808A-B9322EE3F26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2026-10-20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42101A-4EFA-42B7-8C29-876952F5DCD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703CA-87EE-4F92-9C06-643EE0E9C5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9F532-444A-49C9-A5EC-D4C38317F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0FDC2-A251-4ACF-B8DD-F62203B3B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709F99-DAF8-4912-ACBB-234F203A183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7789E-18F0-4EB6-A770-8AFB56FAC40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2026-10-20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33CFD5-1792-4510-9F55-34DC9604E31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C6B32F-6770-48CB-809A-143BEA0EE8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2A716-EAC5-42A7-8D02-A6275F8A9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757C60-B94E-44DF-AE2C-EB01A72955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5DE6BC-2E1D-49B0-827B-5B543FC896A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3532A-DAE3-4A0C-A852-F0ED18BFE2C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2026-10-20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3B25AF-5B6E-437B-89C9-6300B5F01C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0AC27C-4C2C-4382-9C95-B61C650179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3C6BA-0EF8-4301-AD3F-D2BC2ECB6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C9400C-CD3B-493B-9B24-3B7CD130E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605AA-C9F8-41B7-9846-45F5002D42C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2026-10-20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5EFCE-6183-4CDF-A207-EA95E08AEDD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71232-95E4-4958-97BD-3EC70AE850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5E4727-07A0-4F93-BD14-EEC31E1A3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324D5-EA34-4447-86B3-6D413BC1E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D6940-7343-4328-A5AD-5CB6DA74815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2026-10-20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A1EF5-97EE-48FB-A5EA-44547C2B2B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CDE00-CB57-43CB-AF63-E8647BC192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9BB7AC-1766-4DB4-91BE-329DB33E3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DC122-E279-4782-999C-FB9A484BC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28F0D-8A18-497C-BB61-6F79E6F408C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t>2026-10-20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A9CAB-0293-4137-BE3D-66257EA06E9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D9ABE-A396-4D43-9854-04D99D77814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14.png"/><Relationship Id="rId5" Type="http://schemas.openxmlformats.org/officeDocument/2006/relationships/image" Target="../media/image9.svg"/><Relationship Id="rId1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1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9.png"/><Relationship Id="rId10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9.png"/><Relationship Id="rId4" Type="http://schemas.openxmlformats.org/officeDocument/2006/relationships/image" Target="../media/image21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9.png"/><Relationship Id="rId4" Type="http://schemas.openxmlformats.org/officeDocument/2006/relationships/image" Target="../media/image21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21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26.png"/><Relationship Id="rId5" Type="http://schemas.openxmlformats.org/officeDocument/2006/relationships/image" Target="../media/image19.png"/><Relationship Id="rId10" Type="http://schemas.openxmlformats.org/officeDocument/2006/relationships/image" Target="../media/image25.png"/><Relationship Id="rId4" Type="http://schemas.openxmlformats.org/officeDocument/2006/relationships/image" Target="../media/image21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28.png"/><Relationship Id="rId5" Type="http://schemas.openxmlformats.org/officeDocument/2006/relationships/image" Target="../media/image19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9.png"/><Relationship Id="rId10" Type="http://schemas.openxmlformats.org/officeDocument/2006/relationships/image" Target="../media/image30.png"/><Relationship Id="rId4" Type="http://schemas.openxmlformats.org/officeDocument/2006/relationships/image" Target="../media/image21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32.png"/><Relationship Id="rId5" Type="http://schemas.openxmlformats.org/officeDocument/2006/relationships/image" Target="../media/image19.png"/><Relationship Id="rId10" Type="http://schemas.openxmlformats.org/officeDocument/2006/relationships/image" Target="../media/image31.png"/><Relationship Id="rId4" Type="http://schemas.openxmlformats.org/officeDocument/2006/relationships/image" Target="../media/image21.pn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34.png"/><Relationship Id="rId5" Type="http://schemas.openxmlformats.org/officeDocument/2006/relationships/image" Target="../media/image19.png"/><Relationship Id="rId10" Type="http://schemas.openxmlformats.org/officeDocument/2006/relationships/image" Target="../media/image33.png"/><Relationship Id="rId4" Type="http://schemas.openxmlformats.org/officeDocument/2006/relationships/image" Target="../media/image21.png"/><Relationship Id="rId9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9.png"/><Relationship Id="rId4" Type="http://schemas.openxmlformats.org/officeDocument/2006/relationships/image" Target="../media/image21.png"/><Relationship Id="rId9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9.png"/><Relationship Id="rId10" Type="http://schemas.openxmlformats.org/officeDocument/2006/relationships/image" Target="../media/image35.png"/><Relationship Id="rId4" Type="http://schemas.openxmlformats.org/officeDocument/2006/relationships/image" Target="../media/image21.png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9.png"/><Relationship Id="rId4" Type="http://schemas.openxmlformats.org/officeDocument/2006/relationships/image" Target="../media/image21.png"/><Relationship Id="rId9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9.png"/><Relationship Id="rId10" Type="http://schemas.openxmlformats.org/officeDocument/2006/relationships/image" Target="../media/image36.png"/><Relationship Id="rId4" Type="http://schemas.openxmlformats.org/officeDocument/2006/relationships/image" Target="../media/image21.png"/><Relationship Id="rId9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9.png"/><Relationship Id="rId10" Type="http://schemas.openxmlformats.org/officeDocument/2006/relationships/image" Target="../media/image37.png"/><Relationship Id="rId4" Type="http://schemas.openxmlformats.org/officeDocument/2006/relationships/image" Target="../media/image21.png"/><Relationship Id="rId9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39.png"/><Relationship Id="rId5" Type="http://schemas.openxmlformats.org/officeDocument/2006/relationships/image" Target="../media/image19.png"/><Relationship Id="rId10" Type="http://schemas.openxmlformats.org/officeDocument/2006/relationships/image" Target="../media/image38.png"/><Relationship Id="rId4" Type="http://schemas.openxmlformats.org/officeDocument/2006/relationships/image" Target="../media/image21.png"/><Relationship Id="rId9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>
            <a:extLst>
              <a:ext uri="{FF2B5EF4-FFF2-40B4-BE49-F238E27FC236}">
                <a16:creationId xmlns:a16="http://schemas.microsoft.com/office/drawing/2014/main" id="{36FAD83A-BCD0-41CD-AEC4-BBCE00D64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id="20" name="Picture 3">
            <a:extLst>
              <a:ext uri="{FF2B5EF4-FFF2-40B4-BE49-F238E27FC236}">
                <a16:creationId xmlns:a16="http://schemas.microsoft.com/office/drawing/2014/main" id="{67424768-BCE2-45B5-A1FE-0DCB8C276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3400" y="-1460500"/>
            <a:ext cx="5219700" cy="5130800"/>
          </a:xfrm>
          <a:prstGeom prst="rect">
            <a:avLst/>
          </a:prstGeom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8DD5B970-8741-43EE-9BC8-A57C64D7852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7000"/>
          </a:blip>
          <a:stretch>
            <a:fillRect/>
          </a:stretch>
        </p:blipFill>
        <p:spPr>
          <a:xfrm rot="18782095">
            <a:off x="-3327400" y="6921500"/>
            <a:ext cx="7454900" cy="7188200"/>
          </a:xfrm>
          <a:prstGeom prst="rect">
            <a:avLst/>
          </a:prstGeom>
        </p:spPr>
      </p:pic>
      <p:pic>
        <p:nvPicPr>
          <p:cNvPr id="22" name="Picture 6">
            <a:extLst>
              <a:ext uri="{FF2B5EF4-FFF2-40B4-BE49-F238E27FC236}">
                <a16:creationId xmlns:a16="http://schemas.microsoft.com/office/drawing/2014/main" id="{EFC6A999-9738-4D3D-9530-F751CBE7DE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5800" y="6146800"/>
            <a:ext cx="10502900" cy="177800"/>
          </a:xfrm>
          <a:prstGeom prst="rect">
            <a:avLst/>
          </a:prstGeom>
        </p:spPr>
      </p:pic>
      <p:pic>
        <p:nvPicPr>
          <p:cNvPr id="23" name="Picture 7">
            <a:extLst>
              <a:ext uri="{FF2B5EF4-FFF2-40B4-BE49-F238E27FC236}">
                <a16:creationId xmlns:a16="http://schemas.microsoft.com/office/drawing/2014/main" id="{C0E2E37B-92E0-4721-B304-5D61BD56D2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39700" y="2286000"/>
            <a:ext cx="8902700" cy="1651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6C5E3B8B-E301-41B7-B312-5FC945A8666D}"/>
              </a:ext>
            </a:extLst>
          </p:cNvPr>
          <p:cNvSpPr>
            <a:spLocks noGrp="1"/>
          </p:cNvSpPr>
          <p:nvPr/>
        </p:nvSpPr>
        <p:spPr>
          <a:xfrm>
            <a:off x="7442200" y="4419600"/>
            <a:ext cx="9690100" cy="1866900"/>
          </a:xfrm>
          <a:prstGeom prst="rect">
            <a:avLst/>
          </a:prstGeom>
        </p:spPr>
        <p:txBody>
          <a:bodyPr lIns="0" tIns="131383" rIns="0" bIns="131383" anchor="ctr"/>
          <a:lstStyle/>
          <a:p>
            <a:pPr lvl="0" algn="r">
              <a:lnSpc>
                <a:spcPct val="99600"/>
              </a:lnSpc>
              <a:buNone/>
            </a:pPr>
            <a:r>
              <a:rPr sz="10345" b="0" i="0" u="none" spc="-40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PORTFOLIO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B092948-56A7-4528-8707-36CF4BD1BE21}"/>
              </a:ext>
            </a:extLst>
          </p:cNvPr>
          <p:cNvSpPr>
            <a:spLocks noGrp="1"/>
          </p:cNvSpPr>
          <p:nvPr/>
        </p:nvSpPr>
        <p:spPr>
          <a:xfrm>
            <a:off x="12039600" y="6565900"/>
            <a:ext cx="5092700" cy="863600"/>
          </a:xfrm>
          <a:prstGeom prst="rect">
            <a:avLst/>
          </a:prstGeom>
        </p:spPr>
        <p:txBody>
          <a:bodyPr lIns="0" tIns="30479" rIns="0" bIns="30479" anchor="ctr"/>
          <a:lstStyle>
            <a:defPPr>
              <a:defRPr>
                <a:latin typeface="Pretendard Regular"/>
                <a:ea typeface="Pretendard Regular"/>
                <a:cs typeface="Pretendard Regular"/>
              </a:defRPr>
            </a:defPPr>
            <a:lvl1pPr>
              <a:defRPr>
                <a:latin typeface="Pretendard Regular"/>
                <a:ea typeface="Pretendard Regular"/>
                <a:cs typeface="Pretendard Regular"/>
              </a:defRPr>
            </a:lvl1pPr>
            <a:lvl2pPr>
              <a:defRPr>
                <a:latin typeface="Pretendard Regular"/>
                <a:ea typeface="Pretendard Regular"/>
                <a:cs typeface="Pretendard Regular"/>
              </a:defRPr>
            </a:lvl2pPr>
            <a:lvl3pPr>
              <a:defRPr>
                <a:latin typeface="Pretendard Regular"/>
                <a:ea typeface="Pretendard Regular"/>
                <a:cs typeface="Pretendard Regular"/>
              </a:defRPr>
            </a:lvl3pPr>
            <a:lvl4pPr>
              <a:defRPr>
                <a:latin typeface="Pretendard Regular"/>
                <a:ea typeface="Pretendard Regular"/>
                <a:cs typeface="Pretendard Regular"/>
              </a:defRPr>
            </a:lvl4pPr>
            <a:lvl5pPr>
              <a:defRPr>
                <a:latin typeface="Pretendard Regular"/>
                <a:ea typeface="Pretendard Regular"/>
                <a:cs typeface="Pretendard Regular"/>
              </a:defRPr>
            </a:lvl5pPr>
            <a:lvl6pPr>
              <a:defRPr>
                <a:latin typeface="Pretendard Regular"/>
                <a:ea typeface="Pretendard Regular"/>
                <a:cs typeface="Pretendard Regular"/>
              </a:defRPr>
            </a:lvl6pPr>
            <a:lvl7pPr>
              <a:defRPr>
                <a:latin typeface="Pretendard Regular"/>
                <a:ea typeface="Pretendard Regular"/>
                <a:cs typeface="Pretendard Regular"/>
              </a:defRPr>
            </a:lvl7pPr>
            <a:lvl8pPr>
              <a:defRPr>
                <a:latin typeface="Pretendard Regular"/>
                <a:ea typeface="Pretendard Regular"/>
                <a:cs typeface="Pretendard Regular"/>
              </a:defRPr>
            </a:lvl8pPr>
            <a:lvl9pPr>
              <a:defRPr>
                <a:latin typeface="Pretendard Regular"/>
                <a:ea typeface="Pretendard Regular"/>
                <a:cs typeface="Pretendard Regular"/>
              </a:defRPr>
            </a:lvl9pPr>
          </a:lstStyle>
          <a:p>
            <a:pPr lvl="0" algn="r">
              <a:lnSpc>
                <a:spcPct val="99600"/>
              </a:lnSpc>
              <a:buNone/>
              <a:defRPr>
                <a:latin typeface="Pretendard Regular"/>
                <a:ea typeface="Pretendard Regular"/>
                <a:cs typeface="Pretendard Regular"/>
              </a:defRPr>
            </a:pPr>
            <a:r>
              <a:rPr sz="2539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신입 게임 서버 프로그래머</a:t>
            </a:r>
          </a:p>
          <a:p>
            <a:pPr lvl="0" algn="r">
              <a:lnSpc>
                <a:spcPct val="99600"/>
              </a:lnSpc>
              <a:buNone/>
              <a:defRPr>
                <a:latin typeface="Pretendard Regular"/>
                <a:ea typeface="Pretendard Regular"/>
                <a:cs typeface="Pretendard Regular"/>
              </a:defRPr>
            </a:pPr>
            <a:r>
              <a:rPr sz="2539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우상훈입니다.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53926BC-E233-40EE-8046-4D014EB4267F}"/>
              </a:ext>
            </a:extLst>
          </p:cNvPr>
          <p:cNvSpPr>
            <a:spLocks noGrp="1"/>
          </p:cNvSpPr>
          <p:nvPr/>
        </p:nvSpPr>
        <p:spPr>
          <a:xfrm>
            <a:off x="1130300" y="7797800"/>
            <a:ext cx="1651000" cy="368300"/>
          </a:xfrm>
          <a:prstGeom prst="rect">
            <a:avLst/>
          </a:prstGeom>
        </p:spPr>
        <p:txBody>
          <a:bodyPr lIns="0" tIns="21589" rIns="0" bIns="21589" anchor="ctr"/>
          <a:lstStyle>
            <a:defPPr>
              <a:defRPr>
                <a:latin typeface="Pretendard Regular"/>
                <a:ea typeface="Pretendard Regular"/>
                <a:cs typeface="Pretendard Regular"/>
              </a:defRPr>
            </a:defPPr>
            <a:lvl1pPr>
              <a:defRPr>
                <a:latin typeface="Pretendard Regular"/>
                <a:ea typeface="Pretendard Regular"/>
                <a:cs typeface="Pretendard Regular"/>
              </a:defRPr>
            </a:lvl1pPr>
            <a:lvl2pPr>
              <a:defRPr>
                <a:latin typeface="Pretendard Regular"/>
                <a:ea typeface="Pretendard Regular"/>
                <a:cs typeface="Pretendard Regular"/>
              </a:defRPr>
            </a:lvl2pPr>
            <a:lvl3pPr>
              <a:defRPr>
                <a:latin typeface="Pretendard Regular"/>
                <a:ea typeface="Pretendard Regular"/>
                <a:cs typeface="Pretendard Regular"/>
              </a:defRPr>
            </a:lvl3pPr>
            <a:lvl4pPr>
              <a:defRPr>
                <a:latin typeface="Pretendard Regular"/>
                <a:ea typeface="Pretendard Regular"/>
                <a:cs typeface="Pretendard Regular"/>
              </a:defRPr>
            </a:lvl4pPr>
            <a:lvl5pPr>
              <a:defRPr>
                <a:latin typeface="Pretendard Regular"/>
                <a:ea typeface="Pretendard Regular"/>
                <a:cs typeface="Pretendard Regular"/>
              </a:defRPr>
            </a:lvl5pPr>
            <a:lvl6pPr>
              <a:defRPr>
                <a:latin typeface="Pretendard Regular"/>
                <a:ea typeface="Pretendard Regular"/>
                <a:cs typeface="Pretendard Regular"/>
              </a:defRPr>
            </a:lvl6pPr>
            <a:lvl7pPr>
              <a:defRPr>
                <a:latin typeface="Pretendard Regular"/>
                <a:ea typeface="Pretendard Regular"/>
                <a:cs typeface="Pretendard Regular"/>
              </a:defRPr>
            </a:lvl7pPr>
            <a:lvl8pPr>
              <a:defRPr>
                <a:latin typeface="Pretendard Regular"/>
                <a:ea typeface="Pretendard Regular"/>
                <a:cs typeface="Pretendard Regular"/>
              </a:defRPr>
            </a:lvl8pPr>
            <a:lvl9pPr>
              <a:defRPr>
                <a:latin typeface="Pretendard Regular"/>
                <a:ea typeface="Pretendard Regular"/>
                <a:cs typeface="Pretendard Regular"/>
              </a:defRPr>
            </a:lvl9pPr>
          </a:lstStyle>
          <a:p>
            <a:pPr lvl="0" algn="l">
              <a:lnSpc>
                <a:spcPct val="99600"/>
              </a:lnSpc>
              <a:buNone/>
              <a:defRPr>
                <a:latin typeface="Pretendard Regular"/>
                <a:ea typeface="Pretendard Regular"/>
                <a:cs typeface="Pretendard Regular"/>
              </a:defRPr>
            </a:pPr>
            <a:r>
              <a:rPr sz="1916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CONTACT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3C16526-3877-4B06-8CD9-35B2D7D69CB7}"/>
              </a:ext>
            </a:extLst>
          </p:cNvPr>
          <p:cNvSpPr>
            <a:spLocks noGrp="1"/>
          </p:cNvSpPr>
          <p:nvPr/>
        </p:nvSpPr>
        <p:spPr>
          <a:xfrm>
            <a:off x="1130300" y="8343900"/>
            <a:ext cx="2527300" cy="3683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>
                <a:latin typeface="Pretendard Regular"/>
                <a:ea typeface="Pretendard Regular"/>
                <a:cs typeface="Pretendard Regular"/>
              </a:defRPr>
            </a:defPPr>
            <a:lvl1pPr>
              <a:defRPr>
                <a:latin typeface="Pretendard Regular"/>
                <a:ea typeface="Pretendard Regular"/>
                <a:cs typeface="Pretendard Regular"/>
              </a:defRPr>
            </a:lvl1pPr>
            <a:lvl2pPr>
              <a:defRPr>
                <a:latin typeface="Pretendard Regular"/>
                <a:ea typeface="Pretendard Regular"/>
                <a:cs typeface="Pretendard Regular"/>
              </a:defRPr>
            </a:lvl2pPr>
            <a:lvl3pPr>
              <a:defRPr>
                <a:latin typeface="Pretendard Regular"/>
                <a:ea typeface="Pretendard Regular"/>
                <a:cs typeface="Pretendard Regular"/>
              </a:defRPr>
            </a:lvl3pPr>
            <a:lvl4pPr>
              <a:defRPr>
                <a:latin typeface="Pretendard Regular"/>
                <a:ea typeface="Pretendard Regular"/>
                <a:cs typeface="Pretendard Regular"/>
              </a:defRPr>
            </a:lvl4pPr>
            <a:lvl5pPr>
              <a:defRPr>
                <a:latin typeface="Pretendard Regular"/>
                <a:ea typeface="Pretendard Regular"/>
                <a:cs typeface="Pretendard Regular"/>
              </a:defRPr>
            </a:lvl5pPr>
            <a:lvl6pPr>
              <a:defRPr>
                <a:latin typeface="Pretendard Regular"/>
                <a:ea typeface="Pretendard Regular"/>
                <a:cs typeface="Pretendard Regular"/>
              </a:defRPr>
            </a:lvl6pPr>
            <a:lvl7pPr>
              <a:defRPr>
                <a:latin typeface="Pretendard Regular"/>
                <a:ea typeface="Pretendard Regular"/>
                <a:cs typeface="Pretendard Regular"/>
              </a:defRPr>
            </a:lvl7pPr>
            <a:lvl8pPr>
              <a:defRPr>
                <a:latin typeface="Pretendard Regular"/>
                <a:ea typeface="Pretendard Regular"/>
                <a:cs typeface="Pretendard Regular"/>
              </a:defRPr>
            </a:lvl8pPr>
            <a:lvl9pPr>
              <a:defRPr>
                <a:latin typeface="Pretendard Regular"/>
                <a:ea typeface="Pretendard Regular"/>
                <a:cs typeface="Pretendard Regular"/>
              </a:defRPr>
            </a:lvl9pPr>
          </a:lstStyle>
          <a:p>
            <a:pPr lvl="0" algn="l">
              <a:lnSpc>
                <a:spcPct val="141100"/>
              </a:lnSpc>
              <a:buNone/>
              <a:defRPr>
                <a:latin typeface="Pretendard Regular"/>
                <a:ea typeface="Pretendard Regular"/>
                <a:cs typeface="Pretendard Regular"/>
              </a:defRPr>
            </a:pPr>
            <a:r>
              <a:rPr sz="1916" b="0" i="0" u="non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+82 010 5920 3386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6DF1CBE-7B93-4428-8392-4FAEFF3AF0F2}"/>
              </a:ext>
            </a:extLst>
          </p:cNvPr>
          <p:cNvSpPr>
            <a:spLocks noGrp="1"/>
          </p:cNvSpPr>
          <p:nvPr/>
        </p:nvSpPr>
        <p:spPr>
          <a:xfrm>
            <a:off x="1130300" y="8674100"/>
            <a:ext cx="3467100" cy="3683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>
                <a:latin typeface="Pretendard Regular"/>
                <a:ea typeface="Pretendard Regular"/>
                <a:cs typeface="Pretendard Regular"/>
              </a:defRPr>
            </a:defPPr>
            <a:lvl1pPr>
              <a:defRPr>
                <a:latin typeface="Pretendard Regular"/>
                <a:ea typeface="Pretendard Regular"/>
                <a:cs typeface="Pretendard Regular"/>
              </a:defRPr>
            </a:lvl1pPr>
            <a:lvl2pPr>
              <a:defRPr>
                <a:latin typeface="Pretendard Regular"/>
                <a:ea typeface="Pretendard Regular"/>
                <a:cs typeface="Pretendard Regular"/>
              </a:defRPr>
            </a:lvl2pPr>
            <a:lvl3pPr>
              <a:defRPr>
                <a:latin typeface="Pretendard Regular"/>
                <a:ea typeface="Pretendard Regular"/>
                <a:cs typeface="Pretendard Regular"/>
              </a:defRPr>
            </a:lvl3pPr>
            <a:lvl4pPr>
              <a:defRPr>
                <a:latin typeface="Pretendard Regular"/>
                <a:ea typeface="Pretendard Regular"/>
                <a:cs typeface="Pretendard Regular"/>
              </a:defRPr>
            </a:lvl4pPr>
            <a:lvl5pPr>
              <a:defRPr>
                <a:latin typeface="Pretendard Regular"/>
                <a:ea typeface="Pretendard Regular"/>
                <a:cs typeface="Pretendard Regular"/>
              </a:defRPr>
            </a:lvl5pPr>
            <a:lvl6pPr>
              <a:defRPr>
                <a:latin typeface="Pretendard Regular"/>
                <a:ea typeface="Pretendard Regular"/>
                <a:cs typeface="Pretendard Regular"/>
              </a:defRPr>
            </a:lvl6pPr>
            <a:lvl7pPr>
              <a:defRPr>
                <a:latin typeface="Pretendard Regular"/>
                <a:ea typeface="Pretendard Regular"/>
                <a:cs typeface="Pretendard Regular"/>
              </a:defRPr>
            </a:lvl7pPr>
            <a:lvl8pPr>
              <a:defRPr>
                <a:latin typeface="Pretendard Regular"/>
                <a:ea typeface="Pretendard Regular"/>
                <a:cs typeface="Pretendard Regular"/>
              </a:defRPr>
            </a:lvl8pPr>
            <a:lvl9pPr>
              <a:defRPr>
                <a:latin typeface="Pretendard Regular"/>
                <a:ea typeface="Pretendard Regular"/>
                <a:cs typeface="Pretendard Regular"/>
              </a:defRPr>
            </a:lvl9pPr>
          </a:lstStyle>
          <a:p>
            <a:pPr lvl="0" algn="l">
              <a:lnSpc>
                <a:spcPct val="141100"/>
              </a:lnSpc>
              <a:buNone/>
              <a:defRPr>
                <a:latin typeface="Pretendard Regular"/>
                <a:ea typeface="Pretendard Regular"/>
                <a:cs typeface="Pretendard Regular"/>
              </a:defRPr>
            </a:pPr>
            <a:r>
              <a:rPr sz="1916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asm1133</a:t>
            </a:r>
            <a:r>
              <a:rPr sz="1916" b="0" i="0" u="non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@</a:t>
            </a:r>
            <a:r>
              <a:rPr sz="1916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naver</a:t>
            </a:r>
            <a:r>
              <a:rPr sz="1916" b="0" i="0" u="non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.com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AAB0C8E-0D34-4413-ABDF-8EEAD2C60EFE}"/>
              </a:ext>
            </a:extLst>
          </p:cNvPr>
          <p:cNvSpPr>
            <a:spLocks noGrp="1"/>
          </p:cNvSpPr>
          <p:nvPr/>
        </p:nvSpPr>
        <p:spPr>
          <a:xfrm>
            <a:off x="1130300" y="9004300"/>
            <a:ext cx="3467100" cy="3683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>
                <a:latin typeface="Pretendard Regular"/>
                <a:ea typeface="Pretendard Regular"/>
                <a:cs typeface="Pretendard Regular"/>
              </a:defRPr>
            </a:defPPr>
            <a:lvl1pPr>
              <a:defRPr>
                <a:latin typeface="Pretendard Regular"/>
                <a:ea typeface="Pretendard Regular"/>
                <a:cs typeface="Pretendard Regular"/>
              </a:defRPr>
            </a:lvl1pPr>
            <a:lvl2pPr>
              <a:defRPr>
                <a:latin typeface="Pretendard Regular"/>
                <a:ea typeface="Pretendard Regular"/>
                <a:cs typeface="Pretendard Regular"/>
              </a:defRPr>
            </a:lvl2pPr>
            <a:lvl3pPr>
              <a:defRPr>
                <a:latin typeface="Pretendard Regular"/>
                <a:ea typeface="Pretendard Regular"/>
                <a:cs typeface="Pretendard Regular"/>
              </a:defRPr>
            </a:lvl3pPr>
            <a:lvl4pPr>
              <a:defRPr>
                <a:latin typeface="Pretendard Regular"/>
                <a:ea typeface="Pretendard Regular"/>
                <a:cs typeface="Pretendard Regular"/>
              </a:defRPr>
            </a:lvl4pPr>
            <a:lvl5pPr>
              <a:defRPr>
                <a:latin typeface="Pretendard Regular"/>
                <a:ea typeface="Pretendard Regular"/>
                <a:cs typeface="Pretendard Regular"/>
              </a:defRPr>
            </a:lvl5pPr>
            <a:lvl6pPr>
              <a:defRPr>
                <a:latin typeface="Pretendard Regular"/>
                <a:ea typeface="Pretendard Regular"/>
                <a:cs typeface="Pretendard Regular"/>
              </a:defRPr>
            </a:lvl6pPr>
            <a:lvl7pPr>
              <a:defRPr>
                <a:latin typeface="Pretendard Regular"/>
                <a:ea typeface="Pretendard Regular"/>
                <a:cs typeface="Pretendard Regular"/>
              </a:defRPr>
            </a:lvl7pPr>
            <a:lvl8pPr>
              <a:defRPr>
                <a:latin typeface="Pretendard Regular"/>
                <a:ea typeface="Pretendard Regular"/>
                <a:cs typeface="Pretendard Regular"/>
              </a:defRPr>
            </a:lvl8pPr>
            <a:lvl9pPr>
              <a:defRPr>
                <a:latin typeface="Pretendard Regular"/>
                <a:ea typeface="Pretendard Regular"/>
                <a:cs typeface="Pretendard Regular"/>
              </a:defRPr>
            </a:lvl9pPr>
          </a:lstStyle>
          <a:p>
            <a:pPr lvl="0" algn="l">
              <a:lnSpc>
                <a:spcPct val="141100"/>
              </a:lnSpc>
              <a:buNone/>
            </a:pPr>
            <a:endParaRPr sz="1916" b="0" i="0" u="none">
              <a:solidFill>
                <a:srgbClr val="595959"/>
              </a:solidFill>
              <a:latin typeface="Pretendard Light"/>
              <a:ea typeface="Pretendard Light"/>
              <a:cs typeface="Pretendard Light"/>
            </a:endParaRPr>
          </a:p>
        </p:txBody>
      </p:sp>
    </p:spTree>
    <p:extLst>
      <p:ext uri="{BB962C8B-B14F-4D97-AF65-F5344CB8AC3E}">
        <p14:creationId xmlns:p14="http://schemas.microsoft.com/office/powerpoint/2010/main" val="55940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5B4554A-55AD-4422-B170-DCE4031CD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844" y="-12700"/>
            <a:ext cx="18313400" cy="10312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6DEDF58-C94C-4A9C-904D-500EB9D55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3400" y="-1460500"/>
            <a:ext cx="5219700" cy="51308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4199B5A9-653C-409B-BBFA-726AD79E618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7000"/>
          </a:blip>
          <a:stretch>
            <a:fillRect/>
          </a:stretch>
        </p:blipFill>
        <p:spPr>
          <a:xfrm rot="18782095">
            <a:off x="-3327400" y="6921500"/>
            <a:ext cx="7454900" cy="71882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8E202D08-CC6D-4940-A664-77FFCB85B9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700000">
            <a:off x="7810500" y="9131300"/>
            <a:ext cx="482600" cy="4699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F07F33C8-C303-4047-B6C6-D28EDB6722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200" y="9232900"/>
            <a:ext cx="10502900" cy="177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2480D3FD-A84E-4A6F-9D22-7ED5B559E4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39700" y="2286000"/>
            <a:ext cx="8902700" cy="165100"/>
          </a:xfrm>
          <a:prstGeom prst="rect">
            <a:avLst/>
          </a:prstGeom>
        </p:spPr>
      </p:pic>
      <p:sp>
        <p:nvSpPr>
          <p:cNvPr id="8" name="CONTENTS">
            <a:extLst>
              <a:ext uri="{FF2B5EF4-FFF2-40B4-BE49-F238E27FC236}">
                <a16:creationId xmlns:a16="http://schemas.microsoft.com/office/drawing/2014/main" id="{EADCC53F-D617-4B59-B60B-E44BB45E1816}"/>
              </a:ext>
            </a:extLst>
          </p:cNvPr>
          <p:cNvSpPr>
            <a:spLocks noGrp="1"/>
          </p:cNvSpPr>
          <p:nvPr/>
        </p:nvSpPr>
        <p:spPr>
          <a:xfrm>
            <a:off x="1130332" y="952500"/>
            <a:ext cx="7429500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70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70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70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70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70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70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70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70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70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70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70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7050" b="1" dirty="0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CONTENTS</a:t>
            </a:r>
          </a:p>
        </p:txBody>
      </p:sp>
      <p:sp>
        <p:nvSpPr>
          <p:cNvPr id="9" name="01">
            <a:extLst>
              <a:ext uri="{FF2B5EF4-FFF2-40B4-BE49-F238E27FC236}">
                <a16:creationId xmlns:a16="http://schemas.microsoft.com/office/drawing/2014/main" id="{37DB3024-C8F7-46B4-9C9F-DA8A77D2C3B9}"/>
              </a:ext>
            </a:extLst>
          </p:cNvPr>
          <p:cNvSpPr>
            <a:spLocks noGrp="1"/>
          </p:cNvSpPr>
          <p:nvPr/>
        </p:nvSpPr>
        <p:spPr>
          <a:xfrm>
            <a:off x="9610725" y="2219325"/>
            <a:ext cx="73342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6000"/>
              </a:lnSpc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id="10" name="PROFILE">
            <a:extLst>
              <a:ext uri="{FF2B5EF4-FFF2-40B4-BE49-F238E27FC236}">
                <a16:creationId xmlns:a16="http://schemas.microsoft.com/office/drawing/2014/main" id="{CE00CD2A-1E92-4089-8083-556E2E92292B}"/>
              </a:ext>
            </a:extLst>
          </p:cNvPr>
          <p:cNvSpPr>
            <a:spLocks noGrp="1"/>
          </p:cNvSpPr>
          <p:nvPr/>
        </p:nvSpPr>
        <p:spPr>
          <a:xfrm>
            <a:off x="9610725" y="2800350"/>
            <a:ext cx="7334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6000"/>
              </a:lnSpc>
              <a:buNone/>
              <a:defRPr sz="2175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175" b="0" dirty="0" err="1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rPr>
              <a:t>프로필</a:t>
            </a:r>
            <a:endParaRPr sz="2100" b="0" dirty="0">
              <a:solidFill>
                <a:srgbClr val="171717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1" name="02">
            <a:extLst>
              <a:ext uri="{FF2B5EF4-FFF2-40B4-BE49-F238E27FC236}">
                <a16:creationId xmlns:a16="http://schemas.microsoft.com/office/drawing/2014/main" id="{FA53D114-683F-4421-899E-4B55B52EE208}"/>
              </a:ext>
            </a:extLst>
          </p:cNvPr>
          <p:cNvSpPr>
            <a:spLocks noGrp="1"/>
          </p:cNvSpPr>
          <p:nvPr/>
        </p:nvSpPr>
        <p:spPr>
          <a:xfrm>
            <a:off x="9610725" y="3590925"/>
            <a:ext cx="73342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6000"/>
              </a:lnSpc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12" name="PROJECT | 졸업작품 이방인 &lt;Outlander&gt;">
            <a:extLst>
              <a:ext uri="{FF2B5EF4-FFF2-40B4-BE49-F238E27FC236}">
                <a16:creationId xmlns:a16="http://schemas.microsoft.com/office/drawing/2014/main" id="{294145EC-BAC5-48C3-A4EC-29BAF9C7FA5B}"/>
              </a:ext>
            </a:extLst>
          </p:cNvPr>
          <p:cNvSpPr>
            <a:spLocks noGrp="1"/>
          </p:cNvSpPr>
          <p:nvPr/>
        </p:nvSpPr>
        <p:spPr>
          <a:xfrm>
            <a:off x="9610725" y="4171950"/>
            <a:ext cx="7524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6000"/>
              </a:lnSpc>
              <a:buNone/>
              <a:defRPr sz="2175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175" b="0" dirty="0" err="1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rPr>
              <a:t>졸업작품</a:t>
            </a:r>
            <a:r>
              <a:rPr sz="2175" b="0" dirty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175" b="0" dirty="0" err="1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rPr>
              <a:t>이방인</a:t>
            </a:r>
            <a:r>
              <a:rPr sz="2175" b="0" dirty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rPr>
              <a:t>(Outlander)</a:t>
            </a:r>
            <a:endParaRPr sz="2100" b="0" dirty="0">
              <a:solidFill>
                <a:srgbClr val="171717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4" name="서버 구조">
            <a:extLst>
              <a:ext uri="{FF2B5EF4-FFF2-40B4-BE49-F238E27FC236}">
                <a16:creationId xmlns:a16="http://schemas.microsoft.com/office/drawing/2014/main" id="{819E2423-F01E-4D23-BB3D-837794490110}"/>
              </a:ext>
            </a:extLst>
          </p:cNvPr>
          <p:cNvSpPr>
            <a:spLocks noGrp="1"/>
          </p:cNvSpPr>
          <p:nvPr/>
        </p:nvSpPr>
        <p:spPr>
          <a:xfrm>
            <a:off x="10020300" y="4895850"/>
            <a:ext cx="3286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6000"/>
              </a:lnSpc>
              <a:buNone/>
              <a:defRPr sz="1875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875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rPr>
              <a:t>서버 구조</a:t>
            </a:r>
            <a:endParaRPr/>
          </a:p>
        </p:txBody>
      </p:sp>
      <p:sp>
        <p:nvSpPr>
          <p:cNvPr id="15" name="서버 기반 기술">
            <a:extLst>
              <a:ext uri="{FF2B5EF4-FFF2-40B4-BE49-F238E27FC236}">
                <a16:creationId xmlns:a16="http://schemas.microsoft.com/office/drawing/2014/main" id="{7E78E9D3-C339-4453-8701-44D49691B8A5}"/>
              </a:ext>
            </a:extLst>
          </p:cNvPr>
          <p:cNvSpPr>
            <a:spLocks noGrp="1"/>
          </p:cNvSpPr>
          <p:nvPr/>
        </p:nvSpPr>
        <p:spPr>
          <a:xfrm>
            <a:off x="13639800" y="4895850"/>
            <a:ext cx="3286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6000"/>
              </a:lnSpc>
              <a:buNone/>
              <a:defRPr sz="1875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875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rPr>
              <a:t>서버 기반 기술</a:t>
            </a:r>
            <a:endParaRPr/>
          </a:p>
        </p:txBody>
      </p:sp>
      <p:sp>
        <p:nvSpPr>
          <p:cNvPr id="16" name="전술 AI와 2D 시뮬레이터">
            <a:extLst>
              <a:ext uri="{FF2B5EF4-FFF2-40B4-BE49-F238E27FC236}">
                <a16:creationId xmlns:a16="http://schemas.microsoft.com/office/drawing/2014/main" id="{A85B541F-40F2-41C4-BC5D-3D75384E6ABB}"/>
              </a:ext>
            </a:extLst>
          </p:cNvPr>
          <p:cNvSpPr>
            <a:spLocks noGrp="1"/>
          </p:cNvSpPr>
          <p:nvPr/>
        </p:nvSpPr>
        <p:spPr>
          <a:xfrm>
            <a:off x="10020300" y="5476875"/>
            <a:ext cx="33813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6000"/>
              </a:lnSpc>
              <a:buNone/>
              <a:defRPr sz="1875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875" b="0" dirty="0" err="1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rPr>
              <a:t>전술</a:t>
            </a:r>
            <a:r>
              <a:rPr sz="1875" b="0" dirty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875" b="0" dirty="0" err="1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rPr>
              <a:t>AI와</a:t>
            </a:r>
            <a:r>
              <a:rPr sz="1875" b="0" dirty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rPr>
              <a:t> 2D </a:t>
            </a:r>
            <a:r>
              <a:rPr sz="1875" b="0" dirty="0" err="1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rPr>
              <a:t>시뮬레이터</a:t>
            </a:r>
            <a:endParaRPr sz="1950" b="0" dirty="0">
              <a:solidFill>
                <a:srgbClr val="474747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7" name="계정·데이터 처리">
            <a:extLst>
              <a:ext uri="{FF2B5EF4-FFF2-40B4-BE49-F238E27FC236}">
                <a16:creationId xmlns:a16="http://schemas.microsoft.com/office/drawing/2014/main" id="{B2A7EC0F-833C-4ACC-828A-8926C765A28C}"/>
              </a:ext>
            </a:extLst>
          </p:cNvPr>
          <p:cNvSpPr>
            <a:spLocks noGrp="1"/>
          </p:cNvSpPr>
          <p:nvPr/>
        </p:nvSpPr>
        <p:spPr>
          <a:xfrm>
            <a:off x="13639800" y="5476875"/>
            <a:ext cx="3286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6000"/>
              </a:lnSpc>
              <a:buNone/>
              <a:defRPr sz="1875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875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rPr>
              <a:t>계정·데이터 처리</a:t>
            </a:r>
            <a:endParaRPr sz="1950" b="0">
              <a:solidFill>
                <a:srgbClr val="474747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8" name="문제 해결">
            <a:extLst>
              <a:ext uri="{FF2B5EF4-FFF2-40B4-BE49-F238E27FC236}">
                <a16:creationId xmlns:a16="http://schemas.microsoft.com/office/drawing/2014/main" id="{035F3238-ECBF-4923-BC3E-C2C7310C4D6B}"/>
              </a:ext>
            </a:extLst>
          </p:cNvPr>
          <p:cNvSpPr>
            <a:spLocks noGrp="1"/>
          </p:cNvSpPr>
          <p:nvPr/>
        </p:nvSpPr>
        <p:spPr>
          <a:xfrm>
            <a:off x="10020300" y="6057900"/>
            <a:ext cx="3286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1950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6000"/>
              </a:lnSpc>
              <a:buNone/>
              <a:defRPr sz="1875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875" b="0">
                <a:solidFill>
                  <a:srgbClr val="474747"/>
                </a:solidFill>
                <a:latin typeface="Pretendard Regular"/>
                <a:ea typeface="Pretendard Regular"/>
                <a:cs typeface="Pretendard Regular"/>
              </a:rPr>
              <a:t>문제 해결</a:t>
            </a:r>
            <a:endParaRPr sz="1950" b="0">
              <a:solidFill>
                <a:srgbClr val="474747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9" name="02">
            <a:extLst>
              <a:ext uri="{FF2B5EF4-FFF2-40B4-BE49-F238E27FC236}">
                <a16:creationId xmlns:a16="http://schemas.microsoft.com/office/drawing/2014/main" id="{FB68C2FF-7963-43CA-A47F-09DE8B73009B}"/>
              </a:ext>
            </a:extLst>
          </p:cNvPr>
          <p:cNvSpPr>
            <a:spLocks noGrp="1"/>
          </p:cNvSpPr>
          <p:nvPr/>
        </p:nvSpPr>
        <p:spPr>
          <a:xfrm>
            <a:off x="9610725" y="6867525"/>
            <a:ext cx="73342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6000"/>
              </a:lnSpc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sp>
        <p:nvSpPr>
          <p:cNvPr id="20" name="PROJECT | 졸업작품 이방인 &lt;Outlander&gt;">
            <a:extLst>
              <a:ext uri="{FF2B5EF4-FFF2-40B4-BE49-F238E27FC236}">
                <a16:creationId xmlns:a16="http://schemas.microsoft.com/office/drawing/2014/main" id="{EA8E0396-0F1A-4ABA-B6C5-C77F2EDC2B5A}"/>
              </a:ext>
            </a:extLst>
          </p:cNvPr>
          <p:cNvSpPr>
            <a:spLocks noGrp="1"/>
          </p:cNvSpPr>
          <p:nvPr/>
        </p:nvSpPr>
        <p:spPr>
          <a:xfrm>
            <a:off x="9610725" y="7429500"/>
            <a:ext cx="7334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777777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6000"/>
              </a:lnSpc>
              <a:buNone/>
              <a:defRPr sz="2025" b="0">
                <a:solidFill>
                  <a:srgbClr val="777777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777777"/>
                </a:solidFill>
                <a:latin typeface="Pretendard Regular"/>
                <a:ea typeface="Pretendard Regular"/>
                <a:cs typeface="Pretendard Regular"/>
              </a:rPr>
              <a:t>…</a:t>
            </a:r>
            <a:endParaRPr sz="2100" b="0">
              <a:solidFill>
                <a:srgbClr val="171717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1" name="02">
            <a:extLst>
              <a:ext uri="{FF2B5EF4-FFF2-40B4-BE49-F238E27FC236}">
                <a16:creationId xmlns:a16="http://schemas.microsoft.com/office/drawing/2014/main" id="{60191851-1013-4E20-B93A-A7C712A28357}"/>
              </a:ext>
            </a:extLst>
          </p:cNvPr>
          <p:cNvSpPr>
            <a:spLocks noGrp="1"/>
          </p:cNvSpPr>
          <p:nvPr/>
        </p:nvSpPr>
        <p:spPr>
          <a:xfrm>
            <a:off x="9610725" y="8181975"/>
            <a:ext cx="73342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6000"/>
              </a:lnSpc>
              <a:buNone/>
              <a:def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4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04</a:t>
            </a:r>
          </a:p>
        </p:txBody>
      </p:sp>
      <p:sp>
        <p:nvSpPr>
          <p:cNvPr id="22" name="PROJECT | 졸업작품 이방인 &lt;Outlander&gt;">
            <a:extLst>
              <a:ext uri="{FF2B5EF4-FFF2-40B4-BE49-F238E27FC236}">
                <a16:creationId xmlns:a16="http://schemas.microsoft.com/office/drawing/2014/main" id="{8BFEF93E-A1F6-4176-BD92-6DCBBDD9AFF1}"/>
              </a:ext>
            </a:extLst>
          </p:cNvPr>
          <p:cNvSpPr>
            <a:spLocks noGrp="1"/>
          </p:cNvSpPr>
          <p:nvPr/>
        </p:nvSpPr>
        <p:spPr>
          <a:xfrm>
            <a:off x="9610725" y="8743950"/>
            <a:ext cx="7334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777777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100" b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6000"/>
              </a:lnSpc>
              <a:buNone/>
              <a:defRPr sz="2025" b="0">
                <a:solidFill>
                  <a:srgbClr val="777777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777777"/>
                </a:solidFill>
                <a:latin typeface="Pretendard Regular"/>
                <a:ea typeface="Pretendard Regular"/>
                <a:cs typeface="Pretendard Regular"/>
              </a:rPr>
              <a:t>…</a:t>
            </a:r>
            <a:endParaRPr sz="2100" b="0">
              <a:solidFill>
                <a:srgbClr val="171717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111972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2">
            <a:extLst>
              <a:ext uri="{FF2B5EF4-FFF2-40B4-BE49-F238E27FC236}">
                <a16:creationId xmlns:a16="http://schemas.microsoft.com/office/drawing/2014/main" id="{EE5895C1-7083-4647-B828-3C1B4BA79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id="46" name="Picture 9">
            <a:extLst>
              <a:ext uri="{FF2B5EF4-FFF2-40B4-BE49-F238E27FC236}">
                <a16:creationId xmlns:a16="http://schemas.microsoft.com/office/drawing/2014/main" id="{A2699DDA-5434-4FD8-B310-D69767B128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-1930400" y="2197100"/>
            <a:ext cx="8420100" cy="5930900"/>
          </a:xfrm>
          <a:prstGeom prst="rect">
            <a:avLst/>
          </a:prstGeom>
        </p:spPr>
      </p:pic>
      <p:pic>
        <p:nvPicPr>
          <p:cNvPr id="104" name="Picture 3">
            <a:extLst>
              <a:ext uri="{FF2B5EF4-FFF2-40B4-BE49-F238E27FC236}">
                <a16:creationId xmlns:a16="http://schemas.microsoft.com/office/drawing/2014/main" id="{0BF8C33F-EA44-4A93-8CF2-1D8CE3EA3C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03400" y="-1460500"/>
            <a:ext cx="5219700" cy="5130800"/>
          </a:xfrm>
          <a:prstGeom prst="rect">
            <a:avLst/>
          </a:prstGeom>
        </p:spPr>
      </p:pic>
      <p:pic>
        <p:nvPicPr>
          <p:cNvPr id="105" name="Picture 4">
            <a:extLst>
              <a:ext uri="{FF2B5EF4-FFF2-40B4-BE49-F238E27FC236}">
                <a16:creationId xmlns:a16="http://schemas.microsoft.com/office/drawing/2014/main" id="{4BD3623D-C11C-47F7-AC2A-CFF8FA57DB50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47000"/>
          </a:blip>
          <a:stretch>
            <a:fillRect/>
          </a:stretch>
        </p:blipFill>
        <p:spPr>
          <a:xfrm rot="18782095">
            <a:off x="-3327400" y="6921500"/>
            <a:ext cx="7454900" cy="7188200"/>
          </a:xfrm>
          <a:prstGeom prst="rect">
            <a:avLst/>
          </a:prstGeom>
        </p:spPr>
      </p:pic>
      <p:pic>
        <p:nvPicPr>
          <p:cNvPr id="106" name="Picture 5">
            <a:extLst>
              <a:ext uri="{FF2B5EF4-FFF2-40B4-BE49-F238E27FC236}">
                <a16:creationId xmlns:a16="http://schemas.microsoft.com/office/drawing/2014/main" id="{BCC9E3BE-E185-4DD9-8E32-057C4A9518D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1896725" y="4467225"/>
            <a:ext cx="5067300" cy="1847850"/>
          </a:xfrm>
          <a:prstGeom prst="rect">
            <a:avLst/>
          </a:prstGeom>
        </p:spPr>
      </p:pic>
      <p:pic>
        <p:nvPicPr>
          <p:cNvPr id="108" name="Picture 10">
            <a:extLst>
              <a:ext uri="{FF2B5EF4-FFF2-40B4-BE49-F238E27FC236}">
                <a16:creationId xmlns:a16="http://schemas.microsoft.com/office/drawing/2014/main" id="{FD408F7D-1195-49C8-8483-B6C457C0C0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700000">
            <a:off x="5969000" y="9169400"/>
            <a:ext cx="444500" cy="431800"/>
          </a:xfrm>
          <a:prstGeom prst="rect">
            <a:avLst/>
          </a:prstGeom>
        </p:spPr>
      </p:pic>
      <p:pic>
        <p:nvPicPr>
          <p:cNvPr id="109" name="Picture 11">
            <a:extLst>
              <a:ext uri="{FF2B5EF4-FFF2-40B4-BE49-F238E27FC236}">
                <a16:creationId xmlns:a16="http://schemas.microsoft.com/office/drawing/2014/main" id="{005DF481-6793-4538-95F2-5E7C47F679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300" y="9258300"/>
            <a:ext cx="12090400" cy="177800"/>
          </a:xfrm>
          <a:prstGeom prst="rect">
            <a:avLst/>
          </a:prstGeom>
        </p:spPr>
      </p:pic>
      <p:pic>
        <p:nvPicPr>
          <p:cNvPr id="110" name="Picture 20">
            <a:extLst>
              <a:ext uri="{FF2B5EF4-FFF2-40B4-BE49-F238E27FC236}">
                <a16:creationId xmlns:a16="http://schemas.microsoft.com/office/drawing/2014/main" id="{8FCA8C32-3928-43DB-9B24-37F6FB09401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685800" y="863600"/>
            <a:ext cx="8064500" cy="139700"/>
          </a:xfrm>
          <a:prstGeom prst="rect">
            <a:avLst/>
          </a:prstGeom>
        </p:spPr>
      </p:pic>
      <p:sp>
        <p:nvSpPr>
          <p:cNvPr id="23" name="TextBox 23">
            <a:extLst>
              <a:ext uri="{FF2B5EF4-FFF2-40B4-BE49-F238E27FC236}">
                <a16:creationId xmlns:a16="http://schemas.microsoft.com/office/drawing/2014/main" id="{D8C91F0C-AFBA-4261-AAEA-510ADB877392}"/>
              </a:ext>
            </a:extLst>
          </p:cNvPr>
          <p:cNvSpPr>
            <a:spLocks noGrp="1"/>
          </p:cNvSpPr>
          <p:nvPr/>
        </p:nvSpPr>
        <p:spPr>
          <a:xfrm>
            <a:off x="1447800" y="6940804"/>
            <a:ext cx="3022600" cy="162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44420"/>
              </a:lnSpc>
              <a:buNone/>
            </a:pPr>
            <a:r>
              <a:rPr sz="1899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우상훈</a:t>
            </a:r>
            <a:r>
              <a:rPr sz="1899" b="0" i="0" u="non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(</a:t>
            </a:r>
            <a:r>
              <a:rPr sz="1899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Woo</a:t>
            </a:r>
            <a:r>
              <a:rPr sz="1899" b="0" i="0" u="non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Sanghoon)</a:t>
            </a:r>
          </a:p>
          <a:p>
            <a:pPr lvl="0" algn="ctr">
              <a:lnSpc>
                <a:spcPct val="144420"/>
              </a:lnSpc>
              <a:buNone/>
            </a:pPr>
            <a:r>
              <a:rPr sz="1899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20</a:t>
            </a:r>
            <a:r>
              <a:rPr sz="1899" b="0" i="0" u="non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00.04.20</a:t>
            </a:r>
          </a:p>
          <a:p>
            <a:pPr lvl="0" algn="ctr">
              <a:lnSpc>
                <a:spcPct val="144420"/>
              </a:lnSpc>
              <a:buNone/>
            </a:pPr>
            <a:r>
              <a:rPr sz="1899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asm1133@naver</a:t>
            </a:r>
            <a:r>
              <a:rPr sz="1899" b="0" i="0" u="non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.com</a:t>
            </a:r>
          </a:p>
          <a:p>
            <a:pPr lvl="0" algn="ctr">
              <a:lnSpc>
                <a:spcPct val="144420"/>
              </a:lnSpc>
              <a:buNone/>
            </a:pPr>
            <a:r>
              <a:rPr sz="1899" b="0" i="0" u="non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010-5920-3386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C699477-35C4-48EB-AC28-1A0CAAA40963}"/>
              </a:ext>
            </a:extLst>
          </p:cNvPr>
          <p:cNvSpPr>
            <a:spLocks noGrp="1"/>
          </p:cNvSpPr>
          <p:nvPr/>
        </p:nvSpPr>
        <p:spPr>
          <a:xfrm>
            <a:off x="1701800" y="6394704"/>
            <a:ext cx="2514600" cy="444500"/>
          </a:xfrm>
          <a:prstGeom prst="rect">
            <a:avLst/>
          </a:prstGeom>
        </p:spPr>
        <p:txBody>
          <a:bodyPr lIns="0" tIns="30479" rIns="0" bIns="0" anchor="t"/>
          <a:lstStyle/>
          <a:p>
            <a:pPr lvl="0" algn="ctr">
              <a:lnSpc>
                <a:spcPct val="99600"/>
              </a:lnSpc>
              <a:buNone/>
            </a:pPr>
            <a:r>
              <a:rPr sz="2399" b="0" i="0" u="none" dirty="0">
                <a:solidFill>
                  <a:srgbClr val="000000"/>
                </a:solidFill>
                <a:latin typeface="Geologica Roman Regular"/>
                <a:ea typeface="Geologica Roman Regular"/>
                <a:cs typeface="Geologica Roman Regular"/>
              </a:rPr>
              <a:t>About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D2E0BA59-B977-45E5-9B92-FE3FF0BDCFC4}"/>
              </a:ext>
            </a:extLst>
          </p:cNvPr>
          <p:cNvSpPr>
            <a:spLocks noGrp="1"/>
          </p:cNvSpPr>
          <p:nvPr/>
        </p:nvSpPr>
        <p:spPr>
          <a:xfrm>
            <a:off x="12201525" y="4695825"/>
            <a:ext cx="4457700" cy="447675"/>
          </a:xfrm>
          <a:prstGeom prst="rect">
            <a:avLst/>
          </a:prstGeom>
        </p:spPr>
        <p:txBody>
          <a:bodyPr lIns="0" tIns="15240" rIns="0" bIns="0" anchor="t"/>
          <a:lstStyle/>
          <a:p>
            <a:pPr lvl="0" algn="l">
              <a:lnSpc>
                <a:spcPct val="107899"/>
              </a:lnSpc>
              <a:buNone/>
            </a:pPr>
            <a:r>
              <a:rPr sz="2400" b="0" i="0" u="none" spc="-100">
                <a:solidFill>
                  <a:srgbClr val="3B3B3B"/>
                </a:solidFill>
                <a:latin typeface="Pretendard Bold"/>
                <a:ea typeface="Pretendard Bold"/>
                <a:cs typeface="Pretendard Bold"/>
              </a:rPr>
              <a:t>수상</a:t>
            </a:r>
          </a:p>
        </p:txBody>
      </p:sp>
      <p:pic>
        <p:nvPicPr>
          <p:cNvPr id="116" name="그림 47">
            <a:extLst>
              <a:ext uri="{FF2B5EF4-FFF2-40B4-BE49-F238E27FC236}">
                <a16:creationId xmlns:a16="http://schemas.microsoft.com/office/drawing/2014/main" id="{F4B2F195-929A-4697-B0A7-778FE86DE42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14475" y="2086022"/>
            <a:ext cx="2889250" cy="3857149"/>
          </a:xfrm>
          <a:prstGeom prst="rect">
            <a:avLst/>
          </a:prstGeom>
        </p:spPr>
      </p:pic>
      <p:pic>
        <p:nvPicPr>
          <p:cNvPr id="117" name="Picture 8">
            <a:extLst>
              <a:ext uri="{FF2B5EF4-FFF2-40B4-BE49-F238E27FC236}">
                <a16:creationId xmlns:a16="http://schemas.microsoft.com/office/drawing/2014/main" id="{CC81FADD-53C1-46CD-BD80-5B6E60BF27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05575" y="1285875"/>
            <a:ext cx="5067300" cy="2800350"/>
          </a:xfrm>
          <a:prstGeom prst="rect">
            <a:avLst/>
          </a:prstGeom>
        </p:spPr>
      </p:pic>
      <p:sp>
        <p:nvSpPr>
          <p:cNvPr id="59" name="TextBox 29">
            <a:extLst>
              <a:ext uri="{FF2B5EF4-FFF2-40B4-BE49-F238E27FC236}">
                <a16:creationId xmlns:a16="http://schemas.microsoft.com/office/drawing/2014/main" id="{BCB84EB7-181D-40D8-8CE8-3F5BC517A4F0}"/>
              </a:ext>
            </a:extLst>
          </p:cNvPr>
          <p:cNvSpPr>
            <a:spLocks noGrp="1"/>
          </p:cNvSpPr>
          <p:nvPr/>
        </p:nvSpPr>
        <p:spPr>
          <a:xfrm>
            <a:off x="6810375" y="1514475"/>
            <a:ext cx="4457700" cy="4476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l">
              <a:lnSpc>
                <a:spcPct val="110000"/>
              </a:lnSpc>
              <a:buNone/>
              <a:defRPr sz="2400" b="0">
                <a:solidFill>
                  <a:srgbClr val="3B3B3B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400" b="0" i="0" u="none" spc="-100">
                <a:solidFill>
                  <a:srgbClr val="3B3B3B"/>
                </a:solidFill>
                <a:latin typeface="Pretendard Bold"/>
                <a:ea typeface="Pretendard Bold"/>
                <a:cs typeface="Pretendard Bold"/>
              </a:rPr>
              <a:t>기술</a:t>
            </a:r>
          </a:p>
        </p:txBody>
      </p:sp>
      <p:sp>
        <p:nvSpPr>
          <p:cNvPr id="60" name="언어">
            <a:extLst>
              <a:ext uri="{FF2B5EF4-FFF2-40B4-BE49-F238E27FC236}">
                <a16:creationId xmlns:a16="http://schemas.microsoft.com/office/drawing/2014/main" id="{1D8D7F1C-9529-40C7-952E-4EDDF7A16077}"/>
              </a:ext>
            </a:extLst>
          </p:cNvPr>
          <p:cNvSpPr>
            <a:spLocks noGrp="1"/>
          </p:cNvSpPr>
          <p:nvPr/>
        </p:nvSpPr>
        <p:spPr>
          <a:xfrm>
            <a:off x="6810375" y="2124075"/>
            <a:ext cx="10477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858585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800" b="0">
                <a:solidFill>
                  <a:srgbClr val="858585"/>
                </a:solidFill>
                <a:latin typeface="Pretendard Regular"/>
                <a:ea typeface="Pretendard Regular"/>
                <a:cs typeface="Pretendard Regular"/>
              </a:rPr>
              <a:t>언어</a:t>
            </a:r>
          </a:p>
        </p:txBody>
      </p:sp>
      <p:sp>
        <p:nvSpPr>
          <p:cNvPr id="61" name="C++20">
            <a:extLst>
              <a:ext uri="{FF2B5EF4-FFF2-40B4-BE49-F238E27FC236}">
                <a16:creationId xmlns:a16="http://schemas.microsoft.com/office/drawing/2014/main" id="{CB7AEDAA-E427-4996-816B-B0D60151A994}"/>
              </a:ext>
            </a:extLst>
          </p:cNvPr>
          <p:cNvSpPr>
            <a:spLocks noGrp="1"/>
          </p:cNvSpPr>
          <p:nvPr/>
        </p:nvSpPr>
        <p:spPr>
          <a:xfrm>
            <a:off x="8029575" y="2124075"/>
            <a:ext cx="32385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3B3B3B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950" b="0">
                <a:solidFill>
                  <a:srgbClr val="3B3B3B"/>
                </a:solidFill>
                <a:latin typeface="Pretendard Regular"/>
                <a:ea typeface="Pretendard Regular"/>
                <a:cs typeface="Pretendard Regular"/>
              </a:rPr>
              <a:t>C, C++20</a:t>
            </a:r>
          </a:p>
        </p:txBody>
      </p:sp>
      <p:sp>
        <p:nvSpPr>
          <p:cNvPr id="62" name="네트워크">
            <a:extLst>
              <a:ext uri="{FF2B5EF4-FFF2-40B4-BE49-F238E27FC236}">
                <a16:creationId xmlns:a16="http://schemas.microsoft.com/office/drawing/2014/main" id="{01D1748C-029A-4DB8-933C-A0C4B12929FD}"/>
              </a:ext>
            </a:extLst>
          </p:cNvPr>
          <p:cNvSpPr>
            <a:spLocks noGrp="1"/>
          </p:cNvSpPr>
          <p:nvPr/>
        </p:nvSpPr>
        <p:spPr>
          <a:xfrm>
            <a:off x="6810375" y="2581275"/>
            <a:ext cx="10477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858585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800" b="0">
                <a:solidFill>
                  <a:srgbClr val="858585"/>
                </a:solidFill>
                <a:latin typeface="Pretendard Regular"/>
                <a:ea typeface="Pretendard Regular"/>
                <a:cs typeface="Pretendard Regular"/>
              </a:rPr>
              <a:t>서버</a:t>
            </a:r>
          </a:p>
        </p:txBody>
      </p:sp>
      <p:sp>
        <p:nvSpPr>
          <p:cNvPr id="63" name="Winsock2 / IOCP">
            <a:extLst>
              <a:ext uri="{FF2B5EF4-FFF2-40B4-BE49-F238E27FC236}">
                <a16:creationId xmlns:a16="http://schemas.microsoft.com/office/drawing/2014/main" id="{45BECD0F-AD9A-4B82-B3B6-406846059A18}"/>
              </a:ext>
            </a:extLst>
          </p:cNvPr>
          <p:cNvSpPr>
            <a:spLocks noGrp="1"/>
          </p:cNvSpPr>
          <p:nvPr/>
        </p:nvSpPr>
        <p:spPr>
          <a:xfrm>
            <a:off x="8029575" y="2581275"/>
            <a:ext cx="32385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3B3B3B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950" b="0">
                <a:solidFill>
                  <a:srgbClr val="3B3B3B"/>
                </a:solidFill>
                <a:latin typeface="Pretendard Regular"/>
                <a:ea typeface="Pretendard Regular"/>
                <a:cs typeface="Pretendard Regular"/>
              </a:rPr>
              <a:t>IOCP, Multi-thread</a:t>
            </a:r>
          </a:p>
        </p:txBody>
      </p:sp>
      <p:sp>
        <p:nvSpPr>
          <p:cNvPr id="64" name="동시성">
            <a:extLst>
              <a:ext uri="{FF2B5EF4-FFF2-40B4-BE49-F238E27FC236}">
                <a16:creationId xmlns:a16="http://schemas.microsoft.com/office/drawing/2014/main" id="{CBC035C0-D8A3-4B6F-B3A3-CE9D5F71A012}"/>
              </a:ext>
            </a:extLst>
          </p:cNvPr>
          <p:cNvSpPr>
            <a:spLocks noGrp="1"/>
          </p:cNvSpPr>
          <p:nvPr/>
        </p:nvSpPr>
        <p:spPr>
          <a:xfrm>
            <a:off x="6810375" y="3038475"/>
            <a:ext cx="10477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858585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800" b="0">
                <a:solidFill>
                  <a:srgbClr val="858585"/>
                </a:solidFill>
                <a:latin typeface="Pretendard Regular"/>
                <a:ea typeface="Pretendard Regular"/>
                <a:cs typeface="Pretendard Regular"/>
              </a:rPr>
              <a:t>클라이언트</a:t>
            </a:r>
          </a:p>
        </p:txBody>
      </p:sp>
      <p:sp>
        <p:nvSpPr>
          <p:cNvPr id="65" name="JobQueue / JobTimer">
            <a:extLst>
              <a:ext uri="{FF2B5EF4-FFF2-40B4-BE49-F238E27FC236}">
                <a16:creationId xmlns:a16="http://schemas.microsoft.com/office/drawing/2014/main" id="{B2837B13-BF8E-4A35-89BF-8C69A92F7366}"/>
              </a:ext>
            </a:extLst>
          </p:cNvPr>
          <p:cNvSpPr>
            <a:spLocks noGrp="1"/>
          </p:cNvSpPr>
          <p:nvPr/>
        </p:nvSpPr>
        <p:spPr>
          <a:xfrm>
            <a:off x="8029575" y="3038475"/>
            <a:ext cx="32385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3B3B3B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950">
                <a:solidFill>
                  <a:srgbClr val="3B3B3B"/>
                </a:solidFill>
                <a:latin typeface="Pretendard Regular"/>
                <a:ea typeface="Pretendard Regular"/>
                <a:cs typeface="Pretendard Regular"/>
              </a:rPr>
              <a:t>Win32 API, OpenGL</a:t>
            </a:r>
            <a:endParaRPr sz="1950" b="0">
              <a:solidFill>
                <a:srgbClr val="3B3B3B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66" name="도구">
            <a:extLst>
              <a:ext uri="{FF2B5EF4-FFF2-40B4-BE49-F238E27FC236}">
                <a16:creationId xmlns:a16="http://schemas.microsoft.com/office/drawing/2014/main" id="{3C9ADB1C-6236-47A9-B981-B47D714352C0}"/>
              </a:ext>
            </a:extLst>
          </p:cNvPr>
          <p:cNvSpPr>
            <a:spLocks noGrp="1"/>
          </p:cNvSpPr>
          <p:nvPr/>
        </p:nvSpPr>
        <p:spPr>
          <a:xfrm>
            <a:off x="6810375" y="3495675"/>
            <a:ext cx="10477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858585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800" b="0">
                <a:solidFill>
                  <a:srgbClr val="858585"/>
                </a:solidFill>
                <a:latin typeface="Pretendard Regular"/>
                <a:ea typeface="Pretendard Regular"/>
                <a:cs typeface="Pretendard Regular"/>
              </a:rPr>
              <a:t>기타</a:t>
            </a:r>
          </a:p>
        </p:txBody>
      </p:sp>
      <p:sp>
        <p:nvSpPr>
          <p:cNvPr id="67" name="Git / Visual Studio">
            <a:extLst>
              <a:ext uri="{FF2B5EF4-FFF2-40B4-BE49-F238E27FC236}">
                <a16:creationId xmlns:a16="http://schemas.microsoft.com/office/drawing/2014/main" id="{4867F605-B170-4A5B-A25D-3A27DD57A64F}"/>
              </a:ext>
            </a:extLst>
          </p:cNvPr>
          <p:cNvSpPr>
            <a:spLocks noGrp="1"/>
          </p:cNvSpPr>
          <p:nvPr/>
        </p:nvSpPr>
        <p:spPr>
          <a:xfrm>
            <a:off x="8029575" y="3495675"/>
            <a:ext cx="32385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3B3B3B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950">
                <a:solidFill>
                  <a:srgbClr val="3B3B3B"/>
                </a:solidFill>
                <a:latin typeface="Pretendard Regular"/>
                <a:ea typeface="Pretendard Regular"/>
                <a:cs typeface="Pretendard Regular"/>
              </a:rPr>
              <a:t>MSSQL, MySQL, Git</a:t>
            </a:r>
            <a:endParaRPr sz="1950" b="0">
              <a:solidFill>
                <a:srgbClr val="3B3B3B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27" name="Picture 7">
            <a:extLst>
              <a:ext uri="{FF2B5EF4-FFF2-40B4-BE49-F238E27FC236}">
                <a16:creationId xmlns:a16="http://schemas.microsoft.com/office/drawing/2014/main" id="{8E2CADA0-869E-4D3A-81CD-D59640174F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896725" y="1285875"/>
            <a:ext cx="5067300" cy="2800350"/>
          </a:xfrm>
          <a:prstGeom prst="rect">
            <a:avLst/>
          </a:prstGeom>
        </p:spPr>
      </p:pic>
      <p:sp>
        <p:nvSpPr>
          <p:cNvPr id="55" name="TextBox 30">
            <a:extLst>
              <a:ext uri="{FF2B5EF4-FFF2-40B4-BE49-F238E27FC236}">
                <a16:creationId xmlns:a16="http://schemas.microsoft.com/office/drawing/2014/main" id="{58A1067F-2B03-4B02-8D52-AE9B97ED29AB}"/>
              </a:ext>
            </a:extLst>
          </p:cNvPr>
          <p:cNvSpPr>
            <a:spLocks noGrp="1"/>
          </p:cNvSpPr>
          <p:nvPr/>
        </p:nvSpPr>
        <p:spPr>
          <a:xfrm>
            <a:off x="12201525" y="1514475"/>
            <a:ext cx="4457700" cy="4476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l">
              <a:lnSpc>
                <a:spcPct val="110000"/>
              </a:lnSpc>
              <a:buNone/>
              <a:defRPr sz="2400" b="0">
                <a:solidFill>
                  <a:srgbClr val="3B3B3B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400" spc="-100">
                <a:solidFill>
                  <a:srgbClr val="3B3B3B"/>
                </a:solidFill>
                <a:latin typeface="Pretendard Bold"/>
                <a:ea typeface="Pretendard Bold"/>
                <a:cs typeface="Pretendard Bold"/>
              </a:rPr>
              <a:t>학력</a:t>
            </a:r>
            <a:r>
              <a:rPr sz="2400" b="0" i="0" u="none" spc="-100">
                <a:solidFill>
                  <a:srgbClr val="3B3B3B"/>
                </a:solidFill>
                <a:latin typeface="Pretendard Bold"/>
                <a:ea typeface="Pretendard Bold"/>
                <a:cs typeface="Pretendard Bold"/>
              </a:rPr>
              <a:t>사항</a:t>
            </a:r>
          </a:p>
        </p:txBody>
      </p:sp>
      <p:sp>
        <p:nvSpPr>
          <p:cNvPr id="70" name="[학교명] [학과명]">
            <a:extLst>
              <a:ext uri="{FF2B5EF4-FFF2-40B4-BE49-F238E27FC236}">
                <a16:creationId xmlns:a16="http://schemas.microsoft.com/office/drawing/2014/main" id="{9E16500B-CCDD-4359-AA13-502572AB5C5A}"/>
              </a:ext>
            </a:extLst>
          </p:cNvPr>
          <p:cNvSpPr>
            <a:spLocks noGrp="1"/>
          </p:cNvSpPr>
          <p:nvPr/>
        </p:nvSpPr>
        <p:spPr>
          <a:xfrm>
            <a:off x="13363575" y="2466975"/>
            <a:ext cx="32956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12000"/>
              </a:lnSpc>
              <a:defRPr sz="1800" b="0">
                <a:solidFill>
                  <a:srgbClr val="606060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lang="ko-KR" altLang="en-US" dirty="0">
                <a:solidFill>
                  <a:srgbClr val="606060"/>
                </a:solidFill>
                <a:latin typeface="Pretendard Regular"/>
                <a:ea typeface="Pretendard Regular"/>
                <a:cs typeface="Pretendard Regular"/>
              </a:rPr>
              <a:t>한국공학대학교 게임공학과 졸업예정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606060"/>
                </a:solidFill>
                <a:latin typeface="Pretendard Regular"/>
                <a:ea typeface="Pretendard Regular"/>
                <a:cs typeface="Pretendard Regular"/>
              </a:defRPr>
            </a:pPr>
            <a:endParaRPr sz="1950" b="0" dirty="0">
              <a:solidFill>
                <a:srgbClr val="3B3B3B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71" name="[재학 기간]  /  [졸업 여부]">
            <a:extLst>
              <a:ext uri="{FF2B5EF4-FFF2-40B4-BE49-F238E27FC236}">
                <a16:creationId xmlns:a16="http://schemas.microsoft.com/office/drawing/2014/main" id="{01AB451B-C5FB-4BE7-AD35-4809C2160D77}"/>
              </a:ext>
            </a:extLst>
          </p:cNvPr>
          <p:cNvSpPr>
            <a:spLocks noGrp="1"/>
          </p:cNvSpPr>
          <p:nvPr/>
        </p:nvSpPr>
        <p:spPr>
          <a:xfrm>
            <a:off x="12201525" y="2466975"/>
            <a:ext cx="10477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950" b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195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20</a:t>
            </a:r>
            <a:r>
              <a:rPr lang="en-US" altLang="ko-KR" sz="195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27</a:t>
            </a:r>
            <a:r>
              <a:rPr sz="195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.02</a:t>
            </a:r>
            <a:endParaRPr sz="1725" b="0" dirty="0">
              <a:solidFill>
                <a:srgbClr val="858585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72" name="[학교명] [학과명]">
            <a:extLst>
              <a:ext uri="{FF2B5EF4-FFF2-40B4-BE49-F238E27FC236}">
                <a16:creationId xmlns:a16="http://schemas.microsoft.com/office/drawing/2014/main" id="{83E6300A-177C-408E-8FD6-FFF94C108B6C}"/>
              </a:ext>
            </a:extLst>
          </p:cNvPr>
          <p:cNvSpPr>
            <a:spLocks noGrp="1"/>
          </p:cNvSpPr>
          <p:nvPr/>
        </p:nvSpPr>
        <p:spPr>
          <a:xfrm>
            <a:off x="13363575" y="3038475"/>
            <a:ext cx="340995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606060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lang="ko-KR" altLang="en-US" dirty="0" err="1">
                <a:solidFill>
                  <a:srgbClr val="606060"/>
                </a:solidFill>
                <a:latin typeface="Pretendard Regular"/>
                <a:ea typeface="Pretendard Regular"/>
                <a:cs typeface="Pretendard Regular"/>
              </a:rPr>
              <a:t>진건고등학교</a:t>
            </a:r>
            <a:r>
              <a:rPr lang="ko-KR" altLang="en-US" dirty="0">
                <a:solidFill>
                  <a:srgbClr val="606060"/>
                </a:solidFill>
                <a:latin typeface="Pretendard Regular"/>
                <a:ea typeface="Pretendard Regular"/>
                <a:cs typeface="Pretendard Regular"/>
              </a:rPr>
              <a:t> 졸업</a:t>
            </a:r>
            <a:endParaRPr sz="1950" b="0" dirty="0">
              <a:solidFill>
                <a:srgbClr val="3B3B3B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73" name="[재학 기간]  /  [졸업 여부]">
            <a:extLst>
              <a:ext uri="{FF2B5EF4-FFF2-40B4-BE49-F238E27FC236}">
                <a16:creationId xmlns:a16="http://schemas.microsoft.com/office/drawing/2014/main" id="{2EC234FD-ADF8-4B7B-9961-8B08D8CF017B}"/>
              </a:ext>
            </a:extLst>
          </p:cNvPr>
          <p:cNvSpPr>
            <a:spLocks noGrp="1"/>
          </p:cNvSpPr>
          <p:nvPr/>
        </p:nvSpPr>
        <p:spPr>
          <a:xfrm>
            <a:off x="12201525" y="3038475"/>
            <a:ext cx="10477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950" b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defRPr>
            </a:pPr>
            <a:r>
              <a:rPr dirty="0"/>
              <a:t>20</a:t>
            </a:r>
            <a:r>
              <a:rPr lang="en-US" altLang="ko-KR" dirty="0"/>
              <a:t>19</a:t>
            </a:r>
            <a:r>
              <a:rPr dirty="0"/>
              <a:t>.02</a:t>
            </a:r>
            <a:endParaRPr sz="1725" b="0" dirty="0">
              <a:solidFill>
                <a:srgbClr val="858585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33" name="Picture 6">
            <a:extLst>
              <a:ext uri="{FF2B5EF4-FFF2-40B4-BE49-F238E27FC236}">
                <a16:creationId xmlns:a16="http://schemas.microsoft.com/office/drawing/2014/main" id="{626F4B5B-601A-4399-B9BA-3FB453882C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05575" y="4467225"/>
            <a:ext cx="5067300" cy="1847850"/>
          </a:xfrm>
          <a:prstGeom prst="rect">
            <a:avLst/>
          </a:prstGeom>
        </p:spPr>
      </p:pic>
      <p:sp>
        <p:nvSpPr>
          <p:cNvPr id="42" name="[활동명 또는 교육과정명]">
            <a:extLst>
              <a:ext uri="{FF2B5EF4-FFF2-40B4-BE49-F238E27FC236}">
                <a16:creationId xmlns:a16="http://schemas.microsoft.com/office/drawing/2014/main" id="{2ABCEEA9-8A3D-4B9E-A24B-D55DA684B2A6}"/>
              </a:ext>
            </a:extLst>
          </p:cNvPr>
          <p:cNvSpPr>
            <a:spLocks noGrp="1"/>
          </p:cNvSpPr>
          <p:nvPr/>
        </p:nvSpPr>
        <p:spPr>
          <a:xfrm>
            <a:off x="6810375" y="5724525"/>
            <a:ext cx="44577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875" b="0">
                <a:solidFill>
                  <a:srgbClr val="606060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875" b="0">
                <a:solidFill>
                  <a:srgbClr val="606060"/>
                </a:solidFill>
                <a:latin typeface="Pretendard Regular"/>
                <a:ea typeface="Pretendard Regular"/>
                <a:cs typeface="Pretendard Regular"/>
              </a:rPr>
              <a:t>학과 학술 소모임 WARP / C++ 멘토 활동</a:t>
            </a:r>
            <a:endParaRPr sz="1950" b="0">
              <a:solidFill>
                <a:srgbClr val="3B3B3B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44" name="[활동 기간]  /  [기관 또는 역할]">
            <a:extLst>
              <a:ext uri="{FF2B5EF4-FFF2-40B4-BE49-F238E27FC236}">
                <a16:creationId xmlns:a16="http://schemas.microsoft.com/office/drawing/2014/main" id="{A6FE6E92-2AE6-47CF-B8CD-C15C13A5780A}"/>
              </a:ext>
            </a:extLst>
          </p:cNvPr>
          <p:cNvSpPr>
            <a:spLocks noGrp="1"/>
          </p:cNvSpPr>
          <p:nvPr/>
        </p:nvSpPr>
        <p:spPr>
          <a:xfrm>
            <a:off x="6810375" y="5305425"/>
            <a:ext cx="44577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950" b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1950" b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2024.09 – 2024.12</a:t>
            </a:r>
            <a:endParaRPr sz="1725" b="0">
              <a:solidFill>
                <a:srgbClr val="858585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47" name="TextBox 37">
            <a:extLst>
              <a:ext uri="{FF2B5EF4-FFF2-40B4-BE49-F238E27FC236}">
                <a16:creationId xmlns:a16="http://schemas.microsoft.com/office/drawing/2014/main" id="{33345E59-1358-49C5-ACE2-66EA7AF81EA4}"/>
              </a:ext>
            </a:extLst>
          </p:cNvPr>
          <p:cNvSpPr>
            <a:spLocks noGrp="1"/>
          </p:cNvSpPr>
          <p:nvPr/>
        </p:nvSpPr>
        <p:spPr>
          <a:xfrm>
            <a:off x="6810375" y="4695825"/>
            <a:ext cx="4457700" cy="4476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l">
              <a:lnSpc>
                <a:spcPct val="110000"/>
              </a:lnSpc>
              <a:buNone/>
              <a:defRPr sz="2400" b="0">
                <a:solidFill>
                  <a:srgbClr val="3B3B3B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400" b="0" i="0" u="none" spc="-100">
                <a:solidFill>
                  <a:srgbClr val="3B3B3B"/>
                </a:solidFill>
                <a:latin typeface="Pretendard Bold"/>
                <a:ea typeface="Pretendard Bold"/>
                <a:cs typeface="Pretendard Bold"/>
              </a:rPr>
              <a:t>활동</a:t>
            </a:r>
          </a:p>
        </p:txBody>
      </p:sp>
      <p:pic>
        <p:nvPicPr>
          <p:cNvPr id="137" name="Picture 6">
            <a:extLst>
              <a:ext uri="{FF2B5EF4-FFF2-40B4-BE49-F238E27FC236}">
                <a16:creationId xmlns:a16="http://schemas.microsoft.com/office/drawing/2014/main" id="{48CC1D7E-FA9A-411D-B6E6-DA969A2FDD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05575" y="6696075"/>
            <a:ext cx="10458450" cy="1847850"/>
          </a:xfrm>
          <a:prstGeom prst="rect">
            <a:avLst/>
          </a:prstGeom>
        </p:spPr>
      </p:pic>
      <p:sp>
        <p:nvSpPr>
          <p:cNvPr id="49" name="TextBox 37">
            <a:extLst>
              <a:ext uri="{FF2B5EF4-FFF2-40B4-BE49-F238E27FC236}">
                <a16:creationId xmlns:a16="http://schemas.microsoft.com/office/drawing/2014/main" id="{4A2FB7DF-0315-4C2F-9EB2-05AD9AA21366}"/>
              </a:ext>
            </a:extLst>
          </p:cNvPr>
          <p:cNvSpPr>
            <a:spLocks noGrp="1"/>
          </p:cNvSpPr>
          <p:nvPr/>
        </p:nvSpPr>
        <p:spPr>
          <a:xfrm>
            <a:off x="6810375" y="6924675"/>
            <a:ext cx="4457700" cy="4476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l">
              <a:lnSpc>
                <a:spcPct val="110000"/>
              </a:lnSpc>
              <a:buNone/>
              <a:defRPr sz="2400" b="0">
                <a:solidFill>
                  <a:srgbClr val="3B3B3B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400" spc="-100">
                <a:solidFill>
                  <a:srgbClr val="3B3B3B"/>
                </a:solidFill>
                <a:latin typeface="Pretendard Bold"/>
                <a:ea typeface="Pretendard Bold"/>
                <a:cs typeface="Pretendard Bold"/>
              </a:rPr>
              <a:t>프로젝트</a:t>
            </a:r>
            <a:endParaRPr sz="2400" b="0" i="0" u="none" spc="-100">
              <a:solidFill>
                <a:srgbClr val="3B3B3B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88" name="[시작 연월]–[종료 연월]">
            <a:extLst>
              <a:ext uri="{FF2B5EF4-FFF2-40B4-BE49-F238E27FC236}">
                <a16:creationId xmlns:a16="http://schemas.microsoft.com/office/drawing/2014/main" id="{60004CF7-EE53-4928-8F91-297F3FE1630C}"/>
              </a:ext>
            </a:extLst>
          </p:cNvPr>
          <p:cNvSpPr>
            <a:spLocks noGrp="1"/>
          </p:cNvSpPr>
          <p:nvPr/>
        </p:nvSpPr>
        <p:spPr>
          <a:xfrm>
            <a:off x="6810375" y="7534275"/>
            <a:ext cx="44577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1875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202</a:t>
            </a:r>
            <a:r>
              <a:rPr lang="en-US" altLang="ko-KR" sz="1875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4</a:t>
            </a:r>
            <a:r>
              <a:rPr sz="1875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.0</a:t>
            </a:r>
            <a:r>
              <a:rPr lang="en-US" altLang="ko-KR" sz="1875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9</a:t>
            </a:r>
            <a:r>
              <a:rPr sz="1875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– 202</a:t>
            </a:r>
            <a:r>
              <a:rPr lang="en-US" altLang="ko-KR" sz="1875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6</a:t>
            </a:r>
            <a:r>
              <a:rPr sz="1875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.06</a:t>
            </a:r>
          </a:p>
        </p:txBody>
      </p:sp>
      <p:sp>
        <p:nvSpPr>
          <p:cNvPr id="89" name="[프로젝트명 및 담당 역할]">
            <a:extLst>
              <a:ext uri="{FF2B5EF4-FFF2-40B4-BE49-F238E27FC236}">
                <a16:creationId xmlns:a16="http://schemas.microsoft.com/office/drawing/2014/main" id="{F9A96026-CA92-4F5C-B500-EB39E8293F43}"/>
              </a:ext>
            </a:extLst>
          </p:cNvPr>
          <p:cNvSpPr>
            <a:spLocks noGrp="1"/>
          </p:cNvSpPr>
          <p:nvPr/>
        </p:nvSpPr>
        <p:spPr>
          <a:xfrm>
            <a:off x="6810375" y="7953375"/>
            <a:ext cx="44577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875" b="0">
                <a:solidFill>
                  <a:srgbClr val="606060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lang="ko-KR" altLang="en-US" sz="1875" b="0" dirty="0">
                <a:solidFill>
                  <a:srgbClr val="606060"/>
                </a:solidFill>
                <a:latin typeface="Pretendard Regular"/>
                <a:ea typeface="Pretendard Regular"/>
                <a:cs typeface="Pretendard Regular"/>
              </a:rPr>
              <a:t>졸업작품 </a:t>
            </a:r>
            <a:r>
              <a:rPr lang="en-US" altLang="ko-KR" sz="1875" b="0" dirty="0">
                <a:solidFill>
                  <a:srgbClr val="606060"/>
                </a:solidFill>
                <a:latin typeface="Pretendard Regular"/>
                <a:ea typeface="Pretendard Regular"/>
                <a:cs typeface="Pretendard Regular"/>
              </a:rPr>
              <a:t>&lt;</a:t>
            </a:r>
            <a:r>
              <a:rPr lang="ko-KR" altLang="en-US" sz="1875" b="0" dirty="0">
                <a:solidFill>
                  <a:srgbClr val="606060"/>
                </a:solidFill>
                <a:latin typeface="Pretendard Regular"/>
                <a:ea typeface="Pretendard Regular"/>
                <a:cs typeface="Pretendard Regular"/>
              </a:rPr>
              <a:t>이방인</a:t>
            </a:r>
            <a:r>
              <a:rPr lang="en-US" altLang="ko-KR" sz="1875" b="0" dirty="0">
                <a:solidFill>
                  <a:srgbClr val="606060"/>
                </a:solidFill>
                <a:latin typeface="Pretendard Regular"/>
                <a:ea typeface="Pretendard Regular"/>
                <a:cs typeface="Pretendard Regular"/>
              </a:rPr>
              <a:t>(Outlander)&gt; </a:t>
            </a:r>
            <a:r>
              <a:rPr lang="ko-KR" altLang="en-US" sz="1875" b="0" dirty="0">
                <a:solidFill>
                  <a:srgbClr val="606060"/>
                </a:solidFill>
                <a:latin typeface="Pretendard Regular"/>
                <a:ea typeface="Pretendard Regular"/>
                <a:cs typeface="Pretendard Regular"/>
              </a:rPr>
              <a:t>개발</a:t>
            </a:r>
            <a:endParaRPr sz="1875" b="0" dirty="0">
              <a:solidFill>
                <a:srgbClr val="60606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43" name="[시작 연월]–[종료 연월]">
            <a:extLst>
              <a:ext uri="{FF2B5EF4-FFF2-40B4-BE49-F238E27FC236}">
                <a16:creationId xmlns:a16="http://schemas.microsoft.com/office/drawing/2014/main" id="{E14AA9ED-2440-48E9-9DF9-8CEACB2FD65D}"/>
              </a:ext>
            </a:extLst>
          </p:cNvPr>
          <p:cNvSpPr>
            <a:spLocks noGrp="1"/>
          </p:cNvSpPr>
          <p:nvPr/>
        </p:nvSpPr>
        <p:spPr>
          <a:xfrm>
            <a:off x="12201525" y="7534275"/>
            <a:ext cx="44577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1875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202</a:t>
            </a:r>
            <a:r>
              <a:rPr lang="en-US" altLang="ko-KR" sz="1875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5</a:t>
            </a:r>
            <a:r>
              <a:rPr sz="1875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.0</a:t>
            </a:r>
            <a:r>
              <a:rPr lang="en-US" altLang="ko-KR" sz="1875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5</a:t>
            </a:r>
            <a:r>
              <a:rPr sz="1875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– 202</a:t>
            </a:r>
            <a:r>
              <a:rPr lang="en-US" altLang="ko-KR" sz="1875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5</a:t>
            </a:r>
            <a:r>
              <a:rPr sz="1875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.06</a:t>
            </a:r>
          </a:p>
        </p:txBody>
      </p:sp>
      <p:sp>
        <p:nvSpPr>
          <p:cNvPr id="45" name="[프로젝트명 및 담당 역할]">
            <a:extLst>
              <a:ext uri="{FF2B5EF4-FFF2-40B4-BE49-F238E27FC236}">
                <a16:creationId xmlns:a16="http://schemas.microsoft.com/office/drawing/2014/main" id="{45731289-A6C9-422F-B237-6BF82277AD69}"/>
              </a:ext>
            </a:extLst>
          </p:cNvPr>
          <p:cNvSpPr>
            <a:spLocks noGrp="1"/>
          </p:cNvSpPr>
          <p:nvPr/>
        </p:nvSpPr>
        <p:spPr>
          <a:xfrm>
            <a:off x="12201525" y="7953375"/>
            <a:ext cx="44577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875" b="0">
                <a:solidFill>
                  <a:srgbClr val="606060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lang="en-US" sz="1875" dirty="0">
                <a:solidFill>
                  <a:srgbClr val="606060"/>
                </a:solidFill>
                <a:latin typeface="Pretendard Regular"/>
                <a:ea typeface="Pretendard Regular"/>
                <a:cs typeface="Pretendard Regular"/>
              </a:rPr>
              <a:t>Win32</a:t>
            </a:r>
            <a:r>
              <a:rPr lang="ko-KR" altLang="en-US" sz="1875" dirty="0">
                <a:solidFill>
                  <a:srgbClr val="60606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1875" dirty="0">
                <a:solidFill>
                  <a:srgbClr val="606060"/>
                </a:solidFill>
                <a:latin typeface="Pretendard Regular"/>
                <a:ea typeface="Pretendard Regular"/>
                <a:cs typeface="Pretendard Regular"/>
              </a:rPr>
              <a:t>API</a:t>
            </a:r>
            <a:r>
              <a:rPr lang="ko-KR" altLang="en-US" sz="1875" dirty="0">
                <a:solidFill>
                  <a:srgbClr val="606060"/>
                </a:solidFill>
                <a:latin typeface="Pretendard Regular"/>
                <a:ea typeface="Pretendard Regular"/>
                <a:cs typeface="Pretendard Regular"/>
              </a:rPr>
              <a:t> 기반의 게임 </a:t>
            </a:r>
            <a:r>
              <a:rPr lang="en-US" altLang="ko-KR" sz="1875" dirty="0">
                <a:solidFill>
                  <a:srgbClr val="606060"/>
                </a:solidFill>
                <a:latin typeface="Pretendard Regular"/>
                <a:ea typeface="Pretendard Regular"/>
                <a:cs typeface="Pretendard Regular"/>
              </a:rPr>
              <a:t>&lt;</a:t>
            </a:r>
            <a:r>
              <a:rPr lang="ko-KR" altLang="en-US" sz="1875" dirty="0" err="1">
                <a:solidFill>
                  <a:srgbClr val="606060"/>
                </a:solidFill>
                <a:latin typeface="Pretendard Regular"/>
                <a:ea typeface="Pretendard Regular"/>
                <a:cs typeface="Pretendard Regular"/>
              </a:rPr>
              <a:t>헤드사커</a:t>
            </a:r>
            <a:r>
              <a:rPr lang="en-US" altLang="ko-KR" sz="1875" dirty="0">
                <a:solidFill>
                  <a:srgbClr val="606060"/>
                </a:solidFill>
                <a:latin typeface="Pretendard Regular"/>
                <a:ea typeface="Pretendard Regular"/>
                <a:cs typeface="Pretendard Regular"/>
              </a:rPr>
              <a:t>&gt; </a:t>
            </a:r>
            <a:r>
              <a:rPr lang="ko-KR" altLang="en-US" sz="1875" dirty="0">
                <a:solidFill>
                  <a:srgbClr val="606060"/>
                </a:solidFill>
                <a:latin typeface="Pretendard Regular"/>
                <a:ea typeface="Pretendard Regular"/>
                <a:cs typeface="Pretendard Regular"/>
              </a:rPr>
              <a:t>모작</a:t>
            </a:r>
            <a:endParaRPr sz="1875" b="0" dirty="0">
              <a:solidFill>
                <a:srgbClr val="60606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50" name="[프로젝트명 및 담당 역할]">
            <a:extLst>
              <a:ext uri="{FF2B5EF4-FFF2-40B4-BE49-F238E27FC236}">
                <a16:creationId xmlns:a16="http://schemas.microsoft.com/office/drawing/2014/main" id="{B6CC112D-0317-4A6D-A47A-4CA10C83753C}"/>
              </a:ext>
            </a:extLst>
          </p:cNvPr>
          <p:cNvSpPr>
            <a:spLocks noGrp="1"/>
          </p:cNvSpPr>
          <p:nvPr/>
        </p:nvSpPr>
        <p:spPr>
          <a:xfrm>
            <a:off x="12245975" y="5338293"/>
            <a:ext cx="4457700" cy="78628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875" b="0">
                <a:solidFill>
                  <a:srgbClr val="606060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875" b="0">
                <a:solidFill>
                  <a:srgbClr val="606060"/>
                </a:solidFill>
                <a:latin typeface="Pretendard Regular"/>
                <a:ea typeface="Pretendard Regular"/>
                <a:cs typeface="Pretendard Regular"/>
              </a:rPr>
              <a:t>2026학년도 한국공학대학교 게임공학과</a:t>
            </a: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606060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875">
                <a:solidFill>
                  <a:srgbClr val="606060"/>
                </a:solidFill>
                <a:latin typeface="Pretendard Regular"/>
                <a:ea typeface="Pretendard Regular"/>
                <a:cs typeface="Pretendard Regular"/>
              </a:rPr>
              <a:t>졸업작품 총장상 수상</a:t>
            </a:r>
            <a:endParaRPr sz="1875" b="0">
              <a:solidFill>
                <a:srgbClr val="60606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38" name="PORTFOLIO  /  3">
            <a:extLst>
              <a:ext uri="{FF2B5EF4-FFF2-40B4-BE49-F238E27FC236}">
                <a16:creationId xmlns:a16="http://schemas.microsoft.com/office/drawing/2014/main" id="{0E69AE00-A912-4F6A-8335-FD386F9F3E8B}"/>
              </a:ext>
            </a:extLst>
          </p:cNvPr>
          <p:cNvSpPr>
            <a:spLocks noGrp="1"/>
          </p:cNvSpPr>
          <p:nvPr/>
        </p:nvSpPr>
        <p:spPr>
          <a:xfrm>
            <a:off x="14573250" y="960120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defPPr>
            <a:lvl1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r">
              <a:lnSpc>
                <a:spcPct val="118000"/>
              </a:lnSpc>
              <a:buNone/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rPr>
              <a:t>PORTFOLIO  /  3</a:t>
            </a:r>
          </a:p>
        </p:txBody>
      </p:sp>
      <p:sp>
        <p:nvSpPr>
          <p:cNvPr id="48" name="02">
            <a:extLst>
              <a:ext uri="{FF2B5EF4-FFF2-40B4-BE49-F238E27FC236}">
                <a16:creationId xmlns:a16="http://schemas.microsoft.com/office/drawing/2014/main" id="{4F880EDE-0807-4FE4-8532-D8A8F4C9236F}"/>
              </a:ext>
            </a:extLst>
          </p:cNvPr>
          <p:cNvSpPr>
            <a:spLocks noGrp="1"/>
          </p:cNvSpPr>
          <p:nvPr/>
        </p:nvSpPr>
        <p:spPr>
          <a:xfrm>
            <a:off x="1143000" y="1143000"/>
            <a:ext cx="723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775" b="1" dirty="0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0</a:t>
            </a:r>
            <a:r>
              <a:rPr lang="en-US" altLang="ko-KR" sz="2775" b="1" dirty="0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1</a:t>
            </a:r>
            <a:endParaRPr sz="2775" b="1" dirty="0">
              <a:solidFill>
                <a:srgbClr val="171717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51" name="PROJECT  이방인(Outlander)">
            <a:extLst>
              <a:ext uri="{FF2B5EF4-FFF2-40B4-BE49-F238E27FC236}">
                <a16:creationId xmlns:a16="http://schemas.microsoft.com/office/drawing/2014/main" id="{9B75564F-8484-4797-8E25-144AEEA15636}"/>
              </a:ext>
            </a:extLst>
          </p:cNvPr>
          <p:cNvSpPr>
            <a:spLocks noGrp="1"/>
          </p:cNvSpPr>
          <p:nvPr/>
        </p:nvSpPr>
        <p:spPr>
          <a:xfrm>
            <a:off x="2076450" y="1171575"/>
            <a:ext cx="148113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lang="ko-KR" altLang="en-US" b="0" dirty="0">
                <a:latin typeface="Pretendard Regular" panose="020B0600000101010101" charset="-127"/>
                <a:ea typeface="Pretendard Regular" panose="020B0600000101010101" charset="-127"/>
              </a:rPr>
              <a:t>프로필</a:t>
            </a:r>
            <a:endParaRPr sz="2550" b="0" dirty="0">
              <a:solidFill>
                <a:srgbClr val="171717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1426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Picture 2">
            <a:extLst>
              <a:ext uri="{FF2B5EF4-FFF2-40B4-BE49-F238E27FC236}">
                <a16:creationId xmlns:a16="http://schemas.microsoft.com/office/drawing/2014/main" id="{B6948F5A-5EE7-4392-8A9C-9C5C325D7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id="181" name="Picture 3">
            <a:extLst>
              <a:ext uri="{FF2B5EF4-FFF2-40B4-BE49-F238E27FC236}">
                <a16:creationId xmlns:a16="http://schemas.microsoft.com/office/drawing/2014/main" id="{66E0396A-BB87-4270-BD99-316480BC0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3400" y="-1460500"/>
            <a:ext cx="5219700" cy="5130800"/>
          </a:xfrm>
          <a:prstGeom prst="rect">
            <a:avLst/>
          </a:prstGeom>
        </p:spPr>
      </p:pic>
      <p:pic>
        <p:nvPicPr>
          <p:cNvPr id="182" name="Picture 4">
            <a:extLst>
              <a:ext uri="{FF2B5EF4-FFF2-40B4-BE49-F238E27FC236}">
                <a16:creationId xmlns:a16="http://schemas.microsoft.com/office/drawing/2014/main" id="{8BDFF2B2-EEB3-4A25-A77E-493A37311C4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7000"/>
          </a:blip>
          <a:stretch>
            <a:fillRect/>
          </a:stretch>
        </p:blipFill>
        <p:spPr>
          <a:xfrm rot="18782095">
            <a:off x="-3327400" y="6921500"/>
            <a:ext cx="7454900" cy="7188200"/>
          </a:xfrm>
          <a:prstGeom prst="rect">
            <a:avLst/>
          </a:prstGeom>
        </p:spPr>
      </p:pic>
      <p:pic>
        <p:nvPicPr>
          <p:cNvPr id="183" name="Picture 5">
            <a:extLst>
              <a:ext uri="{FF2B5EF4-FFF2-40B4-BE49-F238E27FC236}">
                <a16:creationId xmlns:a16="http://schemas.microsoft.com/office/drawing/2014/main" id="{8186D569-E7FC-48BC-9752-34396F7E3A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700000">
            <a:off x="5969000" y="9169400"/>
            <a:ext cx="444500" cy="431800"/>
          </a:xfrm>
          <a:prstGeom prst="rect">
            <a:avLst/>
          </a:prstGeom>
        </p:spPr>
      </p:pic>
      <p:pic>
        <p:nvPicPr>
          <p:cNvPr id="184" name="Picture 6">
            <a:extLst>
              <a:ext uri="{FF2B5EF4-FFF2-40B4-BE49-F238E27FC236}">
                <a16:creationId xmlns:a16="http://schemas.microsoft.com/office/drawing/2014/main" id="{4E86AA1F-2EE3-4797-83C2-1C93C2C954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9258300"/>
            <a:ext cx="12090400" cy="177800"/>
          </a:xfrm>
          <a:prstGeom prst="rect">
            <a:avLst/>
          </a:prstGeom>
        </p:spPr>
      </p:pic>
      <p:pic>
        <p:nvPicPr>
          <p:cNvPr id="185" name="Picture 7">
            <a:extLst>
              <a:ext uri="{FF2B5EF4-FFF2-40B4-BE49-F238E27FC236}">
                <a16:creationId xmlns:a16="http://schemas.microsoft.com/office/drawing/2014/main" id="{3D793D06-C490-43D5-A345-D967D30CDFA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685800" y="863600"/>
            <a:ext cx="8064500" cy="139700"/>
          </a:xfrm>
          <a:prstGeom prst="rect">
            <a:avLst/>
          </a:prstGeom>
        </p:spPr>
      </p:pic>
      <p:sp>
        <p:nvSpPr>
          <p:cNvPr id="186" name="02">
            <a:extLst>
              <a:ext uri="{FF2B5EF4-FFF2-40B4-BE49-F238E27FC236}">
                <a16:creationId xmlns:a16="http://schemas.microsoft.com/office/drawing/2014/main" id="{7C01410C-0ADA-4254-8239-2A7026126EC7}"/>
              </a:ext>
            </a:extLst>
          </p:cNvPr>
          <p:cNvSpPr>
            <a:spLocks noGrp="1"/>
          </p:cNvSpPr>
          <p:nvPr/>
        </p:nvSpPr>
        <p:spPr>
          <a:xfrm>
            <a:off x="1143000" y="1143000"/>
            <a:ext cx="723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775" b="1" dirty="0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0</a:t>
            </a:r>
            <a:r>
              <a:rPr sz="2775" dirty="0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2</a:t>
            </a:r>
          </a:p>
        </p:txBody>
      </p:sp>
      <p:sp>
        <p:nvSpPr>
          <p:cNvPr id="187" name="PROJECT  이방인(Outlander)">
            <a:extLst>
              <a:ext uri="{FF2B5EF4-FFF2-40B4-BE49-F238E27FC236}">
                <a16:creationId xmlns:a16="http://schemas.microsoft.com/office/drawing/2014/main" id="{2561E965-5778-45E7-ADAA-6423E3F9B5C0}"/>
              </a:ext>
            </a:extLst>
          </p:cNvPr>
          <p:cNvSpPr>
            <a:spLocks noGrp="1"/>
          </p:cNvSpPr>
          <p:nvPr/>
        </p:nvSpPr>
        <p:spPr>
          <a:xfrm>
            <a:off x="2076450" y="1171575"/>
            <a:ext cx="148113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lang="ko-KR" altLang="en-US" b="0" dirty="0">
                <a:latin typeface="Pretendard Regular"/>
                <a:ea typeface="Pretendard Regular"/>
                <a:cs typeface="Pretendard Regular"/>
              </a:rPr>
              <a:t>졸업작품</a:t>
            </a:r>
            <a:r>
              <a:rPr lang="ko-KR" altLang="en-US" sz="2550" b="0" dirty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rPr>
              <a:t> 이방인</a:t>
            </a:r>
            <a:r>
              <a:rPr lang="en-US" altLang="ko-KR" sz="2550" b="0" dirty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en-US" sz="2550" b="0" dirty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rPr>
              <a:t>Outlander</a:t>
            </a:r>
            <a:r>
              <a:rPr lang="en-US" altLang="ko-KR" sz="2550" b="0" dirty="0">
                <a:solidFill>
                  <a:srgbClr val="171717"/>
                </a:solidFill>
                <a:latin typeface="Pretendard Regular"/>
                <a:ea typeface="Pretendard Regular"/>
                <a:cs typeface="Pretendard Regular"/>
              </a:rPr>
              <a:t>)</a:t>
            </a:r>
            <a:endParaRPr sz="2550" b="0" dirty="0">
              <a:solidFill>
                <a:srgbClr val="171717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88" name="그림 187">
            <a:extLst>
              <a:ext uri="{FF2B5EF4-FFF2-40B4-BE49-F238E27FC236}">
                <a16:creationId xmlns:a16="http://schemas.microsoft.com/office/drawing/2014/main" id="{5FD3C209-B2DB-4904-925C-A1CC58C64F9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6466" t="23529" r="75963" b="56978"/>
          <a:stretch/>
        </p:blipFill>
        <p:spPr>
          <a:xfrm>
            <a:off x="1143000" y="2428875"/>
            <a:ext cx="3238500" cy="2038350"/>
          </a:xfrm>
          <a:prstGeom prst="rect">
            <a:avLst/>
          </a:prstGeom>
        </p:spPr>
      </p:pic>
      <p:pic>
        <p:nvPicPr>
          <p:cNvPr id="189" name="그림 188">
            <a:extLst>
              <a:ext uri="{FF2B5EF4-FFF2-40B4-BE49-F238E27FC236}">
                <a16:creationId xmlns:a16="http://schemas.microsoft.com/office/drawing/2014/main" id="{1CB576E4-F619-4A17-A005-8A55F8C6B67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4559" t="23529" r="57871" b="56978"/>
          <a:stretch/>
        </p:blipFill>
        <p:spPr>
          <a:xfrm>
            <a:off x="4495800" y="2428875"/>
            <a:ext cx="3238500" cy="2038350"/>
          </a:xfrm>
          <a:prstGeom prst="rect">
            <a:avLst/>
          </a:prstGeom>
        </p:spPr>
      </p:pic>
      <p:pic>
        <p:nvPicPr>
          <p:cNvPr id="190" name="그림 189">
            <a:extLst>
              <a:ext uri="{FF2B5EF4-FFF2-40B4-BE49-F238E27FC236}">
                <a16:creationId xmlns:a16="http://schemas.microsoft.com/office/drawing/2014/main" id="{2C43C672-54D9-47B1-9379-5375865DA4D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6466" t="43599" r="57871" b="17070"/>
          <a:stretch/>
        </p:blipFill>
        <p:spPr>
          <a:xfrm>
            <a:off x="1143000" y="4581525"/>
            <a:ext cx="6591300" cy="4114800"/>
          </a:xfrm>
          <a:prstGeom prst="rect">
            <a:avLst/>
          </a:prstGeom>
        </p:spPr>
      </p:pic>
      <p:sp>
        <p:nvSpPr>
          <p:cNvPr id="191" name="이방인(Outlander)">
            <a:extLst>
              <a:ext uri="{FF2B5EF4-FFF2-40B4-BE49-F238E27FC236}">
                <a16:creationId xmlns:a16="http://schemas.microsoft.com/office/drawing/2014/main" id="{2ABC1F05-9862-4DA4-A318-65C82FB4192D}"/>
              </a:ext>
            </a:extLst>
          </p:cNvPr>
          <p:cNvSpPr>
            <a:spLocks noGrp="1"/>
          </p:cNvSpPr>
          <p:nvPr/>
        </p:nvSpPr>
        <p:spPr>
          <a:xfrm>
            <a:off x="8667750" y="2190750"/>
            <a:ext cx="8477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36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36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36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36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36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36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36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36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36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6000"/>
              </a:lnSpc>
              <a:buNone/>
              <a:defRPr sz="36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36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이방인(Outlander)</a:t>
            </a:r>
          </a:p>
        </p:txBody>
      </p:sp>
      <p:sp>
        <p:nvSpPr>
          <p:cNvPr id="192" name="2026 한국공학대학교 게임공학과&#10;졸업작품 총장상 수상">
            <a:extLst>
              <a:ext uri="{FF2B5EF4-FFF2-40B4-BE49-F238E27FC236}">
                <a16:creationId xmlns:a16="http://schemas.microsoft.com/office/drawing/2014/main" id="{89987ECF-0041-4FD3-8A4E-7F411CC3FC7B}"/>
              </a:ext>
            </a:extLst>
          </p:cNvPr>
          <p:cNvSpPr>
            <a:spLocks noGrp="1"/>
          </p:cNvSpPr>
          <p:nvPr/>
        </p:nvSpPr>
        <p:spPr>
          <a:xfrm>
            <a:off x="8667750" y="2952750"/>
            <a:ext cx="8477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32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32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32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32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32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32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32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32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32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6000"/>
              </a:lnSpc>
              <a:buNone/>
              <a:defRPr sz="21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1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2026 한국공학대학교 게임공학과 졸업작품 총장상 수상</a:t>
            </a:r>
            <a:endParaRPr sz="2325" b="1">
              <a:solidFill>
                <a:srgbClr val="171717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00" name="OUTLANDER  /  4">
            <a:extLst>
              <a:ext uri="{FF2B5EF4-FFF2-40B4-BE49-F238E27FC236}">
                <a16:creationId xmlns:a16="http://schemas.microsoft.com/office/drawing/2014/main" id="{08257C20-C69A-44C3-B6AE-C8FCC07189E1}"/>
              </a:ext>
            </a:extLst>
          </p:cNvPr>
          <p:cNvSpPr>
            <a:spLocks noGrp="1"/>
          </p:cNvSpPr>
          <p:nvPr/>
        </p:nvSpPr>
        <p:spPr>
          <a:xfrm>
            <a:off x="14573250" y="960120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defPPr>
            <a:lvl1pPr algn="r">
              <a:buNone/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r">
              <a:buNone/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r">
              <a:buNone/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r">
              <a:buNone/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r">
              <a:buNone/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r">
              <a:buNone/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r">
              <a:buNone/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r">
              <a:buNone/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r">
              <a:buNone/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r">
              <a:lnSpc>
                <a:spcPct val="118000"/>
              </a:lnSpc>
              <a:buNone/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rPr>
              <a:t>OUTLANDER  /  4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E061213-3530-4F9F-8C4D-5FC28E9B41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5918655"/>
              </p:ext>
            </p:extLst>
          </p:nvPr>
        </p:nvGraphicFramePr>
        <p:xfrm>
          <a:off x="8667750" y="3448050"/>
          <a:ext cx="8477250" cy="555841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68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950" b="1" dirty="0" err="1">
                          <a:solidFill>
                            <a:schemeClr val="tx1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장르</a:t>
                      </a:r>
                      <a:endParaRPr sz="1950" b="1" dirty="0">
                        <a:solidFill>
                          <a:schemeClr val="tx1"/>
                        </a:solidFill>
                        <a:latin typeface="Pretendard Bold"/>
                        <a:ea typeface="Pretendard Bold"/>
                        <a:cs typeface="Pretendard Bold"/>
                      </a:endParaRPr>
                    </a:p>
                  </a:txBody>
                  <a:tcPr marL="171450" marR="171450" marT="114300" marB="114300" anchor="ctr">
                    <a:lnL w="9525">
                      <a:solidFill>
                        <a:srgbClr val="D1D7DE"/>
                      </a:solidFill>
                      <a:prstDash val="solid"/>
                    </a:lnL>
                    <a:lnR w="9525">
                      <a:solidFill>
                        <a:srgbClr val="D1D7DE"/>
                      </a:solidFill>
                      <a:prstDash val="solid"/>
                    </a:lnR>
                    <a:lnT w="9525">
                      <a:solidFill>
                        <a:srgbClr val="D1D7DE"/>
                      </a:solidFill>
                      <a:prstDash val="solid"/>
                    </a:lnT>
                    <a:lnB w="9525">
                      <a:solidFill>
                        <a:srgbClr val="D1D7DE"/>
                      </a:solidFill>
                      <a:prstDash val="solid"/>
                    </a:lnB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950" b="0" dirty="0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4인 </a:t>
                      </a:r>
                      <a:r>
                        <a:rPr sz="1950" b="0" dirty="0" err="1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협동</a:t>
                      </a:r>
                      <a:r>
                        <a:rPr sz="1950" b="0" dirty="0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</a:t>
                      </a:r>
                      <a:r>
                        <a:rPr sz="1950" b="0" dirty="0" err="1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판타지</a:t>
                      </a:r>
                      <a:r>
                        <a:rPr sz="1950" b="0" dirty="0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</a:t>
                      </a:r>
                      <a:r>
                        <a:rPr sz="1950" b="0" dirty="0" err="1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무쌍</a:t>
                      </a:r>
                      <a:r>
                        <a:rPr sz="1950" b="0" dirty="0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</a:t>
                      </a:r>
                      <a:r>
                        <a:rPr sz="1950" b="0" dirty="0" err="1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액션</a:t>
                      </a:r>
                      <a:endParaRPr sz="1950" b="0" dirty="0">
                        <a:solidFill>
                          <a:srgbClr val="474747"/>
                        </a:solidFill>
                        <a:latin typeface="Pretendard Regular"/>
                        <a:ea typeface="Pretendard Regular"/>
                        <a:cs typeface="Pretendard Regular"/>
                      </a:endParaRPr>
                    </a:p>
                  </a:txBody>
                  <a:tcPr marL="171450" marR="171450" marT="114300" marB="114300" anchor="ctr">
                    <a:lnL w="9525" cap="flat" cmpd="sng" algn="ctr">
                      <a:solidFill>
                        <a:srgbClr val="D1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1D7DE"/>
                      </a:solidFill>
                      <a:prstDash val="solid"/>
                    </a:lnR>
                    <a:lnT w="9525">
                      <a:solidFill>
                        <a:srgbClr val="D1D7DE"/>
                      </a:solidFill>
                      <a:prstDash val="solid"/>
                    </a:lnT>
                    <a:lnB w="9525">
                      <a:solidFill>
                        <a:srgbClr val="D1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39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950" b="1" dirty="0" err="1">
                          <a:solidFill>
                            <a:schemeClr val="tx1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기획</a:t>
                      </a:r>
                      <a:r>
                        <a:rPr sz="1950" b="1" dirty="0">
                          <a:solidFill>
                            <a:schemeClr val="tx1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 </a:t>
                      </a:r>
                      <a:r>
                        <a:rPr sz="1950" b="1" dirty="0" err="1">
                          <a:solidFill>
                            <a:schemeClr val="tx1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의도</a:t>
                      </a:r>
                      <a:endParaRPr sz="1950" b="1" dirty="0">
                        <a:solidFill>
                          <a:schemeClr val="tx1"/>
                        </a:solidFill>
                        <a:latin typeface="Pretendard Bold"/>
                        <a:ea typeface="Pretendard Bold"/>
                        <a:cs typeface="Pretendard Bold"/>
                      </a:endParaRPr>
                    </a:p>
                  </a:txBody>
                  <a:tcPr marL="171450" marR="171450" marT="114300" marB="114300" anchor="ctr">
                    <a:lnL w="9525">
                      <a:solidFill>
                        <a:srgbClr val="D1D7DE"/>
                      </a:solidFill>
                      <a:prstDash val="solid"/>
                    </a:lnL>
                    <a:lnR w="9525">
                      <a:solidFill>
                        <a:srgbClr val="D1D7DE"/>
                      </a:solidFill>
                      <a:prstDash val="solid"/>
                    </a:lnR>
                    <a:lnT w="9525" cap="flat" cmpd="sng" algn="ctr">
                      <a:solidFill>
                        <a:srgbClr val="D1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1D7DE"/>
                      </a:solidFill>
                      <a:prstDash val="solid"/>
                    </a:lnB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950" b="0" dirty="0" err="1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다수의</a:t>
                      </a:r>
                      <a:r>
                        <a:rPr sz="1950" b="0" dirty="0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</a:t>
                      </a:r>
                      <a:r>
                        <a:rPr sz="1950" b="0" dirty="0" err="1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적을</a:t>
                      </a:r>
                      <a:r>
                        <a:rPr sz="1950" b="0" dirty="0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</a:t>
                      </a:r>
                      <a:r>
                        <a:rPr sz="1950" b="0" dirty="0" err="1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상대하며</a:t>
                      </a:r>
                      <a:r>
                        <a:rPr sz="1950" b="0" dirty="0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</a:t>
                      </a:r>
                      <a:r>
                        <a:rPr sz="1950" b="0" dirty="0" err="1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일당백</a:t>
                      </a:r>
                      <a:r>
                        <a:rPr sz="1950" b="0" dirty="0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</a:t>
                      </a:r>
                      <a:r>
                        <a:rPr sz="1950" b="0" dirty="0" err="1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액션을</a:t>
                      </a:r>
                      <a:r>
                        <a:rPr sz="1950" b="0" dirty="0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</a:t>
                      </a:r>
                      <a:r>
                        <a:rPr sz="1950" b="0" dirty="0" err="1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체험하는</a:t>
                      </a:r>
                      <a:r>
                        <a:rPr lang="ko-KR" altLang="en-US" sz="1950" b="0" dirty="0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</a:t>
                      </a:r>
                      <a:r>
                        <a:rPr sz="1950" b="0" dirty="0" err="1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판타지</a:t>
                      </a:r>
                      <a:r>
                        <a:rPr sz="1950" b="0" dirty="0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</a:t>
                      </a:r>
                      <a:r>
                        <a:rPr sz="1950" b="0" dirty="0" err="1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배경</a:t>
                      </a:r>
                      <a:r>
                        <a:rPr sz="1950" b="0" dirty="0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</a:t>
                      </a:r>
                      <a:br>
                        <a:rPr lang="en-US" altLang="ko-KR" sz="1950" b="0" dirty="0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</a:br>
                      <a:r>
                        <a:rPr sz="1950" b="0" dirty="0" err="1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멀티플레이</a:t>
                      </a:r>
                      <a:r>
                        <a:rPr sz="1950" b="0" dirty="0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</a:t>
                      </a:r>
                      <a:r>
                        <a:rPr sz="1950" b="0" dirty="0" err="1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게임</a:t>
                      </a:r>
                      <a:endParaRPr sz="1950" b="0" dirty="0">
                        <a:solidFill>
                          <a:srgbClr val="474747"/>
                        </a:solidFill>
                        <a:latin typeface="Pretendard Regular"/>
                        <a:ea typeface="Pretendard Regular"/>
                        <a:cs typeface="Pretendard Regular"/>
                      </a:endParaRPr>
                    </a:p>
                  </a:txBody>
                  <a:tcPr marL="171450" marR="171450" marT="114300" marB="114300" anchor="ctr">
                    <a:lnL w="9525" cap="flat" cmpd="sng" algn="ctr">
                      <a:solidFill>
                        <a:srgbClr val="D1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1D7DE"/>
                      </a:solidFill>
                      <a:prstDash val="solid"/>
                    </a:lnR>
                    <a:lnT w="9525" cap="flat" cmpd="sng" algn="ctr">
                      <a:solidFill>
                        <a:srgbClr val="D1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1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9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950" b="1" dirty="0" err="1">
                          <a:solidFill>
                            <a:schemeClr val="tx1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개발</a:t>
                      </a:r>
                      <a:r>
                        <a:rPr sz="1950" b="1" dirty="0">
                          <a:solidFill>
                            <a:schemeClr val="tx1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 </a:t>
                      </a:r>
                      <a:r>
                        <a:rPr sz="1950" b="1" dirty="0" err="1">
                          <a:solidFill>
                            <a:schemeClr val="tx1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기간</a:t>
                      </a:r>
                      <a:endParaRPr sz="1950" b="1" dirty="0">
                        <a:solidFill>
                          <a:schemeClr val="tx1"/>
                        </a:solidFill>
                        <a:latin typeface="Pretendard Bold"/>
                        <a:ea typeface="Pretendard Bold"/>
                        <a:cs typeface="Pretendard Bold"/>
                      </a:endParaRPr>
                    </a:p>
                  </a:txBody>
                  <a:tcPr marL="171450" marR="171450" marT="114300" marB="114300" anchor="ctr">
                    <a:lnL w="9525">
                      <a:solidFill>
                        <a:srgbClr val="D1D7DE"/>
                      </a:solidFill>
                      <a:prstDash val="solid"/>
                    </a:lnL>
                    <a:lnR w="9525">
                      <a:solidFill>
                        <a:srgbClr val="D1D7DE"/>
                      </a:solidFill>
                      <a:prstDash val="solid"/>
                    </a:lnR>
                    <a:lnT w="9525" cap="flat" cmpd="sng" algn="ctr">
                      <a:solidFill>
                        <a:srgbClr val="D1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1D7DE"/>
                      </a:solidFill>
                      <a:prstDash val="solid"/>
                    </a:lnB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950" b="0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2024.09 – 2026.06</a:t>
                      </a:r>
                      <a:endParaRPr/>
                    </a:p>
                  </a:txBody>
                  <a:tcPr marL="171450" marR="171450" marT="114300" marB="114300" anchor="ctr">
                    <a:lnL w="9525" cap="flat" cmpd="sng" algn="ctr">
                      <a:solidFill>
                        <a:srgbClr val="D1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1D7DE"/>
                      </a:solidFill>
                      <a:prstDash val="solid"/>
                    </a:lnR>
                    <a:lnT w="9525" cap="flat" cmpd="sng" algn="ctr">
                      <a:solidFill>
                        <a:srgbClr val="D1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1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9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950" b="1" dirty="0" err="1">
                          <a:solidFill>
                            <a:schemeClr val="tx1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개발</a:t>
                      </a:r>
                      <a:r>
                        <a:rPr sz="1950" b="1" dirty="0">
                          <a:solidFill>
                            <a:schemeClr val="tx1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 </a:t>
                      </a:r>
                      <a:r>
                        <a:rPr sz="1950" b="1" dirty="0" err="1">
                          <a:solidFill>
                            <a:schemeClr val="tx1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인원</a:t>
                      </a:r>
                      <a:endParaRPr sz="1950" b="1" dirty="0">
                        <a:solidFill>
                          <a:schemeClr val="tx1"/>
                        </a:solidFill>
                        <a:latin typeface="Pretendard Bold"/>
                        <a:ea typeface="Pretendard Bold"/>
                        <a:cs typeface="Pretendard Bold"/>
                      </a:endParaRPr>
                    </a:p>
                  </a:txBody>
                  <a:tcPr marL="171450" marR="171450" marT="114300" marB="114300" anchor="ctr">
                    <a:lnL w="9525">
                      <a:solidFill>
                        <a:srgbClr val="D1D7DE"/>
                      </a:solidFill>
                      <a:prstDash val="solid"/>
                    </a:lnL>
                    <a:lnR w="9525">
                      <a:solidFill>
                        <a:srgbClr val="D1D7DE"/>
                      </a:solidFill>
                      <a:prstDash val="solid"/>
                    </a:lnR>
                    <a:lnT w="9525" cap="flat" cmpd="sng" algn="ctr">
                      <a:solidFill>
                        <a:srgbClr val="D1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1D7DE"/>
                      </a:solidFill>
                      <a:prstDash val="solid"/>
                    </a:lnB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950" b="0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3인</a:t>
                      </a:r>
                    </a:p>
                  </a:txBody>
                  <a:tcPr marL="171450" marR="171450" marT="114300" marB="114300" anchor="ctr">
                    <a:lnL w="9525" cap="flat" cmpd="sng" algn="ctr">
                      <a:solidFill>
                        <a:srgbClr val="D1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1D7DE"/>
                      </a:solidFill>
                      <a:prstDash val="solid"/>
                    </a:lnR>
                    <a:lnT w="9525" cap="flat" cmpd="sng" algn="ctr">
                      <a:solidFill>
                        <a:srgbClr val="D1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1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9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950" b="1" dirty="0" err="1">
                          <a:solidFill>
                            <a:schemeClr val="tx1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사용</a:t>
                      </a:r>
                      <a:r>
                        <a:rPr sz="1950" b="1" dirty="0">
                          <a:solidFill>
                            <a:schemeClr val="tx1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 </a:t>
                      </a:r>
                      <a:r>
                        <a:rPr sz="1950" b="1" dirty="0" err="1">
                          <a:solidFill>
                            <a:schemeClr val="tx1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기술</a:t>
                      </a:r>
                      <a:endParaRPr sz="1950" b="1" dirty="0">
                        <a:solidFill>
                          <a:schemeClr val="tx1"/>
                        </a:solidFill>
                        <a:latin typeface="Pretendard Bold"/>
                        <a:ea typeface="Pretendard Bold"/>
                        <a:cs typeface="Pretendard Bold"/>
                      </a:endParaRPr>
                    </a:p>
                  </a:txBody>
                  <a:tcPr marL="171450" marR="171450" marT="114300" marB="114300" anchor="ctr">
                    <a:lnL w="9525">
                      <a:solidFill>
                        <a:srgbClr val="D1D7DE"/>
                      </a:solidFill>
                      <a:prstDash val="solid"/>
                    </a:lnL>
                    <a:lnR w="9525">
                      <a:solidFill>
                        <a:srgbClr val="D1D7DE"/>
                      </a:solidFill>
                      <a:prstDash val="solid"/>
                    </a:lnR>
                    <a:lnT w="9525" cap="flat" cmpd="sng" algn="ctr">
                      <a:solidFill>
                        <a:srgbClr val="D1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1D7DE"/>
                      </a:solidFill>
                      <a:prstDash val="solid"/>
                    </a:lnB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950" b="0" dirty="0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C++20, IOCP, SQL</a:t>
                      </a:r>
                      <a:r>
                        <a:rPr lang="en-US" altLang="ko-KR" sz="1950" b="0" dirty="0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Server </a:t>
                      </a:r>
                      <a:r>
                        <a:rPr lang="en-US" altLang="ko-KR" sz="1950" b="0" dirty="0" err="1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LocalDB</a:t>
                      </a:r>
                      <a:endParaRPr dirty="0"/>
                    </a:p>
                  </a:txBody>
                  <a:tcPr marL="171450" marR="171450" marT="114300" marB="114300" anchor="ctr">
                    <a:lnL w="9525" cap="flat" cmpd="sng" algn="ctr">
                      <a:solidFill>
                        <a:srgbClr val="D1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1D7DE"/>
                      </a:solidFill>
                      <a:prstDash val="solid"/>
                    </a:lnR>
                    <a:lnT w="9525" cap="flat" cmpd="sng" algn="ctr">
                      <a:solidFill>
                        <a:srgbClr val="D1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1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0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950" b="1" dirty="0" err="1">
                          <a:solidFill>
                            <a:schemeClr val="tx1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핵심</a:t>
                      </a:r>
                      <a:r>
                        <a:rPr sz="1950" b="1" dirty="0">
                          <a:solidFill>
                            <a:schemeClr val="tx1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 </a:t>
                      </a:r>
                      <a:r>
                        <a:rPr sz="1950" b="1" dirty="0" err="1">
                          <a:solidFill>
                            <a:schemeClr val="tx1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연구</a:t>
                      </a:r>
                      <a:r>
                        <a:rPr sz="1950" b="1" dirty="0">
                          <a:solidFill>
                            <a:schemeClr val="tx1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 </a:t>
                      </a:r>
                      <a:r>
                        <a:rPr sz="1950" b="1" dirty="0" err="1">
                          <a:solidFill>
                            <a:schemeClr val="tx1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과제</a:t>
                      </a:r>
                      <a:endParaRPr sz="1950" b="1" dirty="0">
                        <a:solidFill>
                          <a:schemeClr val="tx1"/>
                        </a:solidFill>
                        <a:latin typeface="Pretendard Bold"/>
                        <a:ea typeface="Pretendard Bold"/>
                        <a:cs typeface="Pretendard Bold"/>
                      </a:endParaRPr>
                    </a:p>
                  </a:txBody>
                  <a:tcPr marL="171450" marR="171450" marT="114300" marB="114300" anchor="ctr">
                    <a:lnL w="9525">
                      <a:solidFill>
                        <a:srgbClr val="D1D7DE"/>
                      </a:solidFill>
                      <a:prstDash val="solid"/>
                    </a:lnL>
                    <a:lnR w="9525">
                      <a:solidFill>
                        <a:srgbClr val="D1D7DE"/>
                      </a:solidFill>
                      <a:prstDash val="solid"/>
                    </a:lnR>
                    <a:lnT w="9525" cap="flat" cmpd="sng" algn="ctr">
                      <a:solidFill>
                        <a:srgbClr val="D1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1D7DE"/>
                      </a:solidFill>
                      <a:prstDash val="solid"/>
                    </a:lnB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altLang="ko-KR" sz="1950" b="0" dirty="0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&lt;</a:t>
                      </a:r>
                      <a:r>
                        <a:rPr sz="1950" b="0" dirty="0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Strategic AI Enemy</a:t>
                      </a:r>
                      <a:r>
                        <a:rPr lang="en-US" altLang="ko-KR" sz="1950" b="0" dirty="0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&gt;</a:t>
                      </a: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950" b="0" dirty="0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</a:rPr>
                        <a:t>단순히 숫자만 많을 뿐인 적보다</a:t>
                      </a:r>
                      <a:r>
                        <a:rPr lang="en-US" altLang="ko-KR" sz="1950" b="0" dirty="0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</a:rPr>
                        <a:t>, </a:t>
                      </a:r>
                      <a:r>
                        <a:rPr lang="ko-KR" altLang="en-US" sz="1950" b="0" dirty="0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</a:rPr>
                        <a:t>진형을 갖추고 전술을 활용하는 적이 몰입감을 높여줄 것이라 판단해 설정</a:t>
                      </a:r>
                      <a:endParaRPr dirty="0"/>
                    </a:p>
                  </a:txBody>
                  <a:tcPr marL="171450" marR="171450" marT="114300" marB="114300" anchor="ctr">
                    <a:lnL w="9525" cap="flat" cmpd="sng" algn="ctr">
                      <a:solidFill>
                        <a:srgbClr val="D1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1D7DE"/>
                      </a:solidFill>
                      <a:prstDash val="solid"/>
                    </a:lnR>
                    <a:lnT w="9525" cap="flat" cmpd="sng" algn="ctr">
                      <a:solidFill>
                        <a:srgbClr val="D1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1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231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950" b="1" dirty="0" err="1">
                          <a:solidFill>
                            <a:schemeClr val="tx1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담당</a:t>
                      </a:r>
                      <a:r>
                        <a:rPr sz="1950" b="1" dirty="0">
                          <a:solidFill>
                            <a:schemeClr val="tx1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 </a:t>
                      </a:r>
                      <a:r>
                        <a:rPr sz="1950" b="1" dirty="0" err="1">
                          <a:solidFill>
                            <a:schemeClr val="tx1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역할</a:t>
                      </a:r>
                      <a:endParaRPr sz="1950" b="1" dirty="0">
                        <a:solidFill>
                          <a:schemeClr val="tx1"/>
                        </a:solidFill>
                        <a:latin typeface="Pretendard Bold"/>
                        <a:ea typeface="Pretendard Bold"/>
                        <a:cs typeface="Pretendard Bold"/>
                      </a:endParaRPr>
                    </a:p>
                  </a:txBody>
                  <a:tcPr marL="171450" marR="171450" marT="114300" marB="114300" anchor="ctr">
                    <a:lnL w="9525">
                      <a:solidFill>
                        <a:srgbClr val="D1D7DE"/>
                      </a:solidFill>
                      <a:prstDash val="solid"/>
                    </a:lnL>
                    <a:lnR w="9525">
                      <a:solidFill>
                        <a:srgbClr val="D1D7DE"/>
                      </a:solidFill>
                      <a:prstDash val="solid"/>
                    </a:lnR>
                    <a:lnT w="9525" cap="flat" cmpd="sng" algn="ctr">
                      <a:solidFill>
                        <a:srgbClr val="D1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1D7DE"/>
                      </a:solidFill>
                      <a:prstDash val="solid"/>
                    </a:lnB>
                    <a:solidFill>
                      <a:srgbClr val="E6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altLang="ko-KR" sz="1950" b="0" dirty="0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&lt;</a:t>
                      </a:r>
                      <a:r>
                        <a:rPr sz="1950" b="0" dirty="0" err="1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서버</a:t>
                      </a:r>
                      <a:r>
                        <a:rPr sz="1950" b="0" dirty="0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</a:t>
                      </a:r>
                      <a:r>
                        <a:rPr sz="1950" b="0" dirty="0" err="1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프로그래밍</a:t>
                      </a:r>
                      <a:r>
                        <a:rPr lang="en-US" altLang="ko-KR" sz="2000" b="0" dirty="0">
                          <a:solidFill>
                            <a:srgbClr val="474747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&gt;</a:t>
                      </a:r>
                      <a:endParaRPr lang="en-US" altLang="ko-KR" sz="1950" b="0" dirty="0">
                        <a:solidFill>
                          <a:srgbClr val="474747"/>
                        </a:solidFill>
                        <a:latin typeface="Pretendard Regular"/>
                        <a:ea typeface="Pretendard Regular"/>
                        <a:cs typeface="Pretendard Regular"/>
                      </a:endParaRPr>
                    </a:p>
                    <a:p>
                      <a:pPr>
                        <a:lnSpc>
                          <a:spcPct val="116000"/>
                        </a:lnSpc>
                        <a:buNone/>
                        <a:defRPr sz="1725" b="0">
                          <a:solidFill>
                            <a:srgbClr val="777777"/>
                          </a:solidFill>
                          <a:latin typeface="Pretendard Regular"/>
                          <a:ea typeface="Pretendard Regular"/>
                          <a:cs typeface="Pretendard Regular"/>
                        </a:defRPr>
                      </a:pP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ServerEngine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, </a:t>
                      </a: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LobbyServer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, </a:t>
                      </a: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RoomServer</a:t>
                      </a:r>
                      <a:endParaRPr lang="en-US" altLang="ko-KR" sz="2000" b="0" dirty="0">
                        <a:solidFill>
                          <a:schemeClr val="tx1"/>
                        </a:solidFill>
                        <a:latin typeface="Pretendard Regular"/>
                        <a:ea typeface="Pretendard Regular"/>
                        <a:cs typeface="Pretendard Regular"/>
                      </a:endParaRPr>
                    </a:p>
                    <a:p>
                      <a:pPr>
                        <a:lnSpc>
                          <a:spcPct val="116000"/>
                        </a:lnSpc>
                        <a:buNone/>
                        <a:defRPr sz="1725" b="0">
                          <a:solidFill>
                            <a:srgbClr val="777777"/>
                          </a:solidFill>
                          <a:latin typeface="Pretendard Regular"/>
                          <a:ea typeface="Pretendard Regular"/>
                          <a:cs typeface="Pretendard Regular"/>
                        </a:defRPr>
                      </a:pPr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네트워크 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· </a:t>
                      </a:r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작업 처리 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· </a:t>
                      </a:r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인증 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· </a:t>
                      </a:r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데이터 저장</a:t>
                      </a:r>
                    </a:p>
                  </a:txBody>
                  <a:tcPr marL="171450" marR="171450" marT="114300" marB="114300" anchor="ctr">
                    <a:lnL w="9525" cap="flat" cmpd="sng" algn="ctr">
                      <a:solidFill>
                        <a:srgbClr val="D1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1D7DE"/>
                      </a:solidFill>
                      <a:prstDash val="solid"/>
                    </a:lnR>
                    <a:lnT w="9525" cap="flat" cmpd="sng" algn="ctr">
                      <a:solidFill>
                        <a:srgbClr val="D1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1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7926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Picture 2">
            <a:extLst>
              <a:ext uri="{FF2B5EF4-FFF2-40B4-BE49-F238E27FC236}">
                <a16:creationId xmlns:a16="http://schemas.microsoft.com/office/drawing/2014/main" id="{57C0BC77-7E38-4929-9233-C0403AF7B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id="208" name="Picture 3">
            <a:extLst>
              <a:ext uri="{FF2B5EF4-FFF2-40B4-BE49-F238E27FC236}">
                <a16:creationId xmlns:a16="http://schemas.microsoft.com/office/drawing/2014/main" id="{369F6A90-2BEE-4665-A784-B47830166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3400" y="-1460500"/>
            <a:ext cx="5219700" cy="5130800"/>
          </a:xfrm>
          <a:prstGeom prst="rect">
            <a:avLst/>
          </a:prstGeom>
        </p:spPr>
      </p:pic>
      <p:pic>
        <p:nvPicPr>
          <p:cNvPr id="209" name="Picture 4">
            <a:extLst>
              <a:ext uri="{FF2B5EF4-FFF2-40B4-BE49-F238E27FC236}">
                <a16:creationId xmlns:a16="http://schemas.microsoft.com/office/drawing/2014/main" id="{AB5322EE-A412-4FAA-BE04-286F8BA55BD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7000"/>
          </a:blip>
          <a:stretch>
            <a:fillRect/>
          </a:stretch>
        </p:blipFill>
        <p:spPr>
          <a:xfrm rot="18782095">
            <a:off x="-3327400" y="6921500"/>
            <a:ext cx="7454900" cy="7188200"/>
          </a:xfrm>
          <a:prstGeom prst="rect">
            <a:avLst/>
          </a:prstGeom>
        </p:spPr>
      </p:pic>
      <p:pic>
        <p:nvPicPr>
          <p:cNvPr id="210" name="Picture 7">
            <a:extLst>
              <a:ext uri="{FF2B5EF4-FFF2-40B4-BE49-F238E27FC236}">
                <a16:creationId xmlns:a16="http://schemas.microsoft.com/office/drawing/2014/main" id="{096DBD7C-446B-4842-8BDD-A4E81479E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700000">
            <a:off x="5969000" y="9169400"/>
            <a:ext cx="444500" cy="431800"/>
          </a:xfrm>
          <a:prstGeom prst="rect">
            <a:avLst/>
          </a:prstGeom>
        </p:spPr>
      </p:pic>
      <p:pic>
        <p:nvPicPr>
          <p:cNvPr id="211" name="Picture 8">
            <a:extLst>
              <a:ext uri="{FF2B5EF4-FFF2-40B4-BE49-F238E27FC236}">
                <a16:creationId xmlns:a16="http://schemas.microsoft.com/office/drawing/2014/main" id="{506229C2-6CFE-4DFE-B812-30543C375E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9258300"/>
            <a:ext cx="12090400" cy="177800"/>
          </a:xfrm>
          <a:prstGeom prst="rect">
            <a:avLst/>
          </a:prstGeom>
        </p:spPr>
      </p:pic>
      <p:pic>
        <p:nvPicPr>
          <p:cNvPr id="212" name="Picture 9">
            <a:extLst>
              <a:ext uri="{FF2B5EF4-FFF2-40B4-BE49-F238E27FC236}">
                <a16:creationId xmlns:a16="http://schemas.microsoft.com/office/drawing/2014/main" id="{20314FFF-D5DE-425A-99D6-CACE5AF312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685800" y="863600"/>
            <a:ext cx="8064500" cy="139700"/>
          </a:xfrm>
          <a:prstGeom prst="rect">
            <a:avLst/>
          </a:prstGeom>
        </p:spPr>
      </p:pic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7183F88F-8ED2-41D0-AD3F-1AFAFB26E462}"/>
              </a:ext>
            </a:extLst>
          </p:cNvPr>
          <p:cNvSpPr>
            <a:spLocks noGrp="1"/>
          </p:cNvSpPr>
          <p:nvPr/>
        </p:nvSpPr>
        <p:spPr>
          <a:xfrm>
            <a:off x="1143000" y="4210050"/>
            <a:ext cx="3429000" cy="1701165"/>
          </a:xfrm>
          <a:prstGeom prst="rect">
            <a:avLst/>
          </a:prstGeom>
          <a:solidFill>
            <a:srgbClr val="FFFFFF"/>
          </a:solidFill>
          <a:ln w="13335">
            <a:solidFill>
              <a:srgbClr val="B8B8BD"/>
            </a:solidFill>
          </a:ln>
        </p:spPr>
      </p:sp>
      <p:sp>
        <p:nvSpPr>
          <p:cNvPr id="217" name="Client">
            <a:extLst>
              <a:ext uri="{FF2B5EF4-FFF2-40B4-BE49-F238E27FC236}">
                <a16:creationId xmlns:a16="http://schemas.microsoft.com/office/drawing/2014/main" id="{E65E28D1-95EB-4B68-A161-2FF8B19CC2F1}"/>
              </a:ext>
            </a:extLst>
          </p:cNvPr>
          <p:cNvSpPr>
            <a:spLocks noGrp="1"/>
          </p:cNvSpPr>
          <p:nvPr/>
        </p:nvSpPr>
        <p:spPr>
          <a:xfrm>
            <a:off x="1352550" y="4381500"/>
            <a:ext cx="3009900" cy="42081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2000"/>
              </a:lnSpc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Client</a:t>
            </a:r>
          </a:p>
        </p:txBody>
      </p:sp>
      <p:sp>
        <p:nvSpPr>
          <p:cNvPr id="218" name="로비 로그인·파티 참여&#10;룸 서버에 새로 접속">
            <a:extLst>
              <a:ext uri="{FF2B5EF4-FFF2-40B4-BE49-F238E27FC236}">
                <a16:creationId xmlns:a16="http://schemas.microsoft.com/office/drawing/2014/main" id="{5B4A05B4-DDDB-4CD2-A02D-F9AA185F47E1}"/>
              </a:ext>
            </a:extLst>
          </p:cNvPr>
          <p:cNvSpPr>
            <a:spLocks noGrp="1"/>
          </p:cNvSpPr>
          <p:nvPr/>
        </p:nvSpPr>
        <p:spPr>
          <a:xfrm>
            <a:off x="1352550" y="4912995"/>
            <a:ext cx="3009900" cy="96697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로비 로그인·파티 참여</a:t>
            </a:r>
          </a:p>
          <a:p>
            <a:pPr algn="l">
              <a:lnSpc>
                <a:spcPct val="112000"/>
              </a:lnSpc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룸 서버에 새로 접속</a:t>
            </a:r>
          </a:p>
        </p:txBody>
      </p: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8E850F46-4354-4DA9-AF78-C2B205302727}"/>
              </a:ext>
            </a:extLst>
          </p:cNvPr>
          <p:cNvSpPr>
            <a:spLocks noGrp="1"/>
          </p:cNvSpPr>
          <p:nvPr/>
        </p:nvSpPr>
        <p:spPr>
          <a:xfrm>
            <a:off x="6858000" y="3309938"/>
            <a:ext cx="4762500" cy="1629537"/>
          </a:xfrm>
          <a:prstGeom prst="rect">
            <a:avLst/>
          </a:prstGeom>
          <a:solidFill>
            <a:srgbClr val="FFFFFF"/>
          </a:solidFill>
          <a:ln w="13335">
            <a:solidFill>
              <a:srgbClr val="B8B8BD"/>
            </a:solidFill>
          </a:ln>
        </p:spPr>
      </p:sp>
      <p:sp>
        <p:nvSpPr>
          <p:cNvPr id="220" name="LobbyServer">
            <a:extLst>
              <a:ext uri="{FF2B5EF4-FFF2-40B4-BE49-F238E27FC236}">
                <a16:creationId xmlns:a16="http://schemas.microsoft.com/office/drawing/2014/main" id="{D921D907-BB1D-4AD4-8B6D-27A792E4BC1D}"/>
              </a:ext>
            </a:extLst>
          </p:cNvPr>
          <p:cNvSpPr>
            <a:spLocks noGrp="1"/>
          </p:cNvSpPr>
          <p:nvPr/>
        </p:nvSpPr>
        <p:spPr>
          <a:xfrm>
            <a:off x="7067550" y="3481388"/>
            <a:ext cx="4343400" cy="42081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2000"/>
              </a:lnSpc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LobbyServer</a:t>
            </a:r>
          </a:p>
        </p:txBody>
      </p:sp>
      <p:sp>
        <p:nvSpPr>
          <p:cNvPr id="221" name="로그인 / 파티 관리&#10;룸 주소와 입장 티켓 발급">
            <a:extLst>
              <a:ext uri="{FF2B5EF4-FFF2-40B4-BE49-F238E27FC236}">
                <a16:creationId xmlns:a16="http://schemas.microsoft.com/office/drawing/2014/main" id="{B9F52097-168E-4A29-BE29-CC5C30A8796E}"/>
              </a:ext>
            </a:extLst>
          </p:cNvPr>
          <p:cNvSpPr>
            <a:spLocks noGrp="1"/>
          </p:cNvSpPr>
          <p:nvPr/>
        </p:nvSpPr>
        <p:spPr>
          <a:xfrm>
            <a:off x="7067550" y="4012883"/>
            <a:ext cx="43434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로그인 / 파티 관리</a:t>
            </a:r>
          </a:p>
          <a:p>
            <a:pPr algn="l">
              <a:lnSpc>
                <a:spcPct val="112000"/>
              </a:lnSpc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룸 주소와 입장 티켓 발급</a:t>
            </a:r>
          </a:p>
        </p:txBody>
      </p: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1BC257CD-D7C4-44F5-AD6E-60FCA67F9123}"/>
              </a:ext>
            </a:extLst>
          </p:cNvPr>
          <p:cNvSpPr>
            <a:spLocks noGrp="1"/>
          </p:cNvSpPr>
          <p:nvPr/>
        </p:nvSpPr>
        <p:spPr>
          <a:xfrm>
            <a:off x="6858000" y="5924550"/>
            <a:ext cx="4762500" cy="1629537"/>
          </a:xfrm>
          <a:prstGeom prst="rect">
            <a:avLst/>
          </a:prstGeom>
          <a:solidFill>
            <a:srgbClr val="FFFFFF"/>
          </a:solidFill>
          <a:ln w="13335">
            <a:solidFill>
              <a:srgbClr val="B8B8BD"/>
            </a:solidFill>
          </a:ln>
        </p:spPr>
      </p:sp>
      <p:sp>
        <p:nvSpPr>
          <p:cNvPr id="223" name="RoomServer">
            <a:extLst>
              <a:ext uri="{FF2B5EF4-FFF2-40B4-BE49-F238E27FC236}">
                <a16:creationId xmlns:a16="http://schemas.microsoft.com/office/drawing/2014/main" id="{D86F6525-6C23-4B1B-B0ED-5821D5002184}"/>
              </a:ext>
            </a:extLst>
          </p:cNvPr>
          <p:cNvSpPr>
            <a:spLocks noGrp="1"/>
          </p:cNvSpPr>
          <p:nvPr/>
        </p:nvSpPr>
        <p:spPr>
          <a:xfrm>
            <a:off x="7067550" y="6096000"/>
            <a:ext cx="4343400" cy="42081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2000"/>
              </a:lnSpc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RoomServer</a:t>
            </a:r>
          </a:p>
        </p:txBody>
      </p:sp>
      <p:sp>
        <p:nvSpPr>
          <p:cNvPr id="224" name="3  티켓 검증 후 Room 입장&#10;NPC AI / 스킬 판정 / 상태 전송">
            <a:extLst>
              <a:ext uri="{FF2B5EF4-FFF2-40B4-BE49-F238E27FC236}">
                <a16:creationId xmlns:a16="http://schemas.microsoft.com/office/drawing/2014/main" id="{B735E66B-DEED-436D-B5E5-AED481D0DB85}"/>
              </a:ext>
            </a:extLst>
          </p:cNvPr>
          <p:cNvSpPr>
            <a:spLocks noGrp="1"/>
          </p:cNvSpPr>
          <p:nvPr/>
        </p:nvSpPr>
        <p:spPr>
          <a:xfrm>
            <a:off x="7067550" y="6627495"/>
            <a:ext cx="43434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3  티켓 검증 후 Room 입장</a:t>
            </a:r>
          </a:p>
          <a:p>
            <a:pPr algn="l">
              <a:lnSpc>
                <a:spcPct val="112000"/>
              </a:lnSpc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NPC AI / 스킬 판정 / 상태 전송</a:t>
            </a:r>
          </a:p>
        </p:txBody>
      </p:sp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6A7102D0-830F-44B7-AB2D-48066A6A8D1B}"/>
              </a:ext>
            </a:extLst>
          </p:cNvPr>
          <p:cNvSpPr>
            <a:spLocks noGrp="1"/>
          </p:cNvSpPr>
          <p:nvPr/>
        </p:nvSpPr>
        <p:spPr>
          <a:xfrm>
            <a:off x="13620750" y="4441508"/>
            <a:ext cx="3333750" cy="1674305"/>
          </a:xfrm>
          <a:prstGeom prst="rect">
            <a:avLst/>
          </a:prstGeom>
          <a:solidFill>
            <a:srgbClr val="FFFFFF"/>
          </a:solidFill>
          <a:ln w="13335">
            <a:solidFill>
              <a:srgbClr val="B8B8BD"/>
            </a:solidFill>
          </a:ln>
        </p:spPr>
      </p:sp>
      <p:sp>
        <p:nvSpPr>
          <p:cNvPr id="226" name="SQL Server LocalDB">
            <a:extLst>
              <a:ext uri="{FF2B5EF4-FFF2-40B4-BE49-F238E27FC236}">
                <a16:creationId xmlns:a16="http://schemas.microsoft.com/office/drawing/2014/main" id="{1D2EA278-3072-41BD-BD44-E17436042B4F}"/>
              </a:ext>
            </a:extLst>
          </p:cNvPr>
          <p:cNvSpPr>
            <a:spLocks noGrp="1"/>
          </p:cNvSpPr>
          <p:nvPr/>
        </p:nvSpPr>
        <p:spPr>
          <a:xfrm>
            <a:off x="13830300" y="4610100"/>
            <a:ext cx="29146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2000"/>
              </a:lnSpc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1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SQL Server</a:t>
            </a:r>
          </a:p>
          <a:p>
            <a:pPr algn="l">
              <a:lnSpc>
                <a:spcPct val="112000"/>
              </a:lnSpc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10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LocalDB</a:t>
            </a:r>
          </a:p>
        </p:txBody>
      </p:sp>
      <p:sp>
        <p:nvSpPr>
          <p:cNvPr id="227" name="계정 정보&#10;인벤토리">
            <a:extLst>
              <a:ext uri="{FF2B5EF4-FFF2-40B4-BE49-F238E27FC236}">
                <a16:creationId xmlns:a16="http://schemas.microsoft.com/office/drawing/2014/main" id="{66755872-7C86-4A96-B313-FC02E1206558}"/>
              </a:ext>
            </a:extLst>
          </p:cNvPr>
          <p:cNvSpPr>
            <a:spLocks noGrp="1"/>
          </p:cNvSpPr>
          <p:nvPr/>
        </p:nvSpPr>
        <p:spPr>
          <a:xfrm>
            <a:off x="13830300" y="5381625"/>
            <a:ext cx="29146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계정 정보</a:t>
            </a:r>
          </a:p>
          <a:p>
            <a:pPr algn="l">
              <a:lnSpc>
                <a:spcPct val="112000"/>
              </a:lnSpc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인벤토리</a:t>
            </a:r>
          </a:p>
        </p:txBody>
      </p:sp>
      <p:cxnSp>
        <p:nvCxnSpPr>
          <p:cNvPr id="228" name="직선 화살표 연결선 227">
            <a:extLst>
              <a:ext uri="{FF2B5EF4-FFF2-40B4-BE49-F238E27FC236}">
                <a16:creationId xmlns:a16="http://schemas.microsoft.com/office/drawing/2014/main" id="{91258B83-FDA8-43B8-BBA7-BE7C6FC2738A}"/>
              </a:ext>
            </a:extLst>
          </p:cNvPr>
          <p:cNvCxnSpPr>
            <a:stCxn id="219" idx="1"/>
            <a:endCxn id="216" idx="3"/>
          </p:cNvCxnSpPr>
          <p:nvPr/>
        </p:nvCxnSpPr>
        <p:spPr>
          <a:xfrm flipH="1">
            <a:off x="4572000" y="4124706"/>
            <a:ext cx="2286000" cy="935926"/>
          </a:xfrm>
          <a:prstGeom prst="straightConnector1">
            <a:avLst/>
          </a:prstGeom>
          <a:ln w="23813">
            <a:solidFill>
              <a:srgbClr val="354B62"/>
            </a:solidFill>
            <a:tailEnd type="triangle" w="med" len="med"/>
          </a:ln>
        </p:spPr>
      </p:cxnSp>
      <p:cxnSp>
        <p:nvCxnSpPr>
          <p:cNvPr id="229" name="직선 화살표 연결선 228">
            <a:extLst>
              <a:ext uri="{FF2B5EF4-FFF2-40B4-BE49-F238E27FC236}">
                <a16:creationId xmlns:a16="http://schemas.microsoft.com/office/drawing/2014/main" id="{6C51ADC8-30B7-4BC9-969E-331297958CDD}"/>
              </a:ext>
            </a:extLst>
          </p:cNvPr>
          <p:cNvCxnSpPr>
            <a:stCxn id="216" idx="3"/>
            <a:endCxn id="222" idx="1"/>
          </p:cNvCxnSpPr>
          <p:nvPr/>
        </p:nvCxnSpPr>
        <p:spPr>
          <a:xfrm>
            <a:off x="4572000" y="5060633"/>
            <a:ext cx="2286000" cy="1678686"/>
          </a:xfrm>
          <a:prstGeom prst="straightConnector1">
            <a:avLst/>
          </a:prstGeom>
          <a:ln w="23813">
            <a:solidFill>
              <a:srgbClr val="354B62"/>
            </a:solidFill>
            <a:tailEnd type="triangle" w="med" len="med"/>
          </a:ln>
        </p:spPr>
      </p:cxnSp>
      <p:cxnSp>
        <p:nvCxnSpPr>
          <p:cNvPr id="230" name="직선 화살표 연결선 229">
            <a:extLst>
              <a:ext uri="{FF2B5EF4-FFF2-40B4-BE49-F238E27FC236}">
                <a16:creationId xmlns:a16="http://schemas.microsoft.com/office/drawing/2014/main" id="{C153E36E-F817-447D-A9EB-B427F9C439DB}"/>
              </a:ext>
            </a:extLst>
          </p:cNvPr>
          <p:cNvCxnSpPr>
            <a:stCxn id="219" idx="3"/>
            <a:endCxn id="225" idx="1"/>
          </p:cNvCxnSpPr>
          <p:nvPr/>
        </p:nvCxnSpPr>
        <p:spPr>
          <a:xfrm>
            <a:off x="11620500" y="4124706"/>
            <a:ext cx="2000250" cy="1153954"/>
          </a:xfrm>
          <a:prstGeom prst="straightConnector1">
            <a:avLst/>
          </a:prstGeom>
          <a:ln w="23813">
            <a:solidFill>
              <a:srgbClr val="354B62"/>
            </a:solidFill>
            <a:tailEnd type="triangle" w="med" len="med"/>
          </a:ln>
        </p:spPr>
      </p:cxnSp>
      <p:cxnSp>
        <p:nvCxnSpPr>
          <p:cNvPr id="231" name="직선 화살표 연결선 230">
            <a:extLst>
              <a:ext uri="{FF2B5EF4-FFF2-40B4-BE49-F238E27FC236}">
                <a16:creationId xmlns:a16="http://schemas.microsoft.com/office/drawing/2014/main" id="{0CF9B6D2-6F5D-4FD1-8B98-BB5C396D3534}"/>
              </a:ext>
            </a:extLst>
          </p:cNvPr>
          <p:cNvCxnSpPr>
            <a:stCxn id="222" idx="3"/>
            <a:endCxn id="225" idx="1"/>
          </p:cNvCxnSpPr>
          <p:nvPr/>
        </p:nvCxnSpPr>
        <p:spPr>
          <a:xfrm flipV="1">
            <a:off x="11620500" y="5278660"/>
            <a:ext cx="2000250" cy="1460659"/>
          </a:xfrm>
          <a:prstGeom prst="straightConnector1">
            <a:avLst/>
          </a:prstGeom>
          <a:ln w="23813">
            <a:solidFill>
              <a:srgbClr val="354B62"/>
            </a:solidFill>
            <a:tailEnd type="triangle" w="med" len="med"/>
          </a:ln>
        </p:spPr>
      </p:cxnSp>
      <p:sp>
        <p:nvSpPr>
          <p:cNvPr id="232" name="1  주소·티켓 전달">
            <a:extLst>
              <a:ext uri="{FF2B5EF4-FFF2-40B4-BE49-F238E27FC236}">
                <a16:creationId xmlns:a16="http://schemas.microsoft.com/office/drawing/2014/main" id="{0263D857-F9B7-48D0-B55E-FF33700CE411}"/>
              </a:ext>
            </a:extLst>
          </p:cNvPr>
          <p:cNvSpPr>
            <a:spLocks noGrp="1"/>
          </p:cNvSpPr>
          <p:nvPr/>
        </p:nvSpPr>
        <p:spPr>
          <a:xfrm>
            <a:off x="4381500" y="3567113"/>
            <a:ext cx="2667000" cy="39395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1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1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1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1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1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1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1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1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1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1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rPr>
              <a:t>1  주소·티켓 전달</a:t>
            </a:r>
          </a:p>
        </p:txBody>
      </p:sp>
      <p:sp>
        <p:nvSpPr>
          <p:cNvPr id="233" name="2  접속 후 티켓 제출">
            <a:extLst>
              <a:ext uri="{FF2B5EF4-FFF2-40B4-BE49-F238E27FC236}">
                <a16:creationId xmlns:a16="http://schemas.microsoft.com/office/drawing/2014/main" id="{BBA61742-2C01-4038-B0C4-341DBE8CE629}"/>
              </a:ext>
            </a:extLst>
          </p:cNvPr>
          <p:cNvSpPr>
            <a:spLocks noGrp="1"/>
          </p:cNvSpPr>
          <p:nvPr/>
        </p:nvSpPr>
        <p:spPr>
          <a:xfrm>
            <a:off x="4238625" y="6456045"/>
            <a:ext cx="2857500" cy="39395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0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0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0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0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0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0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0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0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0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0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rPr>
              <a:t>2  접속 후 티켓 제출</a:t>
            </a:r>
          </a:p>
        </p:txBody>
      </p:sp>
      <p:sp>
        <p:nvSpPr>
          <p:cNvPr id="234" name="각 서버의 DBExecutor&#10;전용 스레드에서 ODBC 호출">
            <a:extLst>
              <a:ext uri="{FF2B5EF4-FFF2-40B4-BE49-F238E27FC236}">
                <a16:creationId xmlns:a16="http://schemas.microsoft.com/office/drawing/2014/main" id="{B574DFAC-83C0-452B-BE29-DA01D9019A45}"/>
              </a:ext>
            </a:extLst>
          </p:cNvPr>
          <p:cNvSpPr>
            <a:spLocks noGrp="1"/>
          </p:cNvSpPr>
          <p:nvPr/>
        </p:nvSpPr>
        <p:spPr>
          <a:xfrm>
            <a:off x="11906250" y="2990850"/>
            <a:ext cx="5143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354B62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100" b="0">
                <a:solidFill>
                  <a:srgbClr val="354B62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100" b="0">
                <a:solidFill>
                  <a:srgbClr val="354B62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100" b="0">
                <a:solidFill>
                  <a:srgbClr val="354B62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100" b="0">
                <a:solidFill>
                  <a:srgbClr val="354B62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100" b="0">
                <a:solidFill>
                  <a:srgbClr val="354B62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100" b="0">
                <a:solidFill>
                  <a:srgbClr val="354B62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100" b="0">
                <a:solidFill>
                  <a:srgbClr val="354B62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100" b="0">
                <a:solidFill>
                  <a:srgbClr val="354B62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100" b="0">
                <a:solidFill>
                  <a:srgbClr val="354B62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2000"/>
              </a:lnSpc>
              <a:buNone/>
              <a:defRPr sz="2100" b="0">
                <a:solidFill>
                  <a:srgbClr val="354B62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354B62"/>
                </a:solidFill>
                <a:latin typeface="Pretendard Regular"/>
                <a:ea typeface="Pretendard Regular"/>
                <a:cs typeface="Pretendard Regular"/>
              </a:rPr>
              <a:t>각 서버의 DBExecutor</a:t>
            </a:r>
          </a:p>
          <a:p>
            <a:pPr algn="l">
              <a:lnSpc>
                <a:spcPct val="112000"/>
              </a:lnSpc>
              <a:buNone/>
              <a:defRPr sz="2100" b="0">
                <a:solidFill>
                  <a:srgbClr val="354B62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354B62"/>
                </a:solidFill>
                <a:latin typeface="Pretendard Regular"/>
                <a:ea typeface="Pretendard Regular"/>
                <a:cs typeface="Pretendard Regular"/>
              </a:rPr>
              <a:t>전용 스레드에서 ODBC 호출</a:t>
            </a:r>
          </a:p>
        </p:txBody>
      </p:sp>
      <p:sp>
        <p:nvSpPr>
          <p:cNvPr id="235" name="로비·룸 서버 간 직접 소켓 연결 없음&#10;RoomServer가 티켓의 서명과&#10;유효기간을 검증합니다.">
            <a:extLst>
              <a:ext uri="{FF2B5EF4-FFF2-40B4-BE49-F238E27FC236}">
                <a16:creationId xmlns:a16="http://schemas.microsoft.com/office/drawing/2014/main" id="{2F62B4D8-AEA7-47A4-A4E7-5E4CABF8D97C}"/>
              </a:ext>
            </a:extLst>
          </p:cNvPr>
          <p:cNvSpPr>
            <a:spLocks noGrp="1"/>
          </p:cNvSpPr>
          <p:nvPr/>
        </p:nvSpPr>
        <p:spPr>
          <a:xfrm>
            <a:off x="1143000" y="8006842"/>
            <a:ext cx="5334000" cy="7757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875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로비</a:t>
            </a:r>
            <a:r>
              <a:rPr lang="en-US" altLang="ko-KR"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en-US" altLang="ko-KR"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룸 </a:t>
            </a:r>
            <a:r>
              <a:rPr sz="1875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서버</a:t>
            </a:r>
            <a:r>
              <a:rPr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간 </a:t>
            </a:r>
            <a:r>
              <a:rPr sz="1875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직접</a:t>
            </a:r>
            <a:r>
              <a:rPr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875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소켓</a:t>
            </a:r>
            <a:r>
              <a:rPr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875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연결</a:t>
            </a:r>
            <a:r>
              <a:rPr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없</a:t>
            </a:r>
            <a:r>
              <a:rPr lang="ko-KR" altLang="en-US"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습니다</a:t>
            </a:r>
            <a:r>
              <a:rPr lang="en-US" altLang="ko-KR"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.</a:t>
            </a:r>
            <a:endParaRPr sz="1875" b="0" dirty="0">
              <a:solidFill>
                <a:srgbClr val="414141"/>
              </a:solidFill>
              <a:latin typeface="Pretendard Regular"/>
              <a:ea typeface="Pretendard Regular"/>
              <a:cs typeface="Pretendard Regular"/>
            </a:endParaRPr>
          </a:p>
          <a:p>
            <a:pPr algn="l">
              <a:lnSpc>
                <a:spcPct val="112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875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RoomServer가</a:t>
            </a:r>
            <a:r>
              <a:rPr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875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티켓의</a:t>
            </a:r>
            <a:r>
              <a:rPr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875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서명과</a:t>
            </a:r>
            <a:r>
              <a:rPr lang="en-US" altLang="ko-KR"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875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유효</a:t>
            </a:r>
            <a:r>
              <a:rPr lang="ko-KR" altLang="en-US" sz="1875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를</a:t>
            </a:r>
            <a:r>
              <a:rPr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확인합니다</a:t>
            </a:r>
            <a:r>
              <a:rPr lang="en-US" altLang="ko-KR"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.</a:t>
            </a:r>
            <a:endParaRPr sz="1875" b="0" dirty="0">
              <a:solidFill>
                <a:srgbClr val="414141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FE37B824-FC81-4A32-97ED-4D38A58DB484}"/>
              </a:ext>
            </a:extLst>
          </p:cNvPr>
          <p:cNvSpPr>
            <a:spLocks noGrp="1"/>
          </p:cNvSpPr>
          <p:nvPr/>
        </p:nvSpPr>
        <p:spPr>
          <a:xfrm>
            <a:off x="6858000" y="7913370"/>
            <a:ext cx="10096500" cy="1190625"/>
          </a:xfrm>
          <a:prstGeom prst="rect">
            <a:avLst/>
          </a:prstGeom>
          <a:solidFill>
            <a:srgbClr val="FFFFFF"/>
          </a:solidFill>
          <a:ln w="13335">
            <a:solidFill>
              <a:srgbClr val="B8B8BD"/>
            </a:solidFill>
          </a:ln>
        </p:spPr>
      </p:sp>
      <p:sp>
        <p:nvSpPr>
          <p:cNvPr id="237" name="ServerEngine">
            <a:extLst>
              <a:ext uri="{FF2B5EF4-FFF2-40B4-BE49-F238E27FC236}">
                <a16:creationId xmlns:a16="http://schemas.microsoft.com/office/drawing/2014/main" id="{03491C3D-32B3-44A5-8E17-F8F7EAAD0954}"/>
              </a:ext>
            </a:extLst>
          </p:cNvPr>
          <p:cNvSpPr>
            <a:spLocks noGrp="1"/>
          </p:cNvSpPr>
          <p:nvPr/>
        </p:nvSpPr>
        <p:spPr>
          <a:xfrm>
            <a:off x="7067550" y="8110538"/>
            <a:ext cx="2952750" cy="38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2000"/>
              </a:lnSpc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ServerEngine</a:t>
            </a:r>
          </a:p>
        </p:txBody>
      </p:sp>
      <p:sp>
        <p:nvSpPr>
          <p:cNvPr id="238" name="두 서버가 링크하는 공통 정적 라이브러리">
            <a:extLst>
              <a:ext uri="{FF2B5EF4-FFF2-40B4-BE49-F238E27FC236}">
                <a16:creationId xmlns:a16="http://schemas.microsoft.com/office/drawing/2014/main" id="{C69E0095-3A3A-463C-AF90-5FDDF0933964}"/>
              </a:ext>
            </a:extLst>
          </p:cNvPr>
          <p:cNvSpPr>
            <a:spLocks noGrp="1"/>
          </p:cNvSpPr>
          <p:nvPr/>
        </p:nvSpPr>
        <p:spPr>
          <a:xfrm>
            <a:off x="10191750" y="8143875"/>
            <a:ext cx="6762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0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0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0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0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0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0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0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0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0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19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rPr>
              <a:t>두 서버가 링크하는 공통 정적 라이브러리</a:t>
            </a:r>
          </a:p>
        </p:txBody>
      </p:sp>
      <p:sp>
        <p:nvSpPr>
          <p:cNvPr id="239" name="IOCP / 세션 / 송신 버퍼 / JobQueue / 메모리 풀 / DB">
            <a:extLst>
              <a:ext uri="{FF2B5EF4-FFF2-40B4-BE49-F238E27FC236}">
                <a16:creationId xmlns:a16="http://schemas.microsoft.com/office/drawing/2014/main" id="{4D18A3C9-F35C-401A-B660-A1464556F83C}"/>
              </a:ext>
            </a:extLst>
          </p:cNvPr>
          <p:cNvSpPr>
            <a:spLocks noGrp="1"/>
          </p:cNvSpPr>
          <p:nvPr/>
        </p:nvSpPr>
        <p:spPr>
          <a:xfrm>
            <a:off x="10191750" y="8610600"/>
            <a:ext cx="6762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18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18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18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18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18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18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18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18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18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7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IOCP / 세션 / 송신 버퍼 / JobQueue / 메모리 풀 / DB</a:t>
            </a:r>
          </a:p>
        </p:txBody>
      </p:sp>
      <p:sp>
        <p:nvSpPr>
          <p:cNvPr id="240" name="02">
            <a:extLst>
              <a:ext uri="{FF2B5EF4-FFF2-40B4-BE49-F238E27FC236}">
                <a16:creationId xmlns:a16="http://schemas.microsoft.com/office/drawing/2014/main" id="{B9CB21B1-A801-497F-ABF3-D2D50A60E84B}"/>
              </a:ext>
            </a:extLst>
          </p:cNvPr>
          <p:cNvSpPr>
            <a:spLocks noGrp="1"/>
          </p:cNvSpPr>
          <p:nvPr/>
        </p:nvSpPr>
        <p:spPr>
          <a:xfrm>
            <a:off x="1143000" y="1143000"/>
            <a:ext cx="723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775" b="1" dirty="0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241" name="PROJECT  이방인(Outlander)">
            <a:extLst>
              <a:ext uri="{FF2B5EF4-FFF2-40B4-BE49-F238E27FC236}">
                <a16:creationId xmlns:a16="http://schemas.microsoft.com/office/drawing/2014/main" id="{3C1DFE2F-C66D-4DCB-9334-3507105402E3}"/>
              </a:ext>
            </a:extLst>
          </p:cNvPr>
          <p:cNvSpPr>
            <a:spLocks noGrp="1"/>
          </p:cNvSpPr>
          <p:nvPr/>
        </p:nvSpPr>
        <p:spPr>
          <a:xfrm>
            <a:off x="2076450" y="1171575"/>
            <a:ext cx="148113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>
              <a:lnSpc>
                <a:spcPct val="118000"/>
              </a:lnSpc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lang="ko-KR" altLang="en-US" b="0" dirty="0">
                <a:latin typeface="Pretendard Regular"/>
                <a:ea typeface="Pretendard Regular"/>
                <a:cs typeface="Pretendard Regular"/>
              </a:rPr>
              <a:t>졸업작품 이방인</a:t>
            </a:r>
            <a:r>
              <a:rPr lang="en-US" altLang="ko-KR" b="0" dirty="0">
                <a:latin typeface="Pretendard Regular"/>
                <a:ea typeface="Pretendard Regular"/>
                <a:cs typeface="Pretendard Regular"/>
              </a:rPr>
              <a:t>(Outlander)</a:t>
            </a:r>
            <a:endParaRPr lang="ko-KR" altLang="en-US" b="0" dirty="0">
              <a:latin typeface="Pretendard Regular"/>
              <a:ea typeface="Pretendard Regular"/>
              <a:cs typeface="Pretendard Regular"/>
            </a:endParaRPr>
          </a:p>
          <a:p>
            <a:pPr algn="l">
              <a:lnSpc>
                <a:spcPct val="118000"/>
              </a:lnSpc>
              <a:buNone/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endParaRPr sz="2550" b="1" dirty="0">
              <a:solidFill>
                <a:srgbClr val="171717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42" name="서버 구조  /  서버 구성과 게임 입장 흐름">
            <a:extLst>
              <a:ext uri="{FF2B5EF4-FFF2-40B4-BE49-F238E27FC236}">
                <a16:creationId xmlns:a16="http://schemas.microsoft.com/office/drawing/2014/main" id="{6292043D-5D1C-489D-A2E6-05805FA61B86}"/>
              </a:ext>
            </a:extLst>
          </p:cNvPr>
          <p:cNvSpPr>
            <a:spLocks noGrp="1"/>
          </p:cNvSpPr>
          <p:nvPr/>
        </p:nvSpPr>
        <p:spPr>
          <a:xfrm>
            <a:off x="1143000" y="2028825"/>
            <a:ext cx="16002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rPr>
              <a:t>서버 구조  /  서버 구성과 게임 입장 흐름</a:t>
            </a:r>
          </a:p>
        </p:txBody>
      </p:sp>
      <p:sp>
        <p:nvSpPr>
          <p:cNvPr id="243" name="OUTLANDER  /  6">
            <a:extLst>
              <a:ext uri="{FF2B5EF4-FFF2-40B4-BE49-F238E27FC236}">
                <a16:creationId xmlns:a16="http://schemas.microsoft.com/office/drawing/2014/main" id="{7B24044B-373D-4E89-9123-7C84DCDC315D}"/>
              </a:ext>
            </a:extLst>
          </p:cNvPr>
          <p:cNvSpPr>
            <a:spLocks noGrp="1"/>
          </p:cNvSpPr>
          <p:nvPr/>
        </p:nvSpPr>
        <p:spPr>
          <a:xfrm>
            <a:off x="14573250" y="960120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defPPr>
            <a:lvl1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r">
              <a:lnSpc>
                <a:spcPct val="118000"/>
              </a:lnSpc>
              <a:buNone/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rPr>
              <a:t>OUTLANDER  /  6</a:t>
            </a:r>
          </a:p>
        </p:txBody>
      </p:sp>
    </p:spTree>
    <p:extLst>
      <p:ext uri="{BB962C8B-B14F-4D97-AF65-F5344CB8AC3E}">
        <p14:creationId xmlns:p14="http://schemas.microsoft.com/office/powerpoint/2010/main" val="2070075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Picture 2">
            <a:extLst>
              <a:ext uri="{FF2B5EF4-FFF2-40B4-BE49-F238E27FC236}">
                <a16:creationId xmlns:a16="http://schemas.microsoft.com/office/drawing/2014/main" id="{1D2B6B9C-CF28-408A-BB67-EA1A73268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id="237" name="Picture 3">
            <a:extLst>
              <a:ext uri="{FF2B5EF4-FFF2-40B4-BE49-F238E27FC236}">
                <a16:creationId xmlns:a16="http://schemas.microsoft.com/office/drawing/2014/main" id="{611941F8-96C5-4AA3-A533-7D1B945AD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3400" y="-1460500"/>
            <a:ext cx="5219700" cy="5130800"/>
          </a:xfrm>
          <a:prstGeom prst="rect">
            <a:avLst/>
          </a:prstGeom>
        </p:spPr>
      </p:pic>
      <p:pic>
        <p:nvPicPr>
          <p:cNvPr id="238" name="Picture 4">
            <a:extLst>
              <a:ext uri="{FF2B5EF4-FFF2-40B4-BE49-F238E27FC236}">
                <a16:creationId xmlns:a16="http://schemas.microsoft.com/office/drawing/2014/main" id="{8483547F-7945-4B28-B750-65A21270BFD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7000"/>
          </a:blip>
          <a:stretch>
            <a:fillRect/>
          </a:stretch>
        </p:blipFill>
        <p:spPr>
          <a:xfrm rot="18782095">
            <a:off x="-3327400" y="6921500"/>
            <a:ext cx="7454900" cy="7188200"/>
          </a:xfrm>
          <a:prstGeom prst="rect">
            <a:avLst/>
          </a:prstGeom>
        </p:spPr>
      </p:pic>
      <p:pic>
        <p:nvPicPr>
          <p:cNvPr id="239" name="Picture 7">
            <a:extLst>
              <a:ext uri="{FF2B5EF4-FFF2-40B4-BE49-F238E27FC236}">
                <a16:creationId xmlns:a16="http://schemas.microsoft.com/office/drawing/2014/main" id="{9E40D64C-7A0D-477B-94DD-AEDF5D4540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700000">
            <a:off x="5969000" y="9169400"/>
            <a:ext cx="444500" cy="431800"/>
          </a:xfrm>
          <a:prstGeom prst="rect">
            <a:avLst/>
          </a:prstGeom>
        </p:spPr>
      </p:pic>
      <p:pic>
        <p:nvPicPr>
          <p:cNvPr id="240" name="Picture 8">
            <a:extLst>
              <a:ext uri="{FF2B5EF4-FFF2-40B4-BE49-F238E27FC236}">
                <a16:creationId xmlns:a16="http://schemas.microsoft.com/office/drawing/2014/main" id="{CEC8251D-1C49-415B-9DA0-63F22DDCF7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9258300"/>
            <a:ext cx="12090400" cy="177800"/>
          </a:xfrm>
          <a:prstGeom prst="rect">
            <a:avLst/>
          </a:prstGeom>
        </p:spPr>
      </p:pic>
      <p:pic>
        <p:nvPicPr>
          <p:cNvPr id="241" name="Picture 9">
            <a:extLst>
              <a:ext uri="{FF2B5EF4-FFF2-40B4-BE49-F238E27FC236}">
                <a16:creationId xmlns:a16="http://schemas.microsoft.com/office/drawing/2014/main" id="{E8DD6980-2172-4164-935B-A595F0A889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685800" y="863600"/>
            <a:ext cx="8064500" cy="139700"/>
          </a:xfrm>
          <a:prstGeom prst="rect">
            <a:avLst/>
          </a:prstGeom>
        </p:spPr>
      </p:pic>
      <p:sp>
        <p:nvSpPr>
          <p:cNvPr id="245" name="IOCP Network Thread">
            <a:extLst>
              <a:ext uri="{FF2B5EF4-FFF2-40B4-BE49-F238E27FC236}">
                <a16:creationId xmlns:a16="http://schemas.microsoft.com/office/drawing/2014/main" id="{04154D85-C19E-4DFA-BEE8-62FA41CB624F}"/>
              </a:ext>
            </a:extLst>
          </p:cNvPr>
          <p:cNvSpPr>
            <a:spLocks noGrp="1"/>
          </p:cNvSpPr>
          <p:nvPr/>
        </p:nvSpPr>
        <p:spPr>
          <a:xfrm>
            <a:off x="1143000" y="3138488"/>
            <a:ext cx="5429250" cy="4297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rPr>
              <a:t>IOCP Network Thread</a:t>
            </a:r>
          </a:p>
        </p:txBody>
      </p:sp>
      <p:sp>
        <p:nvSpPr>
          <p:cNvPr id="246" name="작업 전달용 자료구조">
            <a:extLst>
              <a:ext uri="{FF2B5EF4-FFF2-40B4-BE49-F238E27FC236}">
                <a16:creationId xmlns:a16="http://schemas.microsoft.com/office/drawing/2014/main" id="{70B50A35-D55C-4145-ACF6-158D11AEB915}"/>
              </a:ext>
            </a:extLst>
          </p:cNvPr>
          <p:cNvSpPr>
            <a:spLocks noGrp="1"/>
          </p:cNvSpPr>
          <p:nvPr/>
        </p:nvSpPr>
        <p:spPr>
          <a:xfrm>
            <a:off x="6953250" y="3138488"/>
            <a:ext cx="4572000" cy="4297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rPr>
              <a:t>작업 전달용 자료구조</a:t>
            </a:r>
          </a:p>
        </p:txBody>
      </p:sp>
      <p:sp>
        <p:nvSpPr>
          <p:cNvPr id="247" name="Room 로직 실행 스레드">
            <a:extLst>
              <a:ext uri="{FF2B5EF4-FFF2-40B4-BE49-F238E27FC236}">
                <a16:creationId xmlns:a16="http://schemas.microsoft.com/office/drawing/2014/main" id="{DEF58565-3233-4381-93A3-2B6F8500C218}"/>
              </a:ext>
            </a:extLst>
          </p:cNvPr>
          <p:cNvSpPr>
            <a:spLocks noGrp="1"/>
          </p:cNvSpPr>
          <p:nvPr/>
        </p:nvSpPr>
        <p:spPr>
          <a:xfrm>
            <a:off x="12668250" y="3138488"/>
            <a:ext cx="4572000" cy="4297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40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rPr>
              <a:t>Room 로직 실행 스레드</a:t>
            </a:r>
          </a:p>
        </p:txBody>
      </p:sp>
      <p:sp>
        <p:nvSpPr>
          <p:cNvPr id="248" name="수신과 작업 등록">
            <a:extLst>
              <a:ext uri="{FF2B5EF4-FFF2-40B4-BE49-F238E27FC236}">
                <a16:creationId xmlns:a16="http://schemas.microsoft.com/office/drawing/2014/main" id="{5C4D485C-DF7F-4E1B-83FB-02204380C096}"/>
              </a:ext>
            </a:extLst>
          </p:cNvPr>
          <p:cNvSpPr>
            <a:spLocks noGrp="1"/>
          </p:cNvSpPr>
          <p:nvPr/>
        </p:nvSpPr>
        <p:spPr>
          <a:xfrm>
            <a:off x="1143000" y="3781425"/>
            <a:ext cx="4762500" cy="1325118"/>
          </a:xfrm>
          <a:prstGeom prst="rect">
            <a:avLst/>
          </a:prstGeom>
          <a:solidFill>
            <a:srgbClr val="FFFFFF"/>
          </a:solidFill>
          <a:ln w="13335">
            <a:solidFill>
              <a:srgbClr val="B8B8BD"/>
            </a:solidFill>
          </a:ln>
        </p:spPr>
      </p:sp>
      <p:sp>
        <p:nvSpPr>
          <p:cNvPr id="249" name="수신과 작업 등록">
            <a:extLst>
              <a:ext uri="{FF2B5EF4-FFF2-40B4-BE49-F238E27FC236}">
                <a16:creationId xmlns:a16="http://schemas.microsoft.com/office/drawing/2014/main" id="{3BE50F1B-3E74-48D6-8C1E-6785570B4358}"/>
              </a:ext>
            </a:extLst>
          </p:cNvPr>
          <p:cNvSpPr>
            <a:spLocks noGrp="1"/>
          </p:cNvSpPr>
          <p:nvPr/>
        </p:nvSpPr>
        <p:spPr>
          <a:xfrm>
            <a:off x="1333500" y="3918585"/>
            <a:ext cx="4381500" cy="4029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수신과 작업 등록</a:t>
            </a:r>
          </a:p>
        </p:txBody>
      </p:sp>
      <p:sp>
        <p:nvSpPr>
          <p:cNvPr id="250" name="C_Move 데이터 복사&#10;Room::doAsync()">
            <a:extLst>
              <a:ext uri="{FF2B5EF4-FFF2-40B4-BE49-F238E27FC236}">
                <a16:creationId xmlns:a16="http://schemas.microsoft.com/office/drawing/2014/main" id="{45C507C6-ECC2-4E1B-AF11-67E1FCACB22B}"/>
              </a:ext>
            </a:extLst>
          </p:cNvPr>
          <p:cNvSpPr>
            <a:spLocks noGrp="1"/>
          </p:cNvSpPr>
          <p:nvPr/>
        </p:nvSpPr>
        <p:spPr>
          <a:xfrm>
            <a:off x="1333500" y="4381500"/>
            <a:ext cx="4381500" cy="68046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C_Move 데이터 복사</a:t>
            </a: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Room::doAsync()</a:t>
            </a:r>
          </a:p>
        </p:txBody>
      </p:sp>
      <p:sp>
        <p:nvSpPr>
          <p:cNvPr id="251" name="Room별 JobQueue">
            <a:extLst>
              <a:ext uri="{FF2B5EF4-FFF2-40B4-BE49-F238E27FC236}">
                <a16:creationId xmlns:a16="http://schemas.microsoft.com/office/drawing/2014/main" id="{2D4CEF73-793A-43C9-ADB9-503CA57DB1E2}"/>
              </a:ext>
            </a:extLst>
          </p:cNvPr>
          <p:cNvSpPr>
            <a:spLocks noGrp="1"/>
          </p:cNvSpPr>
          <p:nvPr/>
        </p:nvSpPr>
        <p:spPr>
          <a:xfrm>
            <a:off x="6953250" y="3781425"/>
            <a:ext cx="4286250" cy="1325118"/>
          </a:xfrm>
          <a:prstGeom prst="rect">
            <a:avLst/>
          </a:prstGeom>
          <a:solidFill>
            <a:srgbClr val="FFFFFF"/>
          </a:solidFill>
          <a:ln w="13335">
            <a:solidFill>
              <a:srgbClr val="B8B8BD"/>
            </a:solidFill>
          </a:ln>
        </p:spPr>
      </p:sp>
      <p:sp>
        <p:nvSpPr>
          <p:cNvPr id="252" name="Room별 JobQueue">
            <a:extLst>
              <a:ext uri="{FF2B5EF4-FFF2-40B4-BE49-F238E27FC236}">
                <a16:creationId xmlns:a16="http://schemas.microsoft.com/office/drawing/2014/main" id="{85E874BB-F197-48E4-87CD-0C3D58E92095}"/>
              </a:ext>
            </a:extLst>
          </p:cNvPr>
          <p:cNvSpPr>
            <a:spLocks noGrp="1"/>
          </p:cNvSpPr>
          <p:nvPr/>
        </p:nvSpPr>
        <p:spPr>
          <a:xfrm>
            <a:off x="7143750" y="3918585"/>
            <a:ext cx="3905250" cy="4029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Room별 JobQueue</a:t>
            </a:r>
          </a:p>
        </p:txBody>
      </p:sp>
      <p:sp>
        <p:nvSpPr>
          <p:cNvPr id="253" name="Room 상태 변경 Job 보관">
            <a:extLst>
              <a:ext uri="{FF2B5EF4-FFF2-40B4-BE49-F238E27FC236}">
                <a16:creationId xmlns:a16="http://schemas.microsoft.com/office/drawing/2014/main" id="{17059497-E09E-470B-B745-5B1051B1FC7E}"/>
              </a:ext>
            </a:extLst>
          </p:cNvPr>
          <p:cNvSpPr>
            <a:spLocks noGrp="1"/>
          </p:cNvSpPr>
          <p:nvPr/>
        </p:nvSpPr>
        <p:spPr>
          <a:xfrm>
            <a:off x="7143750" y="4381500"/>
            <a:ext cx="3905250" cy="68046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Room 상태 변경 Job 보관</a:t>
            </a:r>
          </a:p>
        </p:txBody>
      </p:sp>
      <p:sp>
        <p:nvSpPr>
          <p:cNvPr id="254" name="공용 JobQueuePool">
            <a:extLst>
              <a:ext uri="{FF2B5EF4-FFF2-40B4-BE49-F238E27FC236}">
                <a16:creationId xmlns:a16="http://schemas.microsoft.com/office/drawing/2014/main" id="{9060F5A1-7848-47EC-9FB9-E38DC56909F4}"/>
              </a:ext>
            </a:extLst>
          </p:cNvPr>
          <p:cNvSpPr>
            <a:spLocks noGrp="1"/>
          </p:cNvSpPr>
          <p:nvPr/>
        </p:nvSpPr>
        <p:spPr>
          <a:xfrm>
            <a:off x="6953250" y="5410200"/>
            <a:ext cx="4286250" cy="1325118"/>
          </a:xfrm>
          <a:prstGeom prst="rect">
            <a:avLst/>
          </a:prstGeom>
          <a:solidFill>
            <a:srgbClr val="FFFFFF"/>
          </a:solidFill>
          <a:ln w="13335">
            <a:solidFill>
              <a:srgbClr val="B8B8BD"/>
            </a:solidFill>
          </a:ln>
        </p:spPr>
      </p:sp>
      <p:sp>
        <p:nvSpPr>
          <p:cNvPr id="255" name="공용 JobQueuePool">
            <a:extLst>
              <a:ext uri="{FF2B5EF4-FFF2-40B4-BE49-F238E27FC236}">
                <a16:creationId xmlns:a16="http://schemas.microsoft.com/office/drawing/2014/main" id="{3781D5C3-80E4-4171-9474-07A2AF71F670}"/>
              </a:ext>
            </a:extLst>
          </p:cNvPr>
          <p:cNvSpPr>
            <a:spLocks noGrp="1"/>
          </p:cNvSpPr>
          <p:nvPr/>
        </p:nvSpPr>
        <p:spPr>
          <a:xfrm>
            <a:off x="7143750" y="5547360"/>
            <a:ext cx="3905250" cy="4029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공용 JobQueuePool</a:t>
            </a:r>
          </a:p>
        </p:txBody>
      </p:sp>
      <p:sp>
        <p:nvSpPr>
          <p:cNvPr id="256" name="실행할 JobQueue* 보관">
            <a:extLst>
              <a:ext uri="{FF2B5EF4-FFF2-40B4-BE49-F238E27FC236}">
                <a16:creationId xmlns:a16="http://schemas.microsoft.com/office/drawing/2014/main" id="{C1AB0E4B-397F-49D2-B325-A0C017670975}"/>
              </a:ext>
            </a:extLst>
          </p:cNvPr>
          <p:cNvSpPr>
            <a:spLocks noGrp="1"/>
          </p:cNvSpPr>
          <p:nvPr/>
        </p:nvSpPr>
        <p:spPr>
          <a:xfrm>
            <a:off x="7143750" y="6010275"/>
            <a:ext cx="3905250" cy="68046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실행할 JobQueue* 보관</a:t>
            </a:r>
          </a:p>
        </p:txBody>
      </p:sp>
      <p:sp>
        <p:nvSpPr>
          <p:cNvPr id="257" name="Job worker">
            <a:extLst>
              <a:ext uri="{FF2B5EF4-FFF2-40B4-BE49-F238E27FC236}">
                <a16:creationId xmlns:a16="http://schemas.microsoft.com/office/drawing/2014/main" id="{28C6217A-9EED-48EF-A160-DC1B1CB44EFE}"/>
              </a:ext>
            </a:extLst>
          </p:cNvPr>
          <p:cNvSpPr>
            <a:spLocks noGrp="1"/>
          </p:cNvSpPr>
          <p:nvPr/>
        </p:nvSpPr>
        <p:spPr>
          <a:xfrm>
            <a:off x="12668250" y="3781425"/>
            <a:ext cx="4476750" cy="1907096"/>
          </a:xfrm>
          <a:prstGeom prst="rect">
            <a:avLst/>
          </a:prstGeom>
          <a:solidFill>
            <a:srgbClr val="FFFFFF"/>
          </a:solidFill>
          <a:ln w="13335">
            <a:solidFill>
              <a:srgbClr val="B8B8BD"/>
            </a:solidFill>
          </a:ln>
        </p:spPr>
      </p:sp>
      <p:sp>
        <p:nvSpPr>
          <p:cNvPr id="258" name="Job worker">
            <a:extLst>
              <a:ext uri="{FF2B5EF4-FFF2-40B4-BE49-F238E27FC236}">
                <a16:creationId xmlns:a16="http://schemas.microsoft.com/office/drawing/2014/main" id="{0D994973-FEA1-4B48-8C65-EE29D8DE985E}"/>
              </a:ext>
            </a:extLst>
          </p:cNvPr>
          <p:cNvSpPr>
            <a:spLocks noGrp="1"/>
          </p:cNvSpPr>
          <p:nvPr/>
        </p:nvSpPr>
        <p:spPr>
          <a:xfrm>
            <a:off x="12858750" y="3918585"/>
            <a:ext cx="4095750" cy="4029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Job worker</a:t>
            </a:r>
          </a:p>
        </p:txBody>
      </p:sp>
      <p:sp>
        <p:nvSpPr>
          <p:cNvPr id="259" name="Room::move() 실행&#10;S_Move 생성과 전파&#10;Session::send() 호출">
            <a:extLst>
              <a:ext uri="{FF2B5EF4-FFF2-40B4-BE49-F238E27FC236}">
                <a16:creationId xmlns:a16="http://schemas.microsoft.com/office/drawing/2014/main" id="{FE150632-A7CE-469B-9C83-5A4090BCFBA1}"/>
              </a:ext>
            </a:extLst>
          </p:cNvPr>
          <p:cNvSpPr>
            <a:spLocks noGrp="1"/>
          </p:cNvSpPr>
          <p:nvPr/>
        </p:nvSpPr>
        <p:spPr>
          <a:xfrm>
            <a:off x="12858750" y="4381500"/>
            <a:ext cx="4095750" cy="12624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Room::move() 실행</a:t>
            </a: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S_Move 생성과 전파</a:t>
            </a: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Session::send() 호출</a:t>
            </a:r>
          </a:p>
        </p:txBody>
      </p:sp>
      <p:sp>
        <p:nvSpPr>
          <p:cNvPr id="260" name="OS 비동기 I/O">
            <a:extLst>
              <a:ext uri="{FF2B5EF4-FFF2-40B4-BE49-F238E27FC236}">
                <a16:creationId xmlns:a16="http://schemas.microsoft.com/office/drawing/2014/main" id="{8E0F1FD8-2660-4C42-9450-0E87404C42AB}"/>
              </a:ext>
            </a:extLst>
          </p:cNvPr>
          <p:cNvSpPr>
            <a:spLocks noGrp="1"/>
          </p:cNvSpPr>
          <p:nvPr/>
        </p:nvSpPr>
        <p:spPr>
          <a:xfrm>
            <a:off x="12668250" y="6267450"/>
            <a:ext cx="4476750" cy="1208723"/>
          </a:xfrm>
          <a:prstGeom prst="rect">
            <a:avLst/>
          </a:prstGeom>
          <a:solidFill>
            <a:srgbClr val="FFFFFF"/>
          </a:solidFill>
          <a:ln w="13335">
            <a:solidFill>
              <a:srgbClr val="B8B8BD"/>
            </a:solidFill>
          </a:ln>
        </p:spPr>
      </p:sp>
      <p:sp>
        <p:nvSpPr>
          <p:cNvPr id="261" name="OS 비동기 I/O">
            <a:extLst>
              <a:ext uri="{FF2B5EF4-FFF2-40B4-BE49-F238E27FC236}">
                <a16:creationId xmlns:a16="http://schemas.microsoft.com/office/drawing/2014/main" id="{33795A9B-F086-497E-A91E-244C4059F626}"/>
              </a:ext>
            </a:extLst>
          </p:cNvPr>
          <p:cNvSpPr>
            <a:spLocks noGrp="1"/>
          </p:cNvSpPr>
          <p:nvPr/>
        </p:nvSpPr>
        <p:spPr>
          <a:xfrm>
            <a:off x="12858750" y="6404610"/>
            <a:ext cx="4095750" cy="4029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OS 비동기 I/O</a:t>
            </a:r>
          </a:p>
        </p:txBody>
      </p:sp>
      <p:sp>
        <p:nvSpPr>
          <p:cNvPr id="262" name="WSASend 후 완료 통지">
            <a:extLst>
              <a:ext uri="{FF2B5EF4-FFF2-40B4-BE49-F238E27FC236}">
                <a16:creationId xmlns:a16="http://schemas.microsoft.com/office/drawing/2014/main" id="{B75B4239-555B-44C5-849A-2EAF0F3898D6}"/>
              </a:ext>
            </a:extLst>
          </p:cNvPr>
          <p:cNvSpPr>
            <a:spLocks noGrp="1"/>
          </p:cNvSpPr>
          <p:nvPr/>
        </p:nvSpPr>
        <p:spPr>
          <a:xfrm>
            <a:off x="12858750" y="6867525"/>
            <a:ext cx="4095750" cy="56407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WSASend 후 완료 통지</a:t>
            </a:r>
          </a:p>
        </p:txBody>
      </p:sp>
      <p:sp>
        <p:nvSpPr>
          <p:cNvPr id="263" name="송신 완료 처리">
            <a:extLst>
              <a:ext uri="{FF2B5EF4-FFF2-40B4-BE49-F238E27FC236}">
                <a16:creationId xmlns:a16="http://schemas.microsoft.com/office/drawing/2014/main" id="{FE1CF5AE-0D9D-4BC2-AD63-7980584EFEBF}"/>
              </a:ext>
            </a:extLst>
          </p:cNvPr>
          <p:cNvSpPr>
            <a:spLocks noGrp="1"/>
          </p:cNvSpPr>
          <p:nvPr/>
        </p:nvSpPr>
        <p:spPr>
          <a:xfrm>
            <a:off x="1143000" y="6267450"/>
            <a:ext cx="4762500" cy="1208723"/>
          </a:xfrm>
          <a:prstGeom prst="rect">
            <a:avLst/>
          </a:prstGeom>
          <a:solidFill>
            <a:srgbClr val="FFFFFF"/>
          </a:solidFill>
          <a:ln w="13335">
            <a:solidFill>
              <a:srgbClr val="B8B8BD"/>
            </a:solidFill>
          </a:ln>
        </p:spPr>
      </p:sp>
      <p:sp>
        <p:nvSpPr>
          <p:cNvPr id="264" name="송신 완료 처리">
            <a:extLst>
              <a:ext uri="{FF2B5EF4-FFF2-40B4-BE49-F238E27FC236}">
                <a16:creationId xmlns:a16="http://schemas.microsoft.com/office/drawing/2014/main" id="{7CF1D6A7-A410-48F4-B05A-FA0A9C73D270}"/>
              </a:ext>
            </a:extLst>
          </p:cNvPr>
          <p:cNvSpPr>
            <a:spLocks noGrp="1"/>
          </p:cNvSpPr>
          <p:nvPr/>
        </p:nvSpPr>
        <p:spPr>
          <a:xfrm>
            <a:off x="1333500" y="6404610"/>
            <a:ext cx="4381500" cy="4029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송신 완료 처리</a:t>
            </a:r>
          </a:p>
        </p:txBody>
      </p:sp>
      <p:sp>
        <p:nvSpPr>
          <p:cNvPr id="265" name="processSend()에서 참조 정리">
            <a:extLst>
              <a:ext uri="{FF2B5EF4-FFF2-40B4-BE49-F238E27FC236}">
                <a16:creationId xmlns:a16="http://schemas.microsoft.com/office/drawing/2014/main" id="{3FC33EB8-4090-4EBD-8771-018BA97C43BB}"/>
              </a:ext>
            </a:extLst>
          </p:cNvPr>
          <p:cNvSpPr>
            <a:spLocks noGrp="1"/>
          </p:cNvSpPr>
          <p:nvPr/>
        </p:nvSpPr>
        <p:spPr>
          <a:xfrm>
            <a:off x="1333500" y="6867525"/>
            <a:ext cx="4381500" cy="56407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processSend()에서 참조 정리</a:t>
            </a:r>
          </a:p>
        </p:txBody>
      </p:sp>
      <p:cxnSp>
        <p:nvCxnSpPr>
          <p:cNvPr id="266" name="직선 화살표 연결선 265">
            <a:extLst>
              <a:ext uri="{FF2B5EF4-FFF2-40B4-BE49-F238E27FC236}">
                <a16:creationId xmlns:a16="http://schemas.microsoft.com/office/drawing/2014/main" id="{CD70D5E4-44D5-4C6A-AE78-AA5A67DD13A8}"/>
              </a:ext>
            </a:extLst>
          </p:cNvPr>
          <p:cNvCxnSpPr>
            <a:stCxn id="248" idx="3"/>
            <a:endCxn id="251" idx="1"/>
          </p:cNvCxnSpPr>
          <p:nvPr/>
        </p:nvCxnSpPr>
        <p:spPr>
          <a:xfrm>
            <a:off x="5905500" y="4443984"/>
            <a:ext cx="1047750" cy="0"/>
          </a:xfrm>
          <a:prstGeom prst="straightConnector1">
            <a:avLst/>
          </a:prstGeom>
          <a:ln w="21908">
            <a:solidFill>
              <a:srgbClr val="354B62"/>
            </a:solidFill>
            <a:prstDash val="solid"/>
            <a:tailEnd type="triangle" w="med" len="med"/>
          </a:ln>
        </p:spPr>
      </p:cxnSp>
      <p:cxnSp>
        <p:nvCxnSpPr>
          <p:cNvPr id="267" name="직선 화살표 연결선 266">
            <a:extLst>
              <a:ext uri="{FF2B5EF4-FFF2-40B4-BE49-F238E27FC236}">
                <a16:creationId xmlns:a16="http://schemas.microsoft.com/office/drawing/2014/main" id="{C7272CEB-207D-41BD-B435-92B47EA28EDB}"/>
              </a:ext>
            </a:extLst>
          </p:cNvPr>
          <p:cNvCxnSpPr>
            <a:stCxn id="251" idx="2"/>
            <a:endCxn id="254" idx="0"/>
          </p:cNvCxnSpPr>
          <p:nvPr/>
        </p:nvCxnSpPr>
        <p:spPr>
          <a:xfrm>
            <a:off x="9096375" y="5106543"/>
            <a:ext cx="0" cy="303657"/>
          </a:xfrm>
          <a:prstGeom prst="straightConnector1">
            <a:avLst/>
          </a:prstGeom>
          <a:ln w="21908">
            <a:solidFill>
              <a:srgbClr val="354B62"/>
            </a:solidFill>
            <a:prstDash val="solid"/>
            <a:tailEnd type="triangle" w="med" len="med"/>
          </a:ln>
        </p:spPr>
      </p:cxnSp>
      <p:cxnSp>
        <p:nvCxnSpPr>
          <p:cNvPr id="268" name="연결선: 꺾임 267">
            <a:extLst>
              <a:ext uri="{FF2B5EF4-FFF2-40B4-BE49-F238E27FC236}">
                <a16:creationId xmlns:a16="http://schemas.microsoft.com/office/drawing/2014/main" id="{2792AF63-BD32-4EED-B810-7B101C674F23}"/>
              </a:ext>
            </a:extLst>
          </p:cNvPr>
          <p:cNvCxnSpPr>
            <a:stCxn id="254" idx="3"/>
            <a:endCxn id="257" idx="1"/>
          </p:cNvCxnSpPr>
          <p:nvPr/>
        </p:nvCxnSpPr>
        <p:spPr>
          <a:xfrm flipV="1">
            <a:off x="11239500" y="4734973"/>
            <a:ext cx="1428750" cy="1337786"/>
          </a:xfrm>
          <a:prstGeom prst="bentConnector3">
            <a:avLst>
              <a:gd name="adj1" fmla="val 50000"/>
            </a:avLst>
          </a:prstGeom>
          <a:ln w="21908">
            <a:solidFill>
              <a:srgbClr val="354B62"/>
            </a:solidFill>
            <a:prstDash val="solid"/>
            <a:tailEnd type="triangle" w="med" len="med"/>
          </a:ln>
        </p:spPr>
      </p:cxnSp>
      <p:cxnSp>
        <p:nvCxnSpPr>
          <p:cNvPr id="269" name="직선 화살표 연결선 268">
            <a:extLst>
              <a:ext uri="{FF2B5EF4-FFF2-40B4-BE49-F238E27FC236}">
                <a16:creationId xmlns:a16="http://schemas.microsoft.com/office/drawing/2014/main" id="{3D094683-BBEA-460E-B514-FEA1B6AE4D8C}"/>
              </a:ext>
            </a:extLst>
          </p:cNvPr>
          <p:cNvCxnSpPr>
            <a:stCxn id="257" idx="2"/>
            <a:endCxn id="260" idx="0"/>
          </p:cNvCxnSpPr>
          <p:nvPr/>
        </p:nvCxnSpPr>
        <p:spPr>
          <a:xfrm>
            <a:off x="14906625" y="5688521"/>
            <a:ext cx="0" cy="578929"/>
          </a:xfrm>
          <a:prstGeom prst="straightConnector1">
            <a:avLst/>
          </a:prstGeom>
          <a:ln w="21908">
            <a:solidFill>
              <a:srgbClr val="354B62"/>
            </a:solidFill>
            <a:prstDash val="solid"/>
            <a:tailEnd type="triangle" w="med" len="med"/>
          </a:ln>
        </p:spPr>
      </p:cxnSp>
      <p:cxnSp>
        <p:nvCxnSpPr>
          <p:cNvPr id="270" name="직선 화살표 연결선 269">
            <a:extLst>
              <a:ext uri="{FF2B5EF4-FFF2-40B4-BE49-F238E27FC236}">
                <a16:creationId xmlns:a16="http://schemas.microsoft.com/office/drawing/2014/main" id="{8258CE5C-1B35-4FA3-8846-613A0D83AFD5}"/>
              </a:ext>
            </a:extLst>
          </p:cNvPr>
          <p:cNvCxnSpPr>
            <a:stCxn id="260" idx="1"/>
            <a:endCxn id="263" idx="3"/>
          </p:cNvCxnSpPr>
          <p:nvPr/>
        </p:nvCxnSpPr>
        <p:spPr>
          <a:xfrm flipH="1">
            <a:off x="5905500" y="6871811"/>
            <a:ext cx="6762750" cy="0"/>
          </a:xfrm>
          <a:prstGeom prst="straightConnector1">
            <a:avLst/>
          </a:prstGeom>
          <a:ln w="21908">
            <a:solidFill>
              <a:srgbClr val="354B62"/>
            </a:solidFill>
            <a:prstDash val="solid"/>
            <a:tailEnd type="triangle" w="med" len="med"/>
          </a:ln>
        </p:spPr>
      </p:cxnSp>
      <p:sp>
        <p:nvSpPr>
          <p:cNvPr id="271" name="Room마다 고정 스레드를 두지 않음">
            <a:extLst>
              <a:ext uri="{FF2B5EF4-FFF2-40B4-BE49-F238E27FC236}">
                <a16:creationId xmlns:a16="http://schemas.microsoft.com/office/drawing/2014/main" id="{90DAA209-4882-4231-9104-3FE3817DD637}"/>
              </a:ext>
            </a:extLst>
          </p:cNvPr>
          <p:cNvSpPr>
            <a:spLocks noGrp="1"/>
          </p:cNvSpPr>
          <p:nvPr/>
        </p:nvSpPr>
        <p:spPr>
          <a:xfrm>
            <a:off x="12858750" y="5264468"/>
            <a:ext cx="4095750" cy="30441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17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17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17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17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17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17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17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17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17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endParaRPr/>
          </a:p>
        </p:txBody>
      </p:sp>
      <p:sp>
        <p:nvSpPr>
          <p:cNvPr id="272" name="등록과 실행의 구분">
            <a:extLst>
              <a:ext uri="{FF2B5EF4-FFF2-40B4-BE49-F238E27FC236}">
                <a16:creationId xmlns:a16="http://schemas.microsoft.com/office/drawing/2014/main" id="{4DB3F704-2957-4614-BAA2-F94DB41AD19D}"/>
              </a:ext>
            </a:extLst>
          </p:cNvPr>
          <p:cNvSpPr>
            <a:spLocks noGrp="1"/>
          </p:cNvSpPr>
          <p:nvPr/>
        </p:nvSpPr>
        <p:spPr>
          <a:xfrm>
            <a:off x="1143000" y="7667625"/>
            <a:ext cx="6191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rPr>
              <a:t>등록과 실행의 구분</a:t>
            </a:r>
          </a:p>
        </p:txBody>
      </p:sp>
      <p:sp>
        <p:nvSpPr>
          <p:cNvPr id="273" name="IOCP 스레드는 Job을 등록하고, Job worker가 Room 로직을 실행합니다.&#10;송신 요청은 호출한 스레드에서 시작할 ">
            <a:extLst>
              <a:ext uri="{FF2B5EF4-FFF2-40B4-BE49-F238E27FC236}">
                <a16:creationId xmlns:a16="http://schemas.microsoft.com/office/drawing/2014/main" id="{A2401017-070B-457F-A5ED-810B67CB7B22}"/>
              </a:ext>
            </a:extLst>
          </p:cNvPr>
          <p:cNvSpPr>
            <a:spLocks noGrp="1"/>
          </p:cNvSpPr>
          <p:nvPr/>
        </p:nvSpPr>
        <p:spPr>
          <a:xfrm>
            <a:off x="1143000" y="8100543"/>
            <a:ext cx="16002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Room마다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고정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스레드를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두지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않고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worker를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공유</a:t>
            </a:r>
            <a:r>
              <a:rPr lang="ko-KR" altLang="en-US"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합니다</a:t>
            </a:r>
            <a:r>
              <a:rPr lang="en-US" altLang="ko-KR" sz="1950" dirty="0"/>
              <a:t>.</a:t>
            </a:r>
            <a:endParaRPr sz="1950" b="0" dirty="0">
              <a:solidFill>
                <a:srgbClr val="414141"/>
              </a:solidFill>
              <a:latin typeface="Pretendard Regular"/>
              <a:ea typeface="Pretendard Regular"/>
              <a:cs typeface="Pretendard Regular"/>
            </a:endParaRPr>
          </a:p>
          <a:p>
            <a:pPr algn="l">
              <a:lnSpc>
                <a:spcPct val="115000"/>
              </a:lnSpc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IOCP는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Job을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등록하고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worker는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Room </a:t>
            </a: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로직을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실행</a:t>
            </a:r>
            <a:r>
              <a:rPr lang="ko-KR" altLang="en-US"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합니다</a:t>
            </a:r>
            <a:r>
              <a:rPr lang="en-US" altLang="ko-KR"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.</a:t>
            </a:r>
            <a:endParaRPr sz="1950" b="0" dirty="0">
              <a:solidFill>
                <a:srgbClr val="414141"/>
              </a:solidFill>
              <a:latin typeface="Pretendard Regular"/>
              <a:ea typeface="Pretendard Regular"/>
              <a:cs typeface="Pretendard Regular"/>
            </a:endParaRPr>
          </a:p>
          <a:p>
            <a:pPr algn="l">
              <a:lnSpc>
                <a:spcPct val="115000"/>
              </a:lnSpc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송신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요청은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호출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스레드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완료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처리는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IOCP가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담당</a:t>
            </a:r>
            <a:r>
              <a:rPr lang="ko-KR" altLang="en-US" sz="1950" dirty="0"/>
              <a:t>합니다</a:t>
            </a:r>
            <a:r>
              <a:rPr lang="en-US" altLang="ko-KR"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.</a:t>
            </a:r>
            <a:endParaRPr sz="1950" b="0" dirty="0">
              <a:solidFill>
                <a:srgbClr val="414141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74" name="02">
            <a:extLst>
              <a:ext uri="{FF2B5EF4-FFF2-40B4-BE49-F238E27FC236}">
                <a16:creationId xmlns:a16="http://schemas.microsoft.com/office/drawing/2014/main" id="{9F7B0C22-3B84-459F-AE02-6B939B37C598}"/>
              </a:ext>
            </a:extLst>
          </p:cNvPr>
          <p:cNvSpPr>
            <a:spLocks noGrp="1"/>
          </p:cNvSpPr>
          <p:nvPr/>
        </p:nvSpPr>
        <p:spPr>
          <a:xfrm>
            <a:off x="1143000" y="1143000"/>
            <a:ext cx="723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275" name="PROJECT  이방인(Outlander)">
            <a:extLst>
              <a:ext uri="{FF2B5EF4-FFF2-40B4-BE49-F238E27FC236}">
                <a16:creationId xmlns:a16="http://schemas.microsoft.com/office/drawing/2014/main" id="{52273709-794D-400A-8603-3CB8465E9666}"/>
              </a:ext>
            </a:extLst>
          </p:cNvPr>
          <p:cNvSpPr>
            <a:spLocks noGrp="1"/>
          </p:cNvSpPr>
          <p:nvPr/>
        </p:nvSpPr>
        <p:spPr>
          <a:xfrm>
            <a:off x="2076450" y="1171575"/>
            <a:ext cx="148113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>
              <a:lnSpc>
                <a:spcPct val="118000"/>
              </a:lnSpc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lang="ko-KR" altLang="en-US" b="0" dirty="0">
                <a:latin typeface="Pretendard Regular"/>
                <a:ea typeface="Pretendard Regular"/>
                <a:cs typeface="Pretendard Regular"/>
              </a:rPr>
              <a:t>졸업작품 이방인</a:t>
            </a:r>
            <a:r>
              <a:rPr lang="en-US" altLang="ko-KR" b="0" dirty="0">
                <a:latin typeface="Pretendard Regular"/>
                <a:ea typeface="Pretendard Regular"/>
                <a:cs typeface="Pretendard Regular"/>
              </a:rPr>
              <a:t>(Outlander)</a:t>
            </a:r>
            <a:endParaRPr lang="ko-KR" altLang="en-US" b="0" dirty="0"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76" name="서버 구조  /  패킷 수신부터 Room 작업 실행까지">
            <a:extLst>
              <a:ext uri="{FF2B5EF4-FFF2-40B4-BE49-F238E27FC236}">
                <a16:creationId xmlns:a16="http://schemas.microsoft.com/office/drawing/2014/main" id="{AC1B7697-A592-4D0B-BE12-322150A8C194}"/>
              </a:ext>
            </a:extLst>
          </p:cNvPr>
          <p:cNvSpPr>
            <a:spLocks noGrp="1"/>
          </p:cNvSpPr>
          <p:nvPr/>
        </p:nvSpPr>
        <p:spPr>
          <a:xfrm>
            <a:off x="1143000" y="2028825"/>
            <a:ext cx="16002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rPr>
              <a:t>서버 구조  /  패킷 수신부터 Room 작업 실행까지</a:t>
            </a:r>
          </a:p>
        </p:txBody>
      </p:sp>
      <p:sp>
        <p:nvSpPr>
          <p:cNvPr id="277" name="OUTLANDER  /  7">
            <a:extLst>
              <a:ext uri="{FF2B5EF4-FFF2-40B4-BE49-F238E27FC236}">
                <a16:creationId xmlns:a16="http://schemas.microsoft.com/office/drawing/2014/main" id="{969D3D41-86D4-4F08-BAB8-7E724CF9C76E}"/>
              </a:ext>
            </a:extLst>
          </p:cNvPr>
          <p:cNvSpPr>
            <a:spLocks noGrp="1"/>
          </p:cNvSpPr>
          <p:nvPr/>
        </p:nvSpPr>
        <p:spPr>
          <a:xfrm>
            <a:off x="14573250" y="960120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defPPr>
            <a:lvl1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r">
              <a:lnSpc>
                <a:spcPct val="118000"/>
              </a:lnSpc>
              <a:buNone/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rPr>
              <a:t>OUTLANDER  /  7</a:t>
            </a:r>
          </a:p>
        </p:txBody>
      </p:sp>
    </p:spTree>
    <p:extLst>
      <p:ext uri="{BB962C8B-B14F-4D97-AF65-F5344CB8AC3E}">
        <p14:creationId xmlns:p14="http://schemas.microsoft.com/office/powerpoint/2010/main" val="2070075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Picture 2">
            <a:extLst>
              <a:ext uri="{FF2B5EF4-FFF2-40B4-BE49-F238E27FC236}">
                <a16:creationId xmlns:a16="http://schemas.microsoft.com/office/drawing/2014/main" id="{0753C8B5-7B21-4234-8A3B-5C4FF5E03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id="237" name="Picture 3">
            <a:extLst>
              <a:ext uri="{FF2B5EF4-FFF2-40B4-BE49-F238E27FC236}">
                <a16:creationId xmlns:a16="http://schemas.microsoft.com/office/drawing/2014/main" id="{4E5A0077-6BAD-4258-8FE4-75F6678A3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3400" y="-1460500"/>
            <a:ext cx="5219700" cy="5130800"/>
          </a:xfrm>
          <a:prstGeom prst="rect">
            <a:avLst/>
          </a:prstGeom>
        </p:spPr>
      </p:pic>
      <p:pic>
        <p:nvPicPr>
          <p:cNvPr id="238" name="Picture 4">
            <a:extLst>
              <a:ext uri="{FF2B5EF4-FFF2-40B4-BE49-F238E27FC236}">
                <a16:creationId xmlns:a16="http://schemas.microsoft.com/office/drawing/2014/main" id="{5BEDC58D-B7C7-4CC0-AE19-191124B3D84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7000"/>
          </a:blip>
          <a:stretch>
            <a:fillRect/>
          </a:stretch>
        </p:blipFill>
        <p:spPr>
          <a:xfrm rot="18782095">
            <a:off x="-3327400" y="6921500"/>
            <a:ext cx="7454900" cy="7188200"/>
          </a:xfrm>
          <a:prstGeom prst="rect">
            <a:avLst/>
          </a:prstGeom>
        </p:spPr>
      </p:pic>
      <p:pic>
        <p:nvPicPr>
          <p:cNvPr id="239" name="Picture 7">
            <a:extLst>
              <a:ext uri="{FF2B5EF4-FFF2-40B4-BE49-F238E27FC236}">
                <a16:creationId xmlns:a16="http://schemas.microsoft.com/office/drawing/2014/main" id="{D3B62866-072F-48BB-A8E6-801997EF52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700000">
            <a:off x="5969000" y="9169400"/>
            <a:ext cx="444500" cy="431800"/>
          </a:xfrm>
          <a:prstGeom prst="rect">
            <a:avLst/>
          </a:prstGeom>
        </p:spPr>
      </p:pic>
      <p:pic>
        <p:nvPicPr>
          <p:cNvPr id="240" name="Picture 8">
            <a:extLst>
              <a:ext uri="{FF2B5EF4-FFF2-40B4-BE49-F238E27FC236}">
                <a16:creationId xmlns:a16="http://schemas.microsoft.com/office/drawing/2014/main" id="{77BA3869-8CD1-48E1-B23E-5CD588D769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9258300"/>
            <a:ext cx="12090400" cy="177800"/>
          </a:xfrm>
          <a:prstGeom prst="rect">
            <a:avLst/>
          </a:prstGeom>
        </p:spPr>
      </p:pic>
      <p:pic>
        <p:nvPicPr>
          <p:cNvPr id="241" name="Picture 9">
            <a:extLst>
              <a:ext uri="{FF2B5EF4-FFF2-40B4-BE49-F238E27FC236}">
                <a16:creationId xmlns:a16="http://schemas.microsoft.com/office/drawing/2014/main" id="{2FCA4D0E-A965-4898-B704-D7B76A6C4B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685800" y="863600"/>
            <a:ext cx="8064500" cy="139700"/>
          </a:xfrm>
          <a:prstGeom prst="rect">
            <a:avLst/>
          </a:prstGeom>
        </p:spPr>
      </p:pic>
      <p:pic>
        <p:nvPicPr>
          <p:cNvPr id="246" name="그림 245">
            <a:extLst>
              <a:ext uri="{FF2B5EF4-FFF2-40B4-BE49-F238E27FC236}">
                <a16:creationId xmlns:a16="http://schemas.microsoft.com/office/drawing/2014/main" id="{C2FC4C62-173D-44DE-B8CD-787E1D22DF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143000" y="3224213"/>
            <a:ext cx="10668000" cy="3088957"/>
          </a:xfrm>
          <a:prstGeom prst="rect">
            <a:avLst/>
          </a:prstGeom>
        </p:spPr>
      </p:pic>
      <p:pic>
        <p:nvPicPr>
          <p:cNvPr id="247" name="그림 246">
            <a:extLst>
              <a:ext uri="{FF2B5EF4-FFF2-40B4-BE49-F238E27FC236}">
                <a16:creationId xmlns:a16="http://schemas.microsoft.com/office/drawing/2014/main" id="{A1C2D684-46C4-4BB0-B4C0-98D7FC185F7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1143000" y="6824663"/>
            <a:ext cx="10668000" cy="1540002"/>
          </a:xfrm>
          <a:prstGeom prst="rect">
            <a:avLst/>
          </a:prstGeom>
        </p:spPr>
      </p:pic>
      <p:sp>
        <p:nvSpPr>
          <p:cNvPr id="248" name="Job  실행할 콜백 보관">
            <a:extLst>
              <a:ext uri="{FF2B5EF4-FFF2-40B4-BE49-F238E27FC236}">
                <a16:creationId xmlns:a16="http://schemas.microsoft.com/office/drawing/2014/main" id="{37529E22-0D25-45AB-A356-D92AFA112CFA}"/>
              </a:ext>
            </a:extLst>
          </p:cNvPr>
          <p:cNvSpPr>
            <a:spLocks noGrp="1"/>
          </p:cNvSpPr>
          <p:nvPr/>
        </p:nvSpPr>
        <p:spPr>
          <a:xfrm>
            <a:off x="12268200" y="3309938"/>
            <a:ext cx="4905375" cy="41186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rPr>
              <a:t>Job  실행할 콜백 보관</a:t>
            </a:r>
          </a:p>
        </p:txBody>
      </p:sp>
      <p:sp>
        <p:nvSpPr>
          <p:cNvPr id="249" name="생성자에서 callback_을 저장하고,&#10;execute()를 호출할 때 실행합니다.&#10;등록 시점과 실행 시점을 분리합니다.">
            <a:extLst>
              <a:ext uri="{FF2B5EF4-FFF2-40B4-BE49-F238E27FC236}">
                <a16:creationId xmlns:a16="http://schemas.microsoft.com/office/drawing/2014/main" id="{F19CC462-FE70-46CC-92D7-6C05A4B77EE0}"/>
              </a:ext>
            </a:extLst>
          </p:cNvPr>
          <p:cNvSpPr>
            <a:spLocks noGrp="1"/>
          </p:cNvSpPr>
          <p:nvPr/>
        </p:nvSpPr>
        <p:spPr>
          <a:xfrm>
            <a:off x="12268200" y="3798570"/>
            <a:ext cx="4905375" cy="16116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2000"/>
              </a:lnSpc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콜백을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저장한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뒤 execute()</a:t>
            </a: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에서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실행</a:t>
            </a:r>
            <a:r>
              <a:rPr lang="ko-KR" altLang="en-US" sz="1950" dirty="0"/>
              <a:t>합니다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algn="l">
              <a:lnSpc>
                <a:spcPct val="112000"/>
              </a:lnSpc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작업의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등록과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실행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시점을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분리</a:t>
            </a:r>
            <a:r>
              <a:rPr lang="ko-KR" altLang="en-US" sz="1950" dirty="0"/>
              <a:t>합니다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sp>
        <p:nvSpPr>
          <p:cNvPr id="250" name="doAsync()  Job 생성과 전달">
            <a:extLst>
              <a:ext uri="{FF2B5EF4-FFF2-40B4-BE49-F238E27FC236}">
                <a16:creationId xmlns:a16="http://schemas.microsoft.com/office/drawing/2014/main" id="{97159955-2503-43CC-ABA3-5E8956CAD2D8}"/>
              </a:ext>
            </a:extLst>
          </p:cNvPr>
          <p:cNvSpPr>
            <a:spLocks noGrp="1"/>
          </p:cNvSpPr>
          <p:nvPr/>
        </p:nvSpPr>
        <p:spPr>
          <a:xfrm>
            <a:off x="12268200" y="5081016"/>
            <a:ext cx="4905375" cy="41186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rPr>
              <a:t>doAsync()  Job 생성과 전달</a:t>
            </a:r>
          </a:p>
        </p:txBody>
      </p:sp>
      <p:sp>
        <p:nvSpPr>
          <p:cNvPr id="251" name="ObjectPool에서 Job을 얻고&#10;push()를 통해 Room 큐에 넣습니다.&#10;이 자리에서 콜백을 직접 실행하지 않습니다.">
            <a:extLst>
              <a:ext uri="{FF2B5EF4-FFF2-40B4-BE49-F238E27FC236}">
                <a16:creationId xmlns:a16="http://schemas.microsoft.com/office/drawing/2014/main" id="{082E8456-8661-47A8-A20D-8F307A23EA34}"/>
              </a:ext>
            </a:extLst>
          </p:cNvPr>
          <p:cNvSpPr>
            <a:spLocks noGrp="1"/>
          </p:cNvSpPr>
          <p:nvPr/>
        </p:nvSpPr>
        <p:spPr>
          <a:xfrm>
            <a:off x="12268200" y="5576316"/>
            <a:ext cx="5219700" cy="8101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ObjectPool에서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얻은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Job을</a:t>
            </a:r>
            <a:r>
              <a:rPr lang="en-US" altLang="ko-KR"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Room </a:t>
            </a: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큐에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넣</a:t>
            </a:r>
            <a:r>
              <a:rPr lang="ko-KR" altLang="en-US" dirty="0"/>
              <a:t>습니다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콜백은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worke가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950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실행</a:t>
            </a:r>
            <a:r>
              <a:rPr lang="ko-KR" altLang="en-US" dirty="0"/>
              <a:t>합니다</a:t>
            </a:r>
            <a:r>
              <a:rPr sz="1950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sp>
        <p:nvSpPr>
          <p:cNvPr id="252" name="작업 대상의 수명">
            <a:extLst>
              <a:ext uri="{FF2B5EF4-FFF2-40B4-BE49-F238E27FC236}">
                <a16:creationId xmlns:a16="http://schemas.microsoft.com/office/drawing/2014/main" id="{63145728-507A-436F-B4BD-726D6B28AF51}"/>
              </a:ext>
            </a:extLst>
          </p:cNvPr>
          <p:cNvSpPr>
            <a:spLocks noGrp="1"/>
          </p:cNvSpPr>
          <p:nvPr/>
        </p:nvSpPr>
        <p:spPr>
          <a:xfrm>
            <a:off x="12268200" y="6821234"/>
            <a:ext cx="4905375" cy="41186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rPr>
              <a:t>보조 기술과 객체 수명</a:t>
            </a:r>
          </a:p>
        </p:txBody>
      </p:sp>
      <p:sp>
        <p:nvSpPr>
          <p:cNvPr id="253" name="포인터를 캡처해도 대상 객체의&#10;수명이 자동으로 늘어나지는 않습니다.">
            <a:extLst>
              <a:ext uri="{FF2B5EF4-FFF2-40B4-BE49-F238E27FC236}">
                <a16:creationId xmlns:a16="http://schemas.microsoft.com/office/drawing/2014/main" id="{A9BF3872-DFC4-4110-AAFB-DBABA85A2D11}"/>
              </a:ext>
            </a:extLst>
          </p:cNvPr>
          <p:cNvSpPr>
            <a:spLocks noGrp="1"/>
          </p:cNvSpPr>
          <p:nvPr/>
        </p:nvSpPr>
        <p:spPr>
          <a:xfrm>
            <a:off x="12268200" y="7359396"/>
            <a:ext cx="4905375" cy="76733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875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ObjectPool과</a:t>
            </a:r>
            <a:r>
              <a:rPr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875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MemoryPool로</a:t>
            </a:r>
            <a:r>
              <a:rPr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875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재사용</a:t>
            </a:r>
            <a:r>
              <a:rPr lang="ko-KR" altLang="en-US"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합니다</a:t>
            </a:r>
            <a:r>
              <a:rPr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lang="en-US" altLang="ko-KR"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raw pointer </a:t>
            </a:r>
            <a:r>
              <a:rPr lang="ko-KR" altLang="en-US"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대상의 </a:t>
            </a:r>
            <a:r>
              <a:rPr lang="ko-KR" altLang="en-US" sz="1875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수명은별도로</a:t>
            </a:r>
            <a:r>
              <a:rPr lang="ko-KR" altLang="en-US"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보장해야 합니다</a:t>
            </a:r>
            <a:r>
              <a:rPr lang="en-US" altLang="ko-KR"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sp>
        <p:nvSpPr>
          <p:cNvPr id="254" name="02">
            <a:extLst>
              <a:ext uri="{FF2B5EF4-FFF2-40B4-BE49-F238E27FC236}">
                <a16:creationId xmlns:a16="http://schemas.microsoft.com/office/drawing/2014/main" id="{CD9BA6D3-8095-48F3-9AE7-DC1988C6DBAC}"/>
              </a:ext>
            </a:extLst>
          </p:cNvPr>
          <p:cNvSpPr>
            <a:spLocks noGrp="1"/>
          </p:cNvSpPr>
          <p:nvPr/>
        </p:nvSpPr>
        <p:spPr>
          <a:xfrm>
            <a:off x="1143000" y="1143000"/>
            <a:ext cx="723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255" name="PROJECT  이방인(Outlander)">
            <a:extLst>
              <a:ext uri="{FF2B5EF4-FFF2-40B4-BE49-F238E27FC236}">
                <a16:creationId xmlns:a16="http://schemas.microsoft.com/office/drawing/2014/main" id="{4EFCE412-4AA3-4EB1-9CFA-95DF4EFCE023}"/>
              </a:ext>
            </a:extLst>
          </p:cNvPr>
          <p:cNvSpPr>
            <a:spLocks noGrp="1"/>
          </p:cNvSpPr>
          <p:nvPr/>
        </p:nvSpPr>
        <p:spPr>
          <a:xfrm>
            <a:off x="2076450" y="1171575"/>
            <a:ext cx="148113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>
              <a:lnSpc>
                <a:spcPct val="118000"/>
              </a:lnSpc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lang="ko-KR" altLang="en-US" b="0" dirty="0">
                <a:latin typeface="Pretendard Regular"/>
                <a:ea typeface="Pretendard Regular"/>
                <a:cs typeface="Pretendard Regular"/>
              </a:rPr>
              <a:t>졸업작품 이방인</a:t>
            </a:r>
            <a:r>
              <a:rPr lang="en-US" altLang="ko-KR" b="0" dirty="0">
                <a:latin typeface="Pretendard Regular"/>
                <a:ea typeface="Pretendard Regular"/>
                <a:cs typeface="Pretendard Regular"/>
              </a:rPr>
              <a:t>(Outlander)</a:t>
            </a:r>
            <a:endParaRPr lang="ko-KR" altLang="en-US" b="0" dirty="0"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56" name="서버 기반 기술  /  Job과 JobQueue의 작업 등록">
            <a:extLst>
              <a:ext uri="{FF2B5EF4-FFF2-40B4-BE49-F238E27FC236}">
                <a16:creationId xmlns:a16="http://schemas.microsoft.com/office/drawing/2014/main" id="{844255BA-4E5F-4C1D-AF11-9A483461DA3F}"/>
              </a:ext>
            </a:extLst>
          </p:cNvPr>
          <p:cNvSpPr>
            <a:spLocks noGrp="1"/>
          </p:cNvSpPr>
          <p:nvPr/>
        </p:nvSpPr>
        <p:spPr>
          <a:xfrm>
            <a:off x="1143000" y="2028825"/>
            <a:ext cx="16002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rPr>
              <a:t>서버 기반 기술  /  Job과 JobQueue의 작업 등록</a:t>
            </a:r>
          </a:p>
        </p:txBody>
      </p:sp>
      <p:sp>
        <p:nvSpPr>
          <p:cNvPr id="257" name="OUTLANDER  /  8">
            <a:extLst>
              <a:ext uri="{FF2B5EF4-FFF2-40B4-BE49-F238E27FC236}">
                <a16:creationId xmlns:a16="http://schemas.microsoft.com/office/drawing/2014/main" id="{B25661AA-6C54-4BA3-B248-B7BD532BE33D}"/>
              </a:ext>
            </a:extLst>
          </p:cNvPr>
          <p:cNvSpPr>
            <a:spLocks noGrp="1"/>
          </p:cNvSpPr>
          <p:nvPr/>
        </p:nvSpPr>
        <p:spPr>
          <a:xfrm>
            <a:off x="12268200" y="9601200"/>
            <a:ext cx="4905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defPPr>
            <a:lvl1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r">
              <a:lnSpc>
                <a:spcPct val="118000"/>
              </a:lnSpc>
              <a:buNone/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rPr>
              <a:t>OUTLANDER  /  8</a:t>
            </a:r>
          </a:p>
        </p:txBody>
      </p:sp>
    </p:spTree>
    <p:extLst>
      <p:ext uri="{BB962C8B-B14F-4D97-AF65-F5344CB8AC3E}">
        <p14:creationId xmlns:p14="http://schemas.microsoft.com/office/powerpoint/2010/main" val="2070075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Picture 2">
            <a:extLst>
              <a:ext uri="{FF2B5EF4-FFF2-40B4-BE49-F238E27FC236}">
                <a16:creationId xmlns:a16="http://schemas.microsoft.com/office/drawing/2014/main" id="{AA6F2EEA-52F5-4FCF-B298-B5C7F2F5A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id="237" name="Picture 3">
            <a:extLst>
              <a:ext uri="{FF2B5EF4-FFF2-40B4-BE49-F238E27FC236}">
                <a16:creationId xmlns:a16="http://schemas.microsoft.com/office/drawing/2014/main" id="{55467E7D-B66E-4895-9644-BA8BFFFF7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3400" y="-1460500"/>
            <a:ext cx="5219700" cy="5130800"/>
          </a:xfrm>
          <a:prstGeom prst="rect">
            <a:avLst/>
          </a:prstGeom>
        </p:spPr>
      </p:pic>
      <p:pic>
        <p:nvPicPr>
          <p:cNvPr id="238" name="Picture 4">
            <a:extLst>
              <a:ext uri="{FF2B5EF4-FFF2-40B4-BE49-F238E27FC236}">
                <a16:creationId xmlns:a16="http://schemas.microsoft.com/office/drawing/2014/main" id="{2CCC0D45-9A47-433F-BD57-CE3795757CF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7000"/>
          </a:blip>
          <a:stretch>
            <a:fillRect/>
          </a:stretch>
        </p:blipFill>
        <p:spPr>
          <a:xfrm rot="18782095">
            <a:off x="-3327400" y="6921500"/>
            <a:ext cx="7454900" cy="7188200"/>
          </a:xfrm>
          <a:prstGeom prst="rect">
            <a:avLst/>
          </a:prstGeom>
        </p:spPr>
      </p:pic>
      <p:pic>
        <p:nvPicPr>
          <p:cNvPr id="239" name="Picture 7">
            <a:extLst>
              <a:ext uri="{FF2B5EF4-FFF2-40B4-BE49-F238E27FC236}">
                <a16:creationId xmlns:a16="http://schemas.microsoft.com/office/drawing/2014/main" id="{6743C297-5BD5-4241-8661-3B5C3641D1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700000">
            <a:off x="5969000" y="9169400"/>
            <a:ext cx="444500" cy="431800"/>
          </a:xfrm>
          <a:prstGeom prst="rect">
            <a:avLst/>
          </a:prstGeom>
        </p:spPr>
      </p:pic>
      <p:pic>
        <p:nvPicPr>
          <p:cNvPr id="240" name="Picture 8">
            <a:extLst>
              <a:ext uri="{FF2B5EF4-FFF2-40B4-BE49-F238E27FC236}">
                <a16:creationId xmlns:a16="http://schemas.microsoft.com/office/drawing/2014/main" id="{1C12F919-503B-46D2-82E1-51FDE60C08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9258300"/>
            <a:ext cx="12090400" cy="177800"/>
          </a:xfrm>
          <a:prstGeom prst="rect">
            <a:avLst/>
          </a:prstGeom>
        </p:spPr>
      </p:pic>
      <p:pic>
        <p:nvPicPr>
          <p:cNvPr id="241" name="Picture 9">
            <a:extLst>
              <a:ext uri="{FF2B5EF4-FFF2-40B4-BE49-F238E27FC236}">
                <a16:creationId xmlns:a16="http://schemas.microsoft.com/office/drawing/2014/main" id="{63106E4D-4D72-47A7-9408-165E7EC7F0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685800" y="863600"/>
            <a:ext cx="8064500" cy="139700"/>
          </a:xfrm>
          <a:prstGeom prst="rect">
            <a:avLst/>
          </a:prstGeom>
        </p:spPr>
      </p:pic>
      <p:sp>
        <p:nvSpPr>
          <p:cNvPr id="245" name="등록 전 작업 수가 0이면 공용 풀에 등록">
            <a:extLst>
              <a:ext uri="{FF2B5EF4-FFF2-40B4-BE49-F238E27FC236}">
                <a16:creationId xmlns:a16="http://schemas.microsoft.com/office/drawing/2014/main" id="{1AD794BB-831F-4119-9E60-3CB2653E8857}"/>
              </a:ext>
            </a:extLst>
          </p:cNvPr>
          <p:cNvSpPr>
            <a:spLocks noGrp="1"/>
          </p:cNvSpPr>
          <p:nvPr/>
        </p:nvSpPr>
        <p:spPr>
          <a:xfrm>
            <a:off x="1143000" y="3181350"/>
            <a:ext cx="7620000" cy="4029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rPr>
              <a:t>등록 전 작업 수가 0이면 공용 풀에 등록</a:t>
            </a:r>
          </a:p>
        </p:txBody>
      </p:sp>
      <p:sp>
        <p:nvSpPr>
          <p:cNvPr id="246" name="실행을 마친 작업 수를 차감">
            <a:extLst>
              <a:ext uri="{FF2B5EF4-FFF2-40B4-BE49-F238E27FC236}">
                <a16:creationId xmlns:a16="http://schemas.microsoft.com/office/drawing/2014/main" id="{88FB7D46-B81C-40A6-B6C8-B5A553536379}"/>
              </a:ext>
            </a:extLst>
          </p:cNvPr>
          <p:cNvSpPr>
            <a:spLocks noGrp="1"/>
          </p:cNvSpPr>
          <p:nvPr/>
        </p:nvSpPr>
        <p:spPr>
          <a:xfrm>
            <a:off x="9620250" y="3181350"/>
            <a:ext cx="7620000" cy="4029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rPr>
              <a:t>실행을 마친 작업 수를 차감</a:t>
            </a:r>
          </a:p>
        </p:txBody>
      </p:sp>
      <p:pic>
        <p:nvPicPr>
          <p:cNvPr id="247" name="그림 246">
            <a:extLst>
              <a:ext uri="{FF2B5EF4-FFF2-40B4-BE49-F238E27FC236}">
                <a16:creationId xmlns:a16="http://schemas.microsoft.com/office/drawing/2014/main" id="{0300CF22-E6C8-4326-927A-65109031F22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143000" y="3738563"/>
            <a:ext cx="7620000" cy="2677097"/>
          </a:xfrm>
          <a:prstGeom prst="rect">
            <a:avLst/>
          </a:prstGeom>
        </p:spPr>
      </p:pic>
      <p:pic>
        <p:nvPicPr>
          <p:cNvPr id="248" name="그림 247">
            <a:extLst>
              <a:ext uri="{FF2B5EF4-FFF2-40B4-BE49-F238E27FC236}">
                <a16:creationId xmlns:a16="http://schemas.microsoft.com/office/drawing/2014/main" id="{C8920C8F-1713-49B3-AEB4-4A40E7BF72C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9620250" y="3738563"/>
            <a:ext cx="7620000" cy="4235005"/>
          </a:xfrm>
          <a:prstGeom prst="rect">
            <a:avLst/>
          </a:prstGeom>
        </p:spPr>
      </p:pic>
      <p:sp>
        <p:nvSpPr>
          <p:cNvPr id="249" name="jobCount_는 실행 중인 작업까지 포함합니다.&#10;추가 Job이 들어와도 기존 작업이 남아 있으면&#10;같은 큐를 공용 풀에 다시">
            <a:extLst>
              <a:ext uri="{FF2B5EF4-FFF2-40B4-BE49-F238E27FC236}">
                <a16:creationId xmlns:a16="http://schemas.microsoft.com/office/drawing/2014/main" id="{50461E59-1AA0-4341-B719-062D15BFD3F4}"/>
              </a:ext>
            </a:extLst>
          </p:cNvPr>
          <p:cNvSpPr>
            <a:spLocks noGrp="1"/>
          </p:cNvSpPr>
          <p:nvPr/>
        </p:nvSpPr>
        <p:spPr>
          <a:xfrm>
            <a:off x="1143000" y="7381875"/>
            <a:ext cx="781050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jobCount_는 실행 중인 작업까지 포함합니다.</a:t>
            </a:r>
          </a:p>
          <a:p>
            <a:pPr algn="l">
              <a:lnSpc>
                <a:spcPct val="115000"/>
              </a:lnSpc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추가 Job이 들어와도 기존 작업이 남아 있으면</a:t>
            </a:r>
          </a:p>
          <a:p>
            <a:pPr algn="l">
              <a:lnSpc>
                <a:spcPct val="115000"/>
              </a:lnSpc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같은 큐를 공용 풀에 다시 등록하지 않습니다.</a:t>
            </a:r>
          </a:p>
        </p:txBody>
      </p:sp>
      <p:sp>
        <p:nvSpPr>
          <p:cNvPr id="250" name="실행 중 새 Job이 추가되면 잔량에 반영합니다.&#10;잔량이 양수이면 다음 묶음을 처리합니다.&#10;100개는 묶음 크기이며 실행 시간">
            <a:extLst>
              <a:ext uri="{FF2B5EF4-FFF2-40B4-BE49-F238E27FC236}">
                <a16:creationId xmlns:a16="http://schemas.microsoft.com/office/drawing/2014/main" id="{1068A1E4-7D4B-4CA8-BB62-D1ADB6757938}"/>
              </a:ext>
            </a:extLst>
          </p:cNvPr>
          <p:cNvSpPr>
            <a:spLocks noGrp="1"/>
          </p:cNvSpPr>
          <p:nvPr/>
        </p:nvSpPr>
        <p:spPr>
          <a:xfrm>
            <a:off x="9620250" y="8305800"/>
            <a:ext cx="7620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실행 중 새 Job이 추가되면 잔량에 반영합니다.</a:t>
            </a:r>
          </a:p>
          <a:p>
            <a:pPr algn="l">
              <a:lnSpc>
                <a:spcPct val="115000"/>
              </a:lnSpc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잔량이 양수이면 다음 묶음을 처리합니다.</a:t>
            </a:r>
          </a:p>
          <a:p>
            <a:pPr algn="l">
              <a:lnSpc>
                <a:spcPct val="115000"/>
              </a:lnSpc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100개는 묶음 크기이며 실행 시간 제한이 아닙니다.</a:t>
            </a:r>
          </a:p>
        </p:txBody>
      </p:sp>
      <p:sp>
        <p:nvSpPr>
          <p:cNvPr id="251" name="02">
            <a:extLst>
              <a:ext uri="{FF2B5EF4-FFF2-40B4-BE49-F238E27FC236}">
                <a16:creationId xmlns:a16="http://schemas.microsoft.com/office/drawing/2014/main" id="{0117A0FF-B393-4C1E-B209-50397CE20E45}"/>
              </a:ext>
            </a:extLst>
          </p:cNvPr>
          <p:cNvSpPr>
            <a:spLocks noGrp="1"/>
          </p:cNvSpPr>
          <p:nvPr/>
        </p:nvSpPr>
        <p:spPr>
          <a:xfrm>
            <a:off x="1143000" y="1143000"/>
            <a:ext cx="723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252" name="PROJECT  이방인(Outlander)">
            <a:extLst>
              <a:ext uri="{FF2B5EF4-FFF2-40B4-BE49-F238E27FC236}">
                <a16:creationId xmlns:a16="http://schemas.microsoft.com/office/drawing/2014/main" id="{3A78ADE9-8B26-4921-AEDC-57434EF1BD64}"/>
              </a:ext>
            </a:extLst>
          </p:cNvPr>
          <p:cNvSpPr>
            <a:spLocks noGrp="1"/>
          </p:cNvSpPr>
          <p:nvPr/>
        </p:nvSpPr>
        <p:spPr>
          <a:xfrm>
            <a:off x="2076450" y="1171575"/>
            <a:ext cx="148113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>
              <a:lnSpc>
                <a:spcPct val="118000"/>
              </a:lnSpc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lang="ko-KR" altLang="en-US" b="0" dirty="0">
                <a:latin typeface="Pretendard Regular"/>
                <a:ea typeface="Pretendard Regular"/>
                <a:cs typeface="Pretendard Regular"/>
              </a:rPr>
              <a:t>졸업작품 이방인</a:t>
            </a:r>
            <a:r>
              <a:rPr lang="en-US" altLang="ko-KR" b="0" dirty="0">
                <a:latin typeface="Pretendard Regular"/>
                <a:ea typeface="Pretendard Regular"/>
                <a:cs typeface="Pretendard Regular"/>
              </a:rPr>
              <a:t>(Outlander)</a:t>
            </a:r>
            <a:endParaRPr lang="ko-KR" altLang="en-US" b="0" dirty="0"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53" name="서버 기반 기술  /  JobQueue의 중복 등록 방지와 잔량 처리">
            <a:extLst>
              <a:ext uri="{FF2B5EF4-FFF2-40B4-BE49-F238E27FC236}">
                <a16:creationId xmlns:a16="http://schemas.microsoft.com/office/drawing/2014/main" id="{EC44033D-DC18-4BAE-80BF-A3B02B3CE39A}"/>
              </a:ext>
            </a:extLst>
          </p:cNvPr>
          <p:cNvSpPr>
            <a:spLocks noGrp="1"/>
          </p:cNvSpPr>
          <p:nvPr/>
        </p:nvSpPr>
        <p:spPr>
          <a:xfrm>
            <a:off x="1143000" y="2028825"/>
            <a:ext cx="16002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rPr>
              <a:t>서버 기반 기술  /  JobQueue의 중복 등록 방지와 잔량 처리</a:t>
            </a:r>
          </a:p>
        </p:txBody>
      </p:sp>
      <p:sp>
        <p:nvSpPr>
          <p:cNvPr id="254" name="OUTLANDER  /  9">
            <a:extLst>
              <a:ext uri="{FF2B5EF4-FFF2-40B4-BE49-F238E27FC236}">
                <a16:creationId xmlns:a16="http://schemas.microsoft.com/office/drawing/2014/main" id="{88CFCCC7-7F29-4B87-B00B-82FE0B876D44}"/>
              </a:ext>
            </a:extLst>
          </p:cNvPr>
          <p:cNvSpPr>
            <a:spLocks noGrp="1"/>
          </p:cNvSpPr>
          <p:nvPr/>
        </p:nvSpPr>
        <p:spPr>
          <a:xfrm>
            <a:off x="14573250" y="960120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defPPr>
            <a:lvl1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r">
              <a:lnSpc>
                <a:spcPct val="118000"/>
              </a:lnSpc>
              <a:buNone/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rPr>
              <a:t>OUTLANDER  /  9</a:t>
            </a:r>
          </a:p>
        </p:txBody>
      </p:sp>
    </p:spTree>
    <p:extLst>
      <p:ext uri="{BB962C8B-B14F-4D97-AF65-F5344CB8AC3E}">
        <p14:creationId xmlns:p14="http://schemas.microsoft.com/office/powerpoint/2010/main" val="2070075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Picture 2">
            <a:extLst>
              <a:ext uri="{FF2B5EF4-FFF2-40B4-BE49-F238E27FC236}">
                <a16:creationId xmlns:a16="http://schemas.microsoft.com/office/drawing/2014/main" id="{ADB0B6FF-D175-40BA-9BC2-2D0B7728B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id="237" name="Picture 3">
            <a:extLst>
              <a:ext uri="{FF2B5EF4-FFF2-40B4-BE49-F238E27FC236}">
                <a16:creationId xmlns:a16="http://schemas.microsoft.com/office/drawing/2014/main" id="{DE2FF8B5-A991-45E0-8E26-E6AAC6BC1D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3400" y="-1460500"/>
            <a:ext cx="5219700" cy="5130800"/>
          </a:xfrm>
          <a:prstGeom prst="rect">
            <a:avLst/>
          </a:prstGeom>
        </p:spPr>
      </p:pic>
      <p:pic>
        <p:nvPicPr>
          <p:cNvPr id="238" name="Picture 4">
            <a:extLst>
              <a:ext uri="{FF2B5EF4-FFF2-40B4-BE49-F238E27FC236}">
                <a16:creationId xmlns:a16="http://schemas.microsoft.com/office/drawing/2014/main" id="{4927C248-054D-48C5-8985-055BD8C9734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7000"/>
          </a:blip>
          <a:stretch>
            <a:fillRect/>
          </a:stretch>
        </p:blipFill>
        <p:spPr>
          <a:xfrm rot="18782095">
            <a:off x="-3327400" y="6921500"/>
            <a:ext cx="7454900" cy="7188200"/>
          </a:xfrm>
          <a:prstGeom prst="rect">
            <a:avLst/>
          </a:prstGeom>
        </p:spPr>
      </p:pic>
      <p:pic>
        <p:nvPicPr>
          <p:cNvPr id="239" name="Picture 7">
            <a:extLst>
              <a:ext uri="{FF2B5EF4-FFF2-40B4-BE49-F238E27FC236}">
                <a16:creationId xmlns:a16="http://schemas.microsoft.com/office/drawing/2014/main" id="{613CFEDB-72AD-4F5E-803B-24317875CA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700000">
            <a:off x="5969000" y="9169400"/>
            <a:ext cx="444500" cy="431800"/>
          </a:xfrm>
          <a:prstGeom prst="rect">
            <a:avLst/>
          </a:prstGeom>
        </p:spPr>
      </p:pic>
      <p:pic>
        <p:nvPicPr>
          <p:cNvPr id="240" name="Picture 8">
            <a:extLst>
              <a:ext uri="{FF2B5EF4-FFF2-40B4-BE49-F238E27FC236}">
                <a16:creationId xmlns:a16="http://schemas.microsoft.com/office/drawing/2014/main" id="{8AC86A10-D1CB-423D-A439-32D0853042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9258300"/>
            <a:ext cx="12090400" cy="177800"/>
          </a:xfrm>
          <a:prstGeom prst="rect">
            <a:avLst/>
          </a:prstGeom>
        </p:spPr>
      </p:pic>
      <p:pic>
        <p:nvPicPr>
          <p:cNvPr id="241" name="Picture 9">
            <a:extLst>
              <a:ext uri="{FF2B5EF4-FFF2-40B4-BE49-F238E27FC236}">
                <a16:creationId xmlns:a16="http://schemas.microsoft.com/office/drawing/2014/main" id="{1BC22CB0-E84B-49CE-B0F1-E23629C2AB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685800" y="863600"/>
            <a:ext cx="8064500" cy="139700"/>
          </a:xfrm>
          <a:prstGeom prst="rect">
            <a:avLst/>
          </a:prstGeom>
        </p:spPr>
      </p:pic>
      <p:pic>
        <p:nvPicPr>
          <p:cNvPr id="246" name="그림 245">
            <a:extLst>
              <a:ext uri="{FF2B5EF4-FFF2-40B4-BE49-F238E27FC236}">
                <a16:creationId xmlns:a16="http://schemas.microsoft.com/office/drawing/2014/main" id="{88FDA8EB-D4B2-4D54-ADB8-17C58993F8A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143000" y="3224213"/>
            <a:ext cx="7620000" cy="5300472"/>
          </a:xfrm>
          <a:prstGeom prst="rect">
            <a:avLst/>
          </a:prstGeom>
        </p:spPr>
      </p:pic>
      <p:pic>
        <p:nvPicPr>
          <p:cNvPr id="247" name="그림 246">
            <a:extLst>
              <a:ext uri="{FF2B5EF4-FFF2-40B4-BE49-F238E27FC236}">
                <a16:creationId xmlns:a16="http://schemas.microsoft.com/office/drawing/2014/main" id="{E7A98E8F-3743-454B-8829-9CF931A0C04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9429750" y="3224213"/>
            <a:ext cx="7620000" cy="2614422"/>
          </a:xfrm>
          <a:prstGeom prst="rect">
            <a:avLst/>
          </a:prstGeom>
        </p:spPr>
      </p:pic>
      <p:pic>
        <p:nvPicPr>
          <p:cNvPr id="248" name="그림 247">
            <a:extLst>
              <a:ext uri="{FF2B5EF4-FFF2-40B4-BE49-F238E27FC236}">
                <a16:creationId xmlns:a16="http://schemas.microsoft.com/office/drawing/2014/main" id="{0E9F6047-B2AB-4C67-A3D4-4B95FFF3A6B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9429750" y="5924550"/>
            <a:ext cx="7620000" cy="1271397"/>
          </a:xfrm>
          <a:prstGeom prst="rect">
            <a:avLst/>
          </a:prstGeom>
        </p:spPr>
      </p:pic>
      <p:sp>
        <p:nvSpPr>
          <p:cNvPr id="249" name="동시 접근을 위한 자료구조 선택">
            <a:extLst>
              <a:ext uri="{FF2B5EF4-FFF2-40B4-BE49-F238E27FC236}">
                <a16:creationId xmlns:a16="http://schemas.microsoft.com/office/drawing/2014/main" id="{A89B4166-5019-4ADF-9DE9-E7BD969801DC}"/>
              </a:ext>
            </a:extLst>
          </p:cNvPr>
          <p:cNvSpPr>
            <a:spLocks noGrp="1"/>
          </p:cNvSpPr>
          <p:nvPr/>
        </p:nvSpPr>
        <p:spPr>
          <a:xfrm>
            <a:off x="9429750" y="7477125"/>
            <a:ext cx="7620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2000"/>
              </a:lnSpc>
              <a:buNone/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rPr>
              <a:t>동시 접근을 위한 자료구조 선택</a:t>
            </a:r>
          </a:p>
        </p:txBody>
      </p:sp>
      <p:sp>
        <p:nvSpPr>
          <p:cNvPr id="250" name="여러 등록 스레드와 worker의 동시 접근을 지원합니다.&#10;단일 mutex로 큐를 묶지 않고, 묶음 꺼내기도 활용합니다.&#10;Room 직렬 실행과 ">
            <a:extLst>
              <a:ext uri="{FF2B5EF4-FFF2-40B4-BE49-F238E27FC236}">
                <a16:creationId xmlns:a16="http://schemas.microsoft.com/office/drawing/2014/main" id="{99F42CC7-F403-48BF-A250-0EC251BF26A8}"/>
              </a:ext>
            </a:extLst>
          </p:cNvPr>
          <p:cNvSpPr>
            <a:spLocks noGrp="1"/>
          </p:cNvSpPr>
          <p:nvPr/>
        </p:nvSpPr>
        <p:spPr>
          <a:xfrm>
            <a:off x="9429750" y="8048625"/>
            <a:ext cx="771525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여러 등록 스레드와 worker가 큐를 공유합니다.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lock-free queue와 묶음 꺼내기를 사용합니다.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생산자 사이의 전체 순서는 보장하지 않습니다.</a:t>
            </a:r>
          </a:p>
        </p:txBody>
      </p:sp>
      <p:sp>
        <p:nvSpPr>
          <p:cNvPr id="251" name="Job*가 아닌 JobQueue*를 저장합니다.">
            <a:extLst>
              <a:ext uri="{FF2B5EF4-FFF2-40B4-BE49-F238E27FC236}">
                <a16:creationId xmlns:a16="http://schemas.microsoft.com/office/drawing/2014/main" id="{49FD14E9-EB94-47C8-8B70-B9B7563E6AE9}"/>
              </a:ext>
            </a:extLst>
          </p:cNvPr>
          <p:cNvSpPr>
            <a:spLocks noGrp="1"/>
          </p:cNvSpPr>
          <p:nvPr/>
        </p:nvSpPr>
        <p:spPr>
          <a:xfrm>
            <a:off x="1143000" y="8801100"/>
            <a:ext cx="7620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8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Job*가 아닌 JobQueue*를 저장합니다.</a:t>
            </a:r>
          </a:p>
        </p:txBody>
      </p:sp>
      <p:sp>
        <p:nvSpPr>
          <p:cNvPr id="252" name="02">
            <a:extLst>
              <a:ext uri="{FF2B5EF4-FFF2-40B4-BE49-F238E27FC236}">
                <a16:creationId xmlns:a16="http://schemas.microsoft.com/office/drawing/2014/main" id="{5741E574-23D8-4565-A70E-D23ADB3EF6F9}"/>
              </a:ext>
            </a:extLst>
          </p:cNvPr>
          <p:cNvSpPr>
            <a:spLocks noGrp="1"/>
          </p:cNvSpPr>
          <p:nvPr/>
        </p:nvSpPr>
        <p:spPr>
          <a:xfrm>
            <a:off x="1143000" y="1143000"/>
            <a:ext cx="723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253" name="PROJECT  이방인(Outlander)">
            <a:extLst>
              <a:ext uri="{FF2B5EF4-FFF2-40B4-BE49-F238E27FC236}">
                <a16:creationId xmlns:a16="http://schemas.microsoft.com/office/drawing/2014/main" id="{126BEF56-2261-4DB4-9B84-95447B782960}"/>
              </a:ext>
            </a:extLst>
          </p:cNvPr>
          <p:cNvSpPr>
            <a:spLocks noGrp="1"/>
          </p:cNvSpPr>
          <p:nvPr/>
        </p:nvSpPr>
        <p:spPr>
          <a:xfrm>
            <a:off x="2076450" y="1171575"/>
            <a:ext cx="148113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>
              <a:lnSpc>
                <a:spcPct val="118000"/>
              </a:lnSpc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lang="ko-KR" altLang="en-US" b="0" dirty="0">
                <a:latin typeface="Pretendard Regular"/>
                <a:ea typeface="Pretendard Regular"/>
                <a:cs typeface="Pretendard Regular"/>
              </a:rPr>
              <a:t>졸업작품 이방인</a:t>
            </a:r>
            <a:r>
              <a:rPr lang="en-US" altLang="ko-KR" b="0" dirty="0">
                <a:latin typeface="Pretendard Regular"/>
                <a:ea typeface="Pretendard Regular"/>
                <a:cs typeface="Pretendard Regular"/>
              </a:rPr>
              <a:t>(Outlander)</a:t>
            </a:r>
            <a:endParaRPr lang="ko-KR" altLang="en-US" b="0" dirty="0"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54" name="서버 기반 기술  /  JobQueuePool과 worker 연결">
            <a:extLst>
              <a:ext uri="{FF2B5EF4-FFF2-40B4-BE49-F238E27FC236}">
                <a16:creationId xmlns:a16="http://schemas.microsoft.com/office/drawing/2014/main" id="{1E41916A-1D30-45BA-87FF-0F6208B3CC48}"/>
              </a:ext>
            </a:extLst>
          </p:cNvPr>
          <p:cNvSpPr>
            <a:spLocks noGrp="1"/>
          </p:cNvSpPr>
          <p:nvPr/>
        </p:nvSpPr>
        <p:spPr>
          <a:xfrm>
            <a:off x="1143000" y="2028825"/>
            <a:ext cx="16002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rPr>
              <a:t>서버 기반 기술  /  JobQueuePool과 worker 연결</a:t>
            </a:r>
          </a:p>
        </p:txBody>
      </p:sp>
      <p:sp>
        <p:nvSpPr>
          <p:cNvPr id="255" name="OUTLANDER  /  10">
            <a:extLst>
              <a:ext uri="{FF2B5EF4-FFF2-40B4-BE49-F238E27FC236}">
                <a16:creationId xmlns:a16="http://schemas.microsoft.com/office/drawing/2014/main" id="{8E8F9F95-AEFB-4E3A-92DB-7C43E6705025}"/>
              </a:ext>
            </a:extLst>
          </p:cNvPr>
          <p:cNvSpPr>
            <a:spLocks noGrp="1"/>
          </p:cNvSpPr>
          <p:nvPr/>
        </p:nvSpPr>
        <p:spPr>
          <a:xfrm>
            <a:off x="14573250" y="960120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defPPr>
            <a:lvl1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r">
              <a:lnSpc>
                <a:spcPct val="118000"/>
              </a:lnSpc>
              <a:buNone/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rPr>
              <a:t>OUTLANDER  /  10</a:t>
            </a:r>
          </a:p>
        </p:txBody>
      </p:sp>
    </p:spTree>
    <p:extLst>
      <p:ext uri="{BB962C8B-B14F-4D97-AF65-F5344CB8AC3E}">
        <p14:creationId xmlns:p14="http://schemas.microsoft.com/office/powerpoint/2010/main" val="2070075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Picture 2">
            <a:extLst>
              <a:ext uri="{FF2B5EF4-FFF2-40B4-BE49-F238E27FC236}">
                <a16:creationId xmlns:a16="http://schemas.microsoft.com/office/drawing/2014/main" id="{312C0BBF-01A3-4A58-84BF-E8140D1A0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id="237" name="Picture 3">
            <a:extLst>
              <a:ext uri="{FF2B5EF4-FFF2-40B4-BE49-F238E27FC236}">
                <a16:creationId xmlns:a16="http://schemas.microsoft.com/office/drawing/2014/main" id="{CB5BC44F-DF26-43CA-B72F-D18089410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3400" y="-1460500"/>
            <a:ext cx="5219700" cy="5130800"/>
          </a:xfrm>
          <a:prstGeom prst="rect">
            <a:avLst/>
          </a:prstGeom>
        </p:spPr>
      </p:pic>
      <p:pic>
        <p:nvPicPr>
          <p:cNvPr id="238" name="Picture 4">
            <a:extLst>
              <a:ext uri="{FF2B5EF4-FFF2-40B4-BE49-F238E27FC236}">
                <a16:creationId xmlns:a16="http://schemas.microsoft.com/office/drawing/2014/main" id="{1B448859-DD4C-4E1A-9523-AC433278D50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7000"/>
          </a:blip>
          <a:stretch>
            <a:fillRect/>
          </a:stretch>
        </p:blipFill>
        <p:spPr>
          <a:xfrm rot="18782095">
            <a:off x="-3327400" y="6921500"/>
            <a:ext cx="7454900" cy="7188200"/>
          </a:xfrm>
          <a:prstGeom prst="rect">
            <a:avLst/>
          </a:prstGeom>
        </p:spPr>
      </p:pic>
      <p:pic>
        <p:nvPicPr>
          <p:cNvPr id="239" name="Picture 7">
            <a:extLst>
              <a:ext uri="{FF2B5EF4-FFF2-40B4-BE49-F238E27FC236}">
                <a16:creationId xmlns:a16="http://schemas.microsoft.com/office/drawing/2014/main" id="{5DB1D41E-EB90-4391-A90D-C3852CDCAD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700000">
            <a:off x="5969000" y="9169400"/>
            <a:ext cx="444500" cy="431800"/>
          </a:xfrm>
          <a:prstGeom prst="rect">
            <a:avLst/>
          </a:prstGeom>
        </p:spPr>
      </p:pic>
      <p:pic>
        <p:nvPicPr>
          <p:cNvPr id="240" name="Picture 8">
            <a:extLst>
              <a:ext uri="{FF2B5EF4-FFF2-40B4-BE49-F238E27FC236}">
                <a16:creationId xmlns:a16="http://schemas.microsoft.com/office/drawing/2014/main" id="{F2872BE9-705D-47B1-B079-CE15B9E7AB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9258300"/>
            <a:ext cx="12090400" cy="177800"/>
          </a:xfrm>
          <a:prstGeom prst="rect">
            <a:avLst/>
          </a:prstGeom>
        </p:spPr>
      </p:pic>
      <p:pic>
        <p:nvPicPr>
          <p:cNvPr id="241" name="Picture 9">
            <a:extLst>
              <a:ext uri="{FF2B5EF4-FFF2-40B4-BE49-F238E27FC236}">
                <a16:creationId xmlns:a16="http://schemas.microsoft.com/office/drawing/2014/main" id="{59D59A24-816E-4028-AAE7-99B7414B42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685800" y="863600"/>
            <a:ext cx="8064500" cy="139700"/>
          </a:xfrm>
          <a:prstGeom prst="rect">
            <a:avLst/>
          </a:prstGeom>
        </p:spPr>
      </p:pic>
      <p:pic>
        <p:nvPicPr>
          <p:cNvPr id="245" name="그림 244">
            <a:extLst>
              <a:ext uri="{FF2B5EF4-FFF2-40B4-BE49-F238E27FC236}">
                <a16:creationId xmlns:a16="http://schemas.microsoft.com/office/drawing/2014/main" id="{E9629F06-D92D-4DEA-8F5E-BC45EDB64A1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143000" y="3267075"/>
            <a:ext cx="9810750" cy="2423062"/>
          </a:xfrm>
          <a:prstGeom prst="rect">
            <a:avLst/>
          </a:prstGeom>
        </p:spPr>
      </p:pic>
      <p:sp>
        <p:nvSpPr>
          <p:cNvPr id="246" name="시간순 예약 관리">
            <a:extLst>
              <a:ext uri="{FF2B5EF4-FFF2-40B4-BE49-F238E27FC236}">
                <a16:creationId xmlns:a16="http://schemas.microsoft.com/office/drawing/2014/main" id="{0FB595DF-D619-4247-92AA-446A7ACD04B2}"/>
              </a:ext>
            </a:extLst>
          </p:cNvPr>
          <p:cNvSpPr>
            <a:spLocks noGrp="1"/>
          </p:cNvSpPr>
          <p:nvPr/>
        </p:nvSpPr>
        <p:spPr>
          <a:xfrm>
            <a:off x="11620500" y="3267075"/>
            <a:ext cx="5715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rPr>
              <a:t>시간순 예약 관리</a:t>
            </a:r>
          </a:p>
        </p:txBody>
      </p:sp>
      <p:sp>
        <p:nvSpPr>
          <p:cNvPr id="247" name="실행 시각과 Room ID, Job을 저장합니다.&#10;priority_queue를 mutex로 보호하고&#10;가장 이른 예약부터 만료 ">
            <a:extLst>
              <a:ext uri="{FF2B5EF4-FFF2-40B4-BE49-F238E27FC236}">
                <a16:creationId xmlns:a16="http://schemas.microsoft.com/office/drawing/2014/main" id="{4D7A502B-DEC0-4434-A9C1-6AB8377248F7}"/>
              </a:ext>
            </a:extLst>
          </p:cNvPr>
          <p:cNvSpPr>
            <a:spLocks noGrp="1"/>
          </p:cNvSpPr>
          <p:nvPr/>
        </p:nvSpPr>
        <p:spPr>
          <a:xfrm>
            <a:off x="11620500" y="3841433"/>
            <a:ext cx="5715000" cy="95444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실행 시각과 Room ID, Job을 저장합니다.</a:t>
            </a:r>
          </a:p>
          <a:p>
            <a:pPr algn="l">
              <a:lnSpc>
                <a:spcPct val="115000"/>
              </a:lnSpc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priority_queue를 mutex로 보호하고</a:t>
            </a:r>
          </a:p>
          <a:p>
            <a:pPr algn="l">
              <a:lnSpc>
                <a:spcPct val="115000"/>
              </a:lnSpc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가장 이른 예약부터 만료 여부를 확인합니다.</a:t>
            </a:r>
          </a:p>
        </p:txBody>
      </p:sp>
      <p:sp>
        <p:nvSpPr>
          <p:cNvPr id="248" name="JobTimer">
            <a:extLst>
              <a:ext uri="{FF2B5EF4-FFF2-40B4-BE49-F238E27FC236}">
                <a16:creationId xmlns:a16="http://schemas.microsoft.com/office/drawing/2014/main" id="{A9854B85-7DC2-49D7-842F-02E221540E0C}"/>
              </a:ext>
            </a:extLst>
          </p:cNvPr>
          <p:cNvSpPr>
            <a:spLocks noGrp="1"/>
          </p:cNvSpPr>
          <p:nvPr/>
        </p:nvSpPr>
        <p:spPr>
          <a:xfrm>
            <a:off x="1143000" y="6267450"/>
            <a:ext cx="4476750" cy="1343025"/>
          </a:xfrm>
          <a:prstGeom prst="rect">
            <a:avLst/>
          </a:prstGeom>
          <a:solidFill>
            <a:srgbClr val="FFFFFF"/>
          </a:solidFill>
          <a:ln w="13335">
            <a:solidFill>
              <a:srgbClr val="B8B8BD"/>
            </a:solidFill>
          </a:ln>
        </p:spPr>
      </p:sp>
      <p:sp>
        <p:nvSpPr>
          <p:cNvPr id="249" name="JobTimer">
            <a:extLst>
              <a:ext uri="{FF2B5EF4-FFF2-40B4-BE49-F238E27FC236}">
                <a16:creationId xmlns:a16="http://schemas.microsoft.com/office/drawing/2014/main" id="{A879AD2B-A829-4392-8FE4-30A3B9B873D3}"/>
              </a:ext>
            </a:extLst>
          </p:cNvPr>
          <p:cNvSpPr>
            <a:spLocks noGrp="1"/>
          </p:cNvSpPr>
          <p:nvPr/>
        </p:nvSpPr>
        <p:spPr>
          <a:xfrm>
            <a:off x="1333500" y="6404610"/>
            <a:ext cx="4095750" cy="4029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JobTimer</a:t>
            </a:r>
          </a:p>
        </p:txBody>
      </p:sp>
      <p:sp>
        <p:nvSpPr>
          <p:cNvPr id="250" name="잠금 안에서 만료 예약 추출">
            <a:extLst>
              <a:ext uri="{FF2B5EF4-FFF2-40B4-BE49-F238E27FC236}">
                <a16:creationId xmlns:a16="http://schemas.microsoft.com/office/drawing/2014/main" id="{D1D56130-F1F6-456E-A941-ADA397316FA4}"/>
              </a:ext>
            </a:extLst>
          </p:cNvPr>
          <p:cNvSpPr>
            <a:spLocks noGrp="1"/>
          </p:cNvSpPr>
          <p:nvPr/>
        </p:nvSpPr>
        <p:spPr>
          <a:xfrm>
            <a:off x="1333500" y="6867525"/>
            <a:ext cx="4095750" cy="69837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잠금 안에서 만료 예약 추출</a:t>
            </a:r>
          </a:p>
        </p:txBody>
      </p:sp>
      <p:sp>
        <p:nvSpPr>
          <p:cNvPr id="251" name="Room의 JobQueue">
            <a:extLst>
              <a:ext uri="{FF2B5EF4-FFF2-40B4-BE49-F238E27FC236}">
                <a16:creationId xmlns:a16="http://schemas.microsoft.com/office/drawing/2014/main" id="{A34C03B4-8D6C-43FA-BAA9-5644BD2668DB}"/>
              </a:ext>
            </a:extLst>
          </p:cNvPr>
          <p:cNvSpPr>
            <a:spLocks noGrp="1"/>
          </p:cNvSpPr>
          <p:nvPr/>
        </p:nvSpPr>
        <p:spPr>
          <a:xfrm>
            <a:off x="6953250" y="6267450"/>
            <a:ext cx="4476750" cy="1343025"/>
          </a:xfrm>
          <a:prstGeom prst="rect">
            <a:avLst/>
          </a:prstGeom>
          <a:solidFill>
            <a:srgbClr val="FFFFFF"/>
          </a:solidFill>
          <a:ln w="13335">
            <a:solidFill>
              <a:srgbClr val="B8B8BD"/>
            </a:solidFill>
          </a:ln>
        </p:spPr>
      </p:sp>
      <p:sp>
        <p:nvSpPr>
          <p:cNvPr id="252" name="Room의 JobQueue">
            <a:extLst>
              <a:ext uri="{FF2B5EF4-FFF2-40B4-BE49-F238E27FC236}">
                <a16:creationId xmlns:a16="http://schemas.microsoft.com/office/drawing/2014/main" id="{0803F774-3B67-4770-BE73-DDD7E27288F0}"/>
              </a:ext>
            </a:extLst>
          </p:cNvPr>
          <p:cNvSpPr>
            <a:spLocks noGrp="1"/>
          </p:cNvSpPr>
          <p:nvPr/>
        </p:nvSpPr>
        <p:spPr>
          <a:xfrm>
            <a:off x="7143750" y="6404610"/>
            <a:ext cx="4095750" cy="4029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Room의 JobQueue</a:t>
            </a:r>
          </a:p>
        </p:txBody>
      </p:sp>
      <p:sp>
        <p:nvSpPr>
          <p:cNvPr id="253" name="잠금 해제 후 postJob() 호출">
            <a:extLst>
              <a:ext uri="{FF2B5EF4-FFF2-40B4-BE49-F238E27FC236}">
                <a16:creationId xmlns:a16="http://schemas.microsoft.com/office/drawing/2014/main" id="{4858A5DD-64D8-4830-AEB6-3E1B504F5D74}"/>
              </a:ext>
            </a:extLst>
          </p:cNvPr>
          <p:cNvSpPr>
            <a:spLocks noGrp="1"/>
          </p:cNvSpPr>
          <p:nvPr/>
        </p:nvSpPr>
        <p:spPr>
          <a:xfrm>
            <a:off x="7143750" y="6867525"/>
            <a:ext cx="4095750" cy="69837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잠금 해제 후 postJob() 호출</a:t>
            </a:r>
          </a:p>
        </p:txBody>
      </p:sp>
      <p:sp>
        <p:nvSpPr>
          <p:cNvPr id="254" name="Job worker">
            <a:extLst>
              <a:ext uri="{FF2B5EF4-FFF2-40B4-BE49-F238E27FC236}">
                <a16:creationId xmlns:a16="http://schemas.microsoft.com/office/drawing/2014/main" id="{4771B882-2D57-4399-8F58-592E50942104}"/>
              </a:ext>
            </a:extLst>
          </p:cNvPr>
          <p:cNvSpPr>
            <a:spLocks noGrp="1"/>
          </p:cNvSpPr>
          <p:nvPr/>
        </p:nvSpPr>
        <p:spPr>
          <a:xfrm>
            <a:off x="12763500" y="6267450"/>
            <a:ext cx="4476750" cy="1343025"/>
          </a:xfrm>
          <a:prstGeom prst="rect">
            <a:avLst/>
          </a:prstGeom>
          <a:solidFill>
            <a:srgbClr val="FFFFFF"/>
          </a:solidFill>
          <a:ln w="13335">
            <a:solidFill>
              <a:srgbClr val="B8B8BD"/>
            </a:solidFill>
          </a:ln>
        </p:spPr>
      </p:sp>
      <p:sp>
        <p:nvSpPr>
          <p:cNvPr id="255" name="Job worker">
            <a:extLst>
              <a:ext uri="{FF2B5EF4-FFF2-40B4-BE49-F238E27FC236}">
                <a16:creationId xmlns:a16="http://schemas.microsoft.com/office/drawing/2014/main" id="{FCA0F52D-6B61-41F8-98EC-B24E0F02EE71}"/>
              </a:ext>
            </a:extLst>
          </p:cNvPr>
          <p:cNvSpPr>
            <a:spLocks noGrp="1"/>
          </p:cNvSpPr>
          <p:nvPr/>
        </p:nvSpPr>
        <p:spPr>
          <a:xfrm>
            <a:off x="12954000" y="6404610"/>
            <a:ext cx="4095750" cy="4029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Job worker</a:t>
            </a:r>
          </a:p>
        </p:txBody>
      </p:sp>
      <p:sp>
        <p:nvSpPr>
          <p:cNvPr id="256" name="공용 풀에서 큐를 꺼내 실행">
            <a:extLst>
              <a:ext uri="{FF2B5EF4-FFF2-40B4-BE49-F238E27FC236}">
                <a16:creationId xmlns:a16="http://schemas.microsoft.com/office/drawing/2014/main" id="{E0CB76F3-AC63-43D4-8785-1A115EAF41FA}"/>
              </a:ext>
            </a:extLst>
          </p:cNvPr>
          <p:cNvSpPr>
            <a:spLocks noGrp="1"/>
          </p:cNvSpPr>
          <p:nvPr/>
        </p:nvSpPr>
        <p:spPr>
          <a:xfrm>
            <a:off x="12954000" y="6867525"/>
            <a:ext cx="4095750" cy="69837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공용 풀에서 큐를 꺼내 실행</a:t>
            </a:r>
          </a:p>
        </p:txBody>
      </p:sp>
      <p:cxnSp>
        <p:nvCxnSpPr>
          <p:cNvPr id="257" name="직선 화살표 연결선 256">
            <a:extLst>
              <a:ext uri="{FF2B5EF4-FFF2-40B4-BE49-F238E27FC236}">
                <a16:creationId xmlns:a16="http://schemas.microsoft.com/office/drawing/2014/main" id="{2993391C-02E9-4E98-8C72-B37414EC20AC}"/>
              </a:ext>
            </a:extLst>
          </p:cNvPr>
          <p:cNvCxnSpPr>
            <a:stCxn id="248" idx="3"/>
            <a:endCxn id="251" idx="1"/>
          </p:cNvCxnSpPr>
          <p:nvPr/>
        </p:nvCxnSpPr>
        <p:spPr>
          <a:xfrm>
            <a:off x="5619750" y="6938963"/>
            <a:ext cx="1333500" cy="0"/>
          </a:xfrm>
          <a:prstGeom prst="straightConnector1">
            <a:avLst/>
          </a:prstGeom>
          <a:ln w="21908">
            <a:solidFill>
              <a:srgbClr val="354B62"/>
            </a:solidFill>
            <a:prstDash val="solid"/>
            <a:tailEnd type="triangle" w="med" len="med"/>
          </a:ln>
        </p:spPr>
      </p:cxnSp>
      <p:cxnSp>
        <p:nvCxnSpPr>
          <p:cNvPr id="258" name="직선 화살표 연결선 257">
            <a:extLst>
              <a:ext uri="{FF2B5EF4-FFF2-40B4-BE49-F238E27FC236}">
                <a16:creationId xmlns:a16="http://schemas.microsoft.com/office/drawing/2014/main" id="{79203612-CCF2-49B0-943A-1A3797A1CCB8}"/>
              </a:ext>
            </a:extLst>
          </p:cNvPr>
          <p:cNvCxnSpPr>
            <a:stCxn id="251" idx="3"/>
            <a:endCxn id="254" idx="1"/>
          </p:cNvCxnSpPr>
          <p:nvPr/>
        </p:nvCxnSpPr>
        <p:spPr>
          <a:xfrm>
            <a:off x="11430000" y="6938963"/>
            <a:ext cx="1333500" cy="0"/>
          </a:xfrm>
          <a:prstGeom prst="straightConnector1">
            <a:avLst/>
          </a:prstGeom>
          <a:ln w="21908">
            <a:solidFill>
              <a:srgbClr val="354B62"/>
            </a:solidFill>
            <a:prstDash val="solid"/>
            <a:tailEnd type="triangle" w="med" len="med"/>
          </a:ln>
        </p:spPr>
      </p:cxnSp>
      <p:sp>
        <p:nvSpPr>
          <p:cNvPr id="259" name="전달 실패와 실행 시각">
            <a:extLst>
              <a:ext uri="{FF2B5EF4-FFF2-40B4-BE49-F238E27FC236}">
                <a16:creationId xmlns:a16="http://schemas.microsoft.com/office/drawing/2014/main" id="{80ABC04C-ADF2-4D36-BD9F-16C9DB6E9740}"/>
              </a:ext>
            </a:extLst>
          </p:cNvPr>
          <p:cNvSpPr>
            <a:spLocks noGrp="1"/>
          </p:cNvSpPr>
          <p:nvPr/>
        </p:nvSpPr>
        <p:spPr>
          <a:xfrm>
            <a:off x="1143000" y="7939088"/>
            <a:ext cx="5715000" cy="4029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rPr>
              <a:t>전달 실패와 실행 시각</a:t>
            </a:r>
          </a:p>
        </p:txBody>
      </p:sp>
      <p:sp>
        <p:nvSpPr>
          <p:cNvPr id="260" name="목적지 Room이 없으면 Job을 반환합니다. 예약 시각이 지나도 worker 처리까지 대기할 수 있습니다.">
            <a:extLst>
              <a:ext uri="{FF2B5EF4-FFF2-40B4-BE49-F238E27FC236}">
                <a16:creationId xmlns:a16="http://schemas.microsoft.com/office/drawing/2014/main" id="{0001495C-8FF6-499D-926D-4411BFFE51B6}"/>
              </a:ext>
            </a:extLst>
          </p:cNvPr>
          <p:cNvSpPr>
            <a:spLocks noGrp="1"/>
          </p:cNvSpPr>
          <p:nvPr/>
        </p:nvSpPr>
        <p:spPr>
          <a:xfrm>
            <a:off x="1143000" y="8427720"/>
            <a:ext cx="16097250" cy="3581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목적지 Room이 없으면 Job을 반환합니다. 예약 시각이 지나도 worker 처리까지 대기할 수 있습니다.</a:t>
            </a:r>
          </a:p>
        </p:txBody>
      </p:sp>
      <p:sp>
        <p:nvSpPr>
          <p:cNvPr id="261" name="02">
            <a:extLst>
              <a:ext uri="{FF2B5EF4-FFF2-40B4-BE49-F238E27FC236}">
                <a16:creationId xmlns:a16="http://schemas.microsoft.com/office/drawing/2014/main" id="{4AF69195-4104-45C4-9D3D-6DA61B2414F0}"/>
              </a:ext>
            </a:extLst>
          </p:cNvPr>
          <p:cNvSpPr>
            <a:spLocks noGrp="1"/>
          </p:cNvSpPr>
          <p:nvPr/>
        </p:nvSpPr>
        <p:spPr>
          <a:xfrm>
            <a:off x="1143000" y="1143000"/>
            <a:ext cx="723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262" name="PROJECT  이방인(Outlander)">
            <a:extLst>
              <a:ext uri="{FF2B5EF4-FFF2-40B4-BE49-F238E27FC236}">
                <a16:creationId xmlns:a16="http://schemas.microsoft.com/office/drawing/2014/main" id="{0C366ED4-FE09-4621-95B5-759B2379F42C}"/>
              </a:ext>
            </a:extLst>
          </p:cNvPr>
          <p:cNvSpPr>
            <a:spLocks noGrp="1"/>
          </p:cNvSpPr>
          <p:nvPr/>
        </p:nvSpPr>
        <p:spPr>
          <a:xfrm>
            <a:off x="2076450" y="1171575"/>
            <a:ext cx="148113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>
              <a:lnSpc>
                <a:spcPct val="118000"/>
              </a:lnSpc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lang="ko-KR" altLang="en-US" b="0" dirty="0">
                <a:latin typeface="Pretendard Regular"/>
                <a:ea typeface="Pretendard Regular"/>
                <a:cs typeface="Pretendard Regular"/>
              </a:rPr>
              <a:t>졸업작품 이방인</a:t>
            </a:r>
            <a:r>
              <a:rPr lang="en-US" altLang="ko-KR" b="0" dirty="0">
                <a:latin typeface="Pretendard Regular"/>
                <a:ea typeface="Pretendard Regular"/>
                <a:cs typeface="Pretendard Regular"/>
              </a:rPr>
              <a:t>(Outlander)</a:t>
            </a:r>
            <a:endParaRPr lang="ko-KR" altLang="en-US" b="0" dirty="0"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63" name="서버 기반 기술  /  JobTimer의 예약 작업 전달">
            <a:extLst>
              <a:ext uri="{FF2B5EF4-FFF2-40B4-BE49-F238E27FC236}">
                <a16:creationId xmlns:a16="http://schemas.microsoft.com/office/drawing/2014/main" id="{C8DE587C-F1E6-4178-9A92-446C420E67AC}"/>
              </a:ext>
            </a:extLst>
          </p:cNvPr>
          <p:cNvSpPr>
            <a:spLocks noGrp="1"/>
          </p:cNvSpPr>
          <p:nvPr/>
        </p:nvSpPr>
        <p:spPr>
          <a:xfrm>
            <a:off x="1143000" y="2028825"/>
            <a:ext cx="16002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rPr>
              <a:t>서버 기반 기술  /  JobTimer의 예약 작업 전달</a:t>
            </a:r>
          </a:p>
        </p:txBody>
      </p:sp>
      <p:sp>
        <p:nvSpPr>
          <p:cNvPr id="264" name="OUTLANDER  /  11">
            <a:extLst>
              <a:ext uri="{FF2B5EF4-FFF2-40B4-BE49-F238E27FC236}">
                <a16:creationId xmlns:a16="http://schemas.microsoft.com/office/drawing/2014/main" id="{29A8E3A1-9EF0-40A9-8411-51EFB353FF33}"/>
              </a:ext>
            </a:extLst>
          </p:cNvPr>
          <p:cNvSpPr>
            <a:spLocks noGrp="1"/>
          </p:cNvSpPr>
          <p:nvPr/>
        </p:nvSpPr>
        <p:spPr>
          <a:xfrm>
            <a:off x="14573250" y="960120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defPPr>
            <a:lvl1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r">
              <a:lnSpc>
                <a:spcPct val="118000"/>
              </a:lnSpc>
              <a:buNone/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rPr>
              <a:t>OUTLANDER  /  11</a:t>
            </a:r>
          </a:p>
        </p:txBody>
      </p:sp>
    </p:spTree>
    <p:extLst>
      <p:ext uri="{BB962C8B-B14F-4D97-AF65-F5344CB8AC3E}">
        <p14:creationId xmlns:p14="http://schemas.microsoft.com/office/powerpoint/2010/main" val="2070075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Picture 2">
            <a:extLst>
              <a:ext uri="{FF2B5EF4-FFF2-40B4-BE49-F238E27FC236}">
                <a16:creationId xmlns:a16="http://schemas.microsoft.com/office/drawing/2014/main" id="{AE321D3A-7474-43A7-A948-68F9CCA7E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id="237" name="Picture 3">
            <a:extLst>
              <a:ext uri="{FF2B5EF4-FFF2-40B4-BE49-F238E27FC236}">
                <a16:creationId xmlns:a16="http://schemas.microsoft.com/office/drawing/2014/main" id="{8090BA58-5F21-4C62-BBD4-A13AC10F7E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3400" y="-1460500"/>
            <a:ext cx="5219700" cy="5130800"/>
          </a:xfrm>
          <a:prstGeom prst="rect">
            <a:avLst/>
          </a:prstGeom>
        </p:spPr>
      </p:pic>
      <p:pic>
        <p:nvPicPr>
          <p:cNvPr id="238" name="Picture 4">
            <a:extLst>
              <a:ext uri="{FF2B5EF4-FFF2-40B4-BE49-F238E27FC236}">
                <a16:creationId xmlns:a16="http://schemas.microsoft.com/office/drawing/2014/main" id="{9ECC48ED-A77F-4915-8A75-F35669F7978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7000"/>
          </a:blip>
          <a:stretch>
            <a:fillRect/>
          </a:stretch>
        </p:blipFill>
        <p:spPr>
          <a:xfrm rot="18782095">
            <a:off x="-3327400" y="6921500"/>
            <a:ext cx="7454900" cy="7188200"/>
          </a:xfrm>
          <a:prstGeom prst="rect">
            <a:avLst/>
          </a:prstGeom>
        </p:spPr>
      </p:pic>
      <p:pic>
        <p:nvPicPr>
          <p:cNvPr id="239" name="Picture 7">
            <a:extLst>
              <a:ext uri="{FF2B5EF4-FFF2-40B4-BE49-F238E27FC236}">
                <a16:creationId xmlns:a16="http://schemas.microsoft.com/office/drawing/2014/main" id="{AE85DE64-B54B-4147-BCD9-DC5F617330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700000">
            <a:off x="5969000" y="9169400"/>
            <a:ext cx="444500" cy="431800"/>
          </a:xfrm>
          <a:prstGeom prst="rect">
            <a:avLst/>
          </a:prstGeom>
        </p:spPr>
      </p:pic>
      <p:pic>
        <p:nvPicPr>
          <p:cNvPr id="240" name="Picture 8">
            <a:extLst>
              <a:ext uri="{FF2B5EF4-FFF2-40B4-BE49-F238E27FC236}">
                <a16:creationId xmlns:a16="http://schemas.microsoft.com/office/drawing/2014/main" id="{57B59FDC-B258-4DC9-BE16-DD2D9D3B36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9258300"/>
            <a:ext cx="12090400" cy="177800"/>
          </a:xfrm>
          <a:prstGeom prst="rect">
            <a:avLst/>
          </a:prstGeom>
        </p:spPr>
      </p:pic>
      <p:pic>
        <p:nvPicPr>
          <p:cNvPr id="241" name="Picture 9">
            <a:extLst>
              <a:ext uri="{FF2B5EF4-FFF2-40B4-BE49-F238E27FC236}">
                <a16:creationId xmlns:a16="http://schemas.microsoft.com/office/drawing/2014/main" id="{0370C480-B82E-4934-A850-85652F2EFF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685800" y="863600"/>
            <a:ext cx="8064500" cy="139700"/>
          </a:xfrm>
          <a:prstGeom prst="rect">
            <a:avLst/>
          </a:prstGeom>
        </p:spPr>
      </p:pic>
      <p:sp>
        <p:nvSpPr>
          <p:cNvPr id="245" name="스레드별 청크">
            <a:extLst>
              <a:ext uri="{FF2B5EF4-FFF2-40B4-BE49-F238E27FC236}">
                <a16:creationId xmlns:a16="http://schemas.microsoft.com/office/drawing/2014/main" id="{365E08BA-9BA9-4F61-B282-F1BB1C00A90D}"/>
              </a:ext>
            </a:extLst>
          </p:cNvPr>
          <p:cNvSpPr>
            <a:spLocks noGrp="1"/>
          </p:cNvSpPr>
          <p:nvPr/>
        </p:nvSpPr>
        <p:spPr>
          <a:xfrm>
            <a:off x="1143000" y="3609975"/>
            <a:ext cx="4572000" cy="1522095"/>
          </a:xfrm>
          <a:prstGeom prst="rect">
            <a:avLst/>
          </a:prstGeom>
          <a:solidFill>
            <a:srgbClr val="FFFFFF"/>
          </a:solidFill>
          <a:ln w="13335">
            <a:solidFill>
              <a:srgbClr val="B8B8BD"/>
            </a:solidFill>
          </a:ln>
        </p:spPr>
      </p:sp>
      <p:sp>
        <p:nvSpPr>
          <p:cNvPr id="246" name="스레드별 청크">
            <a:extLst>
              <a:ext uri="{FF2B5EF4-FFF2-40B4-BE49-F238E27FC236}">
                <a16:creationId xmlns:a16="http://schemas.microsoft.com/office/drawing/2014/main" id="{F2C1033B-7CCF-4372-99D4-C01D6BB943EC}"/>
              </a:ext>
            </a:extLst>
          </p:cNvPr>
          <p:cNvSpPr>
            <a:spLocks noGrp="1"/>
          </p:cNvSpPr>
          <p:nvPr/>
        </p:nvSpPr>
        <p:spPr>
          <a:xfrm>
            <a:off x="1333500" y="3747135"/>
            <a:ext cx="4191000" cy="4029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스레드별 청크</a:t>
            </a:r>
          </a:p>
        </p:txBody>
      </p:sp>
      <p:sp>
        <p:nvSpPr>
          <p:cNvPr id="247" name="64KB 청크에서 공간 할당&#10;남은 공간 부족 시 청크 교체">
            <a:extLst>
              <a:ext uri="{FF2B5EF4-FFF2-40B4-BE49-F238E27FC236}">
                <a16:creationId xmlns:a16="http://schemas.microsoft.com/office/drawing/2014/main" id="{0C122B0B-EA55-44AC-B6F0-E50BC6D11C36}"/>
              </a:ext>
            </a:extLst>
          </p:cNvPr>
          <p:cNvSpPr>
            <a:spLocks noGrp="1"/>
          </p:cNvSpPr>
          <p:nvPr/>
        </p:nvSpPr>
        <p:spPr>
          <a:xfrm>
            <a:off x="1333500" y="4210050"/>
            <a:ext cx="4191000" cy="87744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64KB 청크에서 공간 할당</a:t>
            </a: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남은 공간 부족 시 청크 교체</a:t>
            </a:r>
          </a:p>
        </p:txBody>
      </p:sp>
      <p:sp>
        <p:nvSpPr>
          <p:cNvPr id="248" name="SendBuffer">
            <a:extLst>
              <a:ext uri="{FF2B5EF4-FFF2-40B4-BE49-F238E27FC236}">
                <a16:creationId xmlns:a16="http://schemas.microsoft.com/office/drawing/2014/main" id="{465DB734-2D53-429A-9FC1-8FBE353C2A69}"/>
              </a:ext>
            </a:extLst>
          </p:cNvPr>
          <p:cNvSpPr>
            <a:spLocks noGrp="1"/>
          </p:cNvSpPr>
          <p:nvPr/>
        </p:nvSpPr>
        <p:spPr>
          <a:xfrm>
            <a:off x="6953250" y="3609975"/>
            <a:ext cx="4572000" cy="1522095"/>
          </a:xfrm>
          <a:prstGeom prst="rect">
            <a:avLst/>
          </a:prstGeom>
          <a:solidFill>
            <a:srgbClr val="FFFFFF"/>
          </a:solidFill>
          <a:ln w="13335">
            <a:solidFill>
              <a:srgbClr val="B8B8BD"/>
            </a:solidFill>
          </a:ln>
        </p:spPr>
      </p:sp>
      <p:sp>
        <p:nvSpPr>
          <p:cNvPr id="249" name="SendBuffer">
            <a:extLst>
              <a:ext uri="{FF2B5EF4-FFF2-40B4-BE49-F238E27FC236}">
                <a16:creationId xmlns:a16="http://schemas.microsoft.com/office/drawing/2014/main" id="{E70DF526-5918-4938-8A0F-4049E345AA06}"/>
              </a:ext>
            </a:extLst>
          </p:cNvPr>
          <p:cNvSpPr>
            <a:spLocks noGrp="1"/>
          </p:cNvSpPr>
          <p:nvPr/>
        </p:nvSpPr>
        <p:spPr>
          <a:xfrm>
            <a:off x="7143750" y="3747135"/>
            <a:ext cx="4191000" cy="4029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SendBuffer</a:t>
            </a:r>
          </a:p>
        </p:txBody>
      </p:sp>
      <p:sp>
        <p:nvSpPr>
          <p:cNvPr id="250" name="패킷 데이터 구간 참조&#10;청크를 shared_ptr로 보유">
            <a:extLst>
              <a:ext uri="{FF2B5EF4-FFF2-40B4-BE49-F238E27FC236}">
                <a16:creationId xmlns:a16="http://schemas.microsoft.com/office/drawing/2014/main" id="{D6BFC671-CAD5-473E-A5A8-54E8944660ED}"/>
              </a:ext>
            </a:extLst>
          </p:cNvPr>
          <p:cNvSpPr>
            <a:spLocks noGrp="1"/>
          </p:cNvSpPr>
          <p:nvPr/>
        </p:nvSpPr>
        <p:spPr>
          <a:xfrm>
            <a:off x="7143750" y="4210050"/>
            <a:ext cx="4191000" cy="87744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패킷 데이터 구간 참조</a:t>
            </a: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청크를 shared_ptr로 보유</a:t>
            </a:r>
          </a:p>
        </p:txBody>
      </p:sp>
      <p:sp>
        <p:nvSpPr>
          <p:cNvPr id="251" name="각 Session">
            <a:extLst>
              <a:ext uri="{FF2B5EF4-FFF2-40B4-BE49-F238E27FC236}">
                <a16:creationId xmlns:a16="http://schemas.microsoft.com/office/drawing/2014/main" id="{2D36511E-7679-4E83-A9BB-E1FB3B071CFC}"/>
              </a:ext>
            </a:extLst>
          </p:cNvPr>
          <p:cNvSpPr>
            <a:spLocks noGrp="1"/>
          </p:cNvSpPr>
          <p:nvPr/>
        </p:nvSpPr>
        <p:spPr>
          <a:xfrm>
            <a:off x="12763500" y="3609975"/>
            <a:ext cx="4572000" cy="1522095"/>
          </a:xfrm>
          <a:prstGeom prst="rect">
            <a:avLst/>
          </a:prstGeom>
          <a:solidFill>
            <a:srgbClr val="FFFFFF"/>
          </a:solidFill>
          <a:ln w="13335">
            <a:solidFill>
              <a:srgbClr val="B8B8BD"/>
            </a:solidFill>
          </a:ln>
        </p:spPr>
      </p:sp>
      <p:sp>
        <p:nvSpPr>
          <p:cNvPr id="252" name="각 Session">
            <a:extLst>
              <a:ext uri="{FF2B5EF4-FFF2-40B4-BE49-F238E27FC236}">
                <a16:creationId xmlns:a16="http://schemas.microsoft.com/office/drawing/2014/main" id="{5178AEB3-828D-4367-94BC-F3BBE2F96508}"/>
              </a:ext>
            </a:extLst>
          </p:cNvPr>
          <p:cNvSpPr>
            <a:spLocks noGrp="1"/>
          </p:cNvSpPr>
          <p:nvPr/>
        </p:nvSpPr>
        <p:spPr>
          <a:xfrm>
            <a:off x="12954000" y="3747135"/>
            <a:ext cx="4191000" cy="4029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각 Session</a:t>
            </a:r>
          </a:p>
        </p:txBody>
      </p:sp>
      <p:sp>
        <p:nvSpPr>
          <p:cNvPr id="253" name="같은 버퍼를 송신 큐에 보관&#10;세션별로 비동기 송신">
            <a:extLst>
              <a:ext uri="{FF2B5EF4-FFF2-40B4-BE49-F238E27FC236}">
                <a16:creationId xmlns:a16="http://schemas.microsoft.com/office/drawing/2014/main" id="{A6CF3D86-B30C-4C3C-88D2-B45DCD57779F}"/>
              </a:ext>
            </a:extLst>
          </p:cNvPr>
          <p:cNvSpPr>
            <a:spLocks noGrp="1"/>
          </p:cNvSpPr>
          <p:nvPr/>
        </p:nvSpPr>
        <p:spPr>
          <a:xfrm>
            <a:off x="12954000" y="4210050"/>
            <a:ext cx="4191000" cy="87744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같은 버퍼를 송신 큐에 보관</a:t>
            </a: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세션별로 비동기 송신</a:t>
            </a:r>
          </a:p>
        </p:txBody>
      </p:sp>
      <p:cxnSp>
        <p:nvCxnSpPr>
          <p:cNvPr id="254" name="직선 화살표 연결선 253">
            <a:extLst>
              <a:ext uri="{FF2B5EF4-FFF2-40B4-BE49-F238E27FC236}">
                <a16:creationId xmlns:a16="http://schemas.microsoft.com/office/drawing/2014/main" id="{472973F5-36FB-4BF3-B89C-C01945BBD322}"/>
              </a:ext>
            </a:extLst>
          </p:cNvPr>
          <p:cNvCxnSpPr>
            <a:stCxn id="245" idx="3"/>
            <a:endCxn id="248" idx="1"/>
          </p:cNvCxnSpPr>
          <p:nvPr/>
        </p:nvCxnSpPr>
        <p:spPr>
          <a:xfrm>
            <a:off x="5715000" y="4371023"/>
            <a:ext cx="1238250" cy="0"/>
          </a:xfrm>
          <a:prstGeom prst="straightConnector1">
            <a:avLst/>
          </a:prstGeom>
          <a:ln w="21908">
            <a:solidFill>
              <a:srgbClr val="354B62"/>
            </a:solidFill>
            <a:prstDash val="solid"/>
            <a:tailEnd type="triangle" w="med" len="med"/>
          </a:ln>
        </p:spPr>
      </p:cxnSp>
      <p:cxnSp>
        <p:nvCxnSpPr>
          <p:cNvPr id="255" name="직선 화살표 연결선 254">
            <a:extLst>
              <a:ext uri="{FF2B5EF4-FFF2-40B4-BE49-F238E27FC236}">
                <a16:creationId xmlns:a16="http://schemas.microsoft.com/office/drawing/2014/main" id="{166FF1DD-EE88-472F-9E90-9BB1FE921360}"/>
              </a:ext>
            </a:extLst>
          </p:cNvPr>
          <p:cNvCxnSpPr>
            <a:stCxn id="248" idx="3"/>
            <a:endCxn id="251" idx="1"/>
          </p:cNvCxnSpPr>
          <p:nvPr/>
        </p:nvCxnSpPr>
        <p:spPr>
          <a:xfrm>
            <a:off x="11525250" y="4371023"/>
            <a:ext cx="1238250" cy="0"/>
          </a:xfrm>
          <a:prstGeom prst="straightConnector1">
            <a:avLst/>
          </a:prstGeom>
          <a:ln w="21908">
            <a:solidFill>
              <a:srgbClr val="354B62"/>
            </a:solidFill>
            <a:prstDash val="solid"/>
            <a:tailEnd type="triangle" w="med" len="med"/>
          </a:ln>
        </p:spPr>
      </p:cxnSp>
      <p:pic>
        <p:nvPicPr>
          <p:cNvPr id="256" name="그림 255">
            <a:extLst>
              <a:ext uri="{FF2B5EF4-FFF2-40B4-BE49-F238E27FC236}">
                <a16:creationId xmlns:a16="http://schemas.microsoft.com/office/drawing/2014/main" id="{9E2E70AD-6767-45C1-9E0D-1BEDE01B02B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143000" y="5667375"/>
            <a:ext cx="9525000" cy="2399538"/>
          </a:xfrm>
          <a:prstGeom prst="rect">
            <a:avLst/>
          </a:prstGeom>
        </p:spPr>
      </p:pic>
      <p:pic>
        <p:nvPicPr>
          <p:cNvPr id="257" name="그림 256">
            <a:extLst>
              <a:ext uri="{FF2B5EF4-FFF2-40B4-BE49-F238E27FC236}">
                <a16:creationId xmlns:a16="http://schemas.microsoft.com/office/drawing/2014/main" id="{39004114-5D8A-4C61-8CB1-BDC4508509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11334750" y="5667375"/>
            <a:ext cx="5905500" cy="1429426"/>
          </a:xfrm>
          <a:prstGeom prst="rect">
            <a:avLst/>
          </a:prstGeom>
        </p:spPr>
      </p:pic>
      <p:sp>
        <p:nvSpPr>
          <p:cNvPr id="258" name="한 번 만든 패킷을 수신자별로 복제하지 않고 공유합니다.">
            <a:extLst>
              <a:ext uri="{FF2B5EF4-FFF2-40B4-BE49-F238E27FC236}">
                <a16:creationId xmlns:a16="http://schemas.microsoft.com/office/drawing/2014/main" id="{2BBBD012-EFAE-4D05-98D6-8438C44003F3}"/>
              </a:ext>
            </a:extLst>
          </p:cNvPr>
          <p:cNvSpPr>
            <a:spLocks noGrp="1"/>
          </p:cNvSpPr>
          <p:nvPr/>
        </p:nvSpPr>
        <p:spPr>
          <a:xfrm>
            <a:off x="1143000" y="8429625"/>
            <a:ext cx="16002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rPr>
              <a:t>한 번 만든 패킷을 수신자별로 복제하지 않고 공유합니다.</a:t>
            </a:r>
          </a:p>
        </p:txBody>
      </p:sp>
      <p:sp>
        <p:nvSpPr>
          <p:cNvPr id="259" name="운영체제까지의 무복사 송신을 의미하지는 않습니다.">
            <a:extLst>
              <a:ext uri="{FF2B5EF4-FFF2-40B4-BE49-F238E27FC236}">
                <a16:creationId xmlns:a16="http://schemas.microsoft.com/office/drawing/2014/main" id="{B06B6AD0-AC70-4D77-A745-022EB33DC5B7}"/>
              </a:ext>
            </a:extLst>
          </p:cNvPr>
          <p:cNvSpPr>
            <a:spLocks noGrp="1"/>
          </p:cNvSpPr>
          <p:nvPr/>
        </p:nvSpPr>
        <p:spPr>
          <a:xfrm>
            <a:off x="1143000" y="8963025"/>
            <a:ext cx="15811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7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운영체제까지의 무복사 송신을 의미하지는 않습니다.</a:t>
            </a:r>
          </a:p>
        </p:txBody>
      </p:sp>
      <p:sp>
        <p:nvSpPr>
          <p:cNvPr id="260" name="02">
            <a:extLst>
              <a:ext uri="{FF2B5EF4-FFF2-40B4-BE49-F238E27FC236}">
                <a16:creationId xmlns:a16="http://schemas.microsoft.com/office/drawing/2014/main" id="{38142174-290E-4155-A43C-7F13849E3A48}"/>
              </a:ext>
            </a:extLst>
          </p:cNvPr>
          <p:cNvSpPr>
            <a:spLocks noGrp="1"/>
          </p:cNvSpPr>
          <p:nvPr/>
        </p:nvSpPr>
        <p:spPr>
          <a:xfrm>
            <a:off x="1143000" y="1143000"/>
            <a:ext cx="723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261" name="PROJECT  이방인(Outlander)">
            <a:extLst>
              <a:ext uri="{FF2B5EF4-FFF2-40B4-BE49-F238E27FC236}">
                <a16:creationId xmlns:a16="http://schemas.microsoft.com/office/drawing/2014/main" id="{921D1BAC-5A5F-4243-9702-BDC342893015}"/>
              </a:ext>
            </a:extLst>
          </p:cNvPr>
          <p:cNvSpPr>
            <a:spLocks noGrp="1"/>
          </p:cNvSpPr>
          <p:nvPr/>
        </p:nvSpPr>
        <p:spPr>
          <a:xfrm>
            <a:off x="2076450" y="1171575"/>
            <a:ext cx="148113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>
              <a:lnSpc>
                <a:spcPct val="118000"/>
              </a:lnSpc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lang="ko-KR" altLang="en-US" b="0" dirty="0">
                <a:latin typeface="Pretendard Regular"/>
                <a:ea typeface="Pretendard Regular"/>
                <a:cs typeface="Pretendard Regular"/>
              </a:rPr>
              <a:t>졸업작품 이방인</a:t>
            </a:r>
            <a:r>
              <a:rPr lang="en-US" altLang="ko-KR" b="0" dirty="0">
                <a:latin typeface="Pretendard Regular"/>
                <a:ea typeface="Pretendard Regular"/>
                <a:cs typeface="Pretendard Regular"/>
              </a:rPr>
              <a:t>(Outlander)</a:t>
            </a:r>
            <a:endParaRPr lang="ko-KR" altLang="en-US" b="0" dirty="0"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62" name="서버 기반 기술  /  SendBuffer의 청크 할당과 공유">
            <a:extLst>
              <a:ext uri="{FF2B5EF4-FFF2-40B4-BE49-F238E27FC236}">
                <a16:creationId xmlns:a16="http://schemas.microsoft.com/office/drawing/2014/main" id="{D86C4D59-5985-471D-BCC2-804A8D29EA95}"/>
              </a:ext>
            </a:extLst>
          </p:cNvPr>
          <p:cNvSpPr>
            <a:spLocks noGrp="1"/>
          </p:cNvSpPr>
          <p:nvPr/>
        </p:nvSpPr>
        <p:spPr>
          <a:xfrm>
            <a:off x="1143000" y="2028825"/>
            <a:ext cx="16002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rPr>
              <a:t>서버 기반 기술  /  SendBuffer의 청크 할당과 공유</a:t>
            </a:r>
          </a:p>
        </p:txBody>
      </p:sp>
      <p:sp>
        <p:nvSpPr>
          <p:cNvPr id="263" name="OUTLANDER  /  12">
            <a:extLst>
              <a:ext uri="{FF2B5EF4-FFF2-40B4-BE49-F238E27FC236}">
                <a16:creationId xmlns:a16="http://schemas.microsoft.com/office/drawing/2014/main" id="{5143FD43-5B19-4A79-A8F2-74DF204B51FD}"/>
              </a:ext>
            </a:extLst>
          </p:cNvPr>
          <p:cNvSpPr>
            <a:spLocks noGrp="1"/>
          </p:cNvSpPr>
          <p:nvPr/>
        </p:nvSpPr>
        <p:spPr>
          <a:xfrm>
            <a:off x="14573250" y="960120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defPPr>
            <a:lvl1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r">
              <a:lnSpc>
                <a:spcPct val="118000"/>
              </a:lnSpc>
              <a:buNone/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rPr>
              <a:t>OUTLANDER  /  12</a:t>
            </a:r>
          </a:p>
        </p:txBody>
      </p:sp>
    </p:spTree>
    <p:extLst>
      <p:ext uri="{BB962C8B-B14F-4D97-AF65-F5344CB8AC3E}">
        <p14:creationId xmlns:p14="http://schemas.microsoft.com/office/powerpoint/2010/main" val="2070075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Picture 2">
            <a:extLst>
              <a:ext uri="{FF2B5EF4-FFF2-40B4-BE49-F238E27FC236}">
                <a16:creationId xmlns:a16="http://schemas.microsoft.com/office/drawing/2014/main" id="{F48EDEC0-1E75-4671-9B3C-93A3C5677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id="237" name="Picture 3">
            <a:extLst>
              <a:ext uri="{FF2B5EF4-FFF2-40B4-BE49-F238E27FC236}">
                <a16:creationId xmlns:a16="http://schemas.microsoft.com/office/drawing/2014/main" id="{864C2040-8F48-44EF-8C45-2DE328A21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3400" y="-1460500"/>
            <a:ext cx="5219700" cy="5130800"/>
          </a:xfrm>
          <a:prstGeom prst="rect">
            <a:avLst/>
          </a:prstGeom>
        </p:spPr>
      </p:pic>
      <p:pic>
        <p:nvPicPr>
          <p:cNvPr id="238" name="Picture 4">
            <a:extLst>
              <a:ext uri="{FF2B5EF4-FFF2-40B4-BE49-F238E27FC236}">
                <a16:creationId xmlns:a16="http://schemas.microsoft.com/office/drawing/2014/main" id="{D8A6289F-9154-4275-A1D3-3D97855653B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7000"/>
          </a:blip>
          <a:stretch>
            <a:fillRect/>
          </a:stretch>
        </p:blipFill>
        <p:spPr>
          <a:xfrm rot="18782095">
            <a:off x="-3327400" y="6921500"/>
            <a:ext cx="7454900" cy="7188200"/>
          </a:xfrm>
          <a:prstGeom prst="rect">
            <a:avLst/>
          </a:prstGeom>
        </p:spPr>
      </p:pic>
      <p:pic>
        <p:nvPicPr>
          <p:cNvPr id="239" name="Picture 7">
            <a:extLst>
              <a:ext uri="{FF2B5EF4-FFF2-40B4-BE49-F238E27FC236}">
                <a16:creationId xmlns:a16="http://schemas.microsoft.com/office/drawing/2014/main" id="{496A57CB-4FF7-4C01-A963-8633FC3EF7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700000">
            <a:off x="5969000" y="9169400"/>
            <a:ext cx="444500" cy="431800"/>
          </a:xfrm>
          <a:prstGeom prst="rect">
            <a:avLst/>
          </a:prstGeom>
        </p:spPr>
      </p:pic>
      <p:pic>
        <p:nvPicPr>
          <p:cNvPr id="240" name="Picture 8">
            <a:extLst>
              <a:ext uri="{FF2B5EF4-FFF2-40B4-BE49-F238E27FC236}">
                <a16:creationId xmlns:a16="http://schemas.microsoft.com/office/drawing/2014/main" id="{4F195488-A61D-476B-9B47-8FB357856F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9258300"/>
            <a:ext cx="12090400" cy="177800"/>
          </a:xfrm>
          <a:prstGeom prst="rect">
            <a:avLst/>
          </a:prstGeom>
        </p:spPr>
      </p:pic>
      <p:pic>
        <p:nvPicPr>
          <p:cNvPr id="241" name="Picture 9">
            <a:extLst>
              <a:ext uri="{FF2B5EF4-FFF2-40B4-BE49-F238E27FC236}">
                <a16:creationId xmlns:a16="http://schemas.microsoft.com/office/drawing/2014/main" id="{A505308D-B27D-4BF5-A8D8-AF1DEBB287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685800" y="863600"/>
            <a:ext cx="8064500" cy="139700"/>
          </a:xfrm>
          <a:prstGeom prst="rect">
            <a:avLst/>
          </a:prstGeom>
        </p:spPr>
      </p:pic>
      <p:sp>
        <p:nvSpPr>
          <p:cNvPr id="245" name="예시: 생성 측 참조는 해제했고 A·B 두 세션만 SendBuffer를 보유한 상태">
            <a:extLst>
              <a:ext uri="{FF2B5EF4-FFF2-40B4-BE49-F238E27FC236}">
                <a16:creationId xmlns:a16="http://schemas.microsoft.com/office/drawing/2014/main" id="{756D1179-3C7C-46B4-91C6-8D0B3823DC0B}"/>
              </a:ext>
            </a:extLst>
          </p:cNvPr>
          <p:cNvSpPr>
            <a:spLocks noGrp="1"/>
          </p:cNvSpPr>
          <p:nvPr/>
        </p:nvSpPr>
        <p:spPr>
          <a:xfrm>
            <a:off x="1143000" y="3095625"/>
            <a:ext cx="16097250" cy="4029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예시: 생성 측 참조는 해제했고 A·B 두 세션만 SendBuffer를 보유한 상태</a:t>
            </a:r>
          </a:p>
        </p:txBody>
      </p:sp>
      <p:sp>
        <p:nvSpPr>
          <p:cNvPr id="246" name="A·B 송신 중">
            <a:extLst>
              <a:ext uri="{FF2B5EF4-FFF2-40B4-BE49-F238E27FC236}">
                <a16:creationId xmlns:a16="http://schemas.microsoft.com/office/drawing/2014/main" id="{A1AB74FB-B8D4-418F-A00D-5596CC90BE6C}"/>
              </a:ext>
            </a:extLst>
          </p:cNvPr>
          <p:cNvSpPr>
            <a:spLocks noGrp="1"/>
          </p:cNvSpPr>
          <p:nvPr/>
        </p:nvSpPr>
        <p:spPr>
          <a:xfrm>
            <a:off x="1143000" y="3824288"/>
            <a:ext cx="4476750" cy="1522095"/>
          </a:xfrm>
          <a:prstGeom prst="rect">
            <a:avLst/>
          </a:prstGeom>
          <a:solidFill>
            <a:srgbClr val="FFFFFF"/>
          </a:solidFill>
          <a:ln w="13335">
            <a:solidFill>
              <a:srgbClr val="B8B8BD"/>
            </a:solidFill>
          </a:ln>
        </p:spPr>
      </p:sp>
      <p:sp>
        <p:nvSpPr>
          <p:cNvPr id="247" name="A·B 송신 중">
            <a:extLst>
              <a:ext uri="{FF2B5EF4-FFF2-40B4-BE49-F238E27FC236}">
                <a16:creationId xmlns:a16="http://schemas.microsoft.com/office/drawing/2014/main" id="{1D1F95D2-68B9-4C24-89D7-F65E5D264100}"/>
              </a:ext>
            </a:extLst>
          </p:cNvPr>
          <p:cNvSpPr>
            <a:spLocks noGrp="1"/>
          </p:cNvSpPr>
          <p:nvPr/>
        </p:nvSpPr>
        <p:spPr>
          <a:xfrm>
            <a:off x="1333500" y="3961448"/>
            <a:ext cx="4095750" cy="4029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A·B 송신 중</a:t>
            </a:r>
          </a:p>
        </p:txBody>
      </p:sp>
      <p:sp>
        <p:nvSpPr>
          <p:cNvPr id="248" name="두 세션이 버퍼 참조 유지">
            <a:extLst>
              <a:ext uri="{FF2B5EF4-FFF2-40B4-BE49-F238E27FC236}">
                <a16:creationId xmlns:a16="http://schemas.microsoft.com/office/drawing/2014/main" id="{D9CAD690-27C1-45B3-AA5E-E7B077AEF458}"/>
              </a:ext>
            </a:extLst>
          </p:cNvPr>
          <p:cNvSpPr>
            <a:spLocks noGrp="1"/>
          </p:cNvSpPr>
          <p:nvPr/>
        </p:nvSpPr>
        <p:spPr>
          <a:xfrm>
            <a:off x="1333500" y="4424363"/>
            <a:ext cx="4095750" cy="87744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두 세션이 버퍼 참조 유지</a:t>
            </a:r>
          </a:p>
        </p:txBody>
      </p:sp>
      <p:sp>
        <p:nvSpPr>
          <p:cNvPr id="249" name="A 송신 완료">
            <a:extLst>
              <a:ext uri="{FF2B5EF4-FFF2-40B4-BE49-F238E27FC236}">
                <a16:creationId xmlns:a16="http://schemas.microsoft.com/office/drawing/2014/main" id="{0BDC548F-322D-46D7-871C-01355BCEC818}"/>
              </a:ext>
            </a:extLst>
          </p:cNvPr>
          <p:cNvSpPr>
            <a:spLocks noGrp="1"/>
          </p:cNvSpPr>
          <p:nvPr/>
        </p:nvSpPr>
        <p:spPr>
          <a:xfrm>
            <a:off x="6953250" y="3824288"/>
            <a:ext cx="4476750" cy="1522095"/>
          </a:xfrm>
          <a:prstGeom prst="rect">
            <a:avLst/>
          </a:prstGeom>
          <a:solidFill>
            <a:srgbClr val="FFFFFF"/>
          </a:solidFill>
          <a:ln w="13335">
            <a:solidFill>
              <a:srgbClr val="B8B8BD"/>
            </a:solidFill>
          </a:ln>
        </p:spPr>
      </p:sp>
      <p:sp>
        <p:nvSpPr>
          <p:cNvPr id="250" name="A 송신 완료">
            <a:extLst>
              <a:ext uri="{FF2B5EF4-FFF2-40B4-BE49-F238E27FC236}">
                <a16:creationId xmlns:a16="http://schemas.microsoft.com/office/drawing/2014/main" id="{22CD0F36-9685-474A-B295-7FE18EFEAF3C}"/>
              </a:ext>
            </a:extLst>
          </p:cNvPr>
          <p:cNvSpPr>
            <a:spLocks noGrp="1"/>
          </p:cNvSpPr>
          <p:nvPr/>
        </p:nvSpPr>
        <p:spPr>
          <a:xfrm>
            <a:off x="7143750" y="3961448"/>
            <a:ext cx="4095750" cy="4029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A 송신 완료</a:t>
            </a:r>
          </a:p>
        </p:txBody>
      </p:sp>
      <p:sp>
        <p:nvSpPr>
          <p:cNvPr id="251" name="A 참조 해제, B 참조 유지">
            <a:extLst>
              <a:ext uri="{FF2B5EF4-FFF2-40B4-BE49-F238E27FC236}">
                <a16:creationId xmlns:a16="http://schemas.microsoft.com/office/drawing/2014/main" id="{806AADA4-53F4-42AC-909C-B64FADFDA568}"/>
              </a:ext>
            </a:extLst>
          </p:cNvPr>
          <p:cNvSpPr>
            <a:spLocks noGrp="1"/>
          </p:cNvSpPr>
          <p:nvPr/>
        </p:nvSpPr>
        <p:spPr>
          <a:xfrm>
            <a:off x="7143750" y="4424363"/>
            <a:ext cx="4095750" cy="87744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A 참조 해제, B 참조 유지</a:t>
            </a:r>
          </a:p>
        </p:txBody>
      </p:sp>
      <p:sp>
        <p:nvSpPr>
          <p:cNvPr id="252" name="B 송신 완료">
            <a:extLst>
              <a:ext uri="{FF2B5EF4-FFF2-40B4-BE49-F238E27FC236}">
                <a16:creationId xmlns:a16="http://schemas.microsoft.com/office/drawing/2014/main" id="{CDA01019-B558-4F81-BB8C-8765B7D6484D}"/>
              </a:ext>
            </a:extLst>
          </p:cNvPr>
          <p:cNvSpPr>
            <a:spLocks noGrp="1"/>
          </p:cNvSpPr>
          <p:nvPr/>
        </p:nvSpPr>
        <p:spPr>
          <a:xfrm>
            <a:off x="12763500" y="3824288"/>
            <a:ext cx="4476750" cy="1522095"/>
          </a:xfrm>
          <a:prstGeom prst="rect">
            <a:avLst/>
          </a:prstGeom>
          <a:solidFill>
            <a:srgbClr val="FFFFFF"/>
          </a:solidFill>
          <a:ln w="13335">
            <a:solidFill>
              <a:srgbClr val="B8B8BD"/>
            </a:solidFill>
          </a:ln>
        </p:spPr>
      </p:sp>
      <p:sp>
        <p:nvSpPr>
          <p:cNvPr id="253" name="B 송신 완료">
            <a:extLst>
              <a:ext uri="{FF2B5EF4-FFF2-40B4-BE49-F238E27FC236}">
                <a16:creationId xmlns:a16="http://schemas.microsoft.com/office/drawing/2014/main" id="{7DD7F4FF-12F2-4C07-93E5-79EB778A6593}"/>
              </a:ext>
            </a:extLst>
          </p:cNvPr>
          <p:cNvSpPr>
            <a:spLocks noGrp="1"/>
          </p:cNvSpPr>
          <p:nvPr/>
        </p:nvSpPr>
        <p:spPr>
          <a:xfrm>
            <a:off x="12954000" y="3961448"/>
            <a:ext cx="4095750" cy="4029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B 송신 완료</a:t>
            </a:r>
          </a:p>
        </p:txBody>
      </p:sp>
      <p:sp>
        <p:nvSpPr>
          <p:cNvPr id="254" name="마지막 버퍼 참조 해제&#10;SendBuffer를 풀에 반환">
            <a:extLst>
              <a:ext uri="{FF2B5EF4-FFF2-40B4-BE49-F238E27FC236}">
                <a16:creationId xmlns:a16="http://schemas.microsoft.com/office/drawing/2014/main" id="{39449B3C-5125-49D2-AD35-EFCE49659A05}"/>
              </a:ext>
            </a:extLst>
          </p:cNvPr>
          <p:cNvSpPr>
            <a:spLocks noGrp="1"/>
          </p:cNvSpPr>
          <p:nvPr/>
        </p:nvSpPr>
        <p:spPr>
          <a:xfrm>
            <a:off x="12954000" y="4424363"/>
            <a:ext cx="4095750" cy="87744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마지막 버퍼 참조 해제</a:t>
            </a: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SendBuffer를 풀에 반환</a:t>
            </a:r>
          </a:p>
        </p:txBody>
      </p:sp>
      <p:cxnSp>
        <p:nvCxnSpPr>
          <p:cNvPr id="255" name="직선 화살표 연결선 254">
            <a:extLst>
              <a:ext uri="{FF2B5EF4-FFF2-40B4-BE49-F238E27FC236}">
                <a16:creationId xmlns:a16="http://schemas.microsoft.com/office/drawing/2014/main" id="{5BB5A287-7F82-489D-98EC-770958F2D8BD}"/>
              </a:ext>
            </a:extLst>
          </p:cNvPr>
          <p:cNvCxnSpPr>
            <a:stCxn id="246" idx="3"/>
            <a:endCxn id="249" idx="1"/>
          </p:cNvCxnSpPr>
          <p:nvPr/>
        </p:nvCxnSpPr>
        <p:spPr>
          <a:xfrm>
            <a:off x="5619750" y="4585335"/>
            <a:ext cx="1333500" cy="0"/>
          </a:xfrm>
          <a:prstGeom prst="straightConnector1">
            <a:avLst/>
          </a:prstGeom>
          <a:ln w="21908">
            <a:solidFill>
              <a:srgbClr val="354B62"/>
            </a:solidFill>
            <a:prstDash val="solid"/>
            <a:tailEnd type="triangle" w="med" len="med"/>
          </a:ln>
        </p:spPr>
      </p:cxnSp>
      <p:cxnSp>
        <p:nvCxnSpPr>
          <p:cNvPr id="256" name="직선 화살표 연결선 255">
            <a:extLst>
              <a:ext uri="{FF2B5EF4-FFF2-40B4-BE49-F238E27FC236}">
                <a16:creationId xmlns:a16="http://schemas.microsoft.com/office/drawing/2014/main" id="{36C39B35-A9A3-4DD7-B6C5-5388B3BCC339}"/>
              </a:ext>
            </a:extLst>
          </p:cNvPr>
          <p:cNvCxnSpPr>
            <a:stCxn id="249" idx="3"/>
            <a:endCxn id="252" idx="1"/>
          </p:cNvCxnSpPr>
          <p:nvPr/>
        </p:nvCxnSpPr>
        <p:spPr>
          <a:xfrm>
            <a:off x="11430000" y="4585335"/>
            <a:ext cx="1333500" cy="0"/>
          </a:xfrm>
          <a:prstGeom prst="straightConnector1">
            <a:avLst/>
          </a:prstGeom>
          <a:ln w="21908">
            <a:solidFill>
              <a:srgbClr val="354B62"/>
            </a:solidFill>
            <a:prstDash val="solid"/>
            <a:tailEnd type="triangle" w="med" len="med"/>
          </a:ln>
        </p:spPr>
      </p:cxnSp>
      <p:pic>
        <p:nvPicPr>
          <p:cNvPr id="257" name="그림 256">
            <a:extLst>
              <a:ext uri="{FF2B5EF4-FFF2-40B4-BE49-F238E27FC236}">
                <a16:creationId xmlns:a16="http://schemas.microsoft.com/office/drawing/2014/main" id="{3FAAA740-48D1-45CE-893A-5ED92844DEF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143000" y="5667375"/>
            <a:ext cx="8096250" cy="1289304"/>
          </a:xfrm>
          <a:prstGeom prst="rect">
            <a:avLst/>
          </a:prstGeom>
        </p:spPr>
      </p:pic>
      <p:pic>
        <p:nvPicPr>
          <p:cNvPr id="258" name="그림 257">
            <a:extLst>
              <a:ext uri="{FF2B5EF4-FFF2-40B4-BE49-F238E27FC236}">
                <a16:creationId xmlns:a16="http://schemas.microsoft.com/office/drawing/2014/main" id="{8EF7C374-B112-4E4D-9CD1-6A22E23C266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1143000" y="7124700"/>
            <a:ext cx="7620000" cy="1735925"/>
          </a:xfrm>
          <a:prstGeom prst="rect">
            <a:avLst/>
          </a:prstGeom>
        </p:spPr>
      </p:pic>
      <p:sp>
        <p:nvSpPr>
          <p:cNvPr id="259" name="청크 반환은 별도 조건">
            <a:extLst>
              <a:ext uri="{FF2B5EF4-FFF2-40B4-BE49-F238E27FC236}">
                <a16:creationId xmlns:a16="http://schemas.microsoft.com/office/drawing/2014/main" id="{3AAFA25F-AB89-47BB-8E5D-7851F7FA01E2}"/>
              </a:ext>
            </a:extLst>
          </p:cNvPr>
          <p:cNvSpPr>
            <a:spLocks noGrp="1"/>
          </p:cNvSpPr>
          <p:nvPr/>
        </p:nvSpPr>
        <p:spPr>
          <a:xfrm>
            <a:off x="10096500" y="6105525"/>
            <a:ext cx="7143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32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rPr>
              <a:t>청크 반환은 별도 조건</a:t>
            </a:r>
          </a:p>
        </p:txBody>
      </p:sp>
      <p:sp>
        <p:nvSpPr>
          <p:cNvPr id="260" name="SendBuffer가 사라져도 다른 버퍼나&#10;TLS가 청크를 참조하면 청크는 남습니다.&#10;&#10;모든 청크 참조가 해제되면 재사용 큐로">
            <a:extLst>
              <a:ext uri="{FF2B5EF4-FFF2-40B4-BE49-F238E27FC236}">
                <a16:creationId xmlns:a16="http://schemas.microsoft.com/office/drawing/2014/main" id="{962BBCE3-857D-435F-8249-CAB6D3D88B40}"/>
              </a:ext>
            </a:extLst>
          </p:cNvPr>
          <p:cNvSpPr>
            <a:spLocks noGrp="1"/>
          </p:cNvSpPr>
          <p:nvPr/>
        </p:nvSpPr>
        <p:spPr>
          <a:xfrm>
            <a:off x="10096500" y="6705600"/>
            <a:ext cx="7143750" cy="190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SendBuffer가 사라져도 다른 버퍼나</a:t>
            </a:r>
          </a:p>
          <a:p>
            <a:pPr algn="l">
              <a:lnSpc>
                <a:spcPct val="115000"/>
              </a:lnSpc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TLS가 청크를 참조하면 청크는 남습니다.</a:t>
            </a:r>
          </a:p>
          <a:p>
            <a:endParaRPr sz="2175" b="0">
              <a:solidFill>
                <a:srgbClr val="414141"/>
              </a:solidFill>
              <a:latin typeface="Pretendard Regular"/>
              <a:ea typeface="Pretendard Regular"/>
              <a:cs typeface="Pretendard Regular"/>
            </a:endParaRPr>
          </a:p>
          <a:p>
            <a:pPr algn="l">
              <a:lnSpc>
                <a:spcPct val="115000"/>
              </a:lnSpc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모든 청크 참조가 해제되면 재사용 큐로</a:t>
            </a:r>
          </a:p>
          <a:p>
            <a:pPr algn="l">
              <a:lnSpc>
                <a:spcPct val="115000"/>
              </a:lnSpc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반환하고, 종료 단계에서는 실제 해제합니다.</a:t>
            </a:r>
          </a:p>
        </p:txBody>
      </p:sp>
      <p:sp>
        <p:nvSpPr>
          <p:cNvPr id="262" name="02">
            <a:extLst>
              <a:ext uri="{FF2B5EF4-FFF2-40B4-BE49-F238E27FC236}">
                <a16:creationId xmlns:a16="http://schemas.microsoft.com/office/drawing/2014/main" id="{F8B5BD9B-4B64-40B4-8B86-40106CD1190D}"/>
              </a:ext>
            </a:extLst>
          </p:cNvPr>
          <p:cNvSpPr>
            <a:spLocks noGrp="1"/>
          </p:cNvSpPr>
          <p:nvPr/>
        </p:nvSpPr>
        <p:spPr>
          <a:xfrm>
            <a:off x="1143000" y="1143000"/>
            <a:ext cx="723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263" name="PROJECT  이방인(Outlander)">
            <a:extLst>
              <a:ext uri="{FF2B5EF4-FFF2-40B4-BE49-F238E27FC236}">
                <a16:creationId xmlns:a16="http://schemas.microsoft.com/office/drawing/2014/main" id="{FFB654E4-C5C7-4449-94FA-A838402A3395}"/>
              </a:ext>
            </a:extLst>
          </p:cNvPr>
          <p:cNvSpPr>
            <a:spLocks noGrp="1"/>
          </p:cNvSpPr>
          <p:nvPr/>
        </p:nvSpPr>
        <p:spPr>
          <a:xfrm>
            <a:off x="2076450" y="1171575"/>
            <a:ext cx="148113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>
              <a:lnSpc>
                <a:spcPct val="118000"/>
              </a:lnSpc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lang="ko-KR" altLang="en-US" b="0" dirty="0">
                <a:latin typeface="Pretendard Regular"/>
                <a:ea typeface="Pretendard Regular"/>
                <a:cs typeface="Pretendard Regular"/>
              </a:rPr>
              <a:t>졸업작품 이방인</a:t>
            </a:r>
            <a:r>
              <a:rPr lang="en-US" altLang="ko-KR" b="0" dirty="0">
                <a:latin typeface="Pretendard Regular"/>
                <a:ea typeface="Pretendard Regular"/>
                <a:cs typeface="Pretendard Regular"/>
              </a:rPr>
              <a:t>(Outlander)</a:t>
            </a:r>
            <a:endParaRPr lang="ko-KR" altLang="en-US" b="0" dirty="0"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64" name="서버 기반 기술  /  비동기 송신과 메모리 수명">
            <a:extLst>
              <a:ext uri="{FF2B5EF4-FFF2-40B4-BE49-F238E27FC236}">
                <a16:creationId xmlns:a16="http://schemas.microsoft.com/office/drawing/2014/main" id="{41D8C32C-6196-4718-BF07-B526589264C3}"/>
              </a:ext>
            </a:extLst>
          </p:cNvPr>
          <p:cNvSpPr>
            <a:spLocks noGrp="1"/>
          </p:cNvSpPr>
          <p:nvPr/>
        </p:nvSpPr>
        <p:spPr>
          <a:xfrm>
            <a:off x="1143000" y="2028825"/>
            <a:ext cx="16002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rPr>
              <a:t>서버 기반 기술  /  비동기 송신과 메모리 수명</a:t>
            </a:r>
          </a:p>
        </p:txBody>
      </p:sp>
      <p:sp>
        <p:nvSpPr>
          <p:cNvPr id="265" name="OUTLANDER  /  13">
            <a:extLst>
              <a:ext uri="{FF2B5EF4-FFF2-40B4-BE49-F238E27FC236}">
                <a16:creationId xmlns:a16="http://schemas.microsoft.com/office/drawing/2014/main" id="{67597603-B5F2-40DD-8661-54BAB69A6EBA}"/>
              </a:ext>
            </a:extLst>
          </p:cNvPr>
          <p:cNvSpPr>
            <a:spLocks noGrp="1"/>
          </p:cNvSpPr>
          <p:nvPr/>
        </p:nvSpPr>
        <p:spPr>
          <a:xfrm>
            <a:off x="14573250" y="960120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defPPr>
            <a:lvl1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r">
              <a:lnSpc>
                <a:spcPct val="118000"/>
              </a:lnSpc>
              <a:buNone/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rPr>
              <a:t>OUTLANDER  /  13</a:t>
            </a:r>
          </a:p>
        </p:txBody>
      </p:sp>
    </p:spTree>
    <p:extLst>
      <p:ext uri="{BB962C8B-B14F-4D97-AF65-F5344CB8AC3E}">
        <p14:creationId xmlns:p14="http://schemas.microsoft.com/office/powerpoint/2010/main" val="2070075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Picture 2">
            <a:extLst>
              <a:ext uri="{FF2B5EF4-FFF2-40B4-BE49-F238E27FC236}">
                <a16:creationId xmlns:a16="http://schemas.microsoft.com/office/drawing/2014/main" id="{F17EE0CD-9B8F-4C04-81EC-0F72BDCD9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id="237" name="Picture 3">
            <a:extLst>
              <a:ext uri="{FF2B5EF4-FFF2-40B4-BE49-F238E27FC236}">
                <a16:creationId xmlns:a16="http://schemas.microsoft.com/office/drawing/2014/main" id="{7DE72462-3FD5-4046-A107-5DE941F157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3400" y="-1460500"/>
            <a:ext cx="5219700" cy="5130800"/>
          </a:xfrm>
          <a:prstGeom prst="rect">
            <a:avLst/>
          </a:prstGeom>
        </p:spPr>
      </p:pic>
      <p:pic>
        <p:nvPicPr>
          <p:cNvPr id="238" name="Picture 4">
            <a:extLst>
              <a:ext uri="{FF2B5EF4-FFF2-40B4-BE49-F238E27FC236}">
                <a16:creationId xmlns:a16="http://schemas.microsoft.com/office/drawing/2014/main" id="{21333483-93D0-46B8-A52A-039987DC75A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7000"/>
          </a:blip>
          <a:stretch>
            <a:fillRect/>
          </a:stretch>
        </p:blipFill>
        <p:spPr>
          <a:xfrm rot="18782095">
            <a:off x="-3327400" y="6921500"/>
            <a:ext cx="7454900" cy="7188200"/>
          </a:xfrm>
          <a:prstGeom prst="rect">
            <a:avLst/>
          </a:prstGeom>
        </p:spPr>
      </p:pic>
      <p:pic>
        <p:nvPicPr>
          <p:cNvPr id="239" name="Picture 7">
            <a:extLst>
              <a:ext uri="{FF2B5EF4-FFF2-40B4-BE49-F238E27FC236}">
                <a16:creationId xmlns:a16="http://schemas.microsoft.com/office/drawing/2014/main" id="{F8FE3A9F-C051-45B7-8A20-0BDBB66FAA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700000">
            <a:off x="5969000" y="9169400"/>
            <a:ext cx="444500" cy="431800"/>
          </a:xfrm>
          <a:prstGeom prst="rect">
            <a:avLst/>
          </a:prstGeom>
        </p:spPr>
      </p:pic>
      <p:pic>
        <p:nvPicPr>
          <p:cNvPr id="240" name="Picture 8">
            <a:extLst>
              <a:ext uri="{FF2B5EF4-FFF2-40B4-BE49-F238E27FC236}">
                <a16:creationId xmlns:a16="http://schemas.microsoft.com/office/drawing/2014/main" id="{3A9D9CCD-77D3-4680-9FEF-257EECB374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9258300"/>
            <a:ext cx="12090400" cy="177800"/>
          </a:xfrm>
          <a:prstGeom prst="rect">
            <a:avLst/>
          </a:prstGeom>
        </p:spPr>
      </p:pic>
      <p:pic>
        <p:nvPicPr>
          <p:cNvPr id="241" name="Picture 9">
            <a:extLst>
              <a:ext uri="{FF2B5EF4-FFF2-40B4-BE49-F238E27FC236}">
                <a16:creationId xmlns:a16="http://schemas.microsoft.com/office/drawing/2014/main" id="{A9F16290-DE18-4D18-92BE-EDAF45B157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685800" y="863600"/>
            <a:ext cx="8064500" cy="139700"/>
          </a:xfrm>
          <a:prstGeom prst="rect">
            <a:avLst/>
          </a:prstGeom>
        </p:spPr>
      </p:pic>
      <p:sp>
        <p:nvSpPr>
          <p:cNvPr id="254" name="02">
            <a:extLst>
              <a:ext uri="{FF2B5EF4-FFF2-40B4-BE49-F238E27FC236}">
                <a16:creationId xmlns:a16="http://schemas.microsoft.com/office/drawing/2014/main" id="{F64DBA46-0427-4818-BAC4-234316D2D536}"/>
              </a:ext>
            </a:extLst>
          </p:cNvPr>
          <p:cNvSpPr>
            <a:spLocks noGrp="1"/>
          </p:cNvSpPr>
          <p:nvPr/>
        </p:nvSpPr>
        <p:spPr>
          <a:xfrm>
            <a:off x="1143000" y="1143000"/>
            <a:ext cx="723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255" name="PROJECT  이방인(Outlander)">
            <a:extLst>
              <a:ext uri="{FF2B5EF4-FFF2-40B4-BE49-F238E27FC236}">
                <a16:creationId xmlns:a16="http://schemas.microsoft.com/office/drawing/2014/main" id="{C2086DBA-2AD1-409F-B3F3-22F68820667E}"/>
              </a:ext>
            </a:extLst>
          </p:cNvPr>
          <p:cNvSpPr>
            <a:spLocks noGrp="1"/>
          </p:cNvSpPr>
          <p:nvPr/>
        </p:nvSpPr>
        <p:spPr>
          <a:xfrm>
            <a:off x="2076450" y="1171575"/>
            <a:ext cx="148113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>
              <a:lnSpc>
                <a:spcPct val="118000"/>
              </a:lnSpc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lang="ko-KR" altLang="en-US" b="0" dirty="0">
                <a:latin typeface="Pretendard Regular"/>
                <a:ea typeface="Pretendard Regular"/>
                <a:cs typeface="Pretendard Regular"/>
              </a:rPr>
              <a:t>졸업작품 이방인</a:t>
            </a:r>
            <a:r>
              <a:rPr lang="en-US" altLang="ko-KR" b="0" dirty="0">
                <a:latin typeface="Pretendard Regular"/>
                <a:ea typeface="Pretendard Regular"/>
                <a:cs typeface="Pretendard Regular"/>
              </a:rPr>
              <a:t>(Outlander)</a:t>
            </a:r>
            <a:endParaRPr lang="ko-KR" altLang="en-US" b="0" dirty="0"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56" name="전술 AI와 2D 시뮬레이터  /  반복 검증을 위한 별도 실행 환경">
            <a:extLst>
              <a:ext uri="{FF2B5EF4-FFF2-40B4-BE49-F238E27FC236}">
                <a16:creationId xmlns:a16="http://schemas.microsoft.com/office/drawing/2014/main" id="{2DFAA5BD-5CB0-4E23-84ED-B2EE984B9924}"/>
              </a:ext>
            </a:extLst>
          </p:cNvPr>
          <p:cNvSpPr>
            <a:spLocks noGrp="1"/>
          </p:cNvSpPr>
          <p:nvPr/>
        </p:nvSpPr>
        <p:spPr>
          <a:xfrm>
            <a:off x="1143000" y="2028825"/>
            <a:ext cx="16002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3225" b="1" dirty="0" err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rPr>
              <a:t>전술</a:t>
            </a:r>
            <a:r>
              <a:rPr sz="3225" b="1" dirty="0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sz="3225" b="1" dirty="0" err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rPr>
              <a:t>AI와</a:t>
            </a:r>
            <a:r>
              <a:rPr sz="3225" b="1" dirty="0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rPr>
              <a:t> 2D </a:t>
            </a:r>
            <a:r>
              <a:rPr sz="3225" b="1" dirty="0" err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rPr>
              <a:t>시뮬레이터</a:t>
            </a:r>
            <a:r>
              <a:rPr sz="3225" b="1" dirty="0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57" name="OUTLANDER  /  14">
            <a:extLst>
              <a:ext uri="{FF2B5EF4-FFF2-40B4-BE49-F238E27FC236}">
                <a16:creationId xmlns:a16="http://schemas.microsoft.com/office/drawing/2014/main" id="{163F13C5-01B4-4ED1-86A0-55DCDFAABCC3}"/>
              </a:ext>
            </a:extLst>
          </p:cNvPr>
          <p:cNvSpPr>
            <a:spLocks noGrp="1"/>
          </p:cNvSpPr>
          <p:nvPr/>
        </p:nvSpPr>
        <p:spPr>
          <a:xfrm>
            <a:off x="14573250" y="960120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defPPr>
            <a:lvl1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r">
              <a:lnSpc>
                <a:spcPct val="118000"/>
              </a:lnSpc>
              <a:buNone/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rPr>
              <a:t>OUTLANDER  /  14</a:t>
            </a:r>
          </a:p>
        </p:txBody>
      </p:sp>
    </p:spTree>
    <p:extLst>
      <p:ext uri="{BB962C8B-B14F-4D97-AF65-F5344CB8AC3E}">
        <p14:creationId xmlns:p14="http://schemas.microsoft.com/office/powerpoint/2010/main" val="2070075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Picture 2">
            <a:extLst>
              <a:ext uri="{FF2B5EF4-FFF2-40B4-BE49-F238E27FC236}">
                <a16:creationId xmlns:a16="http://schemas.microsoft.com/office/drawing/2014/main" id="{B539FAF4-E8FA-4801-BB61-41F58CFFB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id="237" name="Picture 3">
            <a:extLst>
              <a:ext uri="{FF2B5EF4-FFF2-40B4-BE49-F238E27FC236}">
                <a16:creationId xmlns:a16="http://schemas.microsoft.com/office/drawing/2014/main" id="{CBBEE50B-0631-4010-A5B7-61FF564244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3400" y="-1460500"/>
            <a:ext cx="5219700" cy="5130800"/>
          </a:xfrm>
          <a:prstGeom prst="rect">
            <a:avLst/>
          </a:prstGeom>
        </p:spPr>
      </p:pic>
      <p:pic>
        <p:nvPicPr>
          <p:cNvPr id="238" name="Picture 4">
            <a:extLst>
              <a:ext uri="{FF2B5EF4-FFF2-40B4-BE49-F238E27FC236}">
                <a16:creationId xmlns:a16="http://schemas.microsoft.com/office/drawing/2014/main" id="{5CAD3C4E-06FC-4CA5-9176-AA86F30F752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7000"/>
          </a:blip>
          <a:stretch>
            <a:fillRect/>
          </a:stretch>
        </p:blipFill>
        <p:spPr>
          <a:xfrm rot="18782095">
            <a:off x="-3327400" y="6921500"/>
            <a:ext cx="7454900" cy="7188200"/>
          </a:xfrm>
          <a:prstGeom prst="rect">
            <a:avLst/>
          </a:prstGeom>
        </p:spPr>
      </p:pic>
      <p:pic>
        <p:nvPicPr>
          <p:cNvPr id="239" name="Picture 7">
            <a:extLst>
              <a:ext uri="{FF2B5EF4-FFF2-40B4-BE49-F238E27FC236}">
                <a16:creationId xmlns:a16="http://schemas.microsoft.com/office/drawing/2014/main" id="{9536F613-3497-480E-A2EE-607288CA28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700000">
            <a:off x="5969000" y="9169400"/>
            <a:ext cx="444500" cy="431800"/>
          </a:xfrm>
          <a:prstGeom prst="rect">
            <a:avLst/>
          </a:prstGeom>
        </p:spPr>
      </p:pic>
      <p:pic>
        <p:nvPicPr>
          <p:cNvPr id="240" name="Picture 8">
            <a:extLst>
              <a:ext uri="{FF2B5EF4-FFF2-40B4-BE49-F238E27FC236}">
                <a16:creationId xmlns:a16="http://schemas.microsoft.com/office/drawing/2014/main" id="{23928E83-15AA-401B-982B-7AA0DF98FB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9258300"/>
            <a:ext cx="12090400" cy="177800"/>
          </a:xfrm>
          <a:prstGeom prst="rect">
            <a:avLst/>
          </a:prstGeom>
        </p:spPr>
      </p:pic>
      <p:pic>
        <p:nvPicPr>
          <p:cNvPr id="241" name="Picture 9">
            <a:extLst>
              <a:ext uri="{FF2B5EF4-FFF2-40B4-BE49-F238E27FC236}">
                <a16:creationId xmlns:a16="http://schemas.microsoft.com/office/drawing/2014/main" id="{804137C7-15B9-44EA-95BF-F20D7E5D02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685800" y="863600"/>
            <a:ext cx="8064500" cy="139700"/>
          </a:xfrm>
          <a:prstGeom prst="rect">
            <a:avLst/>
          </a:prstGeom>
        </p:spPr>
      </p:pic>
      <p:sp>
        <p:nvSpPr>
          <p:cNvPr id="245" name="IOCP worker">
            <a:extLst>
              <a:ext uri="{FF2B5EF4-FFF2-40B4-BE49-F238E27FC236}">
                <a16:creationId xmlns:a16="http://schemas.microsoft.com/office/drawing/2014/main" id="{600CAE23-BAFC-491F-8FF6-CDFE7714F0FE}"/>
              </a:ext>
            </a:extLst>
          </p:cNvPr>
          <p:cNvSpPr>
            <a:spLocks noGrp="1"/>
          </p:cNvSpPr>
          <p:nvPr/>
        </p:nvSpPr>
        <p:spPr>
          <a:xfrm>
            <a:off x="1143000" y="3352800"/>
            <a:ext cx="4476750" cy="1477328"/>
          </a:xfrm>
          <a:prstGeom prst="rect">
            <a:avLst/>
          </a:prstGeom>
          <a:solidFill>
            <a:srgbClr val="FFFFFF"/>
          </a:solidFill>
          <a:ln w="13335">
            <a:solidFill>
              <a:srgbClr val="B8B8BD"/>
            </a:solidFill>
          </a:ln>
        </p:spPr>
      </p:sp>
      <p:sp>
        <p:nvSpPr>
          <p:cNvPr id="246" name="IOCP worker">
            <a:extLst>
              <a:ext uri="{FF2B5EF4-FFF2-40B4-BE49-F238E27FC236}">
                <a16:creationId xmlns:a16="http://schemas.microsoft.com/office/drawing/2014/main" id="{D47E30C8-CB4A-434C-975E-5C8549135437}"/>
              </a:ext>
            </a:extLst>
          </p:cNvPr>
          <p:cNvSpPr>
            <a:spLocks noGrp="1"/>
          </p:cNvSpPr>
          <p:nvPr/>
        </p:nvSpPr>
        <p:spPr>
          <a:xfrm>
            <a:off x="1333500" y="3489960"/>
            <a:ext cx="4095750" cy="4029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IOCP worker</a:t>
            </a:r>
          </a:p>
        </p:txBody>
      </p:sp>
      <p:sp>
        <p:nvSpPr>
          <p:cNvPr id="247" name="입력 검증과 값 복사&#10;세션 shared_ptr 캡처">
            <a:extLst>
              <a:ext uri="{FF2B5EF4-FFF2-40B4-BE49-F238E27FC236}">
                <a16:creationId xmlns:a16="http://schemas.microsoft.com/office/drawing/2014/main" id="{FD3F00C1-DB08-4C05-9A72-8CD00AA854AD}"/>
              </a:ext>
            </a:extLst>
          </p:cNvPr>
          <p:cNvSpPr>
            <a:spLocks noGrp="1"/>
          </p:cNvSpPr>
          <p:nvPr/>
        </p:nvSpPr>
        <p:spPr>
          <a:xfrm>
            <a:off x="1333500" y="3952875"/>
            <a:ext cx="4095750" cy="8326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입력 검증과 값 복사</a:t>
            </a: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세션 shared_ptr 캡처</a:t>
            </a:r>
          </a:p>
        </p:txBody>
      </p:sp>
      <p:sp>
        <p:nvSpPr>
          <p:cNvPr id="248" name="DBExecutor">
            <a:extLst>
              <a:ext uri="{FF2B5EF4-FFF2-40B4-BE49-F238E27FC236}">
                <a16:creationId xmlns:a16="http://schemas.microsoft.com/office/drawing/2014/main" id="{897646BE-906D-4435-858B-7E0D2F65766C}"/>
              </a:ext>
            </a:extLst>
          </p:cNvPr>
          <p:cNvSpPr>
            <a:spLocks noGrp="1"/>
          </p:cNvSpPr>
          <p:nvPr/>
        </p:nvSpPr>
        <p:spPr>
          <a:xfrm>
            <a:off x="6953250" y="3352800"/>
            <a:ext cx="4476750" cy="1477328"/>
          </a:xfrm>
          <a:prstGeom prst="rect">
            <a:avLst/>
          </a:prstGeom>
          <a:solidFill>
            <a:srgbClr val="FFFFFF"/>
          </a:solidFill>
          <a:ln w="13335">
            <a:solidFill>
              <a:srgbClr val="B8B8BD"/>
            </a:solidFill>
          </a:ln>
        </p:spPr>
      </p:sp>
      <p:sp>
        <p:nvSpPr>
          <p:cNvPr id="249" name="DBExecutor">
            <a:extLst>
              <a:ext uri="{FF2B5EF4-FFF2-40B4-BE49-F238E27FC236}">
                <a16:creationId xmlns:a16="http://schemas.microsoft.com/office/drawing/2014/main" id="{4DF3AADE-A97D-4ED1-A34F-0A180D4AAF16}"/>
              </a:ext>
            </a:extLst>
          </p:cNvPr>
          <p:cNvSpPr>
            <a:spLocks noGrp="1"/>
          </p:cNvSpPr>
          <p:nvPr/>
        </p:nvSpPr>
        <p:spPr>
          <a:xfrm>
            <a:off x="7143750" y="3489960"/>
            <a:ext cx="4095750" cy="4029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DBExecutor</a:t>
            </a:r>
          </a:p>
        </p:txBody>
      </p:sp>
      <p:sp>
        <p:nvSpPr>
          <p:cNvPr id="250" name="전용 스레드에서 ODBC 실행&#10;계정 조회와 비밀번호 확인">
            <a:extLst>
              <a:ext uri="{FF2B5EF4-FFF2-40B4-BE49-F238E27FC236}">
                <a16:creationId xmlns:a16="http://schemas.microsoft.com/office/drawing/2014/main" id="{4AE859D1-84A4-4D2F-9EBC-F8F43D9916C8}"/>
              </a:ext>
            </a:extLst>
          </p:cNvPr>
          <p:cNvSpPr>
            <a:spLocks noGrp="1"/>
          </p:cNvSpPr>
          <p:nvPr/>
        </p:nvSpPr>
        <p:spPr>
          <a:xfrm>
            <a:off x="7143750" y="3952875"/>
            <a:ext cx="4095750" cy="8326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전용 스레드에서 ODBC 실행</a:t>
            </a: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계정 조회와 비밀번호 확인</a:t>
            </a:r>
          </a:p>
        </p:txBody>
      </p:sp>
      <p:sp>
        <p:nvSpPr>
          <p:cNvPr id="251" name="로그인 결과">
            <a:extLst>
              <a:ext uri="{FF2B5EF4-FFF2-40B4-BE49-F238E27FC236}">
                <a16:creationId xmlns:a16="http://schemas.microsoft.com/office/drawing/2014/main" id="{B1B4E44C-F976-49E0-85E4-C5C0BCC7A84B}"/>
              </a:ext>
            </a:extLst>
          </p:cNvPr>
          <p:cNvSpPr>
            <a:spLocks noGrp="1"/>
          </p:cNvSpPr>
          <p:nvPr/>
        </p:nvSpPr>
        <p:spPr>
          <a:xfrm>
            <a:off x="12763500" y="3352800"/>
            <a:ext cx="4476750" cy="1477328"/>
          </a:xfrm>
          <a:prstGeom prst="rect">
            <a:avLst/>
          </a:prstGeom>
          <a:solidFill>
            <a:srgbClr val="FFFFFF"/>
          </a:solidFill>
          <a:ln w="13335">
            <a:solidFill>
              <a:srgbClr val="B8B8BD"/>
            </a:solidFill>
          </a:ln>
        </p:spPr>
      </p:sp>
      <p:sp>
        <p:nvSpPr>
          <p:cNvPr id="252" name="로그인 결과">
            <a:extLst>
              <a:ext uri="{FF2B5EF4-FFF2-40B4-BE49-F238E27FC236}">
                <a16:creationId xmlns:a16="http://schemas.microsoft.com/office/drawing/2014/main" id="{B9A2E812-6501-4737-96E3-092CA992F073}"/>
              </a:ext>
            </a:extLst>
          </p:cNvPr>
          <p:cNvSpPr>
            <a:spLocks noGrp="1"/>
          </p:cNvSpPr>
          <p:nvPr/>
        </p:nvSpPr>
        <p:spPr>
          <a:xfrm>
            <a:off x="12954000" y="3489960"/>
            <a:ext cx="4095750" cy="4029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로그인 결과</a:t>
            </a:r>
          </a:p>
        </p:txBody>
      </p:sp>
      <p:sp>
        <p:nvSpPr>
          <p:cNvPr id="253" name="인증 상태 기록&#10;세션에 응답 패킷 전송">
            <a:extLst>
              <a:ext uri="{FF2B5EF4-FFF2-40B4-BE49-F238E27FC236}">
                <a16:creationId xmlns:a16="http://schemas.microsoft.com/office/drawing/2014/main" id="{E0EA4E5E-E561-4785-A04B-6A7988C06014}"/>
              </a:ext>
            </a:extLst>
          </p:cNvPr>
          <p:cNvSpPr>
            <a:spLocks noGrp="1"/>
          </p:cNvSpPr>
          <p:nvPr/>
        </p:nvSpPr>
        <p:spPr>
          <a:xfrm>
            <a:off x="12954000" y="3952875"/>
            <a:ext cx="4095750" cy="8326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인증 상태 기록</a:t>
            </a: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세션에 응답 패킷 전송</a:t>
            </a:r>
          </a:p>
        </p:txBody>
      </p:sp>
      <p:cxnSp>
        <p:nvCxnSpPr>
          <p:cNvPr id="254" name="직선 화살표 연결선 253">
            <a:extLst>
              <a:ext uri="{FF2B5EF4-FFF2-40B4-BE49-F238E27FC236}">
                <a16:creationId xmlns:a16="http://schemas.microsoft.com/office/drawing/2014/main" id="{CC3DAACF-F70A-4427-9C3B-EB466E5E51B8}"/>
              </a:ext>
            </a:extLst>
          </p:cNvPr>
          <p:cNvCxnSpPr>
            <a:stCxn id="245" idx="3"/>
            <a:endCxn id="248" idx="1"/>
          </p:cNvCxnSpPr>
          <p:nvPr/>
        </p:nvCxnSpPr>
        <p:spPr>
          <a:xfrm>
            <a:off x="5619750" y="4091464"/>
            <a:ext cx="1333500" cy="0"/>
          </a:xfrm>
          <a:prstGeom prst="straightConnector1">
            <a:avLst/>
          </a:prstGeom>
          <a:ln w="21908">
            <a:solidFill>
              <a:srgbClr val="354B62"/>
            </a:solidFill>
            <a:prstDash val="solid"/>
            <a:tailEnd type="triangle" w="med" len="med"/>
          </a:ln>
        </p:spPr>
      </p:cxnSp>
      <p:cxnSp>
        <p:nvCxnSpPr>
          <p:cNvPr id="255" name="직선 화살표 연결선 254">
            <a:extLst>
              <a:ext uri="{FF2B5EF4-FFF2-40B4-BE49-F238E27FC236}">
                <a16:creationId xmlns:a16="http://schemas.microsoft.com/office/drawing/2014/main" id="{97188341-6719-496F-AAB4-1E0E490D518E}"/>
              </a:ext>
            </a:extLst>
          </p:cNvPr>
          <p:cNvCxnSpPr>
            <a:stCxn id="248" idx="3"/>
            <a:endCxn id="251" idx="1"/>
          </p:cNvCxnSpPr>
          <p:nvPr/>
        </p:nvCxnSpPr>
        <p:spPr>
          <a:xfrm>
            <a:off x="11430000" y="4091464"/>
            <a:ext cx="1333500" cy="0"/>
          </a:xfrm>
          <a:prstGeom prst="straightConnector1">
            <a:avLst/>
          </a:prstGeom>
          <a:ln w="21908">
            <a:solidFill>
              <a:srgbClr val="354B62"/>
            </a:solidFill>
            <a:prstDash val="solid"/>
            <a:tailEnd type="triangle" w="med" len="med"/>
          </a:ln>
        </p:spPr>
      </p:cxnSp>
      <p:pic>
        <p:nvPicPr>
          <p:cNvPr id="256" name="그림 255">
            <a:extLst>
              <a:ext uri="{FF2B5EF4-FFF2-40B4-BE49-F238E27FC236}">
                <a16:creationId xmlns:a16="http://schemas.microsoft.com/office/drawing/2014/main" id="{3BC29945-AE16-45BF-815E-DA9DA354A66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143000" y="5324475"/>
            <a:ext cx="9525000" cy="3509772"/>
          </a:xfrm>
          <a:prstGeom prst="rect">
            <a:avLst/>
          </a:prstGeom>
        </p:spPr>
      </p:pic>
      <p:sp>
        <p:nvSpPr>
          <p:cNvPr id="257" name="DB 작업을 분리한 이유">
            <a:extLst>
              <a:ext uri="{FF2B5EF4-FFF2-40B4-BE49-F238E27FC236}">
                <a16:creationId xmlns:a16="http://schemas.microsoft.com/office/drawing/2014/main" id="{181D5406-5047-4E26-B43D-7497FB41C4EE}"/>
              </a:ext>
            </a:extLst>
          </p:cNvPr>
          <p:cNvSpPr>
            <a:spLocks noGrp="1"/>
          </p:cNvSpPr>
          <p:nvPr/>
        </p:nvSpPr>
        <p:spPr>
          <a:xfrm>
            <a:off x="11525250" y="5624513"/>
            <a:ext cx="5715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rPr>
              <a:t>DB 작업을 분리한 이유</a:t>
            </a:r>
          </a:p>
        </p:txBody>
      </p:sp>
      <p:sp>
        <p:nvSpPr>
          <p:cNvPr id="258" name="ODBC는 호출한 스레드를 대기시킵니다.&#10;IOCP 수신 처리와 Room 작업이&#10;DB 응답을 직접 기다리지 않게 분리했습니다.">
            <a:extLst>
              <a:ext uri="{FF2B5EF4-FFF2-40B4-BE49-F238E27FC236}">
                <a16:creationId xmlns:a16="http://schemas.microsoft.com/office/drawing/2014/main" id="{089D741A-A223-4D64-AD46-47A65CD695D2}"/>
              </a:ext>
            </a:extLst>
          </p:cNvPr>
          <p:cNvSpPr>
            <a:spLocks noGrp="1"/>
          </p:cNvSpPr>
          <p:nvPr/>
        </p:nvSpPr>
        <p:spPr>
          <a:xfrm>
            <a:off x="11525250" y="6198870"/>
            <a:ext cx="5715000" cy="95444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ODBC는 호출한 스레드를 대기시킵니다.</a:t>
            </a:r>
          </a:p>
          <a:p>
            <a:pPr algn="l">
              <a:lnSpc>
                <a:spcPct val="115000"/>
              </a:lnSpc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IOCP 수신 처리와 Room 작업이</a:t>
            </a:r>
          </a:p>
          <a:p>
            <a:pPr algn="l">
              <a:lnSpc>
                <a:spcPct val="115000"/>
              </a:lnSpc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DB 응답을 직접 기다리지 않게 분리했습니다.</a:t>
            </a:r>
          </a:p>
        </p:txBody>
      </p:sp>
      <p:sp>
        <p:nvSpPr>
          <p:cNvPr id="259" name="저장과 전송의 한계">
            <a:extLst>
              <a:ext uri="{FF2B5EF4-FFF2-40B4-BE49-F238E27FC236}">
                <a16:creationId xmlns:a16="http://schemas.microsoft.com/office/drawing/2014/main" id="{8491352D-C59F-42FC-9A69-65404144C3EF}"/>
              </a:ext>
            </a:extLst>
          </p:cNvPr>
          <p:cNvSpPr>
            <a:spLocks noGrp="1"/>
          </p:cNvSpPr>
          <p:nvPr/>
        </p:nvSpPr>
        <p:spPr>
          <a:xfrm>
            <a:off x="11525250" y="7458075"/>
            <a:ext cx="5715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250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rPr>
              <a:t>저장과 전송의 한계</a:t>
            </a:r>
          </a:p>
        </p:txBody>
      </p:sp>
      <p:sp>
        <p:nvSpPr>
          <p:cNvPr id="260" name="DB에는 salt와 해시를 저장합니다.&#10;현재 전송에는 TLS를 적용하지 않았고&#10;비밀번호 저장에는 단순 SHA-256을 씁니다.">
            <a:extLst>
              <a:ext uri="{FF2B5EF4-FFF2-40B4-BE49-F238E27FC236}">
                <a16:creationId xmlns:a16="http://schemas.microsoft.com/office/drawing/2014/main" id="{8AC9A87A-90A8-45D7-BA04-C47B2D35A646}"/>
              </a:ext>
            </a:extLst>
          </p:cNvPr>
          <p:cNvSpPr>
            <a:spLocks noGrp="1"/>
          </p:cNvSpPr>
          <p:nvPr/>
        </p:nvSpPr>
        <p:spPr>
          <a:xfrm>
            <a:off x="11525250" y="8039100"/>
            <a:ext cx="57150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DB에는 salt와 해시를 저장합니다.</a:t>
            </a: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현재 전송에는 TLS를 적용하지 않았고</a:t>
            </a: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비밀번호 저장에는 단순 SHA-256을 씁니다.</a:t>
            </a:r>
          </a:p>
        </p:txBody>
      </p:sp>
      <p:sp>
        <p:nvSpPr>
          <p:cNvPr id="261" name="02">
            <a:extLst>
              <a:ext uri="{FF2B5EF4-FFF2-40B4-BE49-F238E27FC236}">
                <a16:creationId xmlns:a16="http://schemas.microsoft.com/office/drawing/2014/main" id="{60018AE5-F98E-47AA-BEEB-CD80604AF881}"/>
              </a:ext>
            </a:extLst>
          </p:cNvPr>
          <p:cNvSpPr>
            <a:spLocks noGrp="1"/>
          </p:cNvSpPr>
          <p:nvPr/>
        </p:nvSpPr>
        <p:spPr>
          <a:xfrm>
            <a:off x="1143000" y="1143000"/>
            <a:ext cx="723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262" name="PROJECT  이방인(Outlander)">
            <a:extLst>
              <a:ext uri="{FF2B5EF4-FFF2-40B4-BE49-F238E27FC236}">
                <a16:creationId xmlns:a16="http://schemas.microsoft.com/office/drawing/2014/main" id="{1A42AF7B-50F9-4DA8-8ECB-C30017AA98DA}"/>
              </a:ext>
            </a:extLst>
          </p:cNvPr>
          <p:cNvSpPr>
            <a:spLocks noGrp="1"/>
          </p:cNvSpPr>
          <p:nvPr/>
        </p:nvSpPr>
        <p:spPr>
          <a:xfrm>
            <a:off x="2076450" y="1171575"/>
            <a:ext cx="148113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>
              <a:lnSpc>
                <a:spcPct val="118000"/>
              </a:lnSpc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lang="ko-KR" altLang="en-US" b="0" dirty="0">
                <a:latin typeface="Pretendard Regular"/>
                <a:ea typeface="Pretendard Regular"/>
                <a:cs typeface="Pretendard Regular"/>
              </a:rPr>
              <a:t>졸업작품 이방인</a:t>
            </a:r>
            <a:r>
              <a:rPr lang="en-US" altLang="ko-KR" b="0" dirty="0">
                <a:latin typeface="Pretendard Regular"/>
                <a:ea typeface="Pretendard Regular"/>
                <a:cs typeface="Pretendard Regular"/>
              </a:rPr>
              <a:t>(Outlander)</a:t>
            </a:r>
            <a:endParaRPr lang="ko-KR" altLang="en-US" b="0" dirty="0"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63" name="계정·데이터 처리  /  계정 인증과 DB 전용 스레드">
            <a:extLst>
              <a:ext uri="{FF2B5EF4-FFF2-40B4-BE49-F238E27FC236}">
                <a16:creationId xmlns:a16="http://schemas.microsoft.com/office/drawing/2014/main" id="{6DECB5CA-F343-4D52-9022-8180640C484E}"/>
              </a:ext>
            </a:extLst>
          </p:cNvPr>
          <p:cNvSpPr>
            <a:spLocks noGrp="1"/>
          </p:cNvSpPr>
          <p:nvPr/>
        </p:nvSpPr>
        <p:spPr>
          <a:xfrm>
            <a:off x="1143000" y="2028825"/>
            <a:ext cx="16002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rPr>
              <a:t>계정·데이터 처리  /  계정 인증과 DB 전용 스레드</a:t>
            </a:r>
          </a:p>
        </p:txBody>
      </p:sp>
      <p:sp>
        <p:nvSpPr>
          <p:cNvPr id="264" name="OUTLANDER  /  17">
            <a:extLst>
              <a:ext uri="{FF2B5EF4-FFF2-40B4-BE49-F238E27FC236}">
                <a16:creationId xmlns:a16="http://schemas.microsoft.com/office/drawing/2014/main" id="{37EE03C1-679C-488C-945B-977D67222C01}"/>
              </a:ext>
            </a:extLst>
          </p:cNvPr>
          <p:cNvSpPr>
            <a:spLocks noGrp="1"/>
          </p:cNvSpPr>
          <p:nvPr/>
        </p:nvSpPr>
        <p:spPr>
          <a:xfrm>
            <a:off x="14573250" y="960120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defPPr>
            <a:lvl1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r">
              <a:lnSpc>
                <a:spcPct val="118000"/>
              </a:lnSpc>
              <a:buNone/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rPr>
              <a:t>OUTLANDER  /  17</a:t>
            </a:r>
          </a:p>
        </p:txBody>
      </p:sp>
    </p:spTree>
    <p:extLst>
      <p:ext uri="{BB962C8B-B14F-4D97-AF65-F5344CB8AC3E}">
        <p14:creationId xmlns:p14="http://schemas.microsoft.com/office/powerpoint/2010/main" val="2070075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Picture 2">
            <a:extLst>
              <a:ext uri="{FF2B5EF4-FFF2-40B4-BE49-F238E27FC236}">
                <a16:creationId xmlns:a16="http://schemas.microsoft.com/office/drawing/2014/main" id="{2D81EEEE-9890-46C4-A4F5-C12A4B4EC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id="237" name="Picture 3">
            <a:extLst>
              <a:ext uri="{FF2B5EF4-FFF2-40B4-BE49-F238E27FC236}">
                <a16:creationId xmlns:a16="http://schemas.microsoft.com/office/drawing/2014/main" id="{D738FFBA-FE72-4C34-BF79-C7B7225BA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3400" y="-1460500"/>
            <a:ext cx="5219700" cy="5130800"/>
          </a:xfrm>
          <a:prstGeom prst="rect">
            <a:avLst/>
          </a:prstGeom>
        </p:spPr>
      </p:pic>
      <p:pic>
        <p:nvPicPr>
          <p:cNvPr id="238" name="Picture 4">
            <a:extLst>
              <a:ext uri="{FF2B5EF4-FFF2-40B4-BE49-F238E27FC236}">
                <a16:creationId xmlns:a16="http://schemas.microsoft.com/office/drawing/2014/main" id="{DBC25E28-C8B8-4D51-BDEA-8F55F37551A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7000"/>
          </a:blip>
          <a:stretch>
            <a:fillRect/>
          </a:stretch>
        </p:blipFill>
        <p:spPr>
          <a:xfrm rot="18782095">
            <a:off x="-3327400" y="6921500"/>
            <a:ext cx="7454900" cy="7188200"/>
          </a:xfrm>
          <a:prstGeom prst="rect">
            <a:avLst/>
          </a:prstGeom>
        </p:spPr>
      </p:pic>
      <p:pic>
        <p:nvPicPr>
          <p:cNvPr id="239" name="Picture 7">
            <a:extLst>
              <a:ext uri="{FF2B5EF4-FFF2-40B4-BE49-F238E27FC236}">
                <a16:creationId xmlns:a16="http://schemas.microsoft.com/office/drawing/2014/main" id="{5D3691C3-F924-4705-9557-22187EC0D0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700000">
            <a:off x="5969000" y="9169400"/>
            <a:ext cx="444500" cy="431800"/>
          </a:xfrm>
          <a:prstGeom prst="rect">
            <a:avLst/>
          </a:prstGeom>
        </p:spPr>
      </p:pic>
      <p:pic>
        <p:nvPicPr>
          <p:cNvPr id="240" name="Picture 8">
            <a:extLst>
              <a:ext uri="{FF2B5EF4-FFF2-40B4-BE49-F238E27FC236}">
                <a16:creationId xmlns:a16="http://schemas.microsoft.com/office/drawing/2014/main" id="{F35289C5-CCD4-4700-B221-7E4DEFB94C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9258300"/>
            <a:ext cx="12090400" cy="177800"/>
          </a:xfrm>
          <a:prstGeom prst="rect">
            <a:avLst/>
          </a:prstGeom>
        </p:spPr>
      </p:pic>
      <p:pic>
        <p:nvPicPr>
          <p:cNvPr id="241" name="Picture 9">
            <a:extLst>
              <a:ext uri="{FF2B5EF4-FFF2-40B4-BE49-F238E27FC236}">
                <a16:creationId xmlns:a16="http://schemas.microsoft.com/office/drawing/2014/main" id="{C755F31F-3262-497C-8491-626EE7CECA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685800" y="863600"/>
            <a:ext cx="8064500" cy="139700"/>
          </a:xfrm>
          <a:prstGeom prst="rect">
            <a:avLst/>
          </a:prstGeom>
        </p:spPr>
      </p:pic>
      <p:sp>
        <p:nvSpPr>
          <p:cNvPr id="245" name="LobbyServer">
            <a:extLst>
              <a:ext uri="{FF2B5EF4-FFF2-40B4-BE49-F238E27FC236}">
                <a16:creationId xmlns:a16="http://schemas.microsoft.com/office/drawing/2014/main" id="{EBBC054D-27C5-4759-BFEB-7343AAA0B827}"/>
              </a:ext>
            </a:extLst>
          </p:cNvPr>
          <p:cNvSpPr>
            <a:spLocks noGrp="1"/>
          </p:cNvSpPr>
          <p:nvPr/>
        </p:nvSpPr>
        <p:spPr>
          <a:xfrm>
            <a:off x="1143000" y="3438525"/>
            <a:ext cx="4476750" cy="1522095"/>
          </a:xfrm>
          <a:prstGeom prst="rect">
            <a:avLst/>
          </a:prstGeom>
          <a:solidFill>
            <a:srgbClr val="FFFFFF"/>
          </a:solidFill>
          <a:ln w="13335">
            <a:solidFill>
              <a:srgbClr val="B8B8BD"/>
            </a:solidFill>
          </a:ln>
        </p:spPr>
      </p:sp>
      <p:sp>
        <p:nvSpPr>
          <p:cNvPr id="246" name="LobbyServer">
            <a:extLst>
              <a:ext uri="{FF2B5EF4-FFF2-40B4-BE49-F238E27FC236}">
                <a16:creationId xmlns:a16="http://schemas.microsoft.com/office/drawing/2014/main" id="{2379BD8B-67CD-44DC-A48B-F0A6579B4275}"/>
              </a:ext>
            </a:extLst>
          </p:cNvPr>
          <p:cNvSpPr>
            <a:spLocks noGrp="1"/>
          </p:cNvSpPr>
          <p:nvPr/>
        </p:nvSpPr>
        <p:spPr>
          <a:xfrm>
            <a:off x="1333500" y="3575685"/>
            <a:ext cx="4095750" cy="4029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LobbyServer</a:t>
            </a:r>
          </a:p>
        </p:txBody>
      </p:sp>
      <p:sp>
        <p:nvSpPr>
          <p:cNvPr id="247" name="계정·방 코드·만료 시각을&#10;HMAC-SHA256으로 서명">
            <a:extLst>
              <a:ext uri="{FF2B5EF4-FFF2-40B4-BE49-F238E27FC236}">
                <a16:creationId xmlns:a16="http://schemas.microsoft.com/office/drawing/2014/main" id="{C3C10725-35F3-4747-A4E1-379B80293970}"/>
              </a:ext>
            </a:extLst>
          </p:cNvPr>
          <p:cNvSpPr>
            <a:spLocks noGrp="1"/>
          </p:cNvSpPr>
          <p:nvPr/>
        </p:nvSpPr>
        <p:spPr>
          <a:xfrm>
            <a:off x="1333500" y="4038600"/>
            <a:ext cx="4095750" cy="87744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계정·방 코드·만료 시각을</a:t>
            </a: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HMAC-SHA256으로 서명</a:t>
            </a:r>
          </a:p>
        </p:txBody>
      </p:sp>
      <p:sp>
        <p:nvSpPr>
          <p:cNvPr id="248" name="Client">
            <a:extLst>
              <a:ext uri="{FF2B5EF4-FFF2-40B4-BE49-F238E27FC236}">
                <a16:creationId xmlns:a16="http://schemas.microsoft.com/office/drawing/2014/main" id="{5D5995B9-8A81-4A1F-925C-6CDE0F06F361}"/>
              </a:ext>
            </a:extLst>
          </p:cNvPr>
          <p:cNvSpPr>
            <a:spLocks noGrp="1"/>
          </p:cNvSpPr>
          <p:nvPr/>
        </p:nvSpPr>
        <p:spPr>
          <a:xfrm>
            <a:off x="6953250" y="3438525"/>
            <a:ext cx="4476750" cy="1522095"/>
          </a:xfrm>
          <a:prstGeom prst="rect">
            <a:avLst/>
          </a:prstGeom>
          <a:solidFill>
            <a:srgbClr val="FFFFFF"/>
          </a:solidFill>
          <a:ln w="13335">
            <a:solidFill>
              <a:srgbClr val="B8B8BD"/>
            </a:solidFill>
          </a:ln>
        </p:spPr>
      </p:sp>
      <p:sp>
        <p:nvSpPr>
          <p:cNvPr id="249" name="Client">
            <a:extLst>
              <a:ext uri="{FF2B5EF4-FFF2-40B4-BE49-F238E27FC236}">
                <a16:creationId xmlns:a16="http://schemas.microsoft.com/office/drawing/2014/main" id="{269F370C-DD86-493F-959B-A3A3662FC205}"/>
              </a:ext>
            </a:extLst>
          </p:cNvPr>
          <p:cNvSpPr>
            <a:spLocks noGrp="1"/>
          </p:cNvSpPr>
          <p:nvPr/>
        </p:nvSpPr>
        <p:spPr>
          <a:xfrm>
            <a:off x="7143750" y="3575685"/>
            <a:ext cx="4095750" cy="4029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Client</a:t>
            </a:r>
          </a:p>
        </p:txBody>
      </p:sp>
      <p:sp>
        <p:nvSpPr>
          <p:cNvPr id="250" name="룸 주소와 티켓 수신&#10;C_Enter로 티켓 제출">
            <a:extLst>
              <a:ext uri="{FF2B5EF4-FFF2-40B4-BE49-F238E27FC236}">
                <a16:creationId xmlns:a16="http://schemas.microsoft.com/office/drawing/2014/main" id="{E25B6639-06B5-438A-8D28-3CAFBFF578F4}"/>
              </a:ext>
            </a:extLst>
          </p:cNvPr>
          <p:cNvSpPr>
            <a:spLocks noGrp="1"/>
          </p:cNvSpPr>
          <p:nvPr/>
        </p:nvSpPr>
        <p:spPr>
          <a:xfrm>
            <a:off x="7143750" y="4038600"/>
            <a:ext cx="4095750" cy="87744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룸 주소와 티켓 수신</a:t>
            </a: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C_Enter로 티켓 제출</a:t>
            </a:r>
          </a:p>
        </p:txBody>
      </p:sp>
      <p:sp>
        <p:nvSpPr>
          <p:cNvPr id="251" name="RoomServer">
            <a:extLst>
              <a:ext uri="{FF2B5EF4-FFF2-40B4-BE49-F238E27FC236}">
                <a16:creationId xmlns:a16="http://schemas.microsoft.com/office/drawing/2014/main" id="{9D6A50C3-43B0-48C4-8EC2-F616303D4071}"/>
              </a:ext>
            </a:extLst>
          </p:cNvPr>
          <p:cNvSpPr>
            <a:spLocks noGrp="1"/>
          </p:cNvSpPr>
          <p:nvPr/>
        </p:nvSpPr>
        <p:spPr>
          <a:xfrm>
            <a:off x="12763500" y="3438525"/>
            <a:ext cx="4476750" cy="1522095"/>
          </a:xfrm>
          <a:prstGeom prst="rect">
            <a:avLst/>
          </a:prstGeom>
          <a:solidFill>
            <a:srgbClr val="FFFFFF"/>
          </a:solidFill>
          <a:ln w="13335">
            <a:solidFill>
              <a:srgbClr val="B8B8BD"/>
            </a:solidFill>
          </a:ln>
        </p:spPr>
      </p:sp>
      <p:sp>
        <p:nvSpPr>
          <p:cNvPr id="252" name="RoomServer">
            <a:extLst>
              <a:ext uri="{FF2B5EF4-FFF2-40B4-BE49-F238E27FC236}">
                <a16:creationId xmlns:a16="http://schemas.microsoft.com/office/drawing/2014/main" id="{F02BC160-0175-4296-BD54-6158E2A418A1}"/>
              </a:ext>
            </a:extLst>
          </p:cNvPr>
          <p:cNvSpPr>
            <a:spLocks noGrp="1"/>
          </p:cNvSpPr>
          <p:nvPr/>
        </p:nvSpPr>
        <p:spPr>
          <a:xfrm>
            <a:off x="12954000" y="3575685"/>
            <a:ext cx="4095750" cy="4029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RoomServer</a:t>
            </a:r>
          </a:p>
        </p:txBody>
      </p:sp>
      <p:sp>
        <p:nvSpPr>
          <p:cNvPr id="253" name="MAC·버전·시각·형식 검증&#10;계정 등록 후 Room 입장">
            <a:extLst>
              <a:ext uri="{FF2B5EF4-FFF2-40B4-BE49-F238E27FC236}">
                <a16:creationId xmlns:a16="http://schemas.microsoft.com/office/drawing/2014/main" id="{DC3D50C9-04F1-4BDB-A2CE-C82ECF7A204D}"/>
              </a:ext>
            </a:extLst>
          </p:cNvPr>
          <p:cNvSpPr>
            <a:spLocks noGrp="1"/>
          </p:cNvSpPr>
          <p:nvPr/>
        </p:nvSpPr>
        <p:spPr>
          <a:xfrm>
            <a:off x="12954000" y="4038600"/>
            <a:ext cx="4095750" cy="87744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MAC·버전·시각·형식 검증</a:t>
            </a: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계정 등록 후 Room 입장</a:t>
            </a:r>
          </a:p>
        </p:txBody>
      </p:sp>
      <p:cxnSp>
        <p:nvCxnSpPr>
          <p:cNvPr id="254" name="직선 화살표 연결선 253">
            <a:extLst>
              <a:ext uri="{FF2B5EF4-FFF2-40B4-BE49-F238E27FC236}">
                <a16:creationId xmlns:a16="http://schemas.microsoft.com/office/drawing/2014/main" id="{271F7235-A1EC-47BD-ACFE-8E23952BAB5E}"/>
              </a:ext>
            </a:extLst>
          </p:cNvPr>
          <p:cNvCxnSpPr>
            <a:stCxn id="245" idx="3"/>
            <a:endCxn id="248" idx="1"/>
          </p:cNvCxnSpPr>
          <p:nvPr/>
        </p:nvCxnSpPr>
        <p:spPr>
          <a:xfrm>
            <a:off x="5619750" y="4199573"/>
            <a:ext cx="1333500" cy="0"/>
          </a:xfrm>
          <a:prstGeom prst="straightConnector1">
            <a:avLst/>
          </a:prstGeom>
          <a:ln w="21908">
            <a:solidFill>
              <a:srgbClr val="354B62"/>
            </a:solidFill>
            <a:prstDash val="solid"/>
            <a:tailEnd type="triangle" w="med" len="med"/>
          </a:ln>
        </p:spPr>
      </p:cxnSp>
      <p:cxnSp>
        <p:nvCxnSpPr>
          <p:cNvPr id="255" name="직선 화살표 연결선 254">
            <a:extLst>
              <a:ext uri="{FF2B5EF4-FFF2-40B4-BE49-F238E27FC236}">
                <a16:creationId xmlns:a16="http://schemas.microsoft.com/office/drawing/2014/main" id="{91283EC5-9A60-4554-BC51-110510248541}"/>
              </a:ext>
            </a:extLst>
          </p:cNvPr>
          <p:cNvCxnSpPr>
            <a:stCxn id="248" idx="3"/>
            <a:endCxn id="251" idx="1"/>
          </p:cNvCxnSpPr>
          <p:nvPr/>
        </p:nvCxnSpPr>
        <p:spPr>
          <a:xfrm>
            <a:off x="11430000" y="4199573"/>
            <a:ext cx="1333500" cy="0"/>
          </a:xfrm>
          <a:prstGeom prst="straightConnector1">
            <a:avLst/>
          </a:prstGeom>
          <a:ln w="21908">
            <a:solidFill>
              <a:srgbClr val="354B62"/>
            </a:solidFill>
            <a:prstDash val="solid"/>
            <a:tailEnd type="triangle" w="med" len="med"/>
          </a:ln>
        </p:spPr>
      </p:cxnSp>
      <p:sp>
        <p:nvSpPr>
          <p:cNvPr id="256" name="신뢰할 정보의 출처">
            <a:extLst>
              <a:ext uri="{FF2B5EF4-FFF2-40B4-BE49-F238E27FC236}">
                <a16:creationId xmlns:a16="http://schemas.microsoft.com/office/drawing/2014/main" id="{328A897E-838E-4A51-95C0-08F26A850172}"/>
              </a:ext>
            </a:extLst>
          </p:cNvPr>
          <p:cNvSpPr>
            <a:spLocks noGrp="1"/>
          </p:cNvSpPr>
          <p:nvPr/>
        </p:nvSpPr>
        <p:spPr>
          <a:xfrm>
            <a:off x="1143000" y="5881688"/>
            <a:ext cx="75247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rPr>
              <a:t>신뢰할 정보의 출처</a:t>
            </a:r>
          </a:p>
        </p:txBody>
      </p:sp>
      <p:sp>
        <p:nvSpPr>
          <p:cNvPr id="257" name="클라이언트가 전달한 계정 ID를&#10;그대로 신뢰하지 않습니다.&#10;검증한 티켓의 계정과 방 코드를 사용합니다.">
            <a:extLst>
              <a:ext uri="{FF2B5EF4-FFF2-40B4-BE49-F238E27FC236}">
                <a16:creationId xmlns:a16="http://schemas.microsoft.com/office/drawing/2014/main" id="{C1FA77E7-467B-4162-9EFE-160625DF0C39}"/>
              </a:ext>
            </a:extLst>
          </p:cNvPr>
          <p:cNvSpPr>
            <a:spLocks noGrp="1"/>
          </p:cNvSpPr>
          <p:nvPr/>
        </p:nvSpPr>
        <p:spPr>
          <a:xfrm>
            <a:off x="1143000" y="6456045"/>
            <a:ext cx="7524750" cy="107800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클라이언트가 전달한 계정 ID를</a:t>
            </a:r>
          </a:p>
          <a:p>
            <a:pPr algn="l">
              <a:lnSpc>
                <a:spcPct val="115000"/>
              </a:lnSpc>
              <a:buNone/>
              <a:def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그대로 신뢰하지 않습니다.</a:t>
            </a:r>
          </a:p>
          <a:p>
            <a:pPr algn="l">
              <a:lnSpc>
                <a:spcPct val="115000"/>
              </a:lnSpc>
              <a:buNone/>
              <a:def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검증한 티켓의 계정과 방 코드를 사용합니다.</a:t>
            </a:r>
          </a:p>
        </p:txBody>
      </p:sp>
      <p:sp>
        <p:nvSpPr>
          <p:cNvPr id="258" name="입장 전 요청과 중복 접속">
            <a:extLst>
              <a:ext uri="{FF2B5EF4-FFF2-40B4-BE49-F238E27FC236}">
                <a16:creationId xmlns:a16="http://schemas.microsoft.com/office/drawing/2014/main" id="{57D5EB3B-D7ED-4276-8A7E-A1BFE5C95F8A}"/>
              </a:ext>
            </a:extLst>
          </p:cNvPr>
          <p:cNvSpPr>
            <a:spLocks noGrp="1"/>
          </p:cNvSpPr>
          <p:nvPr/>
        </p:nvSpPr>
        <p:spPr>
          <a:xfrm>
            <a:off x="9620250" y="5881688"/>
            <a:ext cx="75247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rPr>
              <a:t>입장 전 요청과 중복 접속</a:t>
            </a:r>
          </a:p>
        </p:txBody>
      </p:sp>
      <p:sp>
        <p:nvSpPr>
          <p:cNvPr id="259" name="C_Enter 인증 전 다른 요청은 차단합니다.&#10;AccountRegistry로 같은 RoomServer의&#10;계정 중복 접속을 제">
            <a:extLst>
              <a:ext uri="{FF2B5EF4-FFF2-40B4-BE49-F238E27FC236}">
                <a16:creationId xmlns:a16="http://schemas.microsoft.com/office/drawing/2014/main" id="{8CA14073-A588-4EB8-87D7-033322623129}"/>
              </a:ext>
            </a:extLst>
          </p:cNvPr>
          <p:cNvSpPr>
            <a:spLocks noGrp="1"/>
          </p:cNvSpPr>
          <p:nvPr/>
        </p:nvSpPr>
        <p:spPr>
          <a:xfrm>
            <a:off x="9620250" y="6456045"/>
            <a:ext cx="7524750" cy="107800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C_Enter 인증 전에는 다른 요청을 차단합니다.</a:t>
            </a:r>
          </a:p>
          <a:p>
            <a:pPr algn="l">
              <a:lnSpc>
                <a:spcPct val="115000"/>
              </a:lnSpc>
              <a:buNone/>
              <a:def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AccountRegistry로 같은 RoomServer 안의</a:t>
            </a:r>
          </a:p>
          <a:p>
            <a:pPr algn="l">
              <a:lnSpc>
                <a:spcPct val="115000"/>
              </a:lnSpc>
              <a:buNone/>
              <a:def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4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계정 중복 접속을 제한합니다.</a:t>
            </a:r>
          </a:p>
        </p:txBody>
      </p:sp>
      <p:sp>
        <p:nvSpPr>
          <p:cNvPr id="261" name="02">
            <a:extLst>
              <a:ext uri="{FF2B5EF4-FFF2-40B4-BE49-F238E27FC236}">
                <a16:creationId xmlns:a16="http://schemas.microsoft.com/office/drawing/2014/main" id="{F8A9B3D5-9762-48E4-8795-E0DD6295792E}"/>
              </a:ext>
            </a:extLst>
          </p:cNvPr>
          <p:cNvSpPr>
            <a:spLocks noGrp="1"/>
          </p:cNvSpPr>
          <p:nvPr/>
        </p:nvSpPr>
        <p:spPr>
          <a:xfrm>
            <a:off x="1143000" y="1143000"/>
            <a:ext cx="723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262" name="PROJECT  이방인(Outlander)">
            <a:extLst>
              <a:ext uri="{FF2B5EF4-FFF2-40B4-BE49-F238E27FC236}">
                <a16:creationId xmlns:a16="http://schemas.microsoft.com/office/drawing/2014/main" id="{DF636301-64E9-4EAC-A210-2BD1AA6C6650}"/>
              </a:ext>
            </a:extLst>
          </p:cNvPr>
          <p:cNvSpPr>
            <a:spLocks noGrp="1"/>
          </p:cNvSpPr>
          <p:nvPr/>
        </p:nvSpPr>
        <p:spPr>
          <a:xfrm>
            <a:off x="2076450" y="1171575"/>
            <a:ext cx="148113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>
              <a:lnSpc>
                <a:spcPct val="118000"/>
              </a:lnSpc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lang="ko-KR" altLang="en-US" b="0" dirty="0">
                <a:latin typeface="Pretendard Regular"/>
                <a:ea typeface="Pretendard Regular"/>
                <a:cs typeface="Pretendard Regular"/>
              </a:rPr>
              <a:t>졸업작품 이방인</a:t>
            </a:r>
            <a:r>
              <a:rPr lang="en-US" altLang="ko-KR" b="0" dirty="0">
                <a:latin typeface="Pretendard Regular"/>
                <a:ea typeface="Pretendard Regular"/>
                <a:cs typeface="Pretendard Regular"/>
              </a:rPr>
              <a:t>(Outlander)</a:t>
            </a:r>
            <a:endParaRPr lang="ko-KR" altLang="en-US" b="0" dirty="0"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63" name="계정·데이터 처리  /  입장 티켓으로 인증 정보 전달">
            <a:extLst>
              <a:ext uri="{FF2B5EF4-FFF2-40B4-BE49-F238E27FC236}">
                <a16:creationId xmlns:a16="http://schemas.microsoft.com/office/drawing/2014/main" id="{602DF710-C585-4D54-B9CB-ED1C0A70CE21}"/>
              </a:ext>
            </a:extLst>
          </p:cNvPr>
          <p:cNvSpPr>
            <a:spLocks noGrp="1"/>
          </p:cNvSpPr>
          <p:nvPr/>
        </p:nvSpPr>
        <p:spPr>
          <a:xfrm>
            <a:off x="1143000" y="2028825"/>
            <a:ext cx="16002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rPr>
              <a:t>계정·데이터 처리  /  입장 티켓으로 인증 정보 전달</a:t>
            </a:r>
          </a:p>
        </p:txBody>
      </p:sp>
      <p:sp>
        <p:nvSpPr>
          <p:cNvPr id="264" name="OUTLANDER  /  18">
            <a:extLst>
              <a:ext uri="{FF2B5EF4-FFF2-40B4-BE49-F238E27FC236}">
                <a16:creationId xmlns:a16="http://schemas.microsoft.com/office/drawing/2014/main" id="{67BDA80D-ED87-4A81-9C08-188F15D76263}"/>
              </a:ext>
            </a:extLst>
          </p:cNvPr>
          <p:cNvSpPr>
            <a:spLocks noGrp="1"/>
          </p:cNvSpPr>
          <p:nvPr/>
        </p:nvSpPr>
        <p:spPr>
          <a:xfrm>
            <a:off x="14573250" y="960120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defPPr>
            <a:lvl1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r">
              <a:lnSpc>
                <a:spcPct val="118000"/>
              </a:lnSpc>
              <a:buNone/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rPr>
              <a:t>OUTLANDER  /  18</a:t>
            </a:r>
          </a:p>
        </p:txBody>
      </p:sp>
    </p:spTree>
    <p:extLst>
      <p:ext uri="{BB962C8B-B14F-4D97-AF65-F5344CB8AC3E}">
        <p14:creationId xmlns:p14="http://schemas.microsoft.com/office/powerpoint/2010/main" val="2070075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Picture 2">
            <a:extLst>
              <a:ext uri="{FF2B5EF4-FFF2-40B4-BE49-F238E27FC236}">
                <a16:creationId xmlns:a16="http://schemas.microsoft.com/office/drawing/2014/main" id="{376E72C6-80DD-4831-8C0E-3C28483B4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id="237" name="Picture 3">
            <a:extLst>
              <a:ext uri="{FF2B5EF4-FFF2-40B4-BE49-F238E27FC236}">
                <a16:creationId xmlns:a16="http://schemas.microsoft.com/office/drawing/2014/main" id="{520064CA-1917-462E-96FC-FDFADD2B50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3400" y="-1460500"/>
            <a:ext cx="5219700" cy="5130800"/>
          </a:xfrm>
          <a:prstGeom prst="rect">
            <a:avLst/>
          </a:prstGeom>
        </p:spPr>
      </p:pic>
      <p:pic>
        <p:nvPicPr>
          <p:cNvPr id="238" name="Picture 4">
            <a:extLst>
              <a:ext uri="{FF2B5EF4-FFF2-40B4-BE49-F238E27FC236}">
                <a16:creationId xmlns:a16="http://schemas.microsoft.com/office/drawing/2014/main" id="{056C9905-B0BC-46AE-8956-69D831D88E1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7000"/>
          </a:blip>
          <a:stretch>
            <a:fillRect/>
          </a:stretch>
        </p:blipFill>
        <p:spPr>
          <a:xfrm rot="18782095">
            <a:off x="-3327400" y="6921500"/>
            <a:ext cx="7454900" cy="7188200"/>
          </a:xfrm>
          <a:prstGeom prst="rect">
            <a:avLst/>
          </a:prstGeom>
        </p:spPr>
      </p:pic>
      <p:pic>
        <p:nvPicPr>
          <p:cNvPr id="239" name="Picture 7">
            <a:extLst>
              <a:ext uri="{FF2B5EF4-FFF2-40B4-BE49-F238E27FC236}">
                <a16:creationId xmlns:a16="http://schemas.microsoft.com/office/drawing/2014/main" id="{94864B39-0B81-4DEB-968A-998BDF1C6D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700000">
            <a:off x="5969000" y="9169400"/>
            <a:ext cx="444500" cy="431800"/>
          </a:xfrm>
          <a:prstGeom prst="rect">
            <a:avLst/>
          </a:prstGeom>
        </p:spPr>
      </p:pic>
      <p:pic>
        <p:nvPicPr>
          <p:cNvPr id="240" name="Picture 8">
            <a:extLst>
              <a:ext uri="{FF2B5EF4-FFF2-40B4-BE49-F238E27FC236}">
                <a16:creationId xmlns:a16="http://schemas.microsoft.com/office/drawing/2014/main" id="{7F8284A5-0493-4EA2-9933-6700C0418E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9258300"/>
            <a:ext cx="12090400" cy="177800"/>
          </a:xfrm>
          <a:prstGeom prst="rect">
            <a:avLst/>
          </a:prstGeom>
        </p:spPr>
      </p:pic>
      <p:pic>
        <p:nvPicPr>
          <p:cNvPr id="241" name="Picture 9">
            <a:extLst>
              <a:ext uri="{FF2B5EF4-FFF2-40B4-BE49-F238E27FC236}">
                <a16:creationId xmlns:a16="http://schemas.microsoft.com/office/drawing/2014/main" id="{FB0501B3-411F-40B3-BE0E-A39C56FBC4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685800" y="863600"/>
            <a:ext cx="8064500" cy="139700"/>
          </a:xfrm>
          <a:prstGeom prst="rect">
            <a:avLst/>
          </a:prstGeom>
        </p:spPr>
      </p:pic>
      <p:sp>
        <p:nvSpPr>
          <p:cNvPr id="245" name="Room 작업">
            <a:extLst>
              <a:ext uri="{FF2B5EF4-FFF2-40B4-BE49-F238E27FC236}">
                <a16:creationId xmlns:a16="http://schemas.microsoft.com/office/drawing/2014/main" id="{EB77E117-9523-4F13-B691-5E22CB0E0ADB}"/>
              </a:ext>
            </a:extLst>
          </p:cNvPr>
          <p:cNvSpPr>
            <a:spLocks noGrp="1"/>
          </p:cNvSpPr>
          <p:nvPr/>
        </p:nvSpPr>
        <p:spPr>
          <a:xfrm>
            <a:off x="1143000" y="3267075"/>
            <a:ext cx="4476750" cy="1343025"/>
          </a:xfrm>
          <a:prstGeom prst="rect">
            <a:avLst/>
          </a:prstGeom>
          <a:solidFill>
            <a:srgbClr val="FFFFFF"/>
          </a:solidFill>
          <a:ln w="13335">
            <a:solidFill>
              <a:srgbClr val="B8B8BD"/>
            </a:solidFill>
          </a:ln>
        </p:spPr>
      </p:sp>
      <p:sp>
        <p:nvSpPr>
          <p:cNvPr id="246" name="Room 작업">
            <a:extLst>
              <a:ext uri="{FF2B5EF4-FFF2-40B4-BE49-F238E27FC236}">
                <a16:creationId xmlns:a16="http://schemas.microsoft.com/office/drawing/2014/main" id="{6CB9ACA7-3D0A-49F4-9FC8-3EBA81B6397D}"/>
              </a:ext>
            </a:extLst>
          </p:cNvPr>
          <p:cNvSpPr>
            <a:spLocks noGrp="1"/>
          </p:cNvSpPr>
          <p:nvPr/>
        </p:nvSpPr>
        <p:spPr>
          <a:xfrm>
            <a:off x="1333500" y="3404235"/>
            <a:ext cx="4095750" cy="4029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Room 작업</a:t>
            </a:r>
          </a:p>
        </p:txBody>
      </p:sp>
      <p:sp>
        <p:nvSpPr>
          <p:cNvPr id="247" name="입장 후 로드 요청&#10;진행 중 DB 작업 수 증가">
            <a:extLst>
              <a:ext uri="{FF2B5EF4-FFF2-40B4-BE49-F238E27FC236}">
                <a16:creationId xmlns:a16="http://schemas.microsoft.com/office/drawing/2014/main" id="{6A07BC65-F174-45C5-A8EC-FCDFDA9CBBF2}"/>
              </a:ext>
            </a:extLst>
          </p:cNvPr>
          <p:cNvSpPr>
            <a:spLocks noGrp="1"/>
          </p:cNvSpPr>
          <p:nvPr/>
        </p:nvSpPr>
        <p:spPr>
          <a:xfrm>
            <a:off x="1333500" y="3867150"/>
            <a:ext cx="4095750" cy="69837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입장 후 로드 요청</a:t>
            </a: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진행 중 DB 작업 수 증가</a:t>
            </a:r>
          </a:p>
        </p:txBody>
      </p:sp>
      <p:sp>
        <p:nvSpPr>
          <p:cNvPr id="248" name="DBExecutor">
            <a:extLst>
              <a:ext uri="{FF2B5EF4-FFF2-40B4-BE49-F238E27FC236}">
                <a16:creationId xmlns:a16="http://schemas.microsoft.com/office/drawing/2014/main" id="{18930F3E-E88D-45E4-9EAE-6369FC7664E4}"/>
              </a:ext>
            </a:extLst>
          </p:cNvPr>
          <p:cNvSpPr>
            <a:spLocks noGrp="1"/>
          </p:cNvSpPr>
          <p:nvPr/>
        </p:nvSpPr>
        <p:spPr>
          <a:xfrm>
            <a:off x="6953250" y="3267075"/>
            <a:ext cx="4476750" cy="1343025"/>
          </a:xfrm>
          <a:prstGeom prst="rect">
            <a:avLst/>
          </a:prstGeom>
          <a:solidFill>
            <a:srgbClr val="FFFFFF"/>
          </a:solidFill>
          <a:ln w="13335">
            <a:solidFill>
              <a:srgbClr val="B8B8BD"/>
            </a:solidFill>
          </a:ln>
        </p:spPr>
      </p:sp>
      <p:sp>
        <p:nvSpPr>
          <p:cNvPr id="249" name="DBExecutor">
            <a:extLst>
              <a:ext uri="{FF2B5EF4-FFF2-40B4-BE49-F238E27FC236}">
                <a16:creationId xmlns:a16="http://schemas.microsoft.com/office/drawing/2014/main" id="{355278FC-F62F-4E91-A2CF-E99272252B33}"/>
              </a:ext>
            </a:extLst>
          </p:cNvPr>
          <p:cNvSpPr>
            <a:spLocks noGrp="1"/>
          </p:cNvSpPr>
          <p:nvPr/>
        </p:nvSpPr>
        <p:spPr>
          <a:xfrm>
            <a:off x="7143750" y="3404235"/>
            <a:ext cx="4095750" cy="4029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DBExecutor</a:t>
            </a:r>
          </a:p>
        </p:txBody>
      </p:sp>
      <p:sp>
        <p:nvSpPr>
          <p:cNvPr id="250" name="계정별 슬롯 조회&#10;결과를 값으로 전달">
            <a:extLst>
              <a:ext uri="{FF2B5EF4-FFF2-40B4-BE49-F238E27FC236}">
                <a16:creationId xmlns:a16="http://schemas.microsoft.com/office/drawing/2014/main" id="{61AAD72A-2106-40EE-940A-6759591A8C07}"/>
              </a:ext>
            </a:extLst>
          </p:cNvPr>
          <p:cNvSpPr>
            <a:spLocks noGrp="1"/>
          </p:cNvSpPr>
          <p:nvPr/>
        </p:nvSpPr>
        <p:spPr>
          <a:xfrm>
            <a:off x="7143750" y="3867150"/>
            <a:ext cx="4095750" cy="69837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계정별 슬롯 조회</a:t>
            </a: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결과를 값으로 전달</a:t>
            </a:r>
          </a:p>
        </p:txBody>
      </p:sp>
      <p:sp>
        <p:nvSpPr>
          <p:cNvPr id="251" name="Room 작업">
            <a:extLst>
              <a:ext uri="{FF2B5EF4-FFF2-40B4-BE49-F238E27FC236}">
                <a16:creationId xmlns:a16="http://schemas.microsoft.com/office/drawing/2014/main" id="{3410101A-5F8F-458E-BA5F-A5ECD7940CA8}"/>
              </a:ext>
            </a:extLst>
          </p:cNvPr>
          <p:cNvSpPr>
            <a:spLocks noGrp="1"/>
          </p:cNvSpPr>
          <p:nvPr/>
        </p:nvSpPr>
        <p:spPr>
          <a:xfrm>
            <a:off x="12763500" y="3267075"/>
            <a:ext cx="4476750" cy="1343025"/>
          </a:xfrm>
          <a:prstGeom prst="rect">
            <a:avLst/>
          </a:prstGeom>
          <a:solidFill>
            <a:srgbClr val="FFFFFF"/>
          </a:solidFill>
          <a:ln w="13335">
            <a:solidFill>
              <a:srgbClr val="B8B8BD"/>
            </a:solidFill>
          </a:ln>
        </p:spPr>
      </p:sp>
      <p:sp>
        <p:nvSpPr>
          <p:cNvPr id="252" name="Room 작업">
            <a:extLst>
              <a:ext uri="{FF2B5EF4-FFF2-40B4-BE49-F238E27FC236}">
                <a16:creationId xmlns:a16="http://schemas.microsoft.com/office/drawing/2014/main" id="{DC5E644B-7761-47A8-9F9A-E5DC9B975C9C}"/>
              </a:ext>
            </a:extLst>
          </p:cNvPr>
          <p:cNvSpPr>
            <a:spLocks noGrp="1"/>
          </p:cNvSpPr>
          <p:nvPr/>
        </p:nvSpPr>
        <p:spPr>
          <a:xfrm>
            <a:off x="12954000" y="3404235"/>
            <a:ext cx="4095750" cy="4029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2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Room 작업</a:t>
            </a:r>
          </a:p>
        </p:txBody>
      </p:sp>
      <p:sp>
        <p:nvSpPr>
          <p:cNvPr id="253" name="doAsync()로 결과 반영&#10;인벤토리 스냅샷 전송">
            <a:extLst>
              <a:ext uri="{FF2B5EF4-FFF2-40B4-BE49-F238E27FC236}">
                <a16:creationId xmlns:a16="http://schemas.microsoft.com/office/drawing/2014/main" id="{1A235822-26DF-45BB-8695-9D75473DB823}"/>
              </a:ext>
            </a:extLst>
          </p:cNvPr>
          <p:cNvSpPr>
            <a:spLocks noGrp="1"/>
          </p:cNvSpPr>
          <p:nvPr/>
        </p:nvSpPr>
        <p:spPr>
          <a:xfrm>
            <a:off x="12954000" y="3867150"/>
            <a:ext cx="4095750" cy="69837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doAsync()로 결과 반영</a:t>
            </a: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인벤토리 스냅샷 전송</a:t>
            </a:r>
          </a:p>
        </p:txBody>
      </p:sp>
      <p:cxnSp>
        <p:nvCxnSpPr>
          <p:cNvPr id="254" name="직선 화살표 연결선 253">
            <a:extLst>
              <a:ext uri="{FF2B5EF4-FFF2-40B4-BE49-F238E27FC236}">
                <a16:creationId xmlns:a16="http://schemas.microsoft.com/office/drawing/2014/main" id="{FE75AA1F-2C8A-45C1-9890-2326DC7C6E80}"/>
              </a:ext>
            </a:extLst>
          </p:cNvPr>
          <p:cNvCxnSpPr>
            <a:stCxn id="245" idx="3"/>
            <a:endCxn id="248" idx="1"/>
          </p:cNvCxnSpPr>
          <p:nvPr/>
        </p:nvCxnSpPr>
        <p:spPr>
          <a:xfrm>
            <a:off x="5619750" y="3938588"/>
            <a:ext cx="1333500" cy="0"/>
          </a:xfrm>
          <a:prstGeom prst="straightConnector1">
            <a:avLst/>
          </a:prstGeom>
          <a:ln w="21908">
            <a:solidFill>
              <a:srgbClr val="354B62"/>
            </a:solidFill>
            <a:prstDash val="solid"/>
            <a:tailEnd type="triangle" w="med" len="med"/>
          </a:ln>
        </p:spPr>
      </p:cxnSp>
      <p:cxnSp>
        <p:nvCxnSpPr>
          <p:cNvPr id="255" name="직선 화살표 연결선 254">
            <a:extLst>
              <a:ext uri="{FF2B5EF4-FFF2-40B4-BE49-F238E27FC236}">
                <a16:creationId xmlns:a16="http://schemas.microsoft.com/office/drawing/2014/main" id="{AAE4443A-0FB9-40E0-8E89-4AD475700815}"/>
              </a:ext>
            </a:extLst>
          </p:cNvPr>
          <p:cNvCxnSpPr>
            <a:stCxn id="248" idx="3"/>
            <a:endCxn id="251" idx="1"/>
          </p:cNvCxnSpPr>
          <p:nvPr/>
        </p:nvCxnSpPr>
        <p:spPr>
          <a:xfrm>
            <a:off x="11430000" y="3938588"/>
            <a:ext cx="1333500" cy="0"/>
          </a:xfrm>
          <a:prstGeom prst="straightConnector1">
            <a:avLst/>
          </a:prstGeom>
          <a:ln w="21908">
            <a:solidFill>
              <a:srgbClr val="354B62"/>
            </a:solidFill>
            <a:prstDash val="solid"/>
            <a:tailEnd type="triangle" w="med" len="med"/>
          </a:ln>
        </p:spPr>
      </p:cxnSp>
      <p:sp>
        <p:nvSpPr>
          <p:cNvPr id="256" name="조회 결과를 구분">
            <a:extLst>
              <a:ext uri="{FF2B5EF4-FFF2-40B4-BE49-F238E27FC236}">
                <a16:creationId xmlns:a16="http://schemas.microsoft.com/office/drawing/2014/main" id="{B0D4AAFB-1229-44C1-977D-D5DC9449DBEB}"/>
              </a:ext>
            </a:extLst>
          </p:cNvPr>
          <p:cNvSpPr>
            <a:spLocks noGrp="1"/>
          </p:cNvSpPr>
          <p:nvPr/>
        </p:nvSpPr>
        <p:spPr>
          <a:xfrm>
            <a:off x="1143000" y="5367338"/>
            <a:ext cx="75247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rPr>
              <a:t>조회 결과를 구분</a:t>
            </a:r>
          </a:p>
        </p:txBody>
      </p:sp>
      <p:sp>
        <p:nvSpPr>
          <p:cNvPr id="257" name="Ok: 저장된 슬롯 적용&#10;NewAccount: 스타터 지급 후 저장&#10;DbError: 빈 상태 유지, 저장 금지">
            <a:extLst>
              <a:ext uri="{FF2B5EF4-FFF2-40B4-BE49-F238E27FC236}">
                <a16:creationId xmlns:a16="http://schemas.microsoft.com/office/drawing/2014/main" id="{85F343CA-A7BD-4F68-990E-CE83C1F8B0B0}"/>
              </a:ext>
            </a:extLst>
          </p:cNvPr>
          <p:cNvSpPr>
            <a:spLocks noGrp="1"/>
          </p:cNvSpPr>
          <p:nvPr/>
        </p:nvSpPr>
        <p:spPr>
          <a:xfrm>
            <a:off x="1143000" y="5941695"/>
            <a:ext cx="7524750" cy="101622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Ok: 저장된 슬롯 적용</a:t>
            </a:r>
          </a:p>
          <a:p>
            <a:pPr algn="l">
              <a:lnSpc>
                <a:spcPct val="115000"/>
              </a:lnSpc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NewAccount: 스타터 지급 후 저장</a:t>
            </a:r>
          </a:p>
          <a:p>
            <a:pPr algn="l">
              <a:lnSpc>
                <a:spcPct val="115000"/>
              </a:lnSpc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DbError: 빈 상태 유지, 저장 금지</a:t>
            </a:r>
          </a:p>
        </p:txBody>
      </p:sp>
      <p:sp>
        <p:nvSpPr>
          <p:cNvPr id="258" name="저장 기준">
            <a:extLst>
              <a:ext uri="{FF2B5EF4-FFF2-40B4-BE49-F238E27FC236}">
                <a16:creationId xmlns:a16="http://schemas.microsoft.com/office/drawing/2014/main" id="{61A6D310-4D9E-4ADB-B9DE-84773EF77DEB}"/>
              </a:ext>
            </a:extLst>
          </p:cNvPr>
          <p:cNvSpPr>
            <a:spLocks noGrp="1"/>
          </p:cNvSpPr>
          <p:nvPr/>
        </p:nvSpPr>
        <p:spPr>
          <a:xfrm>
            <a:off x="9620250" y="5367338"/>
            <a:ext cx="75247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rPr>
              <a:t>저장 기준</a:t>
            </a:r>
          </a:p>
        </p:txBody>
      </p:sp>
      <p:sp>
        <p:nvSpPr>
          <p:cNvPr id="259" name="계정 ID와 슬롯 번호를 키로 사용합니다.&#10;빈 슬롯도 저장하여 신규 계정과 구분합니다.&#10;트랜잭션 안에서 기존 행 삭제 후 전체">
            <a:extLst>
              <a:ext uri="{FF2B5EF4-FFF2-40B4-BE49-F238E27FC236}">
                <a16:creationId xmlns:a16="http://schemas.microsoft.com/office/drawing/2014/main" id="{3045235C-3DE9-4015-9DC1-82F6F48A9153}"/>
              </a:ext>
            </a:extLst>
          </p:cNvPr>
          <p:cNvSpPr>
            <a:spLocks noGrp="1"/>
          </p:cNvSpPr>
          <p:nvPr/>
        </p:nvSpPr>
        <p:spPr>
          <a:xfrm>
            <a:off x="9620250" y="5941695"/>
            <a:ext cx="7524750" cy="9853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계정 ID와 슬롯 번호를 키로 사용합니다.</a:t>
            </a:r>
          </a:p>
          <a:p>
            <a:pPr algn="l">
              <a:lnSpc>
                <a:spcPct val="115000"/>
              </a:lnSpc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빈 슬롯도 저장하여 신규 계정과 구분합니다.</a:t>
            </a:r>
          </a:p>
          <a:p>
            <a:pPr algn="l">
              <a:lnSpc>
                <a:spcPct val="115000"/>
              </a:lnSpc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트랜잭션 안에서 기존 행 삭제 후 전체 저장</a:t>
            </a:r>
          </a:p>
        </p:txBody>
      </p:sp>
      <p:pic>
        <p:nvPicPr>
          <p:cNvPr id="260" name="그림 259">
            <a:extLst>
              <a:ext uri="{FF2B5EF4-FFF2-40B4-BE49-F238E27FC236}">
                <a16:creationId xmlns:a16="http://schemas.microsoft.com/office/drawing/2014/main" id="{BDF9692D-702E-4989-A4F2-3E4A92FD829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143000" y="7296150"/>
            <a:ext cx="7429500" cy="1566863"/>
          </a:xfrm>
          <a:prstGeom prst="rect">
            <a:avLst/>
          </a:prstGeom>
        </p:spPr>
      </p:pic>
      <p:sp>
        <p:nvSpPr>
          <p:cNvPr id="261" name="저장 실패 시 즉시 재시도하지 않습니다.&#10;현재는 다음 변경 시 저장을 다시 시도합니다.&#10;DB 완료 전에는 Room 제거를 지연">
            <a:extLst>
              <a:ext uri="{FF2B5EF4-FFF2-40B4-BE49-F238E27FC236}">
                <a16:creationId xmlns:a16="http://schemas.microsoft.com/office/drawing/2014/main" id="{D560A9C2-78CB-4610-A286-EE71A933F6D1}"/>
              </a:ext>
            </a:extLst>
          </p:cNvPr>
          <p:cNvSpPr>
            <a:spLocks noGrp="1"/>
          </p:cNvSpPr>
          <p:nvPr/>
        </p:nvSpPr>
        <p:spPr>
          <a:xfrm>
            <a:off x="9620250" y="7981950"/>
            <a:ext cx="7620000" cy="1133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저장 실패 시 즉시 재시도하지 않습니다.</a:t>
            </a:r>
          </a:p>
          <a:p>
            <a:pPr algn="l">
              <a:lnSpc>
                <a:spcPct val="115000"/>
              </a:lnSpc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현재는 다음 변경 시 저장을 다시 시도합니다.</a:t>
            </a:r>
          </a:p>
          <a:p>
            <a:pPr algn="l">
              <a:lnSpc>
                <a:spcPct val="115000"/>
              </a:lnSpc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DB 완료 전에는 Room 제거를 지연합니다.</a:t>
            </a:r>
          </a:p>
        </p:txBody>
      </p:sp>
      <p:sp>
        <p:nvSpPr>
          <p:cNvPr id="262" name="02">
            <a:extLst>
              <a:ext uri="{FF2B5EF4-FFF2-40B4-BE49-F238E27FC236}">
                <a16:creationId xmlns:a16="http://schemas.microsoft.com/office/drawing/2014/main" id="{9C238203-1FD8-4592-89B6-4B39BDC33332}"/>
              </a:ext>
            </a:extLst>
          </p:cNvPr>
          <p:cNvSpPr>
            <a:spLocks noGrp="1"/>
          </p:cNvSpPr>
          <p:nvPr/>
        </p:nvSpPr>
        <p:spPr>
          <a:xfrm>
            <a:off x="1143000" y="1143000"/>
            <a:ext cx="723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263" name="PROJECT  이방인(Outlander)">
            <a:extLst>
              <a:ext uri="{FF2B5EF4-FFF2-40B4-BE49-F238E27FC236}">
                <a16:creationId xmlns:a16="http://schemas.microsoft.com/office/drawing/2014/main" id="{49509C3C-6A88-4F01-947A-853A10EBAECE}"/>
              </a:ext>
            </a:extLst>
          </p:cNvPr>
          <p:cNvSpPr>
            <a:spLocks noGrp="1"/>
          </p:cNvSpPr>
          <p:nvPr/>
        </p:nvSpPr>
        <p:spPr>
          <a:xfrm>
            <a:off x="2076450" y="1171575"/>
            <a:ext cx="148113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>
              <a:lnSpc>
                <a:spcPct val="118000"/>
              </a:lnSpc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lang="ko-KR" altLang="en-US" b="0" dirty="0">
                <a:latin typeface="Pretendard Regular"/>
                <a:ea typeface="Pretendard Regular"/>
                <a:cs typeface="Pretendard Regular"/>
              </a:rPr>
              <a:t>졸업작품 이방인</a:t>
            </a:r>
            <a:r>
              <a:rPr lang="en-US" altLang="ko-KR" b="0" dirty="0">
                <a:latin typeface="Pretendard Regular"/>
                <a:ea typeface="Pretendard Regular"/>
                <a:cs typeface="Pretendard Regular"/>
              </a:rPr>
              <a:t>(Outlander)</a:t>
            </a:r>
            <a:endParaRPr lang="ko-KR" altLang="en-US" b="0" dirty="0"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64" name="계정·데이터 처리  /  인벤토리 조회·저장과 실패 처리">
            <a:extLst>
              <a:ext uri="{FF2B5EF4-FFF2-40B4-BE49-F238E27FC236}">
                <a16:creationId xmlns:a16="http://schemas.microsoft.com/office/drawing/2014/main" id="{42633F2C-26A9-4CC4-81C1-6666F33C7AA5}"/>
              </a:ext>
            </a:extLst>
          </p:cNvPr>
          <p:cNvSpPr>
            <a:spLocks noGrp="1"/>
          </p:cNvSpPr>
          <p:nvPr/>
        </p:nvSpPr>
        <p:spPr>
          <a:xfrm>
            <a:off x="1143000" y="2028825"/>
            <a:ext cx="16002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rPr>
              <a:t>계정·데이터 처리  /  인벤토리 조회·저장과 실패 처리</a:t>
            </a:r>
          </a:p>
        </p:txBody>
      </p:sp>
      <p:sp>
        <p:nvSpPr>
          <p:cNvPr id="265" name="OUTLANDER  /  19">
            <a:extLst>
              <a:ext uri="{FF2B5EF4-FFF2-40B4-BE49-F238E27FC236}">
                <a16:creationId xmlns:a16="http://schemas.microsoft.com/office/drawing/2014/main" id="{A7500B6D-B291-4184-AD85-E97E526E4B16}"/>
              </a:ext>
            </a:extLst>
          </p:cNvPr>
          <p:cNvSpPr>
            <a:spLocks noGrp="1"/>
          </p:cNvSpPr>
          <p:nvPr/>
        </p:nvSpPr>
        <p:spPr>
          <a:xfrm>
            <a:off x="14573250" y="960120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defPPr>
            <a:lvl1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r">
              <a:lnSpc>
                <a:spcPct val="118000"/>
              </a:lnSpc>
              <a:buNone/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rPr>
              <a:t>OUTLANDER  /  19</a:t>
            </a:r>
          </a:p>
        </p:txBody>
      </p:sp>
    </p:spTree>
    <p:extLst>
      <p:ext uri="{BB962C8B-B14F-4D97-AF65-F5344CB8AC3E}">
        <p14:creationId xmlns:p14="http://schemas.microsoft.com/office/powerpoint/2010/main" val="20700751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Picture 2">
            <a:extLst>
              <a:ext uri="{FF2B5EF4-FFF2-40B4-BE49-F238E27FC236}">
                <a16:creationId xmlns:a16="http://schemas.microsoft.com/office/drawing/2014/main" id="{6F65393D-DD41-4ECC-9210-E04E37BD1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id="237" name="Picture 3">
            <a:extLst>
              <a:ext uri="{FF2B5EF4-FFF2-40B4-BE49-F238E27FC236}">
                <a16:creationId xmlns:a16="http://schemas.microsoft.com/office/drawing/2014/main" id="{36815E36-635D-44AA-ADBA-E0E03F9518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3400" y="-1460500"/>
            <a:ext cx="5219700" cy="5130800"/>
          </a:xfrm>
          <a:prstGeom prst="rect">
            <a:avLst/>
          </a:prstGeom>
        </p:spPr>
      </p:pic>
      <p:pic>
        <p:nvPicPr>
          <p:cNvPr id="238" name="Picture 4">
            <a:extLst>
              <a:ext uri="{FF2B5EF4-FFF2-40B4-BE49-F238E27FC236}">
                <a16:creationId xmlns:a16="http://schemas.microsoft.com/office/drawing/2014/main" id="{A48CEFEA-777D-43CD-99E8-2451033C5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7000"/>
          </a:blip>
          <a:stretch>
            <a:fillRect/>
          </a:stretch>
        </p:blipFill>
        <p:spPr>
          <a:xfrm rot="18782095">
            <a:off x="-3327400" y="6921500"/>
            <a:ext cx="7454900" cy="7188200"/>
          </a:xfrm>
          <a:prstGeom prst="rect">
            <a:avLst/>
          </a:prstGeom>
        </p:spPr>
      </p:pic>
      <p:pic>
        <p:nvPicPr>
          <p:cNvPr id="239" name="Picture 7">
            <a:extLst>
              <a:ext uri="{FF2B5EF4-FFF2-40B4-BE49-F238E27FC236}">
                <a16:creationId xmlns:a16="http://schemas.microsoft.com/office/drawing/2014/main" id="{BA1F9342-AB29-4275-8E1D-2ED970BEB1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700000">
            <a:off x="5969000" y="9169400"/>
            <a:ext cx="444500" cy="431800"/>
          </a:xfrm>
          <a:prstGeom prst="rect">
            <a:avLst/>
          </a:prstGeom>
        </p:spPr>
      </p:pic>
      <p:pic>
        <p:nvPicPr>
          <p:cNvPr id="240" name="Picture 8">
            <a:extLst>
              <a:ext uri="{FF2B5EF4-FFF2-40B4-BE49-F238E27FC236}">
                <a16:creationId xmlns:a16="http://schemas.microsoft.com/office/drawing/2014/main" id="{DDCFCC8B-496D-4B9A-8FFB-2FEA78BECC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9258300"/>
            <a:ext cx="12090400" cy="177800"/>
          </a:xfrm>
          <a:prstGeom prst="rect">
            <a:avLst/>
          </a:prstGeom>
        </p:spPr>
      </p:pic>
      <p:pic>
        <p:nvPicPr>
          <p:cNvPr id="241" name="Picture 9">
            <a:extLst>
              <a:ext uri="{FF2B5EF4-FFF2-40B4-BE49-F238E27FC236}">
                <a16:creationId xmlns:a16="http://schemas.microsoft.com/office/drawing/2014/main" id="{5046618D-168D-42FB-A09E-8BE6384E68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685800" y="863600"/>
            <a:ext cx="8064500" cy="139700"/>
          </a:xfrm>
          <a:prstGeom prst="rect">
            <a:avLst/>
          </a:prstGeom>
        </p:spPr>
      </p:pic>
      <p:sp>
        <p:nvSpPr>
          <p:cNvPr id="245" name="증상">
            <a:extLst>
              <a:ext uri="{FF2B5EF4-FFF2-40B4-BE49-F238E27FC236}">
                <a16:creationId xmlns:a16="http://schemas.microsoft.com/office/drawing/2014/main" id="{B62A20B0-0866-4C76-B5FB-640520B6D167}"/>
              </a:ext>
            </a:extLst>
          </p:cNvPr>
          <p:cNvSpPr>
            <a:spLocks noGrp="1"/>
          </p:cNvSpPr>
          <p:nvPr/>
        </p:nvSpPr>
        <p:spPr>
          <a:xfrm>
            <a:off x="1143000" y="3267075"/>
            <a:ext cx="8001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rPr>
              <a:t>증상</a:t>
            </a:r>
          </a:p>
        </p:txBody>
      </p:sp>
      <p:sp>
        <p:nvSpPr>
          <p:cNvPr id="246" name="일정 시간 플레이 후 Size: 0, Type: 0&#10;패킷 로그가 반복되고 수신 처리가 멈췄습니다.">
            <a:extLst>
              <a:ext uri="{FF2B5EF4-FFF2-40B4-BE49-F238E27FC236}">
                <a16:creationId xmlns:a16="http://schemas.microsoft.com/office/drawing/2014/main" id="{B701A87E-1680-40EA-AFCA-9A5394560F65}"/>
              </a:ext>
            </a:extLst>
          </p:cNvPr>
          <p:cNvSpPr>
            <a:spLocks noGrp="1"/>
          </p:cNvSpPr>
          <p:nvPr/>
        </p:nvSpPr>
        <p:spPr>
          <a:xfrm>
            <a:off x="1143000" y="3841433"/>
            <a:ext cx="8001000" cy="70732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일정 시간 플레이 후 Size: 0, Type: 0</a:t>
            </a:r>
          </a:p>
          <a:p>
            <a:pPr algn="l">
              <a:lnSpc>
                <a:spcPct val="115000"/>
              </a:lnSpc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패킷 로그가 반복되고 수신 처리가 멈췄습니다.</a:t>
            </a:r>
          </a:p>
        </p:txBody>
      </p:sp>
      <p:sp>
        <p:nvSpPr>
          <p:cNvPr id="247" name="원인">
            <a:extLst>
              <a:ext uri="{FF2B5EF4-FFF2-40B4-BE49-F238E27FC236}">
                <a16:creationId xmlns:a16="http://schemas.microsoft.com/office/drawing/2014/main" id="{10C5E238-A987-4514-B9BC-1D90710308BA}"/>
              </a:ext>
            </a:extLst>
          </p:cNvPr>
          <p:cNvSpPr>
            <a:spLocks noGrp="1"/>
          </p:cNvSpPr>
          <p:nvPr/>
        </p:nvSpPr>
        <p:spPr>
          <a:xfrm>
            <a:off x="9906000" y="3267075"/>
            <a:ext cx="73342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rPr>
              <a:t>원인</a:t>
            </a:r>
          </a:p>
        </p:txBody>
      </p:sp>
      <p:sp>
        <p:nvSpPr>
          <p:cNvPr id="248" name="readPos_를 먼저 0으로 바꾸면서&#10;남은 데이터 크기를 잘못 계산했습니다.&#10;이미 처리한 영역까지 다시 읽었습니다.">
            <a:extLst>
              <a:ext uri="{FF2B5EF4-FFF2-40B4-BE49-F238E27FC236}">
                <a16:creationId xmlns:a16="http://schemas.microsoft.com/office/drawing/2014/main" id="{CBE3E5D7-A114-4C43-9E21-37DA7034F700}"/>
              </a:ext>
            </a:extLst>
          </p:cNvPr>
          <p:cNvSpPr>
            <a:spLocks noGrp="1"/>
          </p:cNvSpPr>
          <p:nvPr/>
        </p:nvSpPr>
        <p:spPr>
          <a:xfrm>
            <a:off x="9906000" y="3841433"/>
            <a:ext cx="7334250" cy="101622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readPos_를 먼저 0으로 바꾸면서</a:t>
            </a:r>
          </a:p>
          <a:p>
            <a:pPr algn="l">
              <a:lnSpc>
                <a:spcPct val="115000"/>
              </a:lnSpc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남은 데이터 크기를 잘못 계산했습니다.</a:t>
            </a:r>
          </a:p>
          <a:p>
            <a:pPr algn="l">
              <a:lnSpc>
                <a:spcPct val="115000"/>
              </a:lnSpc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이미 처리한 영역까지 다시 읽었습니다.</a:t>
            </a:r>
          </a:p>
        </p:txBody>
      </p:sp>
      <p:pic>
        <p:nvPicPr>
          <p:cNvPr id="249" name="그림 248">
            <a:extLst>
              <a:ext uri="{FF2B5EF4-FFF2-40B4-BE49-F238E27FC236}">
                <a16:creationId xmlns:a16="http://schemas.microsoft.com/office/drawing/2014/main" id="{58B0A0F5-2127-4E0B-88B4-4AD3E85352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143000" y="5453063"/>
            <a:ext cx="9048750" cy="3456051"/>
          </a:xfrm>
          <a:prstGeom prst="rect">
            <a:avLst/>
          </a:prstGeom>
        </p:spPr>
      </p:pic>
      <p:sp>
        <p:nvSpPr>
          <p:cNvPr id="250" name="위치 계산 수정">
            <a:extLst>
              <a:ext uri="{FF2B5EF4-FFF2-40B4-BE49-F238E27FC236}">
                <a16:creationId xmlns:a16="http://schemas.microsoft.com/office/drawing/2014/main" id="{C948AD26-1F9C-4DD7-A051-38DD1D04657F}"/>
              </a:ext>
            </a:extLst>
          </p:cNvPr>
          <p:cNvSpPr>
            <a:spLocks noGrp="1"/>
          </p:cNvSpPr>
          <p:nvPr/>
        </p:nvSpPr>
        <p:spPr>
          <a:xfrm>
            <a:off x="11144250" y="5453063"/>
            <a:ext cx="6096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rPr>
              <a:t>위치 계산 수정</a:t>
            </a:r>
          </a:p>
        </p:txBody>
      </p:sp>
      <p:sp>
        <p:nvSpPr>
          <p:cNvPr id="251" name="커서를 바꾸기 전에 remaining을 저장하고&#10;복사한 크기로 writePos_를 설정합니다.">
            <a:extLst>
              <a:ext uri="{FF2B5EF4-FFF2-40B4-BE49-F238E27FC236}">
                <a16:creationId xmlns:a16="http://schemas.microsoft.com/office/drawing/2014/main" id="{A9B5FAC4-D37E-4B6F-AF77-E09DE9BCE21F}"/>
              </a:ext>
            </a:extLst>
          </p:cNvPr>
          <p:cNvSpPr>
            <a:spLocks noGrp="1"/>
          </p:cNvSpPr>
          <p:nvPr/>
        </p:nvSpPr>
        <p:spPr>
          <a:xfrm>
            <a:off x="11144250" y="6027420"/>
            <a:ext cx="6096000" cy="68673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커서를 바꾸기 전에 remaining을 저장하고</a:t>
            </a:r>
          </a:p>
          <a:p>
            <a:pPr algn="l">
              <a:lnSpc>
                <a:spcPct val="115000"/>
              </a:lnSpc>
              <a:buNone/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복사한 크기로 writePos_를 설정합니다.</a:t>
            </a:r>
          </a:p>
        </p:txBody>
      </p:sp>
      <p:sp>
        <p:nvSpPr>
          <p:cNvPr id="252" name="남은 검증 과제">
            <a:extLst>
              <a:ext uri="{FF2B5EF4-FFF2-40B4-BE49-F238E27FC236}">
                <a16:creationId xmlns:a16="http://schemas.microsoft.com/office/drawing/2014/main" id="{3C88521D-17CE-45DC-8C20-BA5DAA594C35}"/>
              </a:ext>
            </a:extLst>
          </p:cNvPr>
          <p:cNvSpPr>
            <a:spLocks noGrp="1"/>
          </p:cNvSpPr>
          <p:nvPr/>
        </p:nvSpPr>
        <p:spPr>
          <a:xfrm>
            <a:off x="11144250" y="7038975"/>
            <a:ext cx="6096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rPr>
              <a:t>남은 검증 과제</a:t>
            </a:r>
          </a:p>
        </p:txBody>
      </p:sp>
      <p:sp>
        <p:nvSpPr>
          <p:cNvPr id="253" name="최소 패킷 크기 검사는 현재 주석 상태입니다.&#10;비정상 헤더 차단과 회귀 테스트가&#10;추가로 필요합니다.">
            <a:extLst>
              <a:ext uri="{FF2B5EF4-FFF2-40B4-BE49-F238E27FC236}">
                <a16:creationId xmlns:a16="http://schemas.microsoft.com/office/drawing/2014/main" id="{041FA9EF-69D6-446A-88D9-945D5BC53DB3}"/>
              </a:ext>
            </a:extLst>
          </p:cNvPr>
          <p:cNvSpPr>
            <a:spLocks noGrp="1"/>
          </p:cNvSpPr>
          <p:nvPr/>
        </p:nvSpPr>
        <p:spPr>
          <a:xfrm>
            <a:off x="11144250" y="7613333"/>
            <a:ext cx="6096000" cy="92355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최소 패킷 크기 검사는 현재 주석 상태입니다.</a:t>
            </a: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비정상 헤더 차단과 회귀 테스트가</a:t>
            </a: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추가로 필요합니다.</a:t>
            </a:r>
          </a:p>
        </p:txBody>
      </p:sp>
      <p:sp>
        <p:nvSpPr>
          <p:cNvPr id="254" name="02">
            <a:extLst>
              <a:ext uri="{FF2B5EF4-FFF2-40B4-BE49-F238E27FC236}">
                <a16:creationId xmlns:a16="http://schemas.microsoft.com/office/drawing/2014/main" id="{715DFC32-68EF-4B49-A5E6-EFB11C0F22EB}"/>
              </a:ext>
            </a:extLst>
          </p:cNvPr>
          <p:cNvSpPr>
            <a:spLocks noGrp="1"/>
          </p:cNvSpPr>
          <p:nvPr/>
        </p:nvSpPr>
        <p:spPr>
          <a:xfrm>
            <a:off x="1143000" y="1143000"/>
            <a:ext cx="723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255" name="PROJECT  이방인(Outlander)">
            <a:extLst>
              <a:ext uri="{FF2B5EF4-FFF2-40B4-BE49-F238E27FC236}">
                <a16:creationId xmlns:a16="http://schemas.microsoft.com/office/drawing/2014/main" id="{04C38FD8-B300-4BA2-8B72-6372670B2815}"/>
              </a:ext>
            </a:extLst>
          </p:cNvPr>
          <p:cNvSpPr>
            <a:spLocks noGrp="1"/>
          </p:cNvSpPr>
          <p:nvPr/>
        </p:nvSpPr>
        <p:spPr>
          <a:xfrm>
            <a:off x="2076450" y="1171575"/>
            <a:ext cx="148113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>
              <a:lnSpc>
                <a:spcPct val="118000"/>
              </a:lnSpc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lang="ko-KR" altLang="en-US" b="0" dirty="0">
                <a:latin typeface="Pretendard Regular"/>
                <a:ea typeface="Pretendard Regular"/>
                <a:cs typeface="Pretendard Regular"/>
              </a:rPr>
              <a:t>졸업작품 이방인</a:t>
            </a:r>
            <a:r>
              <a:rPr lang="en-US" altLang="ko-KR" b="0" dirty="0">
                <a:latin typeface="Pretendard Regular"/>
                <a:ea typeface="Pretendard Regular"/>
                <a:cs typeface="Pretendard Regular"/>
              </a:rPr>
              <a:t>(Outlander)</a:t>
            </a:r>
            <a:endParaRPr lang="ko-KR" altLang="en-US" b="0" dirty="0"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56" name="문제 해결  /  수신 버퍼 정리 후 패킷 처리 중단">
            <a:extLst>
              <a:ext uri="{FF2B5EF4-FFF2-40B4-BE49-F238E27FC236}">
                <a16:creationId xmlns:a16="http://schemas.microsoft.com/office/drawing/2014/main" id="{90319011-FBB3-466E-B4AF-8971AC185C50}"/>
              </a:ext>
            </a:extLst>
          </p:cNvPr>
          <p:cNvSpPr>
            <a:spLocks noGrp="1"/>
          </p:cNvSpPr>
          <p:nvPr/>
        </p:nvSpPr>
        <p:spPr>
          <a:xfrm>
            <a:off x="1143000" y="2028825"/>
            <a:ext cx="16002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rPr>
              <a:t>문제 해결  /  수신 버퍼 정리 후 패킷 처리 중단</a:t>
            </a:r>
          </a:p>
        </p:txBody>
      </p:sp>
      <p:sp>
        <p:nvSpPr>
          <p:cNvPr id="257" name="OUTLANDER  /  20">
            <a:extLst>
              <a:ext uri="{FF2B5EF4-FFF2-40B4-BE49-F238E27FC236}">
                <a16:creationId xmlns:a16="http://schemas.microsoft.com/office/drawing/2014/main" id="{82E1B22F-1F13-4A97-BFE1-A922275E04B4}"/>
              </a:ext>
            </a:extLst>
          </p:cNvPr>
          <p:cNvSpPr>
            <a:spLocks noGrp="1"/>
          </p:cNvSpPr>
          <p:nvPr/>
        </p:nvSpPr>
        <p:spPr>
          <a:xfrm>
            <a:off x="14573250" y="960120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defPPr>
            <a:lvl1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r">
              <a:lnSpc>
                <a:spcPct val="118000"/>
              </a:lnSpc>
              <a:buNone/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rPr>
              <a:t>OUTLANDER  /  20</a:t>
            </a:r>
          </a:p>
        </p:txBody>
      </p:sp>
    </p:spTree>
    <p:extLst>
      <p:ext uri="{BB962C8B-B14F-4D97-AF65-F5344CB8AC3E}">
        <p14:creationId xmlns:p14="http://schemas.microsoft.com/office/powerpoint/2010/main" val="2070075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Picture 2">
            <a:extLst>
              <a:ext uri="{FF2B5EF4-FFF2-40B4-BE49-F238E27FC236}">
                <a16:creationId xmlns:a16="http://schemas.microsoft.com/office/drawing/2014/main" id="{F40E6757-250C-463A-A140-B4A7760C6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id="237" name="Picture 3">
            <a:extLst>
              <a:ext uri="{FF2B5EF4-FFF2-40B4-BE49-F238E27FC236}">
                <a16:creationId xmlns:a16="http://schemas.microsoft.com/office/drawing/2014/main" id="{C1AC341A-6A89-40E9-B0FE-FCD16A6610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3400" y="-1460500"/>
            <a:ext cx="5219700" cy="5130800"/>
          </a:xfrm>
          <a:prstGeom prst="rect">
            <a:avLst/>
          </a:prstGeom>
        </p:spPr>
      </p:pic>
      <p:pic>
        <p:nvPicPr>
          <p:cNvPr id="238" name="Picture 4">
            <a:extLst>
              <a:ext uri="{FF2B5EF4-FFF2-40B4-BE49-F238E27FC236}">
                <a16:creationId xmlns:a16="http://schemas.microsoft.com/office/drawing/2014/main" id="{86256E9A-E234-483A-B8A1-863CFD97F64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7000"/>
          </a:blip>
          <a:stretch>
            <a:fillRect/>
          </a:stretch>
        </p:blipFill>
        <p:spPr>
          <a:xfrm rot="18782095">
            <a:off x="-3327400" y="6921500"/>
            <a:ext cx="7454900" cy="7188200"/>
          </a:xfrm>
          <a:prstGeom prst="rect">
            <a:avLst/>
          </a:prstGeom>
        </p:spPr>
      </p:pic>
      <p:pic>
        <p:nvPicPr>
          <p:cNvPr id="239" name="Picture 7">
            <a:extLst>
              <a:ext uri="{FF2B5EF4-FFF2-40B4-BE49-F238E27FC236}">
                <a16:creationId xmlns:a16="http://schemas.microsoft.com/office/drawing/2014/main" id="{72385DA7-9273-4AD0-B5AA-D7742A8E98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700000">
            <a:off x="5969000" y="9169400"/>
            <a:ext cx="444500" cy="431800"/>
          </a:xfrm>
          <a:prstGeom prst="rect">
            <a:avLst/>
          </a:prstGeom>
        </p:spPr>
      </p:pic>
      <p:pic>
        <p:nvPicPr>
          <p:cNvPr id="240" name="Picture 8">
            <a:extLst>
              <a:ext uri="{FF2B5EF4-FFF2-40B4-BE49-F238E27FC236}">
                <a16:creationId xmlns:a16="http://schemas.microsoft.com/office/drawing/2014/main" id="{94961F35-0792-4632-892C-835D622960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9258300"/>
            <a:ext cx="12090400" cy="177800"/>
          </a:xfrm>
          <a:prstGeom prst="rect">
            <a:avLst/>
          </a:prstGeom>
        </p:spPr>
      </p:pic>
      <p:pic>
        <p:nvPicPr>
          <p:cNvPr id="241" name="Picture 9">
            <a:extLst>
              <a:ext uri="{FF2B5EF4-FFF2-40B4-BE49-F238E27FC236}">
                <a16:creationId xmlns:a16="http://schemas.microsoft.com/office/drawing/2014/main" id="{86CE462C-0607-4E76-B60C-B5464B48E8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685800" y="863600"/>
            <a:ext cx="8064500" cy="139700"/>
          </a:xfrm>
          <a:prstGeom prst="rect">
            <a:avLst/>
          </a:prstGeom>
        </p:spPr>
      </p:pic>
      <p:sp>
        <p:nvSpPr>
          <p:cNvPr id="245" name="마지막 멤버의 퇴장과 다른 클라이언트의 참가가 겹치면, 조회한 방이 사용 전에 해제될 수 있었습니다.">
            <a:extLst>
              <a:ext uri="{FF2B5EF4-FFF2-40B4-BE49-F238E27FC236}">
                <a16:creationId xmlns:a16="http://schemas.microsoft.com/office/drawing/2014/main" id="{607B7553-7BE3-4291-B3DE-B07A601F624F}"/>
              </a:ext>
            </a:extLst>
          </p:cNvPr>
          <p:cNvSpPr>
            <a:spLocks noGrp="1"/>
          </p:cNvSpPr>
          <p:nvPr/>
        </p:nvSpPr>
        <p:spPr>
          <a:xfrm>
            <a:off x="1143000" y="3000375"/>
            <a:ext cx="16002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마지막 멤버의 퇴장과 다른 클라이언트의 참가가 겹치면</a:t>
            </a:r>
          </a:p>
          <a:p>
            <a:pPr algn="l">
              <a:lnSpc>
                <a:spcPct val="115000"/>
              </a:lnSpc>
              <a:buNone/>
              <a:defRPr sz="225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1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조회한 방이 사용되기 전에 해제될 수 있었습니다.</a:t>
            </a:r>
          </a:p>
        </p:txBody>
      </p:sp>
      <p:pic>
        <p:nvPicPr>
          <p:cNvPr id="246" name="그림 245">
            <a:extLst>
              <a:ext uri="{FF2B5EF4-FFF2-40B4-BE49-F238E27FC236}">
                <a16:creationId xmlns:a16="http://schemas.microsoft.com/office/drawing/2014/main" id="{979403E4-AA82-41D9-A6AA-A3351AF7393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143000" y="4038600"/>
            <a:ext cx="9715500" cy="2399538"/>
          </a:xfrm>
          <a:prstGeom prst="rect">
            <a:avLst/>
          </a:prstGeom>
        </p:spPr>
      </p:pic>
      <p:pic>
        <p:nvPicPr>
          <p:cNvPr id="247" name="그림 246">
            <a:extLst>
              <a:ext uri="{FF2B5EF4-FFF2-40B4-BE49-F238E27FC236}">
                <a16:creationId xmlns:a16="http://schemas.microsoft.com/office/drawing/2014/main" id="{7A30FF3B-7EAA-4F1E-96EF-CBD73620435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1143000" y="6524625"/>
            <a:ext cx="8572500" cy="2314743"/>
          </a:xfrm>
          <a:prstGeom prst="rect">
            <a:avLst/>
          </a:prstGeom>
        </p:spPr>
      </p:pic>
      <p:sp>
        <p:nvSpPr>
          <p:cNvPr id="248" name="객체 수명 보장">
            <a:extLst>
              <a:ext uri="{FF2B5EF4-FFF2-40B4-BE49-F238E27FC236}">
                <a16:creationId xmlns:a16="http://schemas.microsoft.com/office/drawing/2014/main" id="{B2156DD7-5327-4EB8-8B02-0CE8601D5AB0}"/>
              </a:ext>
            </a:extLst>
          </p:cNvPr>
          <p:cNvSpPr>
            <a:spLocks noGrp="1"/>
          </p:cNvSpPr>
          <p:nvPr/>
        </p:nvSpPr>
        <p:spPr>
          <a:xfrm>
            <a:off x="11715750" y="4381500"/>
            <a:ext cx="56197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rPr>
              <a:t>객체 수명 보장</a:t>
            </a:r>
          </a:p>
        </p:txBody>
      </p:sp>
      <p:sp>
        <p:nvSpPr>
          <p:cNvPr id="249" name="findRoom()이 shared_ptr 복사본을 반환합니다.&#10;맵에서 제거해도 호출 측 참조가 남으면&#10;방 객체는 살아 있습니다">
            <a:extLst>
              <a:ext uri="{FF2B5EF4-FFF2-40B4-BE49-F238E27FC236}">
                <a16:creationId xmlns:a16="http://schemas.microsoft.com/office/drawing/2014/main" id="{3C6C2496-DCE4-4175-A156-2F4EEF6BE233}"/>
              </a:ext>
            </a:extLst>
          </p:cNvPr>
          <p:cNvSpPr>
            <a:spLocks noGrp="1"/>
          </p:cNvSpPr>
          <p:nvPr/>
        </p:nvSpPr>
        <p:spPr>
          <a:xfrm>
            <a:off x="11715750" y="4955858"/>
            <a:ext cx="5619750" cy="95444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findRoom()은 shared_ptr 복사본을 반환합니다.</a:t>
            </a:r>
          </a:p>
          <a:p>
            <a:pPr algn="l">
              <a:lnSpc>
                <a:spcPct val="115000"/>
              </a:lnSpc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맵에서 제거해도 호출 측이 참조하는 동안</a:t>
            </a:r>
          </a:p>
          <a:p>
            <a:pPr algn="l">
              <a:lnSpc>
                <a:spcPct val="115000"/>
              </a:lnSpc>
              <a:buNone/>
              <a:def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2100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방 객체의 수명을 유지합니다.</a:t>
            </a:r>
          </a:p>
        </p:txBody>
      </p:sp>
      <p:sp>
        <p:nvSpPr>
          <p:cNvPr id="250" name="논리적으로 닫힌 방의 입장 차단">
            <a:extLst>
              <a:ext uri="{FF2B5EF4-FFF2-40B4-BE49-F238E27FC236}">
                <a16:creationId xmlns:a16="http://schemas.microsoft.com/office/drawing/2014/main" id="{AB93B676-118C-4C7E-B9BF-F7382755B727}"/>
              </a:ext>
            </a:extLst>
          </p:cNvPr>
          <p:cNvSpPr>
            <a:spLocks noGrp="1"/>
          </p:cNvSpPr>
          <p:nvPr/>
        </p:nvSpPr>
        <p:spPr>
          <a:xfrm>
            <a:off x="11715750" y="6824663"/>
            <a:ext cx="56197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5000"/>
              </a:lnSpc>
              <a:buNone/>
              <a:defRPr sz="24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175" b="1">
                <a:solidFill>
                  <a:srgbClr val="354B62"/>
                </a:solidFill>
                <a:latin typeface="Pretendard Bold"/>
                <a:ea typeface="Pretendard Bold"/>
                <a:cs typeface="Pretendard Bold"/>
              </a:rPr>
              <a:t>논리적으로 닫힌 방의 입장 차단</a:t>
            </a:r>
          </a:p>
        </p:txBody>
      </p:sp>
      <p:sp>
        <p:nvSpPr>
          <p:cNvPr id="251" name="마지막 퇴장 시 잠금 안에서 closed_ 설정&#10;enter()도 같은 잠금 안에서 closed_ 확인&#10;객체 생존과 입장 가능 ">
            <a:extLst>
              <a:ext uri="{FF2B5EF4-FFF2-40B4-BE49-F238E27FC236}">
                <a16:creationId xmlns:a16="http://schemas.microsoft.com/office/drawing/2014/main" id="{66D71B3E-F25E-4C9E-9343-BD037EA4BA9E}"/>
              </a:ext>
            </a:extLst>
          </p:cNvPr>
          <p:cNvSpPr>
            <a:spLocks noGrp="1"/>
          </p:cNvSpPr>
          <p:nvPr/>
        </p:nvSpPr>
        <p:spPr>
          <a:xfrm>
            <a:off x="11715750" y="7905750"/>
            <a:ext cx="56197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defPPr>
            <a:lvl1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l"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875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마지막</a:t>
            </a:r>
            <a:r>
              <a:rPr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875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퇴장</a:t>
            </a:r>
            <a:r>
              <a:rPr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시 </a:t>
            </a:r>
            <a:r>
              <a:rPr sz="1875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잠금</a:t>
            </a:r>
            <a:r>
              <a:rPr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875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안에서</a:t>
            </a:r>
            <a:r>
              <a:rPr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closed_ </a:t>
            </a:r>
            <a:r>
              <a:rPr sz="1875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설정</a:t>
            </a:r>
            <a:endParaRPr sz="1875" b="0" dirty="0">
              <a:solidFill>
                <a:srgbClr val="414141"/>
              </a:solidFill>
              <a:latin typeface="Pretendard Regular"/>
              <a:ea typeface="Pretendard Regular"/>
              <a:cs typeface="Pretendard Regular"/>
            </a:endParaRP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enter()도 </a:t>
            </a:r>
            <a:r>
              <a:rPr sz="1875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같은</a:t>
            </a:r>
            <a:r>
              <a:rPr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875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잠금</a:t>
            </a:r>
            <a:r>
              <a:rPr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875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안에서</a:t>
            </a:r>
            <a:r>
              <a:rPr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closed_ </a:t>
            </a:r>
            <a:r>
              <a:rPr sz="1875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확인</a:t>
            </a:r>
            <a:endParaRPr sz="1875" b="0" dirty="0">
              <a:solidFill>
                <a:srgbClr val="414141"/>
              </a:solidFill>
              <a:latin typeface="Pretendard Regular"/>
              <a:ea typeface="Pretendard Regular"/>
              <a:cs typeface="Pretendard Regular"/>
            </a:endParaRP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875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객체</a:t>
            </a:r>
            <a:r>
              <a:rPr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875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생존과</a:t>
            </a:r>
            <a:r>
              <a:rPr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875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입장</a:t>
            </a:r>
            <a:r>
              <a:rPr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875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가능</a:t>
            </a:r>
            <a:r>
              <a:rPr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875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여부를</a:t>
            </a:r>
            <a:r>
              <a:rPr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875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따로</a:t>
            </a:r>
            <a:r>
              <a:rPr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1875" b="0" dirty="0" err="1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다룹니다</a:t>
            </a:r>
            <a:r>
              <a:rPr sz="1875" b="0" dirty="0">
                <a:solidFill>
                  <a:srgbClr val="414141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sp>
        <p:nvSpPr>
          <p:cNvPr id="252" name="02">
            <a:extLst>
              <a:ext uri="{FF2B5EF4-FFF2-40B4-BE49-F238E27FC236}">
                <a16:creationId xmlns:a16="http://schemas.microsoft.com/office/drawing/2014/main" id="{DEEFCBB5-C179-4BDA-9D66-E3B710CEAE7D}"/>
              </a:ext>
            </a:extLst>
          </p:cNvPr>
          <p:cNvSpPr>
            <a:spLocks noGrp="1"/>
          </p:cNvSpPr>
          <p:nvPr/>
        </p:nvSpPr>
        <p:spPr>
          <a:xfrm>
            <a:off x="1143000" y="1143000"/>
            <a:ext cx="723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2775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253" name="PROJECT  이방인(Outlander)">
            <a:extLst>
              <a:ext uri="{FF2B5EF4-FFF2-40B4-BE49-F238E27FC236}">
                <a16:creationId xmlns:a16="http://schemas.microsoft.com/office/drawing/2014/main" id="{74B62F85-1E9B-4D98-A2C0-BBB77D45BD63}"/>
              </a:ext>
            </a:extLst>
          </p:cNvPr>
          <p:cNvSpPr>
            <a:spLocks noGrp="1"/>
          </p:cNvSpPr>
          <p:nvPr/>
        </p:nvSpPr>
        <p:spPr>
          <a:xfrm>
            <a:off x="2076450" y="1171575"/>
            <a:ext cx="148113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>
              <a:lnSpc>
                <a:spcPct val="118000"/>
              </a:lnSpc>
              <a:defRPr sz="2550" b="1">
                <a:solidFill>
                  <a:srgbClr val="171717"/>
                </a:solidFill>
                <a:latin typeface="Pretendard Bold"/>
                <a:ea typeface="Pretendard Bold"/>
                <a:cs typeface="Pretendard Bold"/>
              </a:defRPr>
            </a:pPr>
            <a:r>
              <a:rPr lang="ko-KR" altLang="en-US" b="0" dirty="0">
                <a:latin typeface="Pretendard Regular"/>
                <a:ea typeface="Pretendard Regular"/>
                <a:cs typeface="Pretendard Regular"/>
              </a:rPr>
              <a:t>졸업작품 이방인</a:t>
            </a:r>
            <a:r>
              <a:rPr lang="en-US" altLang="ko-KR" b="0" dirty="0">
                <a:latin typeface="Pretendard Regular"/>
                <a:ea typeface="Pretendard Regular"/>
                <a:cs typeface="Pretendard Regular"/>
              </a:rPr>
              <a:t>(Outlander)</a:t>
            </a:r>
            <a:endParaRPr lang="ko-KR" altLang="en-US" b="0" dirty="0"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54" name="문제 해결  /  로비 방 조회와 제거의 수명 경쟁">
            <a:extLst>
              <a:ext uri="{FF2B5EF4-FFF2-40B4-BE49-F238E27FC236}">
                <a16:creationId xmlns:a16="http://schemas.microsoft.com/office/drawing/2014/main" id="{646E21CB-2460-465D-9242-2B7F62BC26EF}"/>
              </a:ext>
            </a:extLst>
          </p:cNvPr>
          <p:cNvSpPr>
            <a:spLocks noGrp="1"/>
          </p:cNvSpPr>
          <p:nvPr/>
        </p:nvSpPr>
        <p:spPr>
          <a:xfrm>
            <a:off x="1143000" y="2028825"/>
            <a:ext cx="16002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defPPr>
            <a:lvl1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1pPr>
            <a:lvl2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2pPr>
            <a:lvl3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3pPr>
            <a:lvl4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4pPr>
            <a:lvl5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5pPr>
            <a:lvl6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6pPr>
            <a:lvl7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7pPr>
            <a:lvl8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8pPr>
            <a:lvl9pPr algn="l"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lvl9pPr>
          </a:lstStyle>
          <a:p>
            <a:pPr algn="l">
              <a:lnSpc>
                <a:spcPct val="118000"/>
              </a:lnSpc>
              <a:buNone/>
              <a:def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defRPr>
            </a:pPr>
            <a:r>
              <a:rPr sz="3225" b="1">
                <a:solidFill>
                  <a:srgbClr val="354F68"/>
                </a:solidFill>
                <a:latin typeface="Pretendard Bold"/>
                <a:ea typeface="Pretendard Bold"/>
                <a:cs typeface="Pretendard Bold"/>
              </a:rPr>
              <a:t>문제 해결  /  로비 방 조회와 제거의 수명 경쟁</a:t>
            </a:r>
          </a:p>
        </p:txBody>
      </p:sp>
      <p:sp>
        <p:nvSpPr>
          <p:cNvPr id="255" name="OUTLANDER  /  21">
            <a:extLst>
              <a:ext uri="{FF2B5EF4-FFF2-40B4-BE49-F238E27FC236}">
                <a16:creationId xmlns:a16="http://schemas.microsoft.com/office/drawing/2014/main" id="{3872137C-7E0E-4553-A284-A581DAEAF28F}"/>
              </a:ext>
            </a:extLst>
          </p:cNvPr>
          <p:cNvSpPr>
            <a:spLocks noGrp="1"/>
          </p:cNvSpPr>
          <p:nvPr/>
        </p:nvSpPr>
        <p:spPr>
          <a:xfrm>
            <a:off x="14573250" y="960120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defPPr>
            <a:lvl1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1pPr>
            <a:lvl2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2pPr>
            <a:lvl3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3pPr>
            <a:lvl4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4pPr>
            <a:lvl5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5pPr>
            <a:lvl6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6pPr>
            <a:lvl7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7pPr>
            <a:lvl8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8pPr>
            <a:lvl9pPr algn="r"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lvl9pPr>
          </a:lstStyle>
          <a:p>
            <a:pPr algn="r">
              <a:lnSpc>
                <a:spcPct val="118000"/>
              </a:lnSpc>
              <a:buNone/>
              <a:def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defRPr>
            </a:pPr>
            <a:r>
              <a:rPr sz="1575" b="0">
                <a:solidFill>
                  <a:srgbClr val="747474"/>
                </a:solidFill>
                <a:latin typeface="Pretendard Regular"/>
                <a:ea typeface="Pretendard Regular"/>
                <a:cs typeface="Pretendard Regular"/>
              </a:rPr>
              <a:t>OUTLANDER  /  21</a:t>
            </a:r>
          </a:p>
        </p:txBody>
      </p:sp>
    </p:spTree>
    <p:extLst>
      <p:ext uri="{BB962C8B-B14F-4D97-AF65-F5344CB8AC3E}">
        <p14:creationId xmlns:p14="http://schemas.microsoft.com/office/powerpoint/2010/main" val="20700751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>
            <a:extLst>
              <a:ext uri="{FF2B5EF4-FFF2-40B4-BE49-F238E27FC236}">
                <a16:creationId xmlns:a16="http://schemas.microsoft.com/office/drawing/2014/main" id="{82A2BB3C-0F12-4152-AAD8-00AA370A5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id="20" name="Picture 3">
            <a:extLst>
              <a:ext uri="{FF2B5EF4-FFF2-40B4-BE49-F238E27FC236}">
                <a16:creationId xmlns:a16="http://schemas.microsoft.com/office/drawing/2014/main" id="{618C655F-B44E-44D0-9DFA-F8CB846B0C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3400" y="-1460500"/>
            <a:ext cx="5219700" cy="5130800"/>
          </a:xfrm>
          <a:prstGeom prst="rect">
            <a:avLst/>
          </a:prstGeom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5AE2CB33-AA18-4F1C-90FC-ECC2379272A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7000"/>
          </a:blip>
          <a:stretch>
            <a:fillRect/>
          </a:stretch>
        </p:blipFill>
        <p:spPr>
          <a:xfrm rot="18782095">
            <a:off x="-3327400" y="6921500"/>
            <a:ext cx="7454900" cy="7188200"/>
          </a:xfrm>
          <a:prstGeom prst="rect">
            <a:avLst/>
          </a:prstGeom>
        </p:spPr>
      </p:pic>
      <p:pic>
        <p:nvPicPr>
          <p:cNvPr id="22" name="Picture 6">
            <a:extLst>
              <a:ext uri="{FF2B5EF4-FFF2-40B4-BE49-F238E27FC236}">
                <a16:creationId xmlns:a16="http://schemas.microsoft.com/office/drawing/2014/main" id="{6EC7462A-D533-4005-8A84-770BB45F72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5800" y="6146800"/>
            <a:ext cx="10502900" cy="177800"/>
          </a:xfrm>
          <a:prstGeom prst="rect">
            <a:avLst/>
          </a:prstGeom>
        </p:spPr>
      </p:pic>
      <p:pic>
        <p:nvPicPr>
          <p:cNvPr id="23" name="Picture 7">
            <a:extLst>
              <a:ext uri="{FF2B5EF4-FFF2-40B4-BE49-F238E27FC236}">
                <a16:creationId xmlns:a16="http://schemas.microsoft.com/office/drawing/2014/main" id="{68451051-B87D-4FF6-95F1-527FD6C649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39700" y="2286000"/>
            <a:ext cx="8902700" cy="1651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E99488E7-11B0-416B-95AF-0C192C5FC03D}"/>
              </a:ext>
            </a:extLst>
          </p:cNvPr>
          <p:cNvSpPr>
            <a:spLocks noGrp="1"/>
          </p:cNvSpPr>
          <p:nvPr/>
        </p:nvSpPr>
        <p:spPr>
          <a:xfrm>
            <a:off x="1130300" y="2387600"/>
            <a:ext cx="9690100" cy="1866900"/>
          </a:xfrm>
          <a:prstGeom prst="rect">
            <a:avLst/>
          </a:prstGeom>
        </p:spPr>
        <p:txBody>
          <a:bodyPr lIns="0" tIns="131383" rIns="0" bIns="131383" anchor="ctr"/>
          <a:lstStyle/>
          <a:p>
            <a:pPr lvl="0" algn="l">
              <a:lnSpc>
                <a:spcPct val="99600"/>
              </a:lnSpc>
              <a:buNone/>
            </a:pPr>
            <a:r>
              <a:rPr sz="10345" b="0" i="0" u="none" spc="-40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Thank you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F2E8024-546E-454A-B0A2-3B8250E5DC84}"/>
              </a:ext>
            </a:extLst>
          </p:cNvPr>
          <p:cNvSpPr>
            <a:spLocks noGrp="1"/>
          </p:cNvSpPr>
          <p:nvPr/>
        </p:nvSpPr>
        <p:spPr>
          <a:xfrm>
            <a:off x="8877300" y="5804034"/>
            <a:ext cx="8394700" cy="469766"/>
          </a:xfrm>
          <a:prstGeom prst="rect">
            <a:avLst/>
          </a:prstGeom>
        </p:spPr>
        <p:txBody>
          <a:bodyPr lIns="0" tIns="31749" rIns="0" bIns="31749" anchor="ctr"/>
          <a:lstStyle>
            <a:defPPr>
              <a:defRPr>
                <a:latin typeface="Pretendard Regular"/>
                <a:ea typeface="Pretendard Regular"/>
                <a:cs typeface="Pretendard Regular"/>
              </a:defRPr>
            </a:defPPr>
            <a:lvl1pPr>
              <a:defRPr>
                <a:latin typeface="Pretendard Regular"/>
                <a:ea typeface="Pretendard Regular"/>
                <a:cs typeface="Pretendard Regular"/>
              </a:defRPr>
            </a:lvl1pPr>
            <a:lvl2pPr>
              <a:defRPr>
                <a:latin typeface="Pretendard Regular"/>
                <a:ea typeface="Pretendard Regular"/>
                <a:cs typeface="Pretendard Regular"/>
              </a:defRPr>
            </a:lvl2pPr>
            <a:lvl3pPr>
              <a:defRPr>
                <a:latin typeface="Pretendard Regular"/>
                <a:ea typeface="Pretendard Regular"/>
                <a:cs typeface="Pretendard Regular"/>
              </a:defRPr>
            </a:lvl3pPr>
            <a:lvl4pPr>
              <a:defRPr>
                <a:latin typeface="Pretendard Regular"/>
                <a:ea typeface="Pretendard Regular"/>
                <a:cs typeface="Pretendard Regular"/>
              </a:defRPr>
            </a:lvl4pPr>
            <a:lvl5pPr>
              <a:defRPr>
                <a:latin typeface="Pretendard Regular"/>
                <a:ea typeface="Pretendard Regular"/>
                <a:cs typeface="Pretendard Regular"/>
              </a:defRPr>
            </a:lvl5pPr>
            <a:lvl6pPr>
              <a:defRPr>
                <a:latin typeface="Pretendard Regular"/>
                <a:ea typeface="Pretendard Regular"/>
                <a:cs typeface="Pretendard Regular"/>
              </a:defRPr>
            </a:lvl6pPr>
            <a:lvl7pPr>
              <a:defRPr>
                <a:latin typeface="Pretendard Regular"/>
                <a:ea typeface="Pretendard Regular"/>
                <a:cs typeface="Pretendard Regular"/>
              </a:defRPr>
            </a:lvl7pPr>
            <a:lvl8pPr>
              <a:defRPr>
                <a:latin typeface="Pretendard Regular"/>
                <a:ea typeface="Pretendard Regular"/>
                <a:cs typeface="Pretendard Regular"/>
              </a:defRPr>
            </a:lvl8pPr>
            <a:lvl9pPr>
              <a:defRPr>
                <a:latin typeface="Pretendard Regular"/>
                <a:ea typeface="Pretendard Regular"/>
                <a:cs typeface="Pretendard Regular"/>
              </a:defRPr>
            </a:lvl9pPr>
          </a:lstStyle>
          <a:p>
            <a:pPr lvl="0" algn="r">
              <a:lnSpc>
                <a:spcPct val="99600"/>
              </a:lnSpc>
              <a:buNone/>
              <a:defRPr>
                <a:latin typeface="Pretendard Regular"/>
                <a:ea typeface="Pretendard Regular"/>
                <a:cs typeface="Pretendard Regular"/>
              </a:defRPr>
            </a:pPr>
            <a:r>
              <a:rPr sz="2499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끝까지 봐주셔서 감사합니다.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11E9FBA-BCBE-4680-B25A-3F8D166023ED}"/>
              </a:ext>
            </a:extLst>
          </p:cNvPr>
          <p:cNvSpPr>
            <a:spLocks noGrp="1"/>
          </p:cNvSpPr>
          <p:nvPr/>
        </p:nvSpPr>
        <p:spPr>
          <a:xfrm>
            <a:off x="1130300" y="7797800"/>
            <a:ext cx="1651000" cy="368300"/>
          </a:xfrm>
          <a:prstGeom prst="rect">
            <a:avLst/>
          </a:prstGeom>
        </p:spPr>
        <p:txBody>
          <a:bodyPr lIns="0" tIns="21589" rIns="0" bIns="21589" anchor="ctr"/>
          <a:lstStyle>
            <a:defPPr>
              <a:defRPr>
                <a:latin typeface="Pretendard Regular"/>
                <a:ea typeface="Pretendard Regular"/>
                <a:cs typeface="Pretendard Regular"/>
              </a:defRPr>
            </a:defPPr>
            <a:lvl1pPr>
              <a:defRPr>
                <a:latin typeface="Pretendard Regular"/>
                <a:ea typeface="Pretendard Regular"/>
                <a:cs typeface="Pretendard Regular"/>
              </a:defRPr>
            </a:lvl1pPr>
            <a:lvl2pPr>
              <a:defRPr>
                <a:latin typeface="Pretendard Regular"/>
                <a:ea typeface="Pretendard Regular"/>
                <a:cs typeface="Pretendard Regular"/>
              </a:defRPr>
            </a:lvl2pPr>
            <a:lvl3pPr>
              <a:defRPr>
                <a:latin typeface="Pretendard Regular"/>
                <a:ea typeface="Pretendard Regular"/>
                <a:cs typeface="Pretendard Regular"/>
              </a:defRPr>
            </a:lvl3pPr>
            <a:lvl4pPr>
              <a:defRPr>
                <a:latin typeface="Pretendard Regular"/>
                <a:ea typeface="Pretendard Regular"/>
                <a:cs typeface="Pretendard Regular"/>
              </a:defRPr>
            </a:lvl4pPr>
            <a:lvl5pPr>
              <a:defRPr>
                <a:latin typeface="Pretendard Regular"/>
                <a:ea typeface="Pretendard Regular"/>
                <a:cs typeface="Pretendard Regular"/>
              </a:defRPr>
            </a:lvl5pPr>
            <a:lvl6pPr>
              <a:defRPr>
                <a:latin typeface="Pretendard Regular"/>
                <a:ea typeface="Pretendard Regular"/>
                <a:cs typeface="Pretendard Regular"/>
              </a:defRPr>
            </a:lvl6pPr>
            <a:lvl7pPr>
              <a:defRPr>
                <a:latin typeface="Pretendard Regular"/>
                <a:ea typeface="Pretendard Regular"/>
                <a:cs typeface="Pretendard Regular"/>
              </a:defRPr>
            </a:lvl7pPr>
            <a:lvl8pPr>
              <a:defRPr>
                <a:latin typeface="Pretendard Regular"/>
                <a:ea typeface="Pretendard Regular"/>
                <a:cs typeface="Pretendard Regular"/>
              </a:defRPr>
            </a:lvl8pPr>
            <a:lvl9pPr>
              <a:defRPr>
                <a:latin typeface="Pretendard Regular"/>
                <a:ea typeface="Pretendard Regular"/>
                <a:cs typeface="Pretendard Regular"/>
              </a:defRPr>
            </a:lvl9pPr>
          </a:lstStyle>
          <a:p>
            <a:pPr lvl="0" algn="l">
              <a:lnSpc>
                <a:spcPct val="99600"/>
              </a:lnSpc>
              <a:buNone/>
              <a:defRPr>
                <a:latin typeface="Pretendard Regular"/>
                <a:ea typeface="Pretendard Regular"/>
                <a:cs typeface="Pretendard Regular"/>
              </a:defRPr>
            </a:pPr>
            <a:r>
              <a:rPr sz="1916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CONTACT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0A0BD51-9851-4801-B54C-7E0CFBE766D1}"/>
              </a:ext>
            </a:extLst>
          </p:cNvPr>
          <p:cNvSpPr>
            <a:spLocks noGrp="1"/>
          </p:cNvSpPr>
          <p:nvPr/>
        </p:nvSpPr>
        <p:spPr>
          <a:xfrm>
            <a:off x="1130300" y="8343900"/>
            <a:ext cx="2527300" cy="3683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>
                <a:latin typeface="Pretendard Regular"/>
                <a:ea typeface="Pretendard Regular"/>
                <a:cs typeface="Pretendard Regular"/>
              </a:defRPr>
            </a:defPPr>
            <a:lvl1pPr>
              <a:defRPr>
                <a:latin typeface="Pretendard Regular"/>
                <a:ea typeface="Pretendard Regular"/>
                <a:cs typeface="Pretendard Regular"/>
              </a:defRPr>
            </a:lvl1pPr>
            <a:lvl2pPr>
              <a:defRPr>
                <a:latin typeface="Pretendard Regular"/>
                <a:ea typeface="Pretendard Regular"/>
                <a:cs typeface="Pretendard Regular"/>
              </a:defRPr>
            </a:lvl2pPr>
            <a:lvl3pPr>
              <a:defRPr>
                <a:latin typeface="Pretendard Regular"/>
                <a:ea typeface="Pretendard Regular"/>
                <a:cs typeface="Pretendard Regular"/>
              </a:defRPr>
            </a:lvl3pPr>
            <a:lvl4pPr>
              <a:defRPr>
                <a:latin typeface="Pretendard Regular"/>
                <a:ea typeface="Pretendard Regular"/>
                <a:cs typeface="Pretendard Regular"/>
              </a:defRPr>
            </a:lvl4pPr>
            <a:lvl5pPr>
              <a:defRPr>
                <a:latin typeface="Pretendard Regular"/>
                <a:ea typeface="Pretendard Regular"/>
                <a:cs typeface="Pretendard Regular"/>
              </a:defRPr>
            </a:lvl5pPr>
            <a:lvl6pPr>
              <a:defRPr>
                <a:latin typeface="Pretendard Regular"/>
                <a:ea typeface="Pretendard Regular"/>
                <a:cs typeface="Pretendard Regular"/>
              </a:defRPr>
            </a:lvl6pPr>
            <a:lvl7pPr>
              <a:defRPr>
                <a:latin typeface="Pretendard Regular"/>
                <a:ea typeface="Pretendard Regular"/>
                <a:cs typeface="Pretendard Regular"/>
              </a:defRPr>
            </a:lvl7pPr>
            <a:lvl8pPr>
              <a:defRPr>
                <a:latin typeface="Pretendard Regular"/>
                <a:ea typeface="Pretendard Regular"/>
                <a:cs typeface="Pretendard Regular"/>
              </a:defRPr>
            </a:lvl8pPr>
            <a:lvl9pPr>
              <a:defRPr>
                <a:latin typeface="Pretendard Regular"/>
                <a:ea typeface="Pretendard Regular"/>
                <a:cs typeface="Pretendard Regular"/>
              </a:defRPr>
            </a:lvl9pPr>
          </a:lstStyle>
          <a:p>
            <a:pPr lvl="0" algn="l">
              <a:lnSpc>
                <a:spcPct val="141100"/>
              </a:lnSpc>
              <a:buNone/>
              <a:defRPr>
                <a:latin typeface="Pretendard Regular"/>
                <a:ea typeface="Pretendard Regular"/>
                <a:cs typeface="Pretendard Regular"/>
              </a:defRPr>
            </a:pPr>
            <a:r>
              <a:rPr sz="1916" b="0" i="0" u="non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+82 010 </a:t>
            </a:r>
            <a:r>
              <a:rPr sz="1916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5920</a:t>
            </a:r>
            <a:r>
              <a:rPr sz="1916" b="0" i="0" u="non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3386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D1E5462-050F-4DA0-9CA3-A75805BC3516}"/>
              </a:ext>
            </a:extLst>
          </p:cNvPr>
          <p:cNvSpPr>
            <a:spLocks noGrp="1"/>
          </p:cNvSpPr>
          <p:nvPr/>
        </p:nvSpPr>
        <p:spPr>
          <a:xfrm>
            <a:off x="1130300" y="8674100"/>
            <a:ext cx="3467100" cy="3683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>
                <a:latin typeface="Pretendard Regular"/>
                <a:ea typeface="Pretendard Regular"/>
                <a:cs typeface="Pretendard Regular"/>
              </a:defRPr>
            </a:defPPr>
            <a:lvl1pPr>
              <a:defRPr>
                <a:latin typeface="Pretendard Regular"/>
                <a:ea typeface="Pretendard Regular"/>
                <a:cs typeface="Pretendard Regular"/>
              </a:defRPr>
            </a:lvl1pPr>
            <a:lvl2pPr>
              <a:defRPr>
                <a:latin typeface="Pretendard Regular"/>
                <a:ea typeface="Pretendard Regular"/>
                <a:cs typeface="Pretendard Regular"/>
              </a:defRPr>
            </a:lvl2pPr>
            <a:lvl3pPr>
              <a:defRPr>
                <a:latin typeface="Pretendard Regular"/>
                <a:ea typeface="Pretendard Regular"/>
                <a:cs typeface="Pretendard Regular"/>
              </a:defRPr>
            </a:lvl3pPr>
            <a:lvl4pPr>
              <a:defRPr>
                <a:latin typeface="Pretendard Regular"/>
                <a:ea typeface="Pretendard Regular"/>
                <a:cs typeface="Pretendard Regular"/>
              </a:defRPr>
            </a:lvl4pPr>
            <a:lvl5pPr>
              <a:defRPr>
                <a:latin typeface="Pretendard Regular"/>
                <a:ea typeface="Pretendard Regular"/>
                <a:cs typeface="Pretendard Regular"/>
              </a:defRPr>
            </a:lvl5pPr>
            <a:lvl6pPr>
              <a:defRPr>
                <a:latin typeface="Pretendard Regular"/>
                <a:ea typeface="Pretendard Regular"/>
                <a:cs typeface="Pretendard Regular"/>
              </a:defRPr>
            </a:lvl6pPr>
            <a:lvl7pPr>
              <a:defRPr>
                <a:latin typeface="Pretendard Regular"/>
                <a:ea typeface="Pretendard Regular"/>
                <a:cs typeface="Pretendard Regular"/>
              </a:defRPr>
            </a:lvl7pPr>
            <a:lvl8pPr>
              <a:defRPr>
                <a:latin typeface="Pretendard Regular"/>
                <a:ea typeface="Pretendard Regular"/>
                <a:cs typeface="Pretendard Regular"/>
              </a:defRPr>
            </a:lvl8pPr>
            <a:lvl9pPr>
              <a:defRPr>
                <a:latin typeface="Pretendard Regular"/>
                <a:ea typeface="Pretendard Regular"/>
                <a:cs typeface="Pretendard Regular"/>
              </a:defRPr>
            </a:lvl9pPr>
          </a:lstStyle>
          <a:p>
            <a:pPr lvl="0" algn="l">
              <a:lnSpc>
                <a:spcPct val="141100"/>
              </a:lnSpc>
              <a:buNone/>
              <a:defRPr>
                <a:latin typeface="Pretendard Regular"/>
                <a:ea typeface="Pretendard Regular"/>
                <a:cs typeface="Pretendard Regular"/>
              </a:defRPr>
            </a:pPr>
            <a:r>
              <a:rPr sz="1916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asm1133</a:t>
            </a:r>
            <a:r>
              <a:rPr sz="1916" b="0" i="0" u="non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@naver.com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F7A86E6-C201-42B1-BB27-1DFADCED7119}"/>
              </a:ext>
            </a:extLst>
          </p:cNvPr>
          <p:cNvSpPr>
            <a:spLocks noGrp="1"/>
          </p:cNvSpPr>
          <p:nvPr/>
        </p:nvSpPr>
        <p:spPr>
          <a:xfrm>
            <a:off x="1130300" y="9004300"/>
            <a:ext cx="3467100" cy="3683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>
                <a:latin typeface="Pretendard Regular"/>
                <a:ea typeface="Pretendard Regular"/>
                <a:cs typeface="Pretendard Regular"/>
              </a:defRPr>
            </a:defPPr>
            <a:lvl1pPr>
              <a:defRPr>
                <a:latin typeface="Pretendard Regular"/>
                <a:ea typeface="Pretendard Regular"/>
                <a:cs typeface="Pretendard Regular"/>
              </a:defRPr>
            </a:lvl1pPr>
            <a:lvl2pPr>
              <a:defRPr>
                <a:latin typeface="Pretendard Regular"/>
                <a:ea typeface="Pretendard Regular"/>
                <a:cs typeface="Pretendard Regular"/>
              </a:defRPr>
            </a:lvl2pPr>
            <a:lvl3pPr>
              <a:defRPr>
                <a:latin typeface="Pretendard Regular"/>
                <a:ea typeface="Pretendard Regular"/>
                <a:cs typeface="Pretendard Regular"/>
              </a:defRPr>
            </a:lvl3pPr>
            <a:lvl4pPr>
              <a:defRPr>
                <a:latin typeface="Pretendard Regular"/>
                <a:ea typeface="Pretendard Regular"/>
                <a:cs typeface="Pretendard Regular"/>
              </a:defRPr>
            </a:lvl4pPr>
            <a:lvl5pPr>
              <a:defRPr>
                <a:latin typeface="Pretendard Regular"/>
                <a:ea typeface="Pretendard Regular"/>
                <a:cs typeface="Pretendard Regular"/>
              </a:defRPr>
            </a:lvl5pPr>
            <a:lvl6pPr>
              <a:defRPr>
                <a:latin typeface="Pretendard Regular"/>
                <a:ea typeface="Pretendard Regular"/>
                <a:cs typeface="Pretendard Regular"/>
              </a:defRPr>
            </a:lvl6pPr>
            <a:lvl7pPr>
              <a:defRPr>
                <a:latin typeface="Pretendard Regular"/>
                <a:ea typeface="Pretendard Regular"/>
                <a:cs typeface="Pretendard Regular"/>
              </a:defRPr>
            </a:lvl7pPr>
            <a:lvl8pPr>
              <a:defRPr>
                <a:latin typeface="Pretendard Regular"/>
                <a:ea typeface="Pretendard Regular"/>
                <a:cs typeface="Pretendard Regular"/>
              </a:defRPr>
            </a:lvl8pPr>
            <a:lvl9pPr>
              <a:defRPr>
                <a:latin typeface="Pretendard Regular"/>
                <a:ea typeface="Pretendard Regular"/>
                <a:cs typeface="Pretendard Regular"/>
              </a:defRPr>
            </a:lvl9pPr>
          </a:lstStyle>
          <a:p>
            <a:pPr lvl="0" algn="l">
              <a:lnSpc>
                <a:spcPct val="141100"/>
              </a:lnSpc>
              <a:buNone/>
            </a:pPr>
            <a:endParaRPr sz="1916" b="0" i="0" u="none">
              <a:solidFill>
                <a:srgbClr val="595959"/>
              </a:solidFill>
              <a:latin typeface="Pretendard Light"/>
              <a:ea typeface="Pretendard Light"/>
              <a:cs typeface="Pretendard Light"/>
            </a:endParaRPr>
          </a:p>
        </p:txBody>
      </p:sp>
    </p:spTree>
    <p:extLst>
      <p:ext uri="{BB962C8B-B14F-4D97-AF65-F5344CB8AC3E}">
        <p14:creationId xmlns:p14="http://schemas.microsoft.com/office/powerpoint/2010/main" val="592537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1473</Words>
  <Application>Microsoft Office PowerPoint</Application>
  <DocSecurity>0</DocSecurity>
  <PresentationFormat>사용자 지정</PresentationFormat>
  <Paragraphs>317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8" baseType="lpstr">
      <vt:lpstr>Arial</vt:lpstr>
      <vt:lpstr>Pretendard Regular</vt:lpstr>
      <vt:lpstr>Pretendard Light</vt:lpstr>
      <vt:lpstr>Calibri</vt:lpstr>
      <vt:lpstr>Pretendard Medium</vt:lpstr>
      <vt:lpstr>Geologica Roman Regular</vt:lpstr>
      <vt:lpstr>Montserrat SemiBold</vt:lpstr>
      <vt:lpstr>Pretendard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우상훈</cp:lastModifiedBy>
  <cp:revision>60</cp:revision>
  <dcterms:created xsi:type="dcterms:W3CDTF">2026-10-20T04:32:46Z</dcterms:created>
  <dcterms:modified xsi:type="dcterms:W3CDTF">2026-10-20T06:21:01Z</dcterms:modified>
</cp:coreProperties>
</file>